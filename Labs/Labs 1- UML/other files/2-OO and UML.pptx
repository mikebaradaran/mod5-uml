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1.xml" ContentType="application/vnd.openxmlformats-officedocument.themeOverride+xml"/>
  <Override PartName="/ppt/notesSlides/notesSlide15.xml" ContentType="application/vnd.openxmlformats-officedocument.presentationml.notesSlide+xml"/>
  <Override PartName="/ppt/theme/themeOverride2.xml" ContentType="application/vnd.openxmlformats-officedocument.themeOverride+xml"/>
  <Override PartName="/ppt/notesSlides/notesSlide16.xml" ContentType="application/vnd.openxmlformats-officedocument.presentationml.notesSlide+xml"/>
  <Override PartName="/ppt/theme/themeOverride3.xml" ContentType="application/vnd.openxmlformats-officedocument.themeOverride+xml"/>
  <Override PartName="/ppt/notesSlides/notesSlide17.xml" ContentType="application/vnd.openxmlformats-officedocument.presentationml.notesSlide+xml"/>
  <Override PartName="/ppt/theme/themeOverride4.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5.xml" ContentType="application/vnd.openxmlformats-officedocument.themeOverride+xml"/>
  <Override PartName="/ppt/notesSlides/notesSlide24.xml" ContentType="application/vnd.openxmlformats-officedocument.presentationml.notesSlide+xml"/>
  <Override PartName="/ppt/theme/themeOverride6.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5" r:id="rId1"/>
  </p:sldMasterIdLst>
  <p:notesMasterIdLst>
    <p:notesMasterId r:id="rId59"/>
  </p:notesMasterIdLst>
  <p:handoutMasterIdLst>
    <p:handoutMasterId r:id="rId60"/>
  </p:handoutMasterIdLst>
  <p:sldIdLst>
    <p:sldId id="266" r:id="rId2"/>
    <p:sldId id="635" r:id="rId3"/>
    <p:sldId id="634" r:id="rId4"/>
    <p:sldId id="709" r:id="rId5"/>
    <p:sldId id="702" r:id="rId6"/>
    <p:sldId id="695" r:id="rId7"/>
    <p:sldId id="696" r:id="rId8"/>
    <p:sldId id="703" r:id="rId9"/>
    <p:sldId id="704" r:id="rId10"/>
    <p:sldId id="706" r:id="rId11"/>
    <p:sldId id="707" r:id="rId12"/>
    <p:sldId id="708" r:id="rId13"/>
    <p:sldId id="711" r:id="rId14"/>
    <p:sldId id="712" r:id="rId15"/>
    <p:sldId id="713" r:id="rId16"/>
    <p:sldId id="730" r:id="rId17"/>
    <p:sldId id="636" r:id="rId18"/>
    <p:sldId id="637" r:id="rId19"/>
    <p:sldId id="638" r:id="rId20"/>
    <p:sldId id="639" r:id="rId21"/>
    <p:sldId id="640" r:id="rId22"/>
    <p:sldId id="641" r:id="rId23"/>
    <p:sldId id="642" r:id="rId24"/>
    <p:sldId id="643" r:id="rId25"/>
    <p:sldId id="644" r:id="rId26"/>
    <p:sldId id="645" r:id="rId27"/>
    <p:sldId id="647" r:id="rId28"/>
    <p:sldId id="648" r:id="rId29"/>
    <p:sldId id="650" r:id="rId30"/>
    <p:sldId id="651" r:id="rId31"/>
    <p:sldId id="654" r:id="rId32"/>
    <p:sldId id="710" r:id="rId33"/>
    <p:sldId id="655" r:id="rId34"/>
    <p:sldId id="656" r:id="rId35"/>
    <p:sldId id="668" r:id="rId36"/>
    <p:sldId id="669" r:id="rId37"/>
    <p:sldId id="670" r:id="rId38"/>
    <p:sldId id="671" r:id="rId39"/>
    <p:sldId id="672" r:id="rId40"/>
    <p:sldId id="714" r:id="rId41"/>
    <p:sldId id="673" r:id="rId42"/>
    <p:sldId id="715" r:id="rId43"/>
    <p:sldId id="719" r:id="rId44"/>
    <p:sldId id="716" r:id="rId45"/>
    <p:sldId id="720" r:id="rId46"/>
    <p:sldId id="723" r:id="rId47"/>
    <p:sldId id="724" r:id="rId48"/>
    <p:sldId id="725" r:id="rId49"/>
    <p:sldId id="726" r:id="rId50"/>
    <p:sldId id="675" r:id="rId51"/>
    <p:sldId id="721" r:id="rId52"/>
    <p:sldId id="722" r:id="rId53"/>
    <p:sldId id="633" r:id="rId54"/>
    <p:sldId id="630" r:id="rId55"/>
    <p:sldId id="727" r:id="rId56"/>
    <p:sldId id="728" r:id="rId57"/>
    <p:sldId id="729" r:id="rId58"/>
  </p:sldIdLst>
  <p:sldSz cx="9144000" cy="6858000" type="screen4x3"/>
  <p:notesSz cx="6797675" cy="9928225"/>
  <p:defaultTextStyle>
    <a:defPPr>
      <a:defRPr lang="en-GB"/>
    </a:defPPr>
    <a:lvl1pPr algn="l" rtl="0" fontAlgn="base">
      <a:spcBef>
        <a:spcPct val="0"/>
      </a:spcBef>
      <a:spcAft>
        <a:spcPct val="0"/>
      </a:spcAft>
      <a:defRPr sz="1000" kern="1200">
        <a:solidFill>
          <a:schemeClr val="tx1"/>
        </a:solidFill>
        <a:latin typeface="Arial" charset="0"/>
        <a:ea typeface="+mn-ea"/>
        <a:cs typeface="+mn-cs"/>
      </a:defRPr>
    </a:lvl1pPr>
    <a:lvl2pPr marL="457200" algn="l" rtl="0" fontAlgn="base">
      <a:spcBef>
        <a:spcPct val="0"/>
      </a:spcBef>
      <a:spcAft>
        <a:spcPct val="0"/>
      </a:spcAft>
      <a:defRPr sz="1000" kern="1200">
        <a:solidFill>
          <a:schemeClr val="tx1"/>
        </a:solidFill>
        <a:latin typeface="Arial" charset="0"/>
        <a:ea typeface="+mn-ea"/>
        <a:cs typeface="+mn-cs"/>
      </a:defRPr>
    </a:lvl2pPr>
    <a:lvl3pPr marL="914400" algn="l" rtl="0" fontAlgn="base">
      <a:spcBef>
        <a:spcPct val="0"/>
      </a:spcBef>
      <a:spcAft>
        <a:spcPct val="0"/>
      </a:spcAft>
      <a:defRPr sz="1000" kern="1200">
        <a:solidFill>
          <a:schemeClr val="tx1"/>
        </a:solidFill>
        <a:latin typeface="Arial" charset="0"/>
        <a:ea typeface="+mn-ea"/>
        <a:cs typeface="+mn-cs"/>
      </a:defRPr>
    </a:lvl3pPr>
    <a:lvl4pPr marL="1371600" algn="l" rtl="0" fontAlgn="base">
      <a:spcBef>
        <a:spcPct val="0"/>
      </a:spcBef>
      <a:spcAft>
        <a:spcPct val="0"/>
      </a:spcAft>
      <a:defRPr sz="1000" kern="1200">
        <a:solidFill>
          <a:schemeClr val="tx1"/>
        </a:solidFill>
        <a:latin typeface="Arial" charset="0"/>
        <a:ea typeface="+mn-ea"/>
        <a:cs typeface="+mn-cs"/>
      </a:defRPr>
    </a:lvl4pPr>
    <a:lvl5pPr marL="1828800" algn="l"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000"/>
    <a:srgbClr val="005AAB"/>
    <a:srgbClr val="000000"/>
    <a:srgbClr val="0000C8"/>
    <a:srgbClr val="0070C0"/>
    <a:srgbClr val="FF70C0"/>
    <a:srgbClr val="DFFFCD"/>
    <a:srgbClr val="134183"/>
    <a:srgbClr val="005AA9"/>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78636" autoAdjust="0"/>
  </p:normalViewPr>
  <p:slideViewPr>
    <p:cSldViewPr snapToGrid="0">
      <p:cViewPr varScale="1">
        <p:scale>
          <a:sx n="85" d="100"/>
          <a:sy n="85" d="100"/>
        </p:scale>
        <p:origin x="888" y="96"/>
      </p:cViewPr>
      <p:guideLst>
        <p:guide orient="horz" pos="2160"/>
        <p:guide pos="2880"/>
      </p:guideLst>
    </p:cSldViewPr>
  </p:slideViewPr>
  <p:outlineViewPr>
    <p:cViewPr>
      <p:scale>
        <a:sx n="33" d="100"/>
        <a:sy n="33" d="100"/>
      </p:scale>
      <p:origin x="0" y="762"/>
    </p:cViewPr>
  </p:outlineViewPr>
  <p:notesTextViewPr>
    <p:cViewPr>
      <p:scale>
        <a:sx n="3" d="2"/>
        <a:sy n="3" d="2"/>
      </p:scale>
      <p:origin x="0" y="0"/>
    </p:cViewPr>
  </p:notesTextViewPr>
  <p:sorterViewPr>
    <p:cViewPr>
      <p:scale>
        <a:sx n="119" d="100"/>
        <a:sy n="119" d="100"/>
      </p:scale>
      <p:origin x="0" y="-1512"/>
    </p:cViewPr>
  </p:sorterViewPr>
  <p:notesViewPr>
    <p:cSldViewPr snapToGrid="0">
      <p:cViewPr>
        <p:scale>
          <a:sx n="100" d="100"/>
          <a:sy n="100" d="100"/>
        </p:scale>
        <p:origin x="1908" y="168"/>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p:nvPr/>
        </p:nvSpPr>
        <p:spPr>
          <a:xfrm>
            <a:off x="720000" y="9630000"/>
            <a:ext cx="5400000" cy="270000"/>
          </a:xfrm>
          <a:prstGeom prst="rect">
            <a:avLst/>
          </a:prstGeom>
          <a:noFill/>
        </p:spPr>
        <p:txBody>
          <a:bodyPr lIns="0" tIns="45738" rIns="0" bIns="45738">
            <a:spAutoFit/>
          </a:bodyPr>
          <a:lstStyle/>
          <a:p>
            <a:pPr algn="r" eaLnBrk="0" hangingPunct="0">
              <a:spcBef>
                <a:spcPct val="50000"/>
              </a:spcBef>
              <a:tabLst>
                <a:tab pos="8796668" algn="r"/>
              </a:tabLst>
              <a:defRPr/>
            </a:pPr>
            <a:r>
              <a:rPr lang="en-GB" sz="1200" dirty="0">
                <a:solidFill>
                  <a:srgbClr val="0070C0"/>
                </a:solidFill>
                <a:latin typeface="Arial" pitchFamily="34" charset="0"/>
                <a:cs typeface="Arial" pitchFamily="34" charset="0"/>
              </a:rPr>
              <a:t>Page </a:t>
            </a:r>
            <a:fld id="{5A994FC6-4CA0-47B1-908E-E307E7797130}" type="slidenum">
              <a:rPr lang="en-GB" sz="1200">
                <a:solidFill>
                  <a:srgbClr val="0070C0"/>
                </a:solidFill>
                <a:latin typeface="Arial" pitchFamily="34" charset="0"/>
                <a:cs typeface="Arial" pitchFamily="34" charset="0"/>
              </a:rPr>
              <a:pPr algn="r" eaLnBrk="0" hangingPunct="0">
                <a:spcBef>
                  <a:spcPct val="50000"/>
                </a:spcBef>
                <a:tabLst>
                  <a:tab pos="8796668" algn="r"/>
                </a:tabLst>
                <a:defRPr/>
              </a:pPr>
              <a:t>‹#›</a:t>
            </a:fld>
            <a:endParaRPr lang="en-GB" sz="1200" dirty="0">
              <a:solidFill>
                <a:srgbClr val="0070C0"/>
              </a:solidFill>
              <a:latin typeface="Arial" pitchFamily="34" charset="0"/>
              <a:cs typeface="Arial" pitchFamily="34" charset="0"/>
            </a:endParaRPr>
          </a:p>
        </p:txBody>
      </p:sp>
      <p:sp>
        <p:nvSpPr>
          <p:cNvPr id="7" name="TextBox 6"/>
          <p:cNvSpPr txBox="1"/>
          <p:nvPr/>
        </p:nvSpPr>
        <p:spPr>
          <a:xfrm>
            <a:off x="720000" y="90547"/>
            <a:ext cx="5400000" cy="277035"/>
          </a:xfrm>
          <a:prstGeom prst="rect">
            <a:avLst/>
          </a:prstGeom>
          <a:noFill/>
        </p:spPr>
        <p:txBody>
          <a:bodyPr lIns="0" tIns="45738" rIns="0" bIns="45738">
            <a:spAutoFit/>
          </a:bodyPr>
          <a:lstStyle/>
          <a:p>
            <a:pPr eaLnBrk="0" hangingPunct="0">
              <a:spcBef>
                <a:spcPct val="50000"/>
              </a:spcBef>
              <a:tabLst>
                <a:tab pos="8796668" algn="r"/>
              </a:tabLst>
              <a:defRPr/>
            </a:pPr>
            <a:r>
              <a:rPr lang="en-GB" sz="1200" dirty="0">
                <a:solidFill>
                  <a:srgbClr val="0070C0"/>
                </a:solidFill>
                <a:latin typeface="Arial" pitchFamily="34" charset="0"/>
                <a:cs typeface="Arial" pitchFamily="34" charset="0"/>
              </a:rPr>
              <a:t>Course Name	COURSECODE VERSION</a:t>
            </a:r>
          </a:p>
        </p:txBody>
      </p:sp>
    </p:spTree>
    <p:extLst>
      <p:ext uri="{BB962C8B-B14F-4D97-AF65-F5344CB8AC3E}">
        <p14:creationId xmlns:p14="http://schemas.microsoft.com/office/powerpoint/2010/main" val="734110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Slide Image Placeholder 3"/>
          <p:cNvSpPr>
            <a:spLocks noGrp="1" noRot="1" noChangeAspect="1"/>
          </p:cNvSpPr>
          <p:nvPr>
            <p:ph type="sldImg" idx="2"/>
          </p:nvPr>
        </p:nvSpPr>
        <p:spPr>
          <a:xfrm>
            <a:off x="719138" y="450850"/>
            <a:ext cx="5399469" cy="4050000"/>
          </a:xfrm>
          <a:prstGeom prst="rect">
            <a:avLst/>
          </a:prstGeom>
          <a:noFill/>
          <a:ln w="12700">
            <a:solidFill>
              <a:prstClr val="black"/>
            </a:solidFill>
          </a:ln>
        </p:spPr>
        <p:txBody>
          <a:bodyPr vert="horz" lIns="91477" tIns="45738" rIns="91477" bIns="45738" rtlCol="0" anchor="ctr"/>
          <a:lstStyle/>
          <a:p>
            <a:pPr lvl="0"/>
            <a:endParaRPr lang="en-GB" noProof="0" dirty="0"/>
          </a:p>
        </p:txBody>
      </p:sp>
      <p:sp>
        <p:nvSpPr>
          <p:cNvPr id="12" name="Notes Placeholder 4"/>
          <p:cNvSpPr>
            <a:spLocks noGrp="1"/>
          </p:cNvSpPr>
          <p:nvPr>
            <p:ph type="body" sz="quarter" idx="3"/>
          </p:nvPr>
        </p:nvSpPr>
        <p:spPr>
          <a:xfrm>
            <a:off x="720336" y="4680000"/>
            <a:ext cx="5400000" cy="48600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3"/>
            <a:r>
              <a:rPr lang="en-US" noProof="0" dirty="0"/>
              <a:t>Third level</a:t>
            </a:r>
          </a:p>
          <a:p>
            <a:pPr lvl="4"/>
            <a:r>
              <a:rPr lang="en-US" noProof="0" dirty="0"/>
              <a:t>Fourth level</a:t>
            </a:r>
          </a:p>
          <a:p>
            <a:pPr lvl="5"/>
            <a:r>
              <a:rPr lang="en-US" noProof="0" dirty="0"/>
              <a:t>Fifth level</a:t>
            </a:r>
            <a:endParaRPr lang="en-GB" noProof="0" dirty="0"/>
          </a:p>
        </p:txBody>
      </p:sp>
      <p:sp>
        <p:nvSpPr>
          <p:cNvPr id="13" name="TextBox 12"/>
          <p:cNvSpPr txBox="1"/>
          <p:nvPr/>
        </p:nvSpPr>
        <p:spPr>
          <a:xfrm>
            <a:off x="720000" y="90547"/>
            <a:ext cx="5400000" cy="277035"/>
          </a:xfrm>
          <a:prstGeom prst="rect">
            <a:avLst/>
          </a:prstGeom>
          <a:noFill/>
        </p:spPr>
        <p:txBody>
          <a:bodyPr lIns="0" tIns="45738" rIns="0" bIns="45738">
            <a:spAutoFit/>
          </a:bodyPr>
          <a:lstStyle/>
          <a:p>
            <a:pPr marL="0" marR="0" indent="0" algn="l" defTabSz="914400" rtl="0" eaLnBrk="0" fontAlgn="base" latinLnBrk="0" hangingPunct="0">
              <a:lnSpc>
                <a:spcPct val="100000"/>
              </a:lnSpc>
              <a:spcBef>
                <a:spcPct val="50000"/>
              </a:spcBef>
              <a:spcAft>
                <a:spcPct val="0"/>
              </a:spcAft>
              <a:buClrTx/>
              <a:buSzTx/>
              <a:buFontTx/>
              <a:buNone/>
              <a:tabLst>
                <a:tab pos="8796668" algn="r"/>
              </a:tabLst>
              <a:defRPr/>
            </a:pPr>
            <a:r>
              <a:rPr lang="en-GB" sz="1200" baseline="0" dirty="0" smtClean="0">
                <a:solidFill>
                  <a:srgbClr val="0070C0"/>
                </a:solidFill>
                <a:latin typeface="Arial" pitchFamily="34" charset="0"/>
                <a:cs typeface="Arial" pitchFamily="34" charset="0"/>
              </a:rPr>
              <a:t>C# Advanced</a:t>
            </a:r>
            <a:r>
              <a:rPr lang="en-GB" sz="1200" baseline="0" dirty="0">
                <a:solidFill>
                  <a:srgbClr val="0070C0"/>
                </a:solidFill>
                <a:latin typeface="Arial" pitchFamily="34" charset="0"/>
                <a:cs typeface="Arial" pitchFamily="34" charset="0"/>
              </a:rPr>
              <a:t>	</a:t>
            </a:r>
            <a:r>
              <a:rPr lang="en-GB" sz="1200" baseline="0" dirty="0" smtClean="0">
                <a:solidFill>
                  <a:srgbClr val="0070C0"/>
                </a:solidFill>
                <a:latin typeface="Arial" pitchFamily="34" charset="0"/>
                <a:cs typeface="Arial" pitchFamily="34" charset="0"/>
              </a:rPr>
              <a:t>VERSION 1.0</a:t>
            </a:r>
            <a:endParaRPr lang="en-GB" sz="1200" dirty="0">
              <a:solidFill>
                <a:srgbClr val="0070C0"/>
              </a:solidFill>
              <a:latin typeface="Arial" pitchFamily="34" charset="0"/>
              <a:cs typeface="Arial" pitchFamily="34" charset="0"/>
            </a:endParaRPr>
          </a:p>
        </p:txBody>
      </p:sp>
      <p:sp>
        <p:nvSpPr>
          <p:cNvPr id="14" name="TextBox 13"/>
          <p:cNvSpPr txBox="1"/>
          <p:nvPr/>
        </p:nvSpPr>
        <p:spPr>
          <a:xfrm>
            <a:off x="720000" y="9630000"/>
            <a:ext cx="5400000" cy="270000"/>
          </a:xfrm>
          <a:prstGeom prst="rect">
            <a:avLst/>
          </a:prstGeom>
          <a:noFill/>
        </p:spPr>
        <p:txBody>
          <a:bodyPr lIns="0" tIns="45738" rIns="0" bIns="45738">
            <a:spAutoFit/>
          </a:bodyPr>
          <a:lstStyle/>
          <a:p>
            <a:pPr algn="r" eaLnBrk="0" hangingPunct="0">
              <a:spcBef>
                <a:spcPct val="50000"/>
              </a:spcBef>
              <a:tabLst>
                <a:tab pos="8796668" algn="r"/>
              </a:tabLst>
              <a:defRPr/>
            </a:pPr>
            <a:r>
              <a:rPr lang="en-GB" sz="1200" dirty="0">
                <a:solidFill>
                  <a:schemeClr val="accent4"/>
                </a:solidFill>
                <a:latin typeface="Arial" pitchFamily="34" charset="0"/>
                <a:cs typeface="Arial" pitchFamily="34" charset="0"/>
              </a:rPr>
              <a:t>Page </a:t>
            </a:r>
            <a:fld id="{5A994FC6-4CA0-47B1-908E-E307E7797130}" type="slidenum">
              <a:rPr lang="en-GB" sz="1200">
                <a:solidFill>
                  <a:schemeClr val="accent4"/>
                </a:solidFill>
                <a:latin typeface="Arial" pitchFamily="34" charset="0"/>
                <a:cs typeface="Arial" pitchFamily="34" charset="0"/>
              </a:rPr>
              <a:pPr algn="r" eaLnBrk="0" hangingPunct="0">
                <a:spcBef>
                  <a:spcPct val="50000"/>
                </a:spcBef>
                <a:tabLst>
                  <a:tab pos="8796668" algn="r"/>
                </a:tabLst>
                <a:defRPr/>
              </a:pPr>
              <a:t>‹#›</a:t>
            </a:fld>
            <a:endParaRPr lang="en-GB" sz="1200" dirty="0">
              <a:solidFill>
                <a:schemeClr val="accent4"/>
              </a:solidFill>
              <a:latin typeface="Arial" pitchFamily="34" charset="0"/>
              <a:cs typeface="Arial" pitchFamily="34" charset="0"/>
            </a:endParaRPr>
          </a:p>
        </p:txBody>
      </p:sp>
    </p:spTree>
    <p:extLst>
      <p:ext uri="{BB962C8B-B14F-4D97-AF65-F5344CB8AC3E}">
        <p14:creationId xmlns:p14="http://schemas.microsoft.com/office/powerpoint/2010/main" val="1804863772"/>
      </p:ext>
    </p:extLst>
  </p:cSld>
  <p:clrMap bg1="lt1" tx1="dk1" bg2="lt2" tx2="dk2" accent1="accent1" accent2="accent2" accent3="accent3" accent4="accent4" accent5="accent5" accent6="accent6" hlink="hlink" folHlink="folHlink"/>
  <p:hf hdr="0" dt="0"/>
  <p:notesStyle>
    <a:lvl1pPr marL="0" indent="0" algn="just" rtl="0" eaLnBrk="0" fontAlgn="base" hangingPunct="0">
      <a:spcBef>
        <a:spcPts val="600"/>
      </a:spcBef>
      <a:spcAft>
        <a:spcPts val="0"/>
      </a:spcAft>
      <a:buFont typeface="Arial" panose="020B0604020202020204" pitchFamily="34" charset="0"/>
      <a:buNone/>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Arial" pitchFamily="34" charset="0"/>
        <a:ea typeface="+mn-ea"/>
        <a:cs typeface="Arial" pitchFamily="34" charset="0"/>
      </a:defRPr>
    </a:lvl1pPr>
    <a:lvl2pPr marL="360000" indent="-180000" algn="just" rtl="0" eaLnBrk="0" fontAlgn="base" hangingPunct="0">
      <a:spcBef>
        <a:spcPts val="600"/>
      </a:spcBef>
      <a:spcAft>
        <a:spcPts val="0"/>
      </a:spcAft>
      <a:buFont typeface="Arial" panose="020B0604020202020204" pitchFamily="34" charset="0"/>
      <a:buChar char="•"/>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Arial" pitchFamily="34" charset="0"/>
        <a:ea typeface="+mn-ea"/>
        <a:cs typeface="Arial" pitchFamily="34" charset="0"/>
      </a:defRPr>
    </a:lvl2pPr>
    <a:lvl3pPr marL="360000" indent="-180000" algn="just" rtl="0" eaLnBrk="0" fontAlgn="base" hangingPunct="0">
      <a:spcBef>
        <a:spcPts val="600"/>
      </a:spcBef>
      <a:spcAft>
        <a:spcPct val="0"/>
      </a:spcAft>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Arial" pitchFamily="34" charset="0"/>
        <a:ea typeface="+mn-ea"/>
        <a:cs typeface="Arial" pitchFamily="34" charset="0"/>
      </a:defRPr>
    </a:lvl3pPr>
    <a:lvl4pPr marL="720000" indent="-180000" algn="just" rtl="0" eaLnBrk="0" fontAlgn="base" hangingPunct="0">
      <a:spcBef>
        <a:spcPts val="600"/>
      </a:spcBef>
      <a:spcAft>
        <a:spcPts val="0"/>
      </a:spcAft>
      <a:buFont typeface="Arial" panose="020B0604020202020204" pitchFamily="34" charset="0"/>
      <a:buChar char="•"/>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Arial" pitchFamily="34" charset="0"/>
        <a:ea typeface="+mn-ea"/>
        <a:cs typeface="Arial" pitchFamily="34" charset="0"/>
      </a:defRPr>
    </a:lvl4pPr>
    <a:lvl5pPr marL="1080000" indent="-180000" algn="just" rtl="0" eaLnBrk="0" fontAlgn="base" hangingPunct="0">
      <a:spcBef>
        <a:spcPts val="600"/>
      </a:spcBef>
      <a:spcAft>
        <a:spcPts val="0"/>
      </a:spcAft>
      <a:buFont typeface="Arial" panose="020B0604020202020204" pitchFamily="34" charset="0"/>
      <a:buChar char="•"/>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Arial" pitchFamily="34" charset="0"/>
        <a:ea typeface="+mn-ea"/>
        <a:cs typeface="Arial" pitchFamily="34" charset="0"/>
      </a:defRPr>
    </a:lvl5pPr>
    <a:lvl6pPr marL="1440000" indent="-180000" algn="l" defTabSz="914400" rtl="0" eaLnBrk="1" latinLnBrk="0" hangingPunct="1">
      <a:spcBef>
        <a:spcPts val="600"/>
      </a:spcBef>
      <a:spcAft>
        <a:spcPts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Short overview of topic…</a:t>
            </a:r>
          </a:p>
        </p:txBody>
      </p:sp>
      <p:sp>
        <p:nvSpPr>
          <p:cNvPr id="11" name="Slide Image Placeholder 10"/>
          <p:cNvSpPr>
            <a:spLocks noGrp="1" noRot="1" noChangeAspect="1"/>
          </p:cNvSpPr>
          <p:nvPr>
            <p:ph type="sldImg"/>
          </p:nvPr>
        </p:nvSpPr>
        <p:spPr>
          <a:xfrm>
            <a:off x="719138" y="450850"/>
            <a:ext cx="5394325" cy="4044950"/>
          </a:xfrm>
        </p:spPr>
      </p:sp>
    </p:spTree>
    <p:extLst>
      <p:ext uri="{BB962C8B-B14F-4D97-AF65-F5344CB8AC3E}">
        <p14:creationId xmlns:p14="http://schemas.microsoft.com/office/powerpoint/2010/main" val="3609641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64" name="Rectangle 8"/>
          <p:cNvSpPr>
            <a:spLocks noGrp="1" noChangeArrowheads="1"/>
          </p:cNvSpPr>
          <p:nvPr>
            <p:ph type="body" idx="1"/>
          </p:nvPr>
        </p:nvSpPr>
        <p:spPr>
          <a:xfrm>
            <a:off x="700843" y="4783308"/>
            <a:ext cx="5526917" cy="1202510"/>
          </a:xfrm>
          <a:ln/>
        </p:spPr>
        <p:txBody>
          <a:bodyPr>
            <a:spAutoFit/>
          </a:bodyPr>
          <a:lstStyle/>
          <a:p>
            <a:pPr defTabSz="739775"/>
            <a:endParaRPr lang="en-GB" dirty="0"/>
          </a:p>
        </p:txBody>
      </p:sp>
      <p:sp>
        <p:nvSpPr>
          <p:cNvPr id="403465" name="Rectangle 9"/>
          <p:cNvSpPr>
            <a:spLocks noGrp="1" noRot="1" noChangeAspect="1" noChangeArrowheads="1" noTextEdit="1"/>
          </p:cNvSpPr>
          <p:nvPr>
            <p:ph type="sldImg"/>
          </p:nvPr>
        </p:nvSpPr>
        <p:spPr>
          <a:xfrm>
            <a:off x="781050" y="744538"/>
            <a:ext cx="5205413" cy="3903662"/>
          </a:xfrm>
          <a:ln/>
        </p:spPr>
      </p:sp>
    </p:spTree>
    <p:extLst>
      <p:ext uri="{BB962C8B-B14F-4D97-AF65-F5344CB8AC3E}">
        <p14:creationId xmlns:p14="http://schemas.microsoft.com/office/powerpoint/2010/main" val="747928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719138" y="450850"/>
            <a:ext cx="5399087" cy="4049713"/>
          </a:xfrm>
          <a:ln/>
        </p:spPr>
      </p:sp>
      <p:sp>
        <p:nvSpPr>
          <p:cNvPr id="14339"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038435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7810" name="Rectangle 2"/>
          <p:cNvSpPr>
            <a:spLocks noGrp="1" noChangeArrowheads="1"/>
          </p:cNvSpPr>
          <p:nvPr>
            <p:ph type="body" idx="1"/>
          </p:nvPr>
        </p:nvSpPr>
        <p:spPr>
          <a:xfrm>
            <a:off x="600266" y="4783308"/>
            <a:ext cx="5627494" cy="4947407"/>
          </a:xfrm>
          <a:ln/>
          <a:extLst>
            <a:ext uri="{91240B29-F687-4F45-9708-019B960494DF}">
              <a14:hiddenLine xmlns:a14="http://schemas.microsoft.com/office/drawing/2010/main" w="12700">
                <a:solidFill>
                  <a:srgbClr val="000000"/>
                </a:solidFill>
                <a:miter lim="800000"/>
                <a:headEnd/>
                <a:tailEnd/>
              </a14:hiddenLine>
            </a:ext>
          </a:extLst>
        </p:spPr>
        <p:txBody>
          <a:bodyPr lIns="86260" tIns="43130" rIns="86260" bIns="43130">
            <a:spAutoFit/>
          </a:bodyPr>
          <a:lstStyle/>
          <a:p>
            <a:pPr defTabSz="739775"/>
            <a:r>
              <a:rPr lang="en-GB" altLang="en-US"/>
              <a:t>Why do we build models? Simply because they are cheaper than building the real thing. </a:t>
            </a:r>
          </a:p>
          <a:p>
            <a:pPr defTabSz="739775"/>
            <a:r>
              <a:rPr lang="en-GB" altLang="en-US"/>
              <a:t>Models have been built in many industries in order to ensure the success of the final product.  Builders of aeroplanes model the aerodynamic behaviour of planes before committing to construction.  Architects draw blueprints of floor layouts, and build scale models of houses, shops and office buildings before the construction crew start implementing the reality in bricks and mortar.  UML’s view of a model is based on that of OMT; it is an abstraction of something for the purpose of understanding it before building it. </a:t>
            </a:r>
          </a:p>
          <a:p>
            <a:pPr defTabSz="739775"/>
            <a:r>
              <a:rPr lang="en-GB" altLang="en-US"/>
              <a:t>Models are essential firstly for customer communication and secondly for team understanding.  Having a common reference of what is being described helps in most aspects of development, but it is particularly important in system development, where we are often creating things that have no physical comparison.  Having a common language to communicate and criticise ideas is probably the most important aspect of a development method.  The visualisation of what a system may do, before years of code have been developed, can substantially increase the quality of systems and code. </a:t>
            </a:r>
          </a:p>
          <a:p>
            <a:pPr defTabSz="739775"/>
            <a:r>
              <a:rPr lang="en-GB" altLang="en-US"/>
              <a:t>The human mind can only deal with a small number of concepts at once, then quickly forgets the decisions and ideas developed.  Managing, scoping and documenting complexity is a primary goal.  Most systems being developed today are too complex to understand directly.  UML models reduce complexity by separating out a small number of important things to deal with at a time.  This is done using a range of models and development phases, where the attention can be focused on the important issues at that point in the development. </a:t>
            </a:r>
          </a:p>
          <a:p>
            <a:pPr defTabSz="739775"/>
            <a:endParaRPr lang="en-GB" altLang="en-US"/>
          </a:p>
        </p:txBody>
      </p:sp>
      <p:sp>
        <p:nvSpPr>
          <p:cNvPr id="247811" name="Rectangle 3"/>
          <p:cNvSpPr>
            <a:spLocks noGrp="1" noRot="1" noChangeAspect="1" noChangeArrowheads="1" noTextEdit="1"/>
          </p:cNvSpPr>
          <p:nvPr>
            <p:ph type="sldImg"/>
          </p:nvPr>
        </p:nvSpPr>
        <p:spPr>
          <a:xfrm>
            <a:off x="779463" y="744538"/>
            <a:ext cx="5203825" cy="3903662"/>
          </a:xfrm>
          <a:ln/>
        </p:spPr>
      </p:sp>
    </p:spTree>
    <p:extLst>
      <p:ext uri="{BB962C8B-B14F-4D97-AF65-F5344CB8AC3E}">
        <p14:creationId xmlns:p14="http://schemas.microsoft.com/office/powerpoint/2010/main" val="1868369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62146" name="Rectangle 2"/>
          <p:cNvSpPr>
            <a:spLocks noGrp="1" noChangeArrowheads="1"/>
          </p:cNvSpPr>
          <p:nvPr>
            <p:ph type="body" idx="1"/>
          </p:nvPr>
        </p:nvSpPr>
        <p:spPr>
          <a:xfrm>
            <a:off x="600266" y="4783309"/>
            <a:ext cx="5627494" cy="4396067"/>
          </a:xfrm>
          <a:ln/>
          <a:extLst>
            <a:ext uri="{91240B29-F687-4F45-9708-019B960494DF}">
              <a14:hiddenLine xmlns:a14="http://schemas.microsoft.com/office/drawing/2010/main" w="12700">
                <a:solidFill>
                  <a:srgbClr val="000000"/>
                </a:solidFill>
                <a:miter lim="800000"/>
                <a:headEnd/>
                <a:tailEnd/>
              </a14:hiddenLine>
            </a:ext>
          </a:extLst>
        </p:spPr>
        <p:txBody>
          <a:bodyPr lIns="87303" tIns="44446" rIns="87303" bIns="44446">
            <a:spAutoFit/>
          </a:bodyPr>
          <a:lstStyle/>
          <a:p>
            <a:pPr defTabSz="739775"/>
            <a:r>
              <a:rPr lang="en-GB" altLang="en-US"/>
              <a:t>The Unified Process might not have distinct analysis and design phases or workflows, it does distinguish between analysis and design </a:t>
            </a:r>
            <a:r>
              <a:rPr lang="en-GB" altLang="en-US" i="1"/>
              <a:t>activities</a:t>
            </a:r>
            <a:r>
              <a:rPr lang="en-GB" altLang="en-US"/>
              <a:t>.  These may well be done in close proximity. Prototyping is a design activity, as is deciding on architecture, yet these are done while requirements are being modelled. </a:t>
            </a:r>
          </a:p>
          <a:p>
            <a:pPr defTabSz="739775"/>
            <a:r>
              <a:rPr lang="en-GB" altLang="en-US"/>
              <a:t>Analysis is about understanding and making that understanding clear.  The analysis process is about developing and deepening that understanding and verifying that it is consistent with the domain experts’ views.  Although the analysis should not propose a solution or design, a good analysis model usually looks like a reasonable solution.  The most important differential between analysis and design is that the design of a solution should be constrained by the understanding gained by analysis, but not by the representation of analysis.</a:t>
            </a:r>
          </a:p>
          <a:p>
            <a:pPr defTabSz="739775"/>
            <a:r>
              <a:rPr lang="en-GB" altLang="en-US"/>
              <a:t>Design is about creating a specification that can be implemented, but that is conceptually consistent with the analysis.  This is usually a software specification of classes, associations, attributes, operations, methods, etc., but can equally be a hardware specification of types of components, connections, memory, interfaces or functions, or a wetware specification of jobs, relationships, documents, work flow or procedures.</a:t>
            </a:r>
          </a:p>
          <a:p>
            <a:pPr defTabSz="739775"/>
            <a:r>
              <a:rPr lang="en-GB" altLang="en-US"/>
              <a:t>Whereas the analysis should stress clarity, design must trade this off against performance, maintenance, reuse, etc.</a:t>
            </a:r>
          </a:p>
          <a:p>
            <a:pPr defTabSz="739775"/>
            <a:r>
              <a:rPr lang="en-GB" altLang="en-US"/>
              <a:t>As the analysis and design notations are identical, care must be taken by both writers and readers to ensure that the models are interpreted as intended.</a:t>
            </a:r>
          </a:p>
        </p:txBody>
      </p:sp>
      <p:sp>
        <p:nvSpPr>
          <p:cNvPr id="262147" name="Rectangle 3"/>
          <p:cNvSpPr>
            <a:spLocks noGrp="1" noRot="1" noChangeAspect="1" noChangeArrowheads="1" noTextEdit="1"/>
          </p:cNvSpPr>
          <p:nvPr>
            <p:ph type="sldImg"/>
          </p:nvPr>
        </p:nvSpPr>
        <p:spPr>
          <a:xfrm>
            <a:off x="779463" y="744538"/>
            <a:ext cx="5203825" cy="3903662"/>
          </a:xfrm>
          <a:ln/>
        </p:spPr>
      </p:sp>
    </p:spTree>
    <p:extLst>
      <p:ext uri="{BB962C8B-B14F-4D97-AF65-F5344CB8AC3E}">
        <p14:creationId xmlns:p14="http://schemas.microsoft.com/office/powerpoint/2010/main" val="162552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53954" name="Rectangle 2"/>
          <p:cNvSpPr>
            <a:spLocks noGrp="1" noChangeArrowheads="1"/>
          </p:cNvSpPr>
          <p:nvPr>
            <p:ph type="body" idx="1"/>
          </p:nvPr>
        </p:nvSpPr>
        <p:spPr>
          <a:xfrm>
            <a:off x="600266" y="4783308"/>
            <a:ext cx="5627494" cy="1440678"/>
          </a:xfrm>
          <a:ln/>
          <a:extLst>
            <a:ext uri="{91240B29-F687-4F45-9708-019B960494DF}">
              <a14:hiddenLine xmlns:a14="http://schemas.microsoft.com/office/drawing/2010/main" w="12700">
                <a:solidFill>
                  <a:srgbClr val="000000"/>
                </a:solidFill>
                <a:miter lim="800000"/>
                <a:headEnd/>
                <a:tailEnd/>
              </a14:hiddenLine>
            </a:ext>
          </a:extLst>
        </p:spPr>
        <p:txBody>
          <a:bodyPr lIns="86260" tIns="43130" rIns="86260" bIns="43130">
            <a:spAutoFit/>
          </a:bodyPr>
          <a:lstStyle/>
          <a:p>
            <a:pPr defTabSz="739775"/>
            <a:r>
              <a:rPr lang="en-GB" altLang="en-US"/>
              <a:t>The UML is not a method, it is only a language.  However UML has the advantages of being a better, more complete, less ambiguous notation than its predecessors, and can be customised more easily while retaining widespread consulting, training and CASE tool support.</a:t>
            </a:r>
          </a:p>
          <a:p>
            <a:pPr defTabSz="739775"/>
            <a:r>
              <a:rPr lang="en-GB" altLang="en-US"/>
              <a:t>The Unified Process was created by the UML authors to guide development organisations in ways of applying UML.  It specifies a lifecycle, workflows and much more besides.</a:t>
            </a:r>
          </a:p>
        </p:txBody>
      </p:sp>
      <p:sp>
        <p:nvSpPr>
          <p:cNvPr id="253955" name="Rectangle 3"/>
          <p:cNvSpPr>
            <a:spLocks noGrp="1" noRot="1" noChangeAspect="1" noChangeArrowheads="1" noTextEdit="1"/>
          </p:cNvSpPr>
          <p:nvPr>
            <p:ph type="sldImg"/>
          </p:nvPr>
        </p:nvSpPr>
        <p:spPr>
          <a:xfrm>
            <a:off x="779463" y="744538"/>
            <a:ext cx="5203825" cy="3903662"/>
          </a:xfrm>
          <a:ln/>
        </p:spPr>
      </p:sp>
    </p:spTree>
    <p:extLst>
      <p:ext uri="{BB962C8B-B14F-4D97-AF65-F5344CB8AC3E}">
        <p14:creationId xmlns:p14="http://schemas.microsoft.com/office/powerpoint/2010/main" val="987674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56002" name="Rectangle 2"/>
          <p:cNvSpPr>
            <a:spLocks noGrp="1" noChangeArrowheads="1"/>
          </p:cNvSpPr>
          <p:nvPr>
            <p:ph type="body" idx="1"/>
          </p:nvPr>
        </p:nvSpPr>
        <p:spPr>
          <a:xfrm>
            <a:off x="600266" y="4783308"/>
            <a:ext cx="5627494" cy="3405318"/>
          </a:xfrm>
          <a:ln/>
          <a:extLst>
            <a:ext uri="{91240B29-F687-4F45-9708-019B960494DF}">
              <a14:hiddenLine xmlns:a14="http://schemas.microsoft.com/office/drawing/2010/main" w="12700">
                <a:solidFill>
                  <a:srgbClr val="000000"/>
                </a:solidFill>
                <a:miter lim="800000"/>
                <a:headEnd/>
                <a:tailEnd/>
              </a14:hiddenLine>
            </a:ext>
          </a:extLst>
        </p:spPr>
        <p:txBody>
          <a:bodyPr lIns="86260" tIns="43130" rIns="86260" bIns="43130">
            <a:spAutoFit/>
          </a:bodyPr>
          <a:lstStyle/>
          <a:p>
            <a:pPr defTabSz="739775"/>
            <a:r>
              <a:rPr lang="en-GB" altLang="en-US"/>
              <a:t>OO modelling languages (and books) multiplied in the early  90’s e.g.Wirfs-Brock, Coad/Yourdon, Booch, OMT, Odell/Martin, Jacobson, Shlear Mellor.  The diversity  bread innovation but also some confusion.  By 1994 there were many similar concepts, incompatible notation and few support tools. </a:t>
            </a:r>
          </a:p>
          <a:p>
            <a:pPr defTabSz="739775"/>
            <a:r>
              <a:rPr lang="en-GB" altLang="en-US"/>
              <a:t>Late 94. 	Rumbaugh joins Booch at Rational</a:t>
            </a:r>
          </a:p>
          <a:p>
            <a:pPr defTabSz="739775"/>
            <a:r>
              <a:rPr lang="en-GB" altLang="en-US"/>
              <a:t>Late 95.	Rumbaugh and Booch produce "Unified Method" 0.8</a:t>
            </a:r>
          </a:p>
          <a:p>
            <a:pPr defTabSz="739775"/>
            <a:r>
              <a:rPr lang="en-GB" altLang="en-US"/>
              <a:t>	Jacobson joins Rational - "The Three Amigos"</a:t>
            </a:r>
          </a:p>
          <a:p>
            <a:pPr defTabSz="739775"/>
            <a:r>
              <a:rPr lang="en-GB" altLang="en-US"/>
              <a:t>1996:	OMG Issues RFP, Amigos release UML 0.9 and 0.91</a:t>
            </a:r>
          </a:p>
          <a:p>
            <a:pPr defTabSz="739775"/>
            <a:r>
              <a:rPr lang="en-GB" altLang="en-US"/>
              <a:t>	UML Partners to work on UML 1.0</a:t>
            </a:r>
          </a:p>
          <a:p>
            <a:pPr defTabSz="739775"/>
            <a:r>
              <a:rPr lang="en-GB" altLang="en-US"/>
              <a:t>Jan 1997:	Submission to the OMG.</a:t>
            </a:r>
          </a:p>
          <a:p>
            <a:pPr defTabSz="739775"/>
            <a:r>
              <a:rPr lang="en-GB" altLang="en-US"/>
              <a:t>Nov 1997:	OMG adopts UML 1.1</a:t>
            </a:r>
          </a:p>
          <a:p>
            <a:pPr defTabSz="739775"/>
            <a:r>
              <a:rPr lang="en-GB" altLang="en-US"/>
              <a:t>	</a:t>
            </a:r>
          </a:p>
          <a:p>
            <a:pPr defTabSz="739775"/>
            <a:r>
              <a:rPr lang="en-GB" altLang="en-US"/>
              <a:t>The UML notation has reused the best bits of the above methods, while drawing on the experience of the main authors of OMT, Booch and OOSE, and has evolved through early drafts, using feedback from the industry at large.</a:t>
            </a:r>
          </a:p>
        </p:txBody>
      </p:sp>
      <p:sp>
        <p:nvSpPr>
          <p:cNvPr id="256003" name="Rectangle 3"/>
          <p:cNvSpPr>
            <a:spLocks noGrp="1" noRot="1" noChangeAspect="1" noChangeArrowheads="1" noTextEdit="1"/>
          </p:cNvSpPr>
          <p:nvPr>
            <p:ph type="sldImg"/>
          </p:nvPr>
        </p:nvSpPr>
        <p:spPr>
          <a:xfrm>
            <a:off x="779463" y="744538"/>
            <a:ext cx="5203825" cy="3903662"/>
          </a:xfrm>
          <a:ln/>
        </p:spPr>
      </p:sp>
    </p:spTree>
    <p:extLst>
      <p:ext uri="{BB962C8B-B14F-4D97-AF65-F5344CB8AC3E}">
        <p14:creationId xmlns:p14="http://schemas.microsoft.com/office/powerpoint/2010/main" val="326051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xfrm>
            <a:off x="779463" y="744538"/>
            <a:ext cx="5203825" cy="3903662"/>
          </a:xfrm>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pitchFamily="34" charset="0"/>
            </a:endParaRPr>
          </a:p>
        </p:txBody>
      </p:sp>
    </p:spTree>
    <p:extLst>
      <p:ext uri="{BB962C8B-B14F-4D97-AF65-F5344CB8AC3E}">
        <p14:creationId xmlns:p14="http://schemas.microsoft.com/office/powerpoint/2010/main" val="2351772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64194" name="Rectangle 2"/>
          <p:cNvSpPr>
            <a:spLocks noGrp="1" noChangeArrowheads="1"/>
          </p:cNvSpPr>
          <p:nvPr>
            <p:ph type="body" idx="1"/>
          </p:nvPr>
        </p:nvSpPr>
        <p:spPr>
          <a:xfrm>
            <a:off x="600266" y="4783309"/>
            <a:ext cx="5627494" cy="1132260"/>
          </a:xfrm>
          <a:ln/>
          <a:extLst>
            <a:ext uri="{91240B29-F687-4F45-9708-019B960494DF}">
              <a14:hiddenLine xmlns:a14="http://schemas.microsoft.com/office/drawing/2010/main" w="12700">
                <a:solidFill>
                  <a:srgbClr val="000000"/>
                </a:solidFill>
                <a:miter lim="800000"/>
                <a:headEnd/>
                <a:tailEnd/>
              </a14:hiddenLine>
            </a:ext>
          </a:extLst>
        </p:spPr>
        <p:txBody>
          <a:bodyPr lIns="86260" tIns="43130" rIns="86260" bIns="43130">
            <a:spAutoFit/>
          </a:bodyPr>
          <a:lstStyle/>
          <a:p>
            <a:pPr defTabSz="739775"/>
            <a:r>
              <a:rPr lang="en-GB" altLang="en-US"/>
              <a:t>An actor is any person, organisation, system or device that is outside the system boundary, but that interacts, directly or indirectly, with the system.  For example, a guest interacts with an hotel system.</a:t>
            </a:r>
          </a:p>
          <a:p>
            <a:pPr defTabSz="739775"/>
            <a:r>
              <a:rPr lang="en-GB" altLang="en-US"/>
              <a:t> A Use Case is a  high-level view of an actor’s use of the system.</a:t>
            </a:r>
          </a:p>
          <a:p>
            <a:pPr defTabSz="739775"/>
            <a:r>
              <a:rPr lang="en-GB" altLang="en-US"/>
              <a:t>It is vitally important to have a well-specified system boundary. </a:t>
            </a:r>
          </a:p>
        </p:txBody>
      </p:sp>
      <p:sp>
        <p:nvSpPr>
          <p:cNvPr id="264195" name="Rectangle 3"/>
          <p:cNvSpPr>
            <a:spLocks noGrp="1" noRot="1" noChangeAspect="1" noChangeArrowheads="1" noTextEdit="1"/>
          </p:cNvSpPr>
          <p:nvPr>
            <p:ph type="sldImg"/>
          </p:nvPr>
        </p:nvSpPr>
        <p:spPr>
          <a:xfrm>
            <a:off x="779463" y="744538"/>
            <a:ext cx="5203825" cy="3903662"/>
          </a:xfrm>
          <a:ln/>
        </p:spPr>
      </p:sp>
    </p:spTree>
    <p:extLst>
      <p:ext uri="{BB962C8B-B14F-4D97-AF65-F5344CB8AC3E}">
        <p14:creationId xmlns:p14="http://schemas.microsoft.com/office/powerpoint/2010/main" val="2584034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xfrm>
            <a:off x="779463" y="717550"/>
            <a:ext cx="5270500" cy="3952875"/>
          </a:xfrm>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mtClean="0"/>
              <a:t>All Agile frameworks have the high-level requirements expressed as business processes. These may be Elementary Business Processes(EBP) (DSDM), Use Cases or User Stories (XP and Scrum).</a:t>
            </a:r>
          </a:p>
          <a:p>
            <a:endParaRPr lang="en-GB" smtClean="0"/>
          </a:p>
          <a:p>
            <a:r>
              <a:rPr lang="en-GB" smtClean="0"/>
              <a:t>All these requirements are effectively defined the same way – 1 person, 1 session, 1 ‘sitting’.</a:t>
            </a:r>
          </a:p>
          <a:p>
            <a:endParaRPr lang="en-GB" smtClean="0"/>
          </a:p>
          <a:p>
            <a:r>
              <a:rPr lang="en-GB" smtClean="0"/>
              <a:t>If using UML in your Agile framework, then you will use Use Cases that are a 1-1 mapping from EBP.</a:t>
            </a:r>
          </a:p>
          <a:p>
            <a:endParaRPr lang="en-GB" smtClean="0"/>
          </a:p>
          <a:p>
            <a:r>
              <a:rPr lang="en-GB" smtClean="0"/>
              <a:t>Necessary EBP are obtained from Business Process Modelling with Activity Diagrams</a:t>
            </a:r>
          </a:p>
        </p:txBody>
      </p:sp>
    </p:spTree>
    <p:extLst>
      <p:ext uri="{BB962C8B-B14F-4D97-AF65-F5344CB8AC3E}">
        <p14:creationId xmlns:p14="http://schemas.microsoft.com/office/powerpoint/2010/main" val="348697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66242" name="Rectangle 2"/>
          <p:cNvSpPr>
            <a:spLocks noGrp="1" noChangeArrowheads="1"/>
          </p:cNvSpPr>
          <p:nvPr>
            <p:ph type="body" idx="1"/>
          </p:nvPr>
        </p:nvSpPr>
        <p:spPr>
          <a:xfrm>
            <a:off x="600266" y="4783308"/>
            <a:ext cx="5627494" cy="2485836"/>
          </a:xfrm>
          <a:ln/>
          <a:extLst>
            <a:ext uri="{91240B29-F687-4F45-9708-019B960494DF}">
              <a14:hiddenLine xmlns:a14="http://schemas.microsoft.com/office/drawing/2010/main" w="12700">
                <a:solidFill>
                  <a:srgbClr val="000000"/>
                </a:solidFill>
                <a:miter lim="800000"/>
                <a:headEnd/>
                <a:tailEnd/>
              </a14:hiddenLine>
            </a:ext>
          </a:extLst>
        </p:spPr>
        <p:txBody>
          <a:bodyPr lIns="86260" tIns="43130" rIns="86260" bIns="43130">
            <a:spAutoFit/>
          </a:bodyPr>
          <a:lstStyle/>
          <a:p>
            <a:pPr defTabSz="739775"/>
            <a:r>
              <a:rPr lang="en-GB" altLang="en-US"/>
              <a:t>The class diagram is the repository of the majority of analysis and design information.  It initially contains a whole system perspective, gathered from all the Use Cases (each of which has provided a more limited perspective).  All new discoveries throughout the rest of analysis will be added to the class diagram.</a:t>
            </a:r>
          </a:p>
          <a:p>
            <a:pPr defTabSz="739775"/>
            <a:r>
              <a:rPr lang="en-GB" altLang="en-US"/>
              <a:t>The classes will all be business entities that are recognisable to domain experts and users.</a:t>
            </a:r>
          </a:p>
          <a:p>
            <a:pPr defTabSz="739775"/>
            <a:r>
              <a:rPr lang="en-GB" altLang="en-US"/>
              <a:t>The model above is showing that cards are part of a collection of cards.  Collections of cards can be found in four different kinds; deck, hand, discard pile and draw pile.</a:t>
            </a:r>
          </a:p>
          <a:p>
            <a:pPr defTabSz="739775"/>
            <a:r>
              <a:rPr lang="en-GB" altLang="en-US"/>
              <a:t>The deck, hand, discard pile and draw pile do everything that the collection of cards does and more.  Deck, hand, discard pile and draw pile all initialise in their own way.</a:t>
            </a:r>
          </a:p>
        </p:txBody>
      </p:sp>
      <p:sp>
        <p:nvSpPr>
          <p:cNvPr id="266243" name="Rectangle 3"/>
          <p:cNvSpPr>
            <a:spLocks noGrp="1" noRot="1" noChangeAspect="1" noChangeArrowheads="1" noTextEdit="1"/>
          </p:cNvSpPr>
          <p:nvPr>
            <p:ph type="sldImg"/>
          </p:nvPr>
        </p:nvSpPr>
        <p:spPr>
          <a:xfrm>
            <a:off x="779463" y="744538"/>
            <a:ext cx="5203825" cy="3903662"/>
          </a:xfrm>
          <a:ln/>
        </p:spPr>
      </p:sp>
    </p:spTree>
    <p:extLst>
      <p:ext uri="{BB962C8B-B14F-4D97-AF65-F5344CB8AC3E}">
        <p14:creationId xmlns:p14="http://schemas.microsoft.com/office/powerpoint/2010/main" val="3316619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68290" name="Rectangle 2"/>
          <p:cNvSpPr>
            <a:spLocks noGrp="1" noChangeArrowheads="1"/>
          </p:cNvSpPr>
          <p:nvPr>
            <p:ph type="body" idx="1"/>
          </p:nvPr>
        </p:nvSpPr>
        <p:spPr>
          <a:xfrm>
            <a:off x="600266" y="4783309"/>
            <a:ext cx="5627494" cy="2609588"/>
          </a:xfrm>
          <a:ln/>
          <a:extLst>
            <a:ext uri="{91240B29-F687-4F45-9708-019B960494DF}">
              <a14:hiddenLine xmlns:a14="http://schemas.microsoft.com/office/drawing/2010/main" w="12700">
                <a:solidFill>
                  <a:srgbClr val="000000"/>
                </a:solidFill>
                <a:miter lim="800000"/>
                <a:headEnd/>
                <a:tailEnd/>
              </a14:hiddenLine>
            </a:ext>
          </a:extLst>
        </p:spPr>
        <p:txBody>
          <a:bodyPr lIns="86260" tIns="43130" rIns="86260" bIns="43130">
            <a:spAutoFit/>
          </a:bodyPr>
          <a:lstStyle/>
          <a:p>
            <a:pPr defTabSz="739775"/>
            <a:r>
              <a:rPr lang="en-GB" altLang="en-US"/>
              <a:t>The use cases and basic class diagrams are not in themselves enough to understand the problem domain, specify a design or understand an existing system.  The use case diagram, while describing the functionality of a system, does so at such a high level, that detailed understanding of the functionality is simply not present.  Similarly, the basic class diagram really supplies us with a list of domain terms, but neither adequately describes what they mean, nor how they interact.  We will look at building this understanding, i.e. it provides a more detailed functional view of the system, a better description of our domain terms, and a model of how these domain items interact dynamically.</a:t>
            </a:r>
          </a:p>
          <a:p>
            <a:pPr defTabSz="739775"/>
            <a:r>
              <a:rPr lang="en-GB" altLang="en-US"/>
              <a:t>Scenarios are examples of an actor exercising a use case.</a:t>
            </a:r>
          </a:p>
          <a:p>
            <a:pPr defTabSz="739775"/>
            <a:r>
              <a:rPr lang="en-GB" altLang="en-US"/>
              <a:t>Sequence diagrams show the interactions between the actor and the objects within the system for a single scenario.  These interactions are in the form of messages (events) between objects.</a:t>
            </a:r>
          </a:p>
        </p:txBody>
      </p:sp>
      <p:sp>
        <p:nvSpPr>
          <p:cNvPr id="268291" name="Rectangle 3"/>
          <p:cNvSpPr>
            <a:spLocks noGrp="1" noRot="1" noChangeAspect="1" noChangeArrowheads="1" noTextEdit="1"/>
          </p:cNvSpPr>
          <p:nvPr>
            <p:ph type="sldImg"/>
          </p:nvPr>
        </p:nvSpPr>
        <p:spPr>
          <a:xfrm>
            <a:off x="779463" y="744538"/>
            <a:ext cx="5203825" cy="3903662"/>
          </a:xfrm>
          <a:ln/>
        </p:spPr>
      </p:sp>
    </p:spTree>
    <p:extLst>
      <p:ext uri="{BB962C8B-B14F-4D97-AF65-F5344CB8AC3E}">
        <p14:creationId xmlns:p14="http://schemas.microsoft.com/office/powerpoint/2010/main" val="3520435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12" name="Rectangle 8"/>
          <p:cNvSpPr>
            <a:spLocks noGrp="1" noChangeArrowheads="1"/>
          </p:cNvSpPr>
          <p:nvPr>
            <p:ph type="body" idx="1"/>
          </p:nvPr>
        </p:nvSpPr>
        <p:spPr>
          <a:xfrm>
            <a:off x="700843" y="4783308"/>
            <a:ext cx="5526917" cy="279180"/>
          </a:xfrm>
          <a:ln/>
        </p:spPr>
        <p:txBody>
          <a:bodyPr>
            <a:spAutoFit/>
          </a:bodyPr>
          <a:lstStyle/>
          <a:p>
            <a:pPr defTabSz="739775"/>
            <a:endParaRPr lang="en-US"/>
          </a:p>
        </p:txBody>
      </p:sp>
      <p:sp>
        <p:nvSpPr>
          <p:cNvPr id="405513" name="Rectangle 9"/>
          <p:cNvSpPr>
            <a:spLocks noGrp="1" noRot="1" noChangeAspect="1" noChangeArrowheads="1" noTextEdit="1"/>
          </p:cNvSpPr>
          <p:nvPr>
            <p:ph type="sldImg"/>
          </p:nvPr>
        </p:nvSpPr>
        <p:spPr>
          <a:xfrm>
            <a:off x="781050" y="744538"/>
            <a:ext cx="5205413" cy="3903662"/>
          </a:xfrm>
          <a:ln/>
        </p:spPr>
      </p:sp>
    </p:spTree>
    <p:extLst>
      <p:ext uri="{BB962C8B-B14F-4D97-AF65-F5344CB8AC3E}">
        <p14:creationId xmlns:p14="http://schemas.microsoft.com/office/powerpoint/2010/main" val="3594937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7554" name="Rectangle 2"/>
          <p:cNvSpPr>
            <a:spLocks noGrp="1" noRot="1" noChangeAspect="1" noChangeArrowheads="1" noTextEdit="1"/>
          </p:cNvSpPr>
          <p:nvPr>
            <p:ph type="sldImg"/>
          </p:nvPr>
        </p:nvSpPr>
        <p:spPr>
          <a:xfrm>
            <a:off x="781050" y="744538"/>
            <a:ext cx="5205413" cy="3903662"/>
          </a:xfrm>
          <a:ln/>
        </p:spPr>
      </p:sp>
      <p:sp>
        <p:nvSpPr>
          <p:cNvPr id="407555" name="Rectangle 3"/>
          <p:cNvSpPr>
            <a:spLocks noChangeArrowheads="1"/>
          </p:cNvSpPr>
          <p:nvPr/>
        </p:nvSpPr>
        <p:spPr bwMode="auto">
          <a:xfrm>
            <a:off x="897206" y="4724628"/>
            <a:ext cx="5009667" cy="280846"/>
          </a:xfrm>
          <a:prstGeom prst="rect">
            <a:avLst/>
          </a:prstGeom>
          <a:noFill/>
          <a:ln w="9525">
            <a:noFill/>
            <a:miter lim="800000"/>
            <a:headEnd/>
            <a:tailEnd/>
          </a:ln>
          <a:effectLst/>
        </p:spPr>
        <p:txBody>
          <a:bodyPr lIns="93662" tIns="47625" rIns="93662" bIns="47625">
            <a:spAutoFit/>
          </a:bodyPr>
          <a:lstStyle/>
          <a:p>
            <a:pPr algn="just" defTabSz="952500">
              <a:spcBef>
                <a:spcPct val="25000"/>
              </a:spcBef>
            </a:pPr>
            <a:endParaRPr lang="en-GB" sz="1200"/>
          </a:p>
        </p:txBody>
      </p:sp>
    </p:spTree>
    <p:extLst>
      <p:ext uri="{BB962C8B-B14F-4D97-AF65-F5344CB8AC3E}">
        <p14:creationId xmlns:p14="http://schemas.microsoft.com/office/powerpoint/2010/main" val="3647475041"/>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xfrm>
            <a:off x="781050" y="744538"/>
            <a:ext cx="5205413" cy="3903662"/>
          </a:xfrm>
          <a:ln/>
        </p:spPr>
      </p:sp>
      <p:sp>
        <p:nvSpPr>
          <p:cNvPr id="409603" name="Rectangle 3"/>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09604" name="Rectangle 4"/>
          <p:cNvSpPr>
            <a:spLocks noChangeArrowheads="1"/>
          </p:cNvSpPr>
          <p:nvPr/>
        </p:nvSpPr>
        <p:spPr bwMode="auto">
          <a:xfrm>
            <a:off x="716808" y="4826130"/>
            <a:ext cx="5910066" cy="1290097"/>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In order to keep the logic of the calling code simple each calls needs to have an operation with the same signature. It may be possible to simply rename some of the operations, alternatively an additional operations can be added that wraps the original.</a:t>
            </a: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2255564818"/>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650" name="Rectangle 2"/>
          <p:cNvSpPr>
            <a:spLocks noGrp="1" noRot="1" noChangeAspect="1" noChangeArrowheads="1" noTextEdit="1"/>
          </p:cNvSpPr>
          <p:nvPr>
            <p:ph type="sldImg"/>
          </p:nvPr>
        </p:nvSpPr>
        <p:spPr>
          <a:xfrm>
            <a:off x="781050" y="744538"/>
            <a:ext cx="5205413" cy="3903662"/>
          </a:xfrm>
          <a:ln/>
        </p:spPr>
      </p:sp>
      <p:sp>
        <p:nvSpPr>
          <p:cNvPr id="411651" name="Rectangle 3"/>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11652" name="Rectangle 4"/>
          <p:cNvSpPr>
            <a:spLocks noChangeArrowheads="1"/>
          </p:cNvSpPr>
          <p:nvPr/>
        </p:nvSpPr>
        <p:spPr bwMode="auto">
          <a:xfrm>
            <a:off x="716808" y="4826130"/>
            <a:ext cx="5910066" cy="2121093"/>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When the logic is run the appropriate implementation will be invoked using dynamic binding. (i.e. at runtime the system does a behind the scenes lookup. It asks what kind of object is this? And then executes the appropriate method) e.g. C++ uses the v table to look up the appropriate function pointer.</a:t>
            </a:r>
          </a:p>
          <a:p>
            <a:pPr algn="just" defTabSz="739775">
              <a:spcBef>
                <a:spcPct val="25000"/>
              </a:spcBef>
            </a:pPr>
            <a:r>
              <a:rPr lang="en-GB" sz="1200">
                <a:solidFill>
                  <a:srgbClr val="000000"/>
                </a:solidFill>
              </a:rPr>
              <a:t>It is the dynamic binding that supports the removal of ifs and case statements. Each operation has the same name, inputs and outputs. E.g. the operation name for all of the classes above is getTax with no inputs parameters and a Money return.</a:t>
            </a: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2041018686"/>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3698" name="Rectangle 2"/>
          <p:cNvSpPr>
            <a:spLocks noGrp="1" noRot="1" noChangeAspect="1" noChangeArrowheads="1" noTextEdit="1"/>
          </p:cNvSpPr>
          <p:nvPr>
            <p:ph type="sldImg"/>
          </p:nvPr>
        </p:nvSpPr>
        <p:spPr>
          <a:xfrm>
            <a:off x="781050" y="744538"/>
            <a:ext cx="5205413" cy="3903662"/>
          </a:xfrm>
          <a:ln/>
        </p:spPr>
      </p:sp>
      <p:sp>
        <p:nvSpPr>
          <p:cNvPr id="413699" name="Rectangle 3"/>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13700" name="Rectangle 4"/>
          <p:cNvSpPr>
            <a:spLocks noChangeArrowheads="1"/>
          </p:cNvSpPr>
          <p:nvPr/>
        </p:nvSpPr>
        <p:spPr bwMode="auto">
          <a:xfrm>
            <a:off x="716808" y="4826131"/>
            <a:ext cx="5910066" cy="2921370"/>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The calling code invokes getTax on each object. The TaxOffice object does not care that some of these objects are deposit accounts, some are employees and some are cars. It only cares that they are taxable. </a:t>
            </a:r>
          </a:p>
          <a:p>
            <a:pPr algn="just" defTabSz="739775">
              <a:spcBef>
                <a:spcPct val="25000"/>
              </a:spcBef>
            </a:pPr>
            <a:r>
              <a:rPr lang="en-GB" sz="1200">
                <a:solidFill>
                  <a:srgbClr val="000000"/>
                </a:solidFill>
              </a:rPr>
              <a:t>By separating the interface from the implementation the taxoffice is only dependent on the interface and not the an entire class that includes both interface and implementation. So only if the interface changes (e.g. getTax requires a parameter) does this impact the tax office. If the bank account implements a new algorithm for calculating tax this will not impact the tax office as long as the operations specification stays the same.</a:t>
            </a:r>
          </a:p>
          <a:p>
            <a:pPr algn="just" defTabSz="739775">
              <a:spcBef>
                <a:spcPct val="25000"/>
              </a:spcBef>
            </a:pPr>
            <a:r>
              <a:rPr lang="en-GB" sz="1200">
                <a:solidFill>
                  <a:srgbClr val="000000"/>
                </a:solidFill>
              </a:rPr>
              <a:t>Note that the operation specification consist of the name of the operations, the parameters(their order) and the returns.</a:t>
            </a: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2627757591"/>
      </p:ext>
    </p:extLst>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52" name="Rectangle 8"/>
          <p:cNvSpPr>
            <a:spLocks noGrp="1" noRot="1" noChangeAspect="1" noChangeArrowheads="1" noTextEdit="1"/>
          </p:cNvSpPr>
          <p:nvPr>
            <p:ph type="sldImg"/>
          </p:nvPr>
        </p:nvSpPr>
        <p:spPr>
          <a:xfrm>
            <a:off x="781050" y="744538"/>
            <a:ext cx="5205413" cy="3903662"/>
          </a:xfrm>
          <a:ln/>
        </p:spPr>
      </p:sp>
      <p:sp>
        <p:nvSpPr>
          <p:cNvPr id="415753" name="Rectangle 9"/>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15754" name="Rectangle 10"/>
          <p:cNvSpPr>
            <a:spLocks noChangeArrowheads="1"/>
          </p:cNvSpPr>
          <p:nvPr/>
        </p:nvSpPr>
        <p:spPr bwMode="auto">
          <a:xfrm>
            <a:off x="716808" y="4826130"/>
            <a:ext cx="5910066" cy="966931"/>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a:t>
            </a: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
        <p:nvSpPr>
          <p:cNvPr id="415755" name="Rectangle 11"/>
          <p:cNvSpPr>
            <a:spLocks noChangeArrowheads="1"/>
          </p:cNvSpPr>
          <p:nvPr/>
        </p:nvSpPr>
        <p:spPr bwMode="auto">
          <a:xfrm>
            <a:off x="589092" y="4750003"/>
            <a:ext cx="5910066" cy="1936428"/>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Note that the operation specification consist of the name of the operations, the parameters. Some classes also share common logic i.e. common methods. Cheque accounts and deposit accounts may both have some common functionality to withdraw and deposit cash. Rather than duplicating this twice in both classes. It would make more sense to define this logic once.</a:t>
            </a:r>
          </a:p>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843999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800" name="Rectangle 8"/>
          <p:cNvSpPr>
            <a:spLocks noGrp="1" noRot="1" noChangeAspect="1" noChangeArrowheads="1" noTextEdit="1"/>
          </p:cNvSpPr>
          <p:nvPr>
            <p:ph type="sldImg"/>
          </p:nvPr>
        </p:nvSpPr>
        <p:spPr>
          <a:xfrm>
            <a:off x="781050" y="744538"/>
            <a:ext cx="5205413" cy="3903662"/>
          </a:xfrm>
          <a:ln/>
        </p:spPr>
      </p:sp>
      <p:sp>
        <p:nvSpPr>
          <p:cNvPr id="417801" name="Rectangle 9"/>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17802" name="Rectangle 10"/>
          <p:cNvSpPr>
            <a:spLocks noChangeArrowheads="1"/>
          </p:cNvSpPr>
          <p:nvPr/>
        </p:nvSpPr>
        <p:spPr bwMode="auto">
          <a:xfrm>
            <a:off x="589092" y="4750003"/>
            <a:ext cx="5910066" cy="1428596"/>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2412717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8" name="Rectangle 8"/>
          <p:cNvSpPr>
            <a:spLocks noGrp="1" noRot="1" noChangeAspect="1" noChangeArrowheads="1" noTextEdit="1"/>
          </p:cNvSpPr>
          <p:nvPr>
            <p:ph type="sldImg"/>
          </p:nvPr>
        </p:nvSpPr>
        <p:spPr>
          <a:xfrm>
            <a:off x="781050" y="744538"/>
            <a:ext cx="5205413" cy="3903662"/>
          </a:xfrm>
          <a:ln/>
        </p:spPr>
      </p:sp>
      <p:sp>
        <p:nvSpPr>
          <p:cNvPr id="419849" name="Rectangle 9"/>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19850" name="Rectangle 10"/>
          <p:cNvSpPr>
            <a:spLocks noChangeArrowheads="1"/>
          </p:cNvSpPr>
          <p:nvPr/>
        </p:nvSpPr>
        <p:spPr bwMode="auto">
          <a:xfrm>
            <a:off x="589092" y="4750003"/>
            <a:ext cx="5910066" cy="3865027"/>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One strategy that can be used to share functionality is using inheritance. The "is a kind of" rule and the substitutability rule should still apply.(see inheritance chapter)</a:t>
            </a:r>
          </a:p>
          <a:p>
            <a:pPr algn="just" defTabSz="739775">
              <a:spcBef>
                <a:spcPct val="25000"/>
              </a:spcBef>
            </a:pPr>
            <a:r>
              <a:rPr lang="en-GB" sz="1200">
                <a:solidFill>
                  <a:srgbClr val="000000"/>
                </a:solidFill>
              </a:rPr>
              <a:t>Inheritance allowance the sharing not only of operations but also of attributes , methods and associations. An interface is never instantiated. A parent class can be concrete or abstract. If concrete it can be instantiated.</a:t>
            </a:r>
          </a:p>
          <a:p>
            <a:pPr algn="just" defTabSz="739775">
              <a:spcBef>
                <a:spcPct val="25000"/>
              </a:spcBef>
            </a:pPr>
            <a:r>
              <a:rPr lang="en-GB" sz="1200">
                <a:solidFill>
                  <a:srgbClr val="000000"/>
                </a:solidFill>
              </a:rPr>
              <a:t>Inheriting from abstract classes has the advantage of greater extendibility than inheriting from concrete classes. Realising  interfaces is even more flexible still than inheriting from an abstract class. </a:t>
            </a:r>
          </a:p>
          <a:p>
            <a:pPr algn="just" defTabSz="739775">
              <a:spcBef>
                <a:spcPct val="25000"/>
              </a:spcBef>
            </a:pPr>
            <a:r>
              <a:rPr lang="en-GB" sz="1200">
                <a:solidFill>
                  <a:srgbClr val="000000"/>
                </a:solidFill>
              </a:rPr>
              <a:t>The only dependency between the realisation and the interface is the operations. The Realisation does not have any dependency on the common implementations only the common operations. This will improve maintainability of the system as we are reducing dependencies. If we make a change in the future it is less likely to impact other parts of the system.</a:t>
            </a:r>
          </a:p>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9853374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6" name="Rectangle 8"/>
          <p:cNvSpPr>
            <a:spLocks noGrp="1" noRot="1" noChangeAspect="1" noChangeArrowheads="1" noTextEdit="1"/>
          </p:cNvSpPr>
          <p:nvPr>
            <p:ph type="sldImg"/>
          </p:nvPr>
        </p:nvSpPr>
        <p:spPr>
          <a:xfrm>
            <a:off x="781050" y="744538"/>
            <a:ext cx="5205413" cy="3903662"/>
          </a:xfrm>
          <a:ln/>
        </p:spPr>
      </p:sp>
      <p:sp>
        <p:nvSpPr>
          <p:cNvPr id="421897" name="Rectangle 9"/>
          <p:cNvSpPr>
            <a:spLocks noGrp="1" noChangeArrowheads="1"/>
          </p:cNvSpPr>
          <p:nvPr>
            <p:ph type="body" idx="1"/>
          </p:nvPr>
        </p:nvSpPr>
        <p:spPr>
          <a:xfrm>
            <a:off x="700843" y="4783308"/>
            <a:ext cx="5526917" cy="2308582"/>
          </a:xfrm>
          <a:ln/>
        </p:spPr>
        <p:txBody>
          <a:bodyPr>
            <a:spAutoFit/>
          </a:bodyPr>
          <a:lstStyle/>
          <a:p>
            <a:pPr defTabSz="739775"/>
            <a:r>
              <a:rPr lang="en-GB"/>
              <a:t>Unfortunately, programming languages cannot enforce these semantic rules, and it is easy to find examples in commercial software that break these rules.  Sticking rigidly to these rules will make it easier for your classes to be understood.</a:t>
            </a:r>
          </a:p>
          <a:p>
            <a:pPr defTabSz="739775"/>
            <a:r>
              <a:rPr lang="en-GB"/>
              <a:t>An additional rule is that a subclass should never omit any of its superclasses' operations or attributes.  If even one operation or attribute does not make sense on a subclass, the inheritance hierarchy is wrong.  Not providing a method for an operation, or overriding a superclass method to do nothing indicates that the subclass behaves differently to the superclass. </a:t>
            </a:r>
          </a:p>
          <a:p>
            <a:pPr defTabSz="739775"/>
            <a:endParaRPr lang="en-GB"/>
          </a:p>
          <a:p>
            <a:pPr defTabSz="739775"/>
            <a:r>
              <a:rPr lang="en-GB"/>
              <a:t>The above 2 notations have identical meaning.</a:t>
            </a:r>
          </a:p>
        </p:txBody>
      </p:sp>
    </p:spTree>
    <p:extLst>
      <p:ext uri="{BB962C8B-B14F-4D97-AF65-F5344CB8AC3E}">
        <p14:creationId xmlns:p14="http://schemas.microsoft.com/office/powerpoint/2010/main" val="1302758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Rot="1" noChangeAspect="1" noChangeArrowheads="1" noTextEdit="1"/>
          </p:cNvSpPr>
          <p:nvPr>
            <p:ph type="sldImg"/>
          </p:nvPr>
        </p:nvSpPr>
        <p:spPr>
          <a:xfrm>
            <a:off x="781050" y="744538"/>
            <a:ext cx="5205413" cy="3903662"/>
          </a:xfrm>
          <a:ln/>
        </p:spPr>
      </p:sp>
      <p:sp>
        <p:nvSpPr>
          <p:cNvPr id="423939" name="Rectangle 3"/>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23940" name="Rectangle 4"/>
          <p:cNvSpPr>
            <a:spLocks noChangeArrowheads="1"/>
          </p:cNvSpPr>
          <p:nvPr/>
        </p:nvSpPr>
        <p:spPr bwMode="auto">
          <a:xfrm>
            <a:off x="589092" y="4750003"/>
            <a:ext cx="5910066" cy="1613262"/>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Interfaces can be replaced graphically by a named circle.  The definition of the interface is defined elsewhere, either graphically or in the repository of a CASE Tool.  </a:t>
            </a:r>
          </a:p>
          <a:p>
            <a:pPr algn="just" defTabSz="739775">
              <a:spcBef>
                <a:spcPct val="25000"/>
              </a:spcBef>
            </a:pPr>
            <a:endParaRPr lang="en-GB" sz="1200" b="1">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213960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8034" name="Rectangle 2"/>
          <p:cNvSpPr>
            <a:spLocks noGrp="1" noRot="1" noChangeAspect="1" noChangeArrowheads="1" noTextEdit="1"/>
          </p:cNvSpPr>
          <p:nvPr>
            <p:ph type="sldImg"/>
          </p:nvPr>
        </p:nvSpPr>
        <p:spPr>
          <a:xfrm>
            <a:off x="781050" y="744538"/>
            <a:ext cx="5205413" cy="3903662"/>
          </a:xfrm>
          <a:ln/>
        </p:spPr>
      </p:sp>
      <p:sp>
        <p:nvSpPr>
          <p:cNvPr id="428035" name="Rectangle 3"/>
          <p:cNvSpPr>
            <a:spLocks noGrp="1" noChangeArrowheads="1"/>
          </p:cNvSpPr>
          <p:nvPr>
            <p:ph type="body" idx="1"/>
          </p:nvPr>
        </p:nvSpPr>
        <p:spPr>
          <a:xfrm>
            <a:off x="700843" y="4783308"/>
            <a:ext cx="5526917" cy="894092"/>
          </a:xfrm>
          <a:ln/>
        </p:spPr>
        <p:txBody>
          <a:bodyPr>
            <a:spAutoFit/>
          </a:bodyPr>
          <a:lstStyle/>
          <a:p>
            <a:pPr defTabSz="739775"/>
            <a:r>
              <a:rPr lang="en-US"/>
              <a:t>The object offering the interface must give a response that does not surprise the client.</a:t>
            </a:r>
          </a:p>
          <a:p>
            <a:pPr defTabSz="739775"/>
            <a:r>
              <a:rPr lang="en-US"/>
              <a:t>If the response surprises the client, then you’ve lost the whole advantage of polymorphism as the client now has to be aware of the detail.</a:t>
            </a:r>
          </a:p>
        </p:txBody>
      </p:sp>
    </p:spTree>
    <p:extLst>
      <p:ext uri="{BB962C8B-B14F-4D97-AF65-F5344CB8AC3E}">
        <p14:creationId xmlns:p14="http://schemas.microsoft.com/office/powerpoint/2010/main" val="1446382416"/>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082" name="Rectangle 2"/>
          <p:cNvSpPr>
            <a:spLocks noGrp="1" noRot="1" noChangeAspect="1" noChangeArrowheads="1" noTextEdit="1"/>
          </p:cNvSpPr>
          <p:nvPr>
            <p:ph type="sldImg"/>
          </p:nvPr>
        </p:nvSpPr>
        <p:spPr>
          <a:xfrm>
            <a:off x="781050" y="744538"/>
            <a:ext cx="5205413" cy="3903662"/>
          </a:xfrm>
          <a:ln/>
        </p:spPr>
      </p:sp>
      <p:sp>
        <p:nvSpPr>
          <p:cNvPr id="430083" name="Rectangle 3"/>
          <p:cNvSpPr>
            <a:spLocks noGrp="1" noChangeArrowheads="1"/>
          </p:cNvSpPr>
          <p:nvPr>
            <p:ph type="body" idx="1"/>
          </p:nvPr>
        </p:nvSpPr>
        <p:spPr>
          <a:xfrm>
            <a:off x="700843" y="4783308"/>
            <a:ext cx="5526917" cy="1693670"/>
          </a:xfrm>
          <a:ln/>
        </p:spPr>
        <p:txBody>
          <a:bodyPr>
            <a:spAutoFit/>
          </a:bodyPr>
          <a:lstStyle/>
          <a:p>
            <a:pPr defTabSz="739775"/>
            <a:r>
              <a:rPr lang="en-GB" dirty="0"/>
              <a:t>In our example, the license authority application knows about many Trucks, Cars and </a:t>
            </a:r>
            <a:r>
              <a:rPr lang="en-GB" dirty="0" err="1"/>
              <a:t>MotorCycles</a:t>
            </a:r>
            <a:r>
              <a:rPr lang="en-GB" dirty="0"/>
              <a:t>. Objects of different types could be placed in a single collection.  The collection of different types of object can be viewed as a collection of Vehicles.</a:t>
            </a:r>
          </a:p>
          <a:p>
            <a:pPr defTabSz="739775"/>
            <a:r>
              <a:rPr lang="en-GB" dirty="0"/>
              <a:t>This is a very powerful view of the collection.  Each object is selected, its actual type unknown and it is treated as an </a:t>
            </a:r>
            <a:r>
              <a:rPr lang="en-GB" dirty="0" err="1"/>
              <a:t>IVehicle</a:t>
            </a:r>
            <a:r>
              <a:rPr lang="en-GB" dirty="0"/>
              <a:t> and asked to </a:t>
            </a:r>
            <a:r>
              <a:rPr lang="en-GB" dirty="0" err="1"/>
              <a:t>G</a:t>
            </a:r>
            <a:r>
              <a:rPr lang="en-GB" dirty="0" err="1" smtClean="0"/>
              <a:t>etRoadTax</a:t>
            </a:r>
            <a:r>
              <a:rPr lang="en-GB" dirty="0"/>
              <a:t>.</a:t>
            </a:r>
          </a:p>
          <a:p>
            <a:pPr defTabSz="739775"/>
            <a:r>
              <a:rPr lang="en-GB" dirty="0"/>
              <a:t>The message </a:t>
            </a:r>
            <a:r>
              <a:rPr lang="en-GB" dirty="0" err="1"/>
              <a:t>G</a:t>
            </a:r>
            <a:r>
              <a:rPr lang="en-GB" dirty="0" err="1" smtClean="0"/>
              <a:t>etRoadTax</a:t>
            </a:r>
            <a:r>
              <a:rPr lang="en-GB" dirty="0" smtClean="0"/>
              <a:t> </a:t>
            </a:r>
            <a:r>
              <a:rPr lang="en-GB" dirty="0"/>
              <a:t>is sent to each object (Vehicle) in turn, and each object fulfils the </a:t>
            </a:r>
            <a:r>
              <a:rPr lang="en-GB" dirty="0" err="1" smtClean="0"/>
              <a:t>IVehicle</a:t>
            </a:r>
            <a:r>
              <a:rPr lang="en-GB" dirty="0" smtClean="0"/>
              <a:t> </a:t>
            </a:r>
            <a:r>
              <a:rPr lang="en-GB" dirty="0"/>
              <a:t>contractual interface in its own way. </a:t>
            </a:r>
          </a:p>
        </p:txBody>
      </p:sp>
    </p:spTree>
    <p:extLst>
      <p:ext uri="{BB962C8B-B14F-4D97-AF65-F5344CB8AC3E}">
        <p14:creationId xmlns:p14="http://schemas.microsoft.com/office/powerpoint/2010/main" val="4000521411"/>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xfrm>
            <a:off x="781050" y="744538"/>
            <a:ext cx="5205413" cy="3903662"/>
          </a:xfrm>
          <a:ln/>
        </p:spPr>
      </p:sp>
      <p:sp>
        <p:nvSpPr>
          <p:cNvPr id="434179" name="Rectangle 3"/>
          <p:cNvSpPr>
            <a:spLocks noGrp="1" noChangeArrowheads="1"/>
          </p:cNvSpPr>
          <p:nvPr>
            <p:ph type="body" idx="1"/>
          </p:nvPr>
        </p:nvSpPr>
        <p:spPr>
          <a:xfrm>
            <a:off x="700843" y="4783308"/>
            <a:ext cx="5526917" cy="463846"/>
          </a:xfrm>
          <a:ln/>
        </p:spPr>
        <p:txBody>
          <a:bodyPr>
            <a:spAutoFit/>
          </a:bodyPr>
          <a:lstStyle/>
          <a:p>
            <a:pPr defTabSz="739775"/>
            <a:r>
              <a:rPr lang="en-US"/>
              <a:t>There are many concepts that we use in everyday life that certainly never manifest themselves as objects – they are just concepts.</a:t>
            </a:r>
          </a:p>
        </p:txBody>
      </p:sp>
    </p:spTree>
    <p:extLst>
      <p:ext uri="{BB962C8B-B14F-4D97-AF65-F5344CB8AC3E}">
        <p14:creationId xmlns:p14="http://schemas.microsoft.com/office/powerpoint/2010/main" val="872244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Rot="1" noChangeAspect="1" noChangeArrowheads="1" noTextEdit="1"/>
          </p:cNvSpPr>
          <p:nvPr>
            <p:ph type="sldImg"/>
          </p:nvPr>
        </p:nvSpPr>
        <p:spPr>
          <a:xfrm>
            <a:off x="781050" y="744538"/>
            <a:ext cx="5205413" cy="3903662"/>
          </a:xfrm>
          <a:ln/>
        </p:spPr>
      </p:sp>
      <p:sp>
        <p:nvSpPr>
          <p:cNvPr id="436227" name="Rectangle 3"/>
          <p:cNvSpPr>
            <a:spLocks noGrp="1" noChangeArrowheads="1"/>
          </p:cNvSpPr>
          <p:nvPr>
            <p:ph type="body" idx="1"/>
          </p:nvPr>
        </p:nvSpPr>
        <p:spPr>
          <a:xfrm>
            <a:off x="700843" y="4783308"/>
            <a:ext cx="5526917" cy="1324338"/>
          </a:xfrm>
          <a:ln/>
        </p:spPr>
        <p:txBody>
          <a:bodyPr>
            <a:spAutoFit/>
          </a:bodyPr>
          <a:lstStyle/>
          <a:p>
            <a:pPr defTabSz="739775"/>
            <a:r>
              <a:rPr lang="en-GB" dirty="0"/>
              <a:t>To the client there is absolutely no difference. The client has no awareness of how the </a:t>
            </a:r>
            <a:r>
              <a:rPr lang="en-GB" dirty="0" err="1"/>
              <a:t>CheckAccount</a:t>
            </a:r>
            <a:r>
              <a:rPr lang="en-GB" dirty="0"/>
              <a:t> object may be built.</a:t>
            </a:r>
          </a:p>
          <a:p>
            <a:pPr defTabSz="739775"/>
            <a:r>
              <a:rPr lang="en-GB" dirty="0"/>
              <a:t>If the </a:t>
            </a:r>
            <a:r>
              <a:rPr lang="en-GB" dirty="0" err="1"/>
              <a:t>CheckAccount</a:t>
            </a:r>
            <a:r>
              <a:rPr lang="en-GB" dirty="0"/>
              <a:t> object happens to be built using inheritance, then the author of the </a:t>
            </a:r>
            <a:r>
              <a:rPr lang="en-GB" dirty="0" err="1"/>
              <a:t>CheckAccount</a:t>
            </a:r>
            <a:r>
              <a:rPr lang="en-GB" dirty="0"/>
              <a:t> just programs by difference.</a:t>
            </a:r>
          </a:p>
          <a:p>
            <a:pPr defTabSz="739775"/>
            <a:r>
              <a:rPr lang="en-GB" dirty="0"/>
              <a:t>If the </a:t>
            </a:r>
            <a:r>
              <a:rPr lang="en-GB" dirty="0" err="1"/>
              <a:t>CheckAccount</a:t>
            </a:r>
            <a:r>
              <a:rPr lang="en-GB" dirty="0"/>
              <a:t> is built using just interface, then the author has to put in the code.</a:t>
            </a:r>
          </a:p>
        </p:txBody>
      </p:sp>
    </p:spTree>
    <p:extLst>
      <p:ext uri="{BB962C8B-B14F-4D97-AF65-F5344CB8AC3E}">
        <p14:creationId xmlns:p14="http://schemas.microsoft.com/office/powerpoint/2010/main" val="29961987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6" name="Rectangle 8"/>
          <p:cNvSpPr>
            <a:spLocks noGrp="1" noRot="1" noChangeAspect="1" noChangeArrowheads="1" noTextEdit="1"/>
          </p:cNvSpPr>
          <p:nvPr>
            <p:ph type="sldImg"/>
          </p:nvPr>
        </p:nvSpPr>
        <p:spPr>
          <a:xfrm>
            <a:off x="781050" y="744538"/>
            <a:ext cx="5205413" cy="3903662"/>
          </a:xfrm>
          <a:ln/>
        </p:spPr>
      </p:sp>
      <p:sp>
        <p:nvSpPr>
          <p:cNvPr id="442377" name="Rectangle 9"/>
          <p:cNvSpPr>
            <a:spLocks noGrp="1" noChangeArrowheads="1"/>
          </p:cNvSpPr>
          <p:nvPr>
            <p:ph type="body" idx="1"/>
          </p:nvPr>
        </p:nvSpPr>
        <p:spPr>
          <a:xfrm>
            <a:off x="700843" y="4783309"/>
            <a:ext cx="5526917" cy="1078758"/>
          </a:xfrm>
          <a:ln/>
        </p:spPr>
        <p:txBody>
          <a:bodyPr>
            <a:spAutoFit/>
          </a:bodyPr>
          <a:lstStyle/>
          <a:p>
            <a:pPr defTabSz="739775"/>
            <a:endParaRPr lang="en-GB" dirty="0"/>
          </a:p>
        </p:txBody>
      </p:sp>
    </p:spTree>
    <p:extLst>
      <p:ext uri="{BB962C8B-B14F-4D97-AF65-F5344CB8AC3E}">
        <p14:creationId xmlns:p14="http://schemas.microsoft.com/office/powerpoint/2010/main" val="17253341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6" name="Rectangle 8"/>
          <p:cNvSpPr>
            <a:spLocks noGrp="1" noRot="1" noChangeAspect="1" noChangeArrowheads="1" noTextEdit="1"/>
          </p:cNvSpPr>
          <p:nvPr>
            <p:ph type="sldImg"/>
          </p:nvPr>
        </p:nvSpPr>
        <p:spPr>
          <a:xfrm>
            <a:off x="781050" y="744538"/>
            <a:ext cx="5205413" cy="3903662"/>
          </a:xfrm>
          <a:ln/>
        </p:spPr>
      </p:sp>
      <p:sp>
        <p:nvSpPr>
          <p:cNvPr id="442377" name="Rectangle 9"/>
          <p:cNvSpPr>
            <a:spLocks noGrp="1" noChangeArrowheads="1"/>
          </p:cNvSpPr>
          <p:nvPr>
            <p:ph type="body" idx="1"/>
          </p:nvPr>
        </p:nvSpPr>
        <p:spPr>
          <a:xfrm>
            <a:off x="700843" y="4783309"/>
            <a:ext cx="5526917" cy="1078758"/>
          </a:xfrm>
          <a:ln/>
        </p:spPr>
        <p:txBody>
          <a:bodyPr>
            <a:spAutoFit/>
          </a:bodyPr>
          <a:lstStyle/>
          <a:p>
            <a:pPr defTabSz="739775"/>
            <a:endParaRPr lang="en-GB" dirty="0"/>
          </a:p>
        </p:txBody>
      </p:sp>
    </p:spTree>
    <p:extLst>
      <p:ext uri="{BB962C8B-B14F-4D97-AF65-F5344CB8AC3E}">
        <p14:creationId xmlns:p14="http://schemas.microsoft.com/office/powerpoint/2010/main" val="1401357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4" name="Rectangle 8"/>
          <p:cNvSpPr>
            <a:spLocks noGrp="1" noRot="1" noChangeAspect="1" noChangeArrowheads="1" noTextEdit="1"/>
          </p:cNvSpPr>
          <p:nvPr>
            <p:ph type="sldImg"/>
          </p:nvPr>
        </p:nvSpPr>
        <p:spPr>
          <a:xfrm>
            <a:off x="781050" y="744538"/>
            <a:ext cx="5205413" cy="3903662"/>
          </a:xfrm>
          <a:ln/>
        </p:spPr>
      </p:sp>
      <p:sp>
        <p:nvSpPr>
          <p:cNvPr id="444425" name="Rectangle 9"/>
          <p:cNvSpPr>
            <a:spLocks noGrp="1" noChangeArrowheads="1"/>
          </p:cNvSpPr>
          <p:nvPr>
            <p:ph type="body" idx="1"/>
          </p:nvPr>
        </p:nvSpPr>
        <p:spPr>
          <a:xfrm>
            <a:off x="700843" y="4783308"/>
            <a:ext cx="5526917" cy="4332213"/>
          </a:xfrm>
          <a:ln/>
        </p:spPr>
        <p:txBody>
          <a:bodyPr>
            <a:spAutoFit/>
          </a:bodyPr>
          <a:lstStyle/>
          <a:p>
            <a:pPr algn="l" defTabSz="739775">
              <a:lnSpc>
                <a:spcPct val="90000"/>
              </a:lnSpc>
            </a:pPr>
            <a:r>
              <a:rPr lang="en-GB" dirty="0"/>
              <a:t>The diamond is shown next to the class designated as the whole.  The other object is the part.  There is no need for an association name or role names; the aggregation defines that the whole 'is made up of', or 'contains', or 'has' the parts, and the parts 'are part of', 'are contained by' or 'belong to' the whole.</a:t>
            </a:r>
          </a:p>
          <a:p>
            <a:pPr algn="l" defTabSz="739775">
              <a:lnSpc>
                <a:spcPct val="90000"/>
              </a:lnSpc>
            </a:pPr>
            <a:r>
              <a:rPr lang="en-GB" dirty="0"/>
              <a:t>In an example of a Car to Chassis relationship, there is aggregation, because:</a:t>
            </a:r>
          </a:p>
          <a:p>
            <a:pPr algn="l" defTabSz="739775">
              <a:lnSpc>
                <a:spcPct val="90000"/>
              </a:lnSpc>
            </a:pPr>
            <a:r>
              <a:rPr lang="en-GB" dirty="0"/>
              <a:t>There is a whole-part relationship; the Car is a whole, the chassis part of it.</a:t>
            </a:r>
          </a:p>
          <a:p>
            <a:pPr algn="l" defTabSz="739775">
              <a:lnSpc>
                <a:spcPct val="90000"/>
              </a:lnSpc>
            </a:pPr>
            <a:r>
              <a:rPr lang="en-GB" dirty="0"/>
              <a:t>Chassis’ don't normally exist independently (except in a manufacturing situation).</a:t>
            </a:r>
          </a:p>
          <a:p>
            <a:pPr algn="l" defTabSz="739775">
              <a:lnSpc>
                <a:spcPct val="90000"/>
              </a:lnSpc>
            </a:pPr>
            <a:r>
              <a:rPr lang="en-GB" dirty="0"/>
              <a:t>If the Car is crushed in a junk yard, the Chassis would be crushed too.</a:t>
            </a:r>
          </a:p>
          <a:p>
            <a:pPr algn="l" defTabSz="739775">
              <a:lnSpc>
                <a:spcPct val="90000"/>
              </a:lnSpc>
            </a:pPr>
            <a:r>
              <a:rPr lang="en-GB" dirty="0"/>
              <a:t>To check a chassis number, you would first identify the Car.</a:t>
            </a:r>
          </a:p>
          <a:p>
            <a:pPr algn="l" defTabSz="739775">
              <a:lnSpc>
                <a:spcPct val="90000"/>
              </a:lnSpc>
            </a:pPr>
            <a:r>
              <a:rPr lang="en-GB" dirty="0"/>
              <a:t>If you drive the Car to Glasgow, the Chassis would go </a:t>
            </a:r>
            <a:r>
              <a:rPr lang="en-GB" dirty="0" smtClean="0"/>
              <a:t>as well.</a:t>
            </a:r>
            <a:endParaRPr lang="en-GB" dirty="0"/>
          </a:p>
          <a:p>
            <a:pPr algn="l" defTabSz="739775">
              <a:lnSpc>
                <a:spcPct val="90000"/>
              </a:lnSpc>
            </a:pPr>
            <a:endParaRPr lang="en-GB" dirty="0"/>
          </a:p>
          <a:p>
            <a:pPr algn="l" defTabSz="739775">
              <a:lnSpc>
                <a:spcPct val="90000"/>
              </a:lnSpc>
            </a:pPr>
            <a:r>
              <a:rPr lang="en-GB" dirty="0"/>
              <a:t>In an example of a Car to Driver relationship, there is not aggregation, because:</a:t>
            </a:r>
          </a:p>
          <a:p>
            <a:pPr algn="l" defTabSz="739775">
              <a:lnSpc>
                <a:spcPct val="90000"/>
              </a:lnSpc>
            </a:pPr>
            <a:r>
              <a:rPr lang="en-GB" dirty="0"/>
              <a:t>There is no whole-part relationship.</a:t>
            </a:r>
          </a:p>
          <a:p>
            <a:pPr algn="l" defTabSz="739775">
              <a:lnSpc>
                <a:spcPct val="90000"/>
              </a:lnSpc>
            </a:pPr>
            <a:r>
              <a:rPr lang="en-GB" dirty="0"/>
              <a:t>Each exists without the other.</a:t>
            </a:r>
          </a:p>
          <a:p>
            <a:pPr algn="l" defTabSz="739775">
              <a:lnSpc>
                <a:spcPct val="90000"/>
              </a:lnSpc>
            </a:pPr>
            <a:r>
              <a:rPr lang="en-GB" dirty="0"/>
              <a:t>Cars and Drivers are created and destroyed independently.</a:t>
            </a:r>
          </a:p>
          <a:p>
            <a:pPr algn="l" defTabSz="739775">
              <a:lnSpc>
                <a:spcPct val="90000"/>
              </a:lnSpc>
            </a:pPr>
            <a:r>
              <a:rPr lang="en-GB" dirty="0"/>
              <a:t>Access to Cars is independent of access to drivers.</a:t>
            </a:r>
          </a:p>
          <a:p>
            <a:pPr algn="l" defTabSz="739775">
              <a:lnSpc>
                <a:spcPct val="90000"/>
              </a:lnSpc>
            </a:pPr>
            <a:r>
              <a:rPr lang="en-GB" dirty="0"/>
              <a:t>Although the Car may be driven to Glasgow, and the Driver would</a:t>
            </a:r>
          </a:p>
          <a:p>
            <a:pPr algn="l" defTabSz="739775">
              <a:lnSpc>
                <a:spcPct val="90000"/>
              </a:lnSpc>
            </a:pPr>
            <a:r>
              <a:rPr lang="en-GB" dirty="0"/>
              <a:t> probably </a:t>
            </a:r>
            <a:r>
              <a:rPr lang="en-GB" dirty="0" smtClean="0"/>
              <a:t>go </a:t>
            </a:r>
            <a:r>
              <a:rPr lang="en-GB" dirty="0"/>
              <a:t>with it, the Driver could also take the train to Edinburgh.</a:t>
            </a:r>
          </a:p>
          <a:p>
            <a:pPr algn="l" defTabSz="739775">
              <a:lnSpc>
                <a:spcPct val="90000"/>
              </a:lnSpc>
            </a:pPr>
            <a:r>
              <a:rPr lang="en-GB" dirty="0"/>
              <a:t>	</a:t>
            </a:r>
          </a:p>
        </p:txBody>
      </p:sp>
    </p:spTree>
    <p:extLst>
      <p:ext uri="{BB962C8B-B14F-4D97-AF65-F5344CB8AC3E}">
        <p14:creationId xmlns:p14="http://schemas.microsoft.com/office/powerpoint/2010/main" val="30542673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72" name="Rectangle 8"/>
          <p:cNvSpPr>
            <a:spLocks noGrp="1" noChangeArrowheads="1"/>
          </p:cNvSpPr>
          <p:nvPr>
            <p:ph type="body" idx="1"/>
          </p:nvPr>
        </p:nvSpPr>
        <p:spPr>
          <a:xfrm>
            <a:off x="700843" y="4783308"/>
            <a:ext cx="5526917" cy="271768"/>
          </a:xfrm>
          <a:ln/>
        </p:spPr>
        <p:txBody>
          <a:bodyPr lIns="86260" tIns="43130" rIns="86260" bIns="43130">
            <a:spAutoFit/>
          </a:bodyPr>
          <a:lstStyle/>
          <a:p>
            <a:pPr defTabSz="739775"/>
            <a:endParaRPr lang="en-US"/>
          </a:p>
        </p:txBody>
      </p:sp>
      <p:sp>
        <p:nvSpPr>
          <p:cNvPr id="446473" name="Rectangle 9"/>
          <p:cNvSpPr>
            <a:spLocks noGrp="1" noRot="1" noChangeAspect="1" noChangeArrowheads="1" noTextEdit="1"/>
          </p:cNvSpPr>
          <p:nvPr>
            <p:ph type="sldImg"/>
          </p:nvPr>
        </p:nvSpPr>
        <p:spPr>
          <a:xfrm>
            <a:off x="781050" y="744538"/>
            <a:ext cx="5205413" cy="3903662"/>
          </a:xfrm>
          <a:ln/>
        </p:spPr>
      </p:sp>
    </p:spTree>
    <p:extLst>
      <p:ext uri="{BB962C8B-B14F-4D97-AF65-F5344CB8AC3E}">
        <p14:creationId xmlns:p14="http://schemas.microsoft.com/office/powerpoint/2010/main" val="15159087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9138" y="450850"/>
            <a:ext cx="5399087" cy="4049713"/>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7C016650-828C-4798-9B0D-EF426804F60C}" type="slidenum">
              <a:rPr lang="en-GB" smtClean="0"/>
              <a:pPr/>
              <a:t>35</a:t>
            </a:fld>
            <a:endParaRPr lang="en-GB" dirty="0"/>
          </a:p>
        </p:txBody>
      </p:sp>
    </p:spTree>
    <p:extLst>
      <p:ext uri="{BB962C8B-B14F-4D97-AF65-F5344CB8AC3E}">
        <p14:creationId xmlns:p14="http://schemas.microsoft.com/office/powerpoint/2010/main" val="29571812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9138" y="450850"/>
            <a:ext cx="5399087" cy="4049713"/>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34D110DD-8AEE-43DF-9E62-B2307CA183F2}" type="slidenum">
              <a:rPr lang="en-GB" smtClean="0"/>
              <a:pPr/>
              <a:t>41</a:t>
            </a:fld>
            <a:endParaRPr lang="en-GB"/>
          </a:p>
        </p:txBody>
      </p:sp>
    </p:spTree>
    <p:extLst>
      <p:ext uri="{BB962C8B-B14F-4D97-AF65-F5344CB8AC3E}">
        <p14:creationId xmlns:p14="http://schemas.microsoft.com/office/powerpoint/2010/main" val="25987039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8"/>
          <p:cNvSpPr>
            <a:spLocks noGrp="1" noRot="1" noChangeAspect="1" noChangeArrowheads="1" noTextEdit="1"/>
          </p:cNvSpPr>
          <p:nvPr>
            <p:ph type="sldImg"/>
          </p:nvPr>
        </p:nvSpPr>
        <p:spPr>
          <a:xfrm>
            <a:off x="719138" y="450850"/>
            <a:ext cx="5399087" cy="4049713"/>
          </a:xfrm>
          <a:ln/>
        </p:spPr>
      </p:sp>
      <p:sp>
        <p:nvSpPr>
          <p:cNvPr id="43011" name="Rectangle 9"/>
          <p:cNvSpPr>
            <a:spLocks noGrp="1" noChangeArrowheads="1"/>
          </p:cNvSpPr>
          <p:nvPr>
            <p:ph type="body" idx="1"/>
          </p:nvPr>
        </p:nvSpPr>
        <p:spPr>
          <a:noFill/>
          <a:ln/>
        </p:spPr>
        <p:txBody>
          <a:bodyPr/>
          <a:lstStyle/>
          <a:p>
            <a:r>
              <a:rPr lang="en-GB" smtClean="0"/>
              <a:t>You can think of DIP as being an outgoing interface of the ‘dependent’ class rather than an incoming interface of the dependee class. You have to try and establish the abstraction that underlies the application – that set of concepts and behaviours that doesn’t vary when the details are changed.</a:t>
            </a:r>
          </a:p>
          <a:p>
            <a:r>
              <a:rPr lang="en-GB" smtClean="0"/>
              <a:t>This is such an important principle that a mechanism has been subsumed into the .NET framework – delegates do exactly this.</a:t>
            </a:r>
          </a:p>
          <a:p>
            <a:r>
              <a:rPr lang="en-GB" smtClean="0"/>
              <a:t>It is also sometime known as “The Hollywood Principle” – don’t call us, we’ll call you.</a:t>
            </a:r>
          </a:p>
        </p:txBody>
      </p:sp>
    </p:spTree>
    <p:extLst>
      <p:ext uri="{BB962C8B-B14F-4D97-AF65-F5344CB8AC3E}">
        <p14:creationId xmlns:p14="http://schemas.microsoft.com/office/powerpoint/2010/main" val="14354952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9138" y="450850"/>
            <a:ext cx="5394325" cy="404495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436244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719138" y="450850"/>
            <a:ext cx="5399087" cy="4049713"/>
          </a:xfrm>
          <a:ln/>
        </p:spPr>
      </p:sp>
      <p:sp>
        <p:nvSpPr>
          <p:cNvPr id="31747" name="Rectangle 3"/>
          <p:cNvSpPr>
            <a:spLocks noGrp="1" noChangeArrowheads="1"/>
          </p:cNvSpPr>
          <p:nvPr>
            <p:ph type="body" idx="1"/>
          </p:nvPr>
        </p:nvSpPr>
        <p:spPr>
          <a:noFill/>
          <a:ln/>
        </p:spPr>
        <p:txBody>
          <a:bodyPr/>
          <a:lstStyle/>
          <a:p>
            <a:endParaRPr lang="en-GB" dirty="0" smtClean="0"/>
          </a:p>
        </p:txBody>
      </p:sp>
    </p:spTree>
    <p:extLst>
      <p:ext uri="{BB962C8B-B14F-4D97-AF65-F5344CB8AC3E}">
        <p14:creationId xmlns:p14="http://schemas.microsoft.com/office/powerpoint/2010/main" val="3928607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9138" y="450850"/>
            <a:ext cx="5399087" cy="4049713"/>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5525264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QA Template_Title Slide">
    <p:spTree>
      <p:nvGrpSpPr>
        <p:cNvPr id="1" name=""/>
        <p:cNvGrpSpPr/>
        <p:nvPr/>
      </p:nvGrpSpPr>
      <p:grpSpPr>
        <a:xfrm>
          <a:off x="0" y="0"/>
          <a:ext cx="0" cy="0"/>
          <a:chOff x="0" y="0"/>
          <a:chExt cx="0" cy="0"/>
        </a:xfrm>
      </p:grpSpPr>
      <p:pic>
        <p:nvPicPr>
          <p:cNvPr id="6" name="Picture 5"/>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70559" y="776574"/>
            <a:ext cx="755139" cy="742483"/>
          </a:xfrm>
          <a:prstGeom prst="rect">
            <a:avLst/>
          </a:prstGeom>
          <a:noFill/>
          <a:ln>
            <a:noFill/>
          </a:ln>
        </p:spPr>
      </p:pic>
      <p:pic>
        <p:nvPicPr>
          <p:cNvPr id="5" name="Picture 4" descr="NewSwoop_Footer.jpg"/>
          <p:cNvPicPr>
            <a:picLocks noChangeAspect="1"/>
          </p:cNvPicPr>
          <p:nvPr userDrawn="1"/>
        </p:nvPicPr>
        <p:blipFill>
          <a:blip r:embed="rId3" cstate="print"/>
          <a:srcRect b="6922"/>
          <a:stretch>
            <a:fillRect/>
          </a:stretch>
        </p:blipFill>
        <p:spPr>
          <a:xfrm>
            <a:off x="0" y="4980439"/>
            <a:ext cx="9144000" cy="1775961"/>
          </a:xfrm>
          <a:prstGeom prst="rect">
            <a:avLst/>
          </a:prstGeom>
        </p:spPr>
      </p:pic>
      <p:sp>
        <p:nvSpPr>
          <p:cNvPr id="2" name="Title 1"/>
          <p:cNvSpPr>
            <a:spLocks noGrp="1"/>
          </p:cNvSpPr>
          <p:nvPr>
            <p:ph type="ctrTitle"/>
          </p:nvPr>
        </p:nvSpPr>
        <p:spPr>
          <a:xfrm>
            <a:off x="540000" y="2160000"/>
            <a:ext cx="8280000" cy="1440000"/>
          </a:xfrm>
        </p:spPr>
        <p:txBody>
          <a:bodyPr>
            <a:normAutofit/>
          </a:bodyPr>
          <a:lstStyle>
            <a:lvl1pPr algn="ctr">
              <a:defRPr sz="3600">
                <a:solidFill>
                  <a:srgbClr val="0070C0"/>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1440000" y="3960000"/>
            <a:ext cx="6480000" cy="18000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80000" y="900000"/>
            <a:ext cx="8820000" cy="5220000"/>
          </a:xfrm>
        </p:spPr>
        <p:txBody>
          <a:bodyPr/>
          <a:lstStyle>
            <a:lvl1pPr marL="360000" indent="-360000">
              <a:spcBef>
                <a:spcPts val="600"/>
              </a:spcBef>
              <a:defRPr b="1"/>
            </a:lvl1pPr>
            <a:lvl2pPr marL="720000" indent="-360000">
              <a:spcBef>
                <a:spcPts val="600"/>
              </a:spcBef>
              <a:defRPr/>
            </a:lvl2pPr>
            <a:lvl3pPr marL="1080000" indent="-360000">
              <a:spcBef>
                <a:spcPts val="600"/>
              </a:spcBef>
              <a:defRPr/>
            </a:lvl3pPr>
            <a:lvl4pPr marL="1440000" indent="-360000">
              <a:spcBef>
                <a:spcPts val="600"/>
              </a:spcBef>
              <a:defRPr/>
            </a:lvl4pPr>
            <a:lvl5pPr marL="1800000" indent="-360000">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p:cNvSpPr>
            <a:spLocks noGrp="1"/>
          </p:cNvSpPr>
          <p:nvPr>
            <p:ph type="title"/>
          </p:nvPr>
        </p:nvSpPr>
        <p:spPr>
          <a:xfrm>
            <a:off x="180000" y="360000"/>
            <a:ext cx="8820000" cy="5400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A Template_Picture Page">
    <p:spTree>
      <p:nvGrpSpPr>
        <p:cNvPr id="1" name=""/>
        <p:cNvGrpSpPr/>
        <p:nvPr/>
      </p:nvGrpSpPr>
      <p:grpSpPr>
        <a:xfrm>
          <a:off x="0" y="0"/>
          <a:ext cx="0" cy="0"/>
          <a:chOff x="0" y="0"/>
          <a:chExt cx="0" cy="0"/>
        </a:xfrm>
      </p:grpSpPr>
      <p:sp>
        <p:nvSpPr>
          <p:cNvPr id="13" name="Content Placeholder 12"/>
          <p:cNvSpPr>
            <a:spLocks noGrp="1"/>
          </p:cNvSpPr>
          <p:nvPr>
            <p:ph sz="quarter" idx="15"/>
          </p:nvPr>
        </p:nvSpPr>
        <p:spPr>
          <a:xfrm>
            <a:off x="180000" y="900000"/>
            <a:ext cx="8820000" cy="5220000"/>
          </a:xfrm>
        </p:spPr>
        <p:txBody>
          <a:bodyPr/>
          <a:lstStyle>
            <a:lvl1pPr marL="0" indent="0">
              <a:buNone/>
              <a:defRPr/>
            </a:lvl1pPr>
          </a:lstStyle>
          <a:p>
            <a:pPr lvl="0"/>
            <a:r>
              <a:rPr lang="en-US" dirty="0"/>
              <a:t>Click to edit Master text styles</a:t>
            </a:r>
          </a:p>
        </p:txBody>
      </p:sp>
      <p:sp>
        <p:nvSpPr>
          <p:cNvPr id="5" name="Title 4"/>
          <p:cNvSpPr>
            <a:spLocks noGrp="1"/>
          </p:cNvSpPr>
          <p:nvPr>
            <p:ph type="title"/>
          </p:nvPr>
        </p:nvSpPr>
        <p:spPr>
          <a:xfrm>
            <a:off x="180000" y="360000"/>
            <a:ext cx="8820000" cy="5400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pic>
        <p:nvPicPr>
          <p:cNvPr id="3" name="Picture 3166" descr="Courseware Header"/>
          <p:cNvPicPr>
            <a:picLocks noChangeAspect="1" noChangeArrowheads="1"/>
          </p:cNvPicPr>
          <p:nvPr/>
        </p:nvPicPr>
        <p:blipFill>
          <a:blip r:embed="rId2" cstate="print"/>
          <a:srcRect/>
          <a:stretch>
            <a:fillRect/>
          </a:stretch>
        </p:blipFill>
        <p:spPr bwMode="auto">
          <a:xfrm>
            <a:off x="0" y="0"/>
            <a:ext cx="9144000" cy="3025775"/>
          </a:xfrm>
          <a:prstGeom prst="rect">
            <a:avLst/>
          </a:prstGeom>
          <a:noFill/>
          <a:ln w="9525">
            <a:noFill/>
            <a:miter lim="800000"/>
            <a:headEnd/>
            <a:tailEnd/>
          </a:ln>
        </p:spPr>
      </p:pic>
      <p:sp>
        <p:nvSpPr>
          <p:cNvPr id="4" name="Copyright"/>
          <p:cNvSpPr>
            <a:spLocks noChangeArrowheads="1"/>
          </p:cNvSpPr>
          <p:nvPr/>
        </p:nvSpPr>
        <p:spPr bwMode="auto">
          <a:xfrm>
            <a:off x="5849938" y="6580188"/>
            <a:ext cx="3200400" cy="152400"/>
          </a:xfrm>
          <a:prstGeom prst="rect">
            <a:avLst/>
          </a:prstGeom>
          <a:noFill/>
          <a:ln w="9525">
            <a:noFill/>
            <a:miter lim="800000"/>
            <a:headEnd/>
            <a:tailEnd/>
          </a:ln>
          <a:effectLst/>
        </p:spPr>
        <p:txBody>
          <a:bodyPr lIns="0" rIns="0"/>
          <a:lstStyle/>
          <a:p>
            <a:pPr algn="r" eaLnBrk="0" hangingPunct="0">
              <a:defRPr/>
            </a:pPr>
            <a:fld id="{B7832D98-A155-4E2E-901D-17FD084F5F00}" type="slidenum">
              <a:rPr lang="en-GB">
                <a:cs typeface="+mn-cs"/>
              </a:rPr>
              <a:pPr algn="r" eaLnBrk="0" hangingPunct="0">
                <a:defRPr/>
              </a:pPr>
              <a:t>‹#›</a:t>
            </a:fld>
            <a:endParaRPr lang="en-GB">
              <a:cs typeface="+mn-cs"/>
            </a:endParaRPr>
          </a:p>
        </p:txBody>
      </p:sp>
      <p:sp>
        <p:nvSpPr>
          <p:cNvPr id="32848" name="Title Slide Title"/>
          <p:cNvSpPr>
            <a:spLocks noGrp="1" noChangeArrowheads="1"/>
          </p:cNvSpPr>
          <p:nvPr>
            <p:ph type="ctrTitle"/>
          </p:nvPr>
        </p:nvSpPr>
        <p:spPr>
          <a:xfrm>
            <a:off x="0" y="2925763"/>
            <a:ext cx="9144000" cy="2506662"/>
          </a:xfrm>
        </p:spPr>
        <p:txBody>
          <a:bodyPr tIns="144000" rIns="2340000" bIns="108000" anchor="t"/>
          <a:lstStyle>
            <a:lvl1pPr marL="176213">
              <a:defRPr sz="3200"/>
            </a:lvl1pPr>
          </a:lstStyle>
          <a:p>
            <a:r>
              <a:rPr lang="en-GB"/>
              <a:t>Slide Title</a:t>
            </a:r>
          </a:p>
        </p:txBody>
      </p:sp>
    </p:spTree>
    <p:extLst>
      <p:ext uri="{BB962C8B-B14F-4D97-AF65-F5344CB8AC3E}">
        <p14:creationId xmlns:p14="http://schemas.microsoft.com/office/powerpoint/2010/main" val="590650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fld id="{22E91551-0494-4D18-98F4-AD167FB2AFB8}" type="datetimeFigureOut">
              <a:rPr lang="en-US" smtClean="0"/>
              <a:pPr/>
              <a:t>7/18/2017</a:t>
            </a:fld>
            <a:endParaRPr lang="en-GB"/>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B4A7245B-12D7-4CF9-8F7E-654BDC701CE2}" type="slidenum">
              <a:rPr lang="en-GB" smtClean="0"/>
              <a:pPr/>
              <a:t>‹#›</a:t>
            </a:fld>
            <a:endParaRPr lang="en-GB"/>
          </a:p>
        </p:txBody>
      </p:sp>
    </p:spTree>
    <p:extLst>
      <p:ext uri="{BB962C8B-B14F-4D97-AF65-F5344CB8AC3E}">
        <p14:creationId xmlns:p14="http://schemas.microsoft.com/office/powerpoint/2010/main" val="3462722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327423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Slide Number Placeholder 5"/>
          <p:cNvSpPr txBox="1">
            <a:spLocks/>
          </p:cNvSpPr>
          <p:nvPr userDrawn="1"/>
        </p:nvSpPr>
        <p:spPr>
          <a:xfrm>
            <a:off x="6796118" y="6492905"/>
            <a:ext cx="21336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chemeClr val="bg1"/>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3" name="TextBox 12"/>
          <p:cNvSpPr txBox="1"/>
          <p:nvPr/>
        </p:nvSpPr>
        <p:spPr>
          <a:xfrm>
            <a:off x="0" y="39513"/>
            <a:ext cx="9144000" cy="246221"/>
          </a:xfrm>
          <a:prstGeom prst="rect">
            <a:avLst/>
          </a:prstGeom>
          <a:noFill/>
        </p:spPr>
        <p:txBody>
          <a:bodyPr wrap="square" rtlCol="0">
            <a:spAutoFit/>
          </a:bodyPr>
          <a:lstStyle/>
          <a:p>
            <a:pPr marL="0" marR="0" indent="0" algn="l" defTabSz="914400" rtl="0" eaLnBrk="1" fontAlgn="base" latinLnBrk="0" hangingPunct="1">
              <a:lnSpc>
                <a:spcPct val="100000"/>
              </a:lnSpc>
              <a:spcBef>
                <a:spcPct val="0"/>
              </a:spcBef>
              <a:spcAft>
                <a:spcPct val="0"/>
              </a:spcAft>
              <a:buClrTx/>
              <a:buSzTx/>
              <a:buFontTx/>
              <a:buNone/>
              <a:tabLst>
                <a:tab pos="8793163" algn="r"/>
              </a:tabLst>
              <a:defRPr/>
            </a:pPr>
            <a:r>
              <a:rPr lang="en-GB" sz="1000" baseline="0" dirty="0">
                <a:solidFill>
                  <a:srgbClr val="0070C0"/>
                </a:solidFill>
                <a:latin typeface="Arial" pitchFamily="34" charset="0"/>
                <a:cs typeface="Arial" pitchFamily="34" charset="0"/>
              </a:rPr>
              <a:t>	</a:t>
            </a:r>
            <a:r>
              <a:rPr lang="en-GB" sz="1000" baseline="0" dirty="0" smtClean="0">
                <a:solidFill>
                  <a:srgbClr val="0070C0"/>
                </a:solidFill>
                <a:latin typeface="Arial" pitchFamily="34" charset="0"/>
                <a:cs typeface="Arial" pitchFamily="34" charset="0"/>
              </a:rPr>
              <a:t>C# Advanced</a:t>
            </a:r>
            <a:endParaRPr lang="en-GB" sz="1000" dirty="0" smtClean="0">
              <a:solidFill>
                <a:srgbClr val="0070C0"/>
              </a:solidFill>
              <a:latin typeface="Arial" pitchFamily="34" charset="0"/>
              <a:cs typeface="Arial" pitchFamily="34" charset="0"/>
            </a:endParaRPr>
          </a:p>
        </p:txBody>
      </p:sp>
      <p:sp>
        <p:nvSpPr>
          <p:cNvPr id="2" name="Title Placeholder 1"/>
          <p:cNvSpPr>
            <a:spLocks noGrp="1"/>
          </p:cNvSpPr>
          <p:nvPr>
            <p:ph type="title"/>
          </p:nvPr>
        </p:nvSpPr>
        <p:spPr>
          <a:xfrm>
            <a:off x="180000" y="360000"/>
            <a:ext cx="8820000" cy="540000"/>
          </a:xfrm>
          <a:prstGeom prst="rect">
            <a:avLst/>
          </a:prstGeom>
        </p:spPr>
        <p:txBody>
          <a:bodyPr vert="horz" lIns="91440" tIns="45720" rIns="91440" bIns="45720" rtlCol="0" anchor="ctr">
            <a:normAutofit/>
          </a:bodyPr>
          <a:lstStyle/>
          <a:p>
            <a:pPr marL="342900" marR="0" lvl="0" indent="-342900" defTabSz="914400" rtl="0" eaLnBrk="1" fontAlgn="auto" latinLnBrk="0" hangingPunct="1">
              <a:lnSpc>
                <a:spcPct val="100000"/>
              </a:lnSpc>
              <a:spcBef>
                <a:spcPct val="20000"/>
              </a:spcBef>
              <a:spcAft>
                <a:spcPts val="0"/>
              </a:spcAft>
              <a:tabLst/>
              <a:defRPr/>
            </a:pPr>
            <a:r>
              <a:rPr kumimoji="0" lang="en-US" sz="2400" b="1" i="0" u="none" strike="noStrike" kern="1200" cap="none" spc="0" normalizeH="0" baseline="0" noProof="0" dirty="0">
                <a:ln>
                  <a:noFill/>
                </a:ln>
                <a:solidFill>
                  <a:srgbClr val="0070C0"/>
                </a:solidFill>
                <a:effectLst/>
                <a:uLnTx/>
                <a:uFillTx/>
                <a:latin typeface="Arial" pitchFamily="34" charset="0"/>
                <a:ea typeface="+mn-ea"/>
                <a:cs typeface="Arial" pitchFamily="34" charset="0"/>
              </a:rPr>
              <a:t>Click to edit Master title style</a:t>
            </a:r>
            <a:endParaRPr kumimoji="0" lang="en-GB" sz="2400" b="1"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
        <p:nvSpPr>
          <p:cNvPr id="3" name="Text Placeholder 2"/>
          <p:cNvSpPr>
            <a:spLocks noGrp="1"/>
          </p:cNvSpPr>
          <p:nvPr>
            <p:ph type="body" idx="1"/>
          </p:nvPr>
        </p:nvSpPr>
        <p:spPr>
          <a:xfrm>
            <a:off x="180000" y="900000"/>
            <a:ext cx="8820000" cy="5220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7" name="Straight Connector 6"/>
          <p:cNvCxnSpPr/>
          <p:nvPr/>
        </p:nvCxnSpPr>
        <p:spPr>
          <a:xfrm>
            <a:off x="117824" y="285728"/>
            <a:ext cx="885828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4"/>
          <p:cNvSpPr txBox="1">
            <a:spLocks/>
          </p:cNvSpPr>
          <p:nvPr/>
        </p:nvSpPr>
        <p:spPr>
          <a:xfrm>
            <a:off x="142844" y="357166"/>
            <a:ext cx="8786874" cy="500400"/>
          </a:xfrm>
          <a:prstGeom prst="rect">
            <a:avLst/>
          </a:prstGeo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marR="0" lvl="0" indent="-342900" algn="l" defTabSz="914400" rtl="0" eaLnBrk="1" fontAlgn="auto" latinLnBrk="0" hangingPunct="1">
              <a:lnSpc>
                <a:spcPct val="100000"/>
              </a:lnSpc>
              <a:spcBef>
                <a:spcPct val="20000"/>
              </a:spcBef>
              <a:spcAft>
                <a:spcPts val="0"/>
              </a:spcAft>
              <a:buClr>
                <a:schemeClr val="accent1"/>
              </a:buClr>
              <a:buSzTx/>
              <a:buFont typeface="Wingdings" pitchFamily="2" charset="2"/>
              <a:buNone/>
              <a:tabLst/>
              <a:defRPr/>
            </a:pPr>
            <a:endParaRPr kumimoji="0" lang="en-GB" sz="2400" b="1"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1" r:id="rId5"/>
    <p:sldLayoutId id="2147483702" r:id="rId6"/>
  </p:sldLayoutIdLst>
  <p:hf hdr="0" ftr="0" dt="0"/>
  <p:txStyles>
    <p:titleStyle>
      <a:lvl1pPr marL="342900" marR="0" indent="-342900" algn="l" defTabSz="914400" rtl="0" eaLnBrk="1" fontAlgn="auto" latinLnBrk="0" hangingPunct="1">
        <a:lnSpc>
          <a:spcPct val="100000"/>
        </a:lnSpc>
        <a:spcBef>
          <a:spcPct val="20000"/>
        </a:spcBef>
        <a:spcAft>
          <a:spcPts val="0"/>
        </a:spcAft>
        <a:buNone/>
        <a:tabLst/>
        <a:defRPr kumimoji="0" lang="en-GB" sz="2800" b="1" i="0" u="none" strike="noStrike" kern="1200" cap="none" spc="0" normalizeH="0" baseline="0" noProof="0">
          <a:ln>
            <a:noFill/>
          </a:ln>
          <a:solidFill>
            <a:srgbClr val="0070C0"/>
          </a:solidFill>
          <a:effectLst/>
          <a:uLnTx/>
          <a:uFillTx/>
          <a:latin typeface="Arial" pitchFamily="34" charset="0"/>
          <a:ea typeface="+mj-ea"/>
          <a:cs typeface="Arial" pitchFamily="34" charset="0"/>
        </a:defRPr>
      </a:lvl1pPr>
    </p:titleStyle>
    <p:bodyStyle>
      <a:lvl1pPr marL="360000" indent="-360000" algn="l" defTabSz="914400" rtl="0" eaLnBrk="1" latinLnBrk="0" hangingPunct="1">
        <a:spcBef>
          <a:spcPts val="6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2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08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44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180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4.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4.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wmf"/></Relationships>
</file>

<file path=ppt/slides/_rels/slide1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image" Target="../media/image26.wmf"/></Relationships>
</file>

<file path=ppt/slides/_rels/slide28.x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4.emf"/></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en.wikipedia.org/wiki/Barbara_Liskov"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www.oodesign.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0000" y="2160000"/>
            <a:ext cx="8280000" cy="1440000"/>
          </a:xfrm>
        </p:spPr>
        <p:txBody>
          <a:bodyPr/>
          <a:lstStyle/>
          <a:p>
            <a:r>
              <a:rPr lang="en-GB" dirty="0"/>
              <a:t>C# </a:t>
            </a:r>
            <a:r>
              <a:rPr lang="en-GB" dirty="0" smtClean="0"/>
              <a:t>Advanced</a:t>
            </a:r>
            <a:endParaRPr lang="en-GB" sz="3600" dirty="0"/>
          </a:p>
        </p:txBody>
      </p:sp>
      <p:sp>
        <p:nvSpPr>
          <p:cNvPr id="3" name="Subtitle 2"/>
          <p:cNvSpPr>
            <a:spLocks noGrp="1"/>
          </p:cNvSpPr>
          <p:nvPr>
            <p:ph type="subTitle" idx="1"/>
          </p:nvPr>
        </p:nvSpPr>
        <p:spPr>
          <a:xfrm>
            <a:off x="1260000" y="3960000"/>
            <a:ext cx="6480000" cy="1800000"/>
          </a:xfrm>
        </p:spPr>
        <p:txBody>
          <a:bodyPr>
            <a:normAutofit/>
          </a:bodyPr>
          <a:lstStyle/>
          <a:p>
            <a:r>
              <a:rPr lang="en-GB" i="1" dirty="0" smtClean="0">
                <a:solidFill>
                  <a:schemeClr val="tx1">
                    <a:lumMod val="60000"/>
                    <a:lumOff val="40000"/>
                  </a:schemeClr>
                </a:solidFill>
              </a:rPr>
              <a:t>Object Orientation and </a:t>
            </a:r>
            <a:br>
              <a:rPr lang="en-GB" i="1" dirty="0" smtClean="0">
                <a:solidFill>
                  <a:schemeClr val="tx1">
                    <a:lumMod val="60000"/>
                    <a:lumOff val="40000"/>
                  </a:schemeClr>
                </a:solidFill>
              </a:rPr>
            </a:br>
            <a:r>
              <a:rPr lang="en-GB" i="1" dirty="0" smtClean="0">
                <a:solidFill>
                  <a:schemeClr val="tx1">
                    <a:lumMod val="60000"/>
                    <a:lumOff val="40000"/>
                  </a:schemeClr>
                </a:solidFill>
              </a:rPr>
              <a:t>UML class diagrams</a:t>
            </a:r>
            <a:endParaRPr lang="en-GB" i="1" dirty="0">
              <a:solidFill>
                <a:schemeClr val="tx1">
                  <a:lumMod val="60000"/>
                  <a:lumOff val="40000"/>
                </a:schemeClr>
              </a:solidFill>
            </a:endParaRPr>
          </a:p>
        </p:txBody>
      </p:sp>
    </p:spTree>
    <p:extLst>
      <p:ext uri="{BB962C8B-B14F-4D97-AF65-F5344CB8AC3E}">
        <p14:creationId xmlns:p14="http://schemas.microsoft.com/office/powerpoint/2010/main" val="19962627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5" name="Rectangle 3"/>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2437" name="Rectangle 5"/>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2438" name="Rectangle 6"/>
          <p:cNvSpPr>
            <a:spLocks noChangeArrowheads="1"/>
          </p:cNvSpPr>
          <p:nvPr/>
        </p:nvSpPr>
        <p:spPr bwMode="auto">
          <a:xfrm>
            <a:off x="674688" y="6267450"/>
            <a:ext cx="1912937" cy="43815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2439" name="Rectangle 7"/>
          <p:cNvSpPr>
            <a:spLocks noChangeArrowheads="1"/>
          </p:cNvSpPr>
          <p:nvPr/>
        </p:nvSpPr>
        <p:spPr bwMode="auto">
          <a:xfrm>
            <a:off x="3154363" y="6267450"/>
            <a:ext cx="2835275" cy="43815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2441" name="Rectangle 9"/>
          <p:cNvSpPr>
            <a:spLocks noGrp="1" noChangeArrowheads="1"/>
          </p:cNvSpPr>
          <p:nvPr>
            <p:ph type="body" sz="quarter" idx="15"/>
          </p:nvPr>
        </p:nvSpPr>
        <p:spPr/>
        <p:txBody>
          <a:bodyPr>
            <a:normAutofit/>
          </a:bodyPr>
          <a:lstStyle/>
          <a:p>
            <a:r>
              <a:rPr lang="en-GB" dirty="0" smtClean="0"/>
              <a:t>At the end of this session you'll:</a:t>
            </a:r>
          </a:p>
          <a:p>
            <a:pPr lvl="1"/>
            <a:r>
              <a:rPr lang="en-GB" dirty="0" smtClean="0"/>
              <a:t>Learn what is UML and its value in describing your design</a:t>
            </a:r>
            <a:endParaRPr lang="en-GB" dirty="0"/>
          </a:p>
          <a:p>
            <a:pPr lvl="1"/>
            <a:r>
              <a:rPr lang="en-GB" dirty="0"/>
              <a:t>Understand Interfaces, Inheritance and Polymorphism</a:t>
            </a:r>
          </a:p>
          <a:p>
            <a:pPr lvl="2"/>
            <a:r>
              <a:rPr lang="en-GB" dirty="0" smtClean="0"/>
              <a:t>Including multiple </a:t>
            </a:r>
            <a:r>
              <a:rPr lang="en-GB" dirty="0"/>
              <a:t>Inheritance</a:t>
            </a:r>
          </a:p>
          <a:p>
            <a:pPr lvl="1"/>
            <a:r>
              <a:rPr lang="en-GB" dirty="0"/>
              <a:t>Understand Aggregation</a:t>
            </a:r>
          </a:p>
          <a:p>
            <a:pPr lvl="1"/>
            <a:r>
              <a:rPr lang="en-GB" dirty="0" smtClean="0"/>
              <a:t>Learn about the Association Qualifiers</a:t>
            </a:r>
            <a:endParaRPr lang="en-GB" dirty="0"/>
          </a:p>
        </p:txBody>
      </p:sp>
      <p:sp>
        <p:nvSpPr>
          <p:cNvPr id="402440" name="Rectangle 8"/>
          <p:cNvSpPr>
            <a:spLocks noGrp="1" noChangeArrowheads="1"/>
          </p:cNvSpPr>
          <p:nvPr>
            <p:ph type="title"/>
          </p:nvPr>
        </p:nvSpPr>
        <p:spPr/>
        <p:txBody>
          <a:bodyPr/>
          <a:lstStyle/>
          <a:p>
            <a:r>
              <a:rPr lang="en-GB" dirty="0" smtClean="0"/>
              <a:t>Objectives</a:t>
            </a:r>
            <a:endParaRPr lang="en-GB" dirty="0"/>
          </a:p>
        </p:txBody>
      </p:sp>
    </p:spTree>
    <p:extLst>
      <p:ext uri="{BB962C8B-B14F-4D97-AF65-F5344CB8AC3E}">
        <p14:creationId xmlns:p14="http://schemas.microsoft.com/office/powerpoint/2010/main" val="136540570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1"/>
          <p:cNvSpPr>
            <a:spLocks noGrp="1" noChangeArrowheads="1"/>
          </p:cNvSpPr>
          <p:nvPr>
            <p:ph type="ctrTitle"/>
          </p:nvPr>
        </p:nvSpPr>
        <p:spPr/>
        <p:txBody>
          <a:bodyPr/>
          <a:lstStyle/>
          <a:p>
            <a:pPr algn="ctr" eaLnBrk="1" hangingPunct="1"/>
            <a:r>
              <a:rPr lang="en-GB" dirty="0" smtClean="0"/>
              <a:t>The Unified </a:t>
            </a:r>
            <a:r>
              <a:rPr lang="en-GB" dirty="0" err="1" smtClean="0"/>
              <a:t>Modeling</a:t>
            </a:r>
            <a:r>
              <a:rPr lang="en-GB" dirty="0" smtClean="0"/>
              <a:t> Language (UML)</a:t>
            </a:r>
          </a:p>
        </p:txBody>
      </p:sp>
    </p:spTree>
    <p:extLst>
      <p:ext uri="{BB962C8B-B14F-4D97-AF65-F5344CB8AC3E}">
        <p14:creationId xmlns:p14="http://schemas.microsoft.com/office/powerpoint/2010/main" val="41365333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837" name="Rectangle 53"/>
          <p:cNvSpPr>
            <a:spLocks noGrp="1" noChangeArrowheads="1"/>
          </p:cNvSpPr>
          <p:nvPr>
            <p:ph type="body" sz="quarter" idx="15"/>
          </p:nvPr>
        </p:nvSpPr>
        <p:spPr/>
        <p:txBody>
          <a:bodyPr/>
          <a:lstStyle/>
          <a:p>
            <a:r>
              <a:rPr lang="en-GB" altLang="en-US" dirty="0"/>
              <a:t>Cheaper than building the real thing</a:t>
            </a:r>
          </a:p>
          <a:p>
            <a:r>
              <a:rPr lang="en-GB" altLang="en-US" dirty="0"/>
              <a:t>To provide a clear abstraction of concepts</a:t>
            </a:r>
          </a:p>
          <a:p>
            <a:r>
              <a:rPr lang="en-GB" altLang="en-US" dirty="0"/>
              <a:t>To gain understanding, before building</a:t>
            </a:r>
          </a:p>
          <a:p>
            <a:r>
              <a:rPr lang="en-GB" altLang="en-US" dirty="0"/>
              <a:t>To provide a common vision for diverse groups </a:t>
            </a:r>
            <a:r>
              <a:rPr lang="en-GB" altLang="en-US" dirty="0" smtClean="0"/>
              <a:t/>
            </a:r>
            <a:br>
              <a:rPr lang="en-GB" altLang="en-US" dirty="0" smtClean="0"/>
            </a:br>
            <a:r>
              <a:rPr lang="en-GB" altLang="en-US" dirty="0" smtClean="0"/>
              <a:t>(</a:t>
            </a:r>
            <a:r>
              <a:rPr lang="en-GB" altLang="en-US" dirty="0"/>
              <a:t>users and developers)</a:t>
            </a:r>
          </a:p>
          <a:p>
            <a:r>
              <a:rPr lang="en-GB" altLang="en-US" dirty="0"/>
              <a:t>To manage, scope and document complexity</a:t>
            </a:r>
          </a:p>
        </p:txBody>
      </p:sp>
      <p:sp>
        <p:nvSpPr>
          <p:cNvPr id="246836" name="Rectangle 52"/>
          <p:cNvSpPr>
            <a:spLocks noGrp="1" noChangeArrowheads="1"/>
          </p:cNvSpPr>
          <p:nvPr>
            <p:ph type="title"/>
          </p:nvPr>
        </p:nvSpPr>
        <p:spPr/>
        <p:txBody>
          <a:bodyPr/>
          <a:lstStyle/>
          <a:p>
            <a:r>
              <a:rPr lang="en-GB" altLang="en-US"/>
              <a:t>Why Build Models?</a:t>
            </a:r>
          </a:p>
        </p:txBody>
      </p:sp>
      <p:sp>
        <p:nvSpPr>
          <p:cNvPr id="246788" name="Freeform 4"/>
          <p:cNvSpPr>
            <a:spLocks/>
          </p:cNvSpPr>
          <p:nvPr/>
        </p:nvSpPr>
        <p:spPr bwMode="auto">
          <a:xfrm>
            <a:off x="773113" y="3765550"/>
            <a:ext cx="1257300" cy="1444625"/>
          </a:xfrm>
          <a:custGeom>
            <a:avLst/>
            <a:gdLst>
              <a:gd name="T0" fmla="*/ 571 w 872"/>
              <a:gd name="T1" fmla="*/ 924 h 1018"/>
              <a:gd name="T2" fmla="*/ 580 w 872"/>
              <a:gd name="T3" fmla="*/ 880 h 1018"/>
              <a:gd name="T4" fmla="*/ 612 w 872"/>
              <a:gd name="T5" fmla="*/ 855 h 1018"/>
              <a:gd name="T6" fmla="*/ 714 w 872"/>
              <a:gd name="T7" fmla="*/ 833 h 1018"/>
              <a:gd name="T8" fmla="*/ 766 w 872"/>
              <a:gd name="T9" fmla="*/ 808 h 1018"/>
              <a:gd name="T10" fmla="*/ 785 w 872"/>
              <a:gd name="T11" fmla="*/ 783 h 1018"/>
              <a:gd name="T12" fmla="*/ 783 w 872"/>
              <a:gd name="T13" fmla="*/ 725 h 1018"/>
              <a:gd name="T14" fmla="*/ 780 w 872"/>
              <a:gd name="T15" fmla="*/ 643 h 1018"/>
              <a:gd name="T16" fmla="*/ 794 w 872"/>
              <a:gd name="T17" fmla="*/ 588 h 1018"/>
              <a:gd name="T18" fmla="*/ 827 w 872"/>
              <a:gd name="T19" fmla="*/ 564 h 1018"/>
              <a:gd name="T20" fmla="*/ 865 w 872"/>
              <a:gd name="T21" fmla="*/ 544 h 1018"/>
              <a:gd name="T22" fmla="*/ 871 w 872"/>
              <a:gd name="T23" fmla="*/ 520 h 1018"/>
              <a:gd name="T24" fmla="*/ 851 w 872"/>
              <a:gd name="T25" fmla="*/ 493 h 1018"/>
              <a:gd name="T26" fmla="*/ 775 w 872"/>
              <a:gd name="T27" fmla="*/ 391 h 1018"/>
              <a:gd name="T28" fmla="*/ 788 w 872"/>
              <a:gd name="T29" fmla="*/ 362 h 1018"/>
              <a:gd name="T30" fmla="*/ 806 w 872"/>
              <a:gd name="T31" fmla="*/ 297 h 1018"/>
              <a:gd name="T32" fmla="*/ 789 w 872"/>
              <a:gd name="T33" fmla="*/ 202 h 1018"/>
              <a:gd name="T34" fmla="*/ 745 w 872"/>
              <a:gd name="T35" fmla="*/ 107 h 1018"/>
              <a:gd name="T36" fmla="*/ 690 w 872"/>
              <a:gd name="T37" fmla="*/ 45 h 1018"/>
              <a:gd name="T38" fmla="*/ 590 w 872"/>
              <a:gd name="T39" fmla="*/ 8 h 1018"/>
              <a:gd name="T40" fmla="*/ 473 w 872"/>
              <a:gd name="T41" fmla="*/ 0 h 1018"/>
              <a:gd name="T42" fmla="*/ 368 w 872"/>
              <a:gd name="T43" fmla="*/ 10 h 1018"/>
              <a:gd name="T44" fmla="*/ 270 w 872"/>
              <a:gd name="T45" fmla="*/ 41 h 1018"/>
              <a:gd name="T46" fmla="*/ 158 w 872"/>
              <a:gd name="T47" fmla="*/ 114 h 1018"/>
              <a:gd name="T48" fmla="*/ 103 w 872"/>
              <a:gd name="T49" fmla="*/ 167 h 1018"/>
              <a:gd name="T50" fmla="*/ 47 w 872"/>
              <a:gd name="T51" fmla="*/ 246 h 1018"/>
              <a:gd name="T52" fmla="*/ 6 w 872"/>
              <a:gd name="T53" fmla="*/ 349 h 1018"/>
              <a:gd name="T54" fmla="*/ 3 w 872"/>
              <a:gd name="T55" fmla="*/ 441 h 1018"/>
              <a:gd name="T56" fmla="*/ 27 w 872"/>
              <a:gd name="T57" fmla="*/ 525 h 1018"/>
              <a:gd name="T58" fmla="*/ 140 w 872"/>
              <a:gd name="T59" fmla="*/ 707 h 1018"/>
              <a:gd name="T60" fmla="*/ 176 w 872"/>
              <a:gd name="T61" fmla="*/ 786 h 1018"/>
              <a:gd name="T62" fmla="*/ 185 w 872"/>
              <a:gd name="T63" fmla="*/ 841 h 1018"/>
              <a:gd name="T64" fmla="*/ 188 w 872"/>
              <a:gd name="T65" fmla="*/ 914 h 1018"/>
              <a:gd name="T66" fmla="*/ 571 w 872"/>
              <a:gd name="T67" fmla="*/ 1017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72" h="1018">
                <a:moveTo>
                  <a:pt x="571" y="1017"/>
                </a:moveTo>
                <a:lnTo>
                  <a:pt x="571" y="924"/>
                </a:lnTo>
                <a:lnTo>
                  <a:pt x="574" y="902"/>
                </a:lnTo>
                <a:lnTo>
                  <a:pt x="580" y="880"/>
                </a:lnTo>
                <a:lnTo>
                  <a:pt x="593" y="863"/>
                </a:lnTo>
                <a:lnTo>
                  <a:pt x="612" y="855"/>
                </a:lnTo>
                <a:lnTo>
                  <a:pt x="677" y="841"/>
                </a:lnTo>
                <a:lnTo>
                  <a:pt x="714" y="833"/>
                </a:lnTo>
                <a:lnTo>
                  <a:pt x="745" y="819"/>
                </a:lnTo>
                <a:lnTo>
                  <a:pt x="766" y="808"/>
                </a:lnTo>
                <a:lnTo>
                  <a:pt x="777" y="798"/>
                </a:lnTo>
                <a:lnTo>
                  <a:pt x="785" y="783"/>
                </a:lnTo>
                <a:lnTo>
                  <a:pt x="785" y="757"/>
                </a:lnTo>
                <a:lnTo>
                  <a:pt x="783" y="725"/>
                </a:lnTo>
                <a:lnTo>
                  <a:pt x="780" y="681"/>
                </a:lnTo>
                <a:lnTo>
                  <a:pt x="780" y="643"/>
                </a:lnTo>
                <a:lnTo>
                  <a:pt x="785" y="609"/>
                </a:lnTo>
                <a:lnTo>
                  <a:pt x="794" y="588"/>
                </a:lnTo>
                <a:lnTo>
                  <a:pt x="806" y="573"/>
                </a:lnTo>
                <a:lnTo>
                  <a:pt x="827" y="564"/>
                </a:lnTo>
                <a:lnTo>
                  <a:pt x="856" y="552"/>
                </a:lnTo>
                <a:lnTo>
                  <a:pt x="865" y="544"/>
                </a:lnTo>
                <a:lnTo>
                  <a:pt x="871" y="534"/>
                </a:lnTo>
                <a:lnTo>
                  <a:pt x="871" y="520"/>
                </a:lnTo>
                <a:lnTo>
                  <a:pt x="860" y="504"/>
                </a:lnTo>
                <a:lnTo>
                  <a:pt x="851" y="493"/>
                </a:lnTo>
                <a:lnTo>
                  <a:pt x="781" y="399"/>
                </a:lnTo>
                <a:lnTo>
                  <a:pt x="775" y="391"/>
                </a:lnTo>
                <a:lnTo>
                  <a:pt x="778" y="376"/>
                </a:lnTo>
                <a:lnTo>
                  <a:pt x="788" y="362"/>
                </a:lnTo>
                <a:lnTo>
                  <a:pt x="801" y="322"/>
                </a:lnTo>
                <a:lnTo>
                  <a:pt x="806" y="297"/>
                </a:lnTo>
                <a:lnTo>
                  <a:pt x="806" y="258"/>
                </a:lnTo>
                <a:lnTo>
                  <a:pt x="789" y="202"/>
                </a:lnTo>
                <a:lnTo>
                  <a:pt x="772" y="160"/>
                </a:lnTo>
                <a:lnTo>
                  <a:pt x="745" y="107"/>
                </a:lnTo>
                <a:lnTo>
                  <a:pt x="718" y="75"/>
                </a:lnTo>
                <a:lnTo>
                  <a:pt x="690" y="45"/>
                </a:lnTo>
                <a:lnTo>
                  <a:pt x="651" y="24"/>
                </a:lnTo>
                <a:lnTo>
                  <a:pt x="590" y="8"/>
                </a:lnTo>
                <a:lnTo>
                  <a:pt x="532" y="2"/>
                </a:lnTo>
                <a:lnTo>
                  <a:pt x="473" y="0"/>
                </a:lnTo>
                <a:lnTo>
                  <a:pt x="415" y="3"/>
                </a:lnTo>
                <a:lnTo>
                  <a:pt x="368" y="10"/>
                </a:lnTo>
                <a:lnTo>
                  <a:pt x="322" y="19"/>
                </a:lnTo>
                <a:lnTo>
                  <a:pt x="270" y="41"/>
                </a:lnTo>
                <a:lnTo>
                  <a:pt x="220" y="68"/>
                </a:lnTo>
                <a:lnTo>
                  <a:pt x="158" y="114"/>
                </a:lnTo>
                <a:lnTo>
                  <a:pt x="129" y="139"/>
                </a:lnTo>
                <a:lnTo>
                  <a:pt x="103" y="167"/>
                </a:lnTo>
                <a:lnTo>
                  <a:pt x="74" y="202"/>
                </a:lnTo>
                <a:lnTo>
                  <a:pt x="47" y="246"/>
                </a:lnTo>
                <a:lnTo>
                  <a:pt x="20" y="301"/>
                </a:lnTo>
                <a:lnTo>
                  <a:pt x="6" y="349"/>
                </a:lnTo>
                <a:lnTo>
                  <a:pt x="0" y="401"/>
                </a:lnTo>
                <a:lnTo>
                  <a:pt x="3" y="441"/>
                </a:lnTo>
                <a:lnTo>
                  <a:pt x="11" y="482"/>
                </a:lnTo>
                <a:lnTo>
                  <a:pt x="27" y="525"/>
                </a:lnTo>
                <a:lnTo>
                  <a:pt x="76" y="607"/>
                </a:lnTo>
                <a:lnTo>
                  <a:pt x="140" y="707"/>
                </a:lnTo>
                <a:lnTo>
                  <a:pt x="165" y="757"/>
                </a:lnTo>
                <a:lnTo>
                  <a:pt x="176" y="786"/>
                </a:lnTo>
                <a:lnTo>
                  <a:pt x="182" y="815"/>
                </a:lnTo>
                <a:lnTo>
                  <a:pt x="185" y="841"/>
                </a:lnTo>
                <a:lnTo>
                  <a:pt x="187" y="865"/>
                </a:lnTo>
                <a:lnTo>
                  <a:pt x="188" y="914"/>
                </a:lnTo>
                <a:lnTo>
                  <a:pt x="182" y="1017"/>
                </a:lnTo>
                <a:lnTo>
                  <a:pt x="571" y="1017"/>
                </a:lnTo>
              </a:path>
            </a:pathLst>
          </a:custGeom>
          <a:gradFill rotWithShape="0">
            <a:gsLst>
              <a:gs pos="0">
                <a:srgbClr val="FFFFFF"/>
              </a:gs>
              <a:gs pos="100000">
                <a:srgbClr val="33CCCC"/>
              </a:gs>
            </a:gsLst>
            <a:path path="rect">
              <a:fillToRect l="50000" t="50000" r="50000" b="50000"/>
            </a:path>
          </a:gradFill>
          <a:ln w="25400" cap="rnd" cmpd="sng">
            <a:solidFill>
              <a:srgbClr val="2AA8A5"/>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246789" name="Group 5"/>
          <p:cNvGrpSpPr>
            <a:grpSpLocks/>
          </p:cNvGrpSpPr>
          <p:nvPr/>
        </p:nvGrpSpPr>
        <p:grpSpPr bwMode="auto">
          <a:xfrm>
            <a:off x="863600" y="3943350"/>
            <a:ext cx="917575" cy="819150"/>
            <a:chOff x="2306" y="3554"/>
            <a:chExt cx="452" cy="491"/>
          </a:xfrm>
        </p:grpSpPr>
        <p:sp>
          <p:nvSpPr>
            <p:cNvPr id="246790" name="Oval 6"/>
            <p:cNvSpPr>
              <a:spLocks noChangeArrowheads="1"/>
            </p:cNvSpPr>
            <p:nvPr/>
          </p:nvSpPr>
          <p:spPr bwMode="auto">
            <a:xfrm>
              <a:off x="2306" y="3554"/>
              <a:ext cx="452" cy="491"/>
            </a:xfrm>
            <a:prstGeom prst="ellipse">
              <a:avLst/>
            </a:prstGeom>
            <a:solidFill>
              <a:srgbClr val="0000FF"/>
            </a:solidFill>
            <a:ln w="3175">
              <a:solidFill>
                <a:srgbClr val="000000"/>
              </a:solidFill>
              <a:round/>
              <a:headEnd/>
              <a:tailEnd/>
            </a:ln>
          </p:spPr>
          <p:txBody>
            <a:bodyPr/>
            <a:lstStyle/>
            <a:p>
              <a:endParaRPr lang="en-GB"/>
            </a:p>
          </p:txBody>
        </p:sp>
        <p:grpSp>
          <p:nvGrpSpPr>
            <p:cNvPr id="246791" name="Group 7"/>
            <p:cNvGrpSpPr>
              <a:grpSpLocks/>
            </p:cNvGrpSpPr>
            <p:nvPr/>
          </p:nvGrpSpPr>
          <p:grpSpPr bwMode="auto">
            <a:xfrm>
              <a:off x="2387" y="3554"/>
              <a:ext cx="367" cy="477"/>
              <a:chOff x="2387" y="3554"/>
              <a:chExt cx="367" cy="477"/>
            </a:xfrm>
          </p:grpSpPr>
          <p:grpSp>
            <p:nvGrpSpPr>
              <p:cNvPr id="246792" name="Group 8"/>
              <p:cNvGrpSpPr>
                <a:grpSpLocks/>
              </p:cNvGrpSpPr>
              <p:nvPr/>
            </p:nvGrpSpPr>
            <p:grpSpPr bwMode="auto">
              <a:xfrm>
                <a:off x="2387" y="3596"/>
                <a:ext cx="174" cy="435"/>
                <a:chOff x="2387" y="3596"/>
                <a:chExt cx="174" cy="435"/>
              </a:xfrm>
            </p:grpSpPr>
            <p:grpSp>
              <p:nvGrpSpPr>
                <p:cNvPr id="246793" name="Group 9"/>
                <p:cNvGrpSpPr>
                  <a:grpSpLocks/>
                </p:cNvGrpSpPr>
                <p:nvPr/>
              </p:nvGrpSpPr>
              <p:grpSpPr bwMode="auto">
                <a:xfrm>
                  <a:off x="2437" y="3845"/>
                  <a:ext cx="123" cy="186"/>
                  <a:chOff x="2437" y="3845"/>
                  <a:chExt cx="123" cy="186"/>
                </a:xfrm>
              </p:grpSpPr>
              <p:sp>
                <p:nvSpPr>
                  <p:cNvPr id="246794" name="Freeform 10"/>
                  <p:cNvSpPr>
                    <a:spLocks/>
                  </p:cNvSpPr>
                  <p:nvPr/>
                </p:nvSpPr>
                <p:spPr bwMode="auto">
                  <a:xfrm>
                    <a:off x="2437" y="3845"/>
                    <a:ext cx="123" cy="180"/>
                  </a:xfrm>
                  <a:custGeom>
                    <a:avLst/>
                    <a:gdLst>
                      <a:gd name="T0" fmla="*/ 139 w 615"/>
                      <a:gd name="T1" fmla="*/ 0 h 897"/>
                      <a:gd name="T2" fmla="*/ 148 w 615"/>
                      <a:gd name="T3" fmla="*/ 21 h 897"/>
                      <a:gd name="T4" fmla="*/ 164 w 615"/>
                      <a:gd name="T5" fmla="*/ 2 h 897"/>
                      <a:gd name="T6" fmla="*/ 185 w 615"/>
                      <a:gd name="T7" fmla="*/ 18 h 897"/>
                      <a:gd name="T8" fmla="*/ 239 w 615"/>
                      <a:gd name="T9" fmla="*/ 29 h 897"/>
                      <a:gd name="T10" fmla="*/ 265 w 615"/>
                      <a:gd name="T11" fmla="*/ 37 h 897"/>
                      <a:gd name="T12" fmla="*/ 289 w 615"/>
                      <a:gd name="T13" fmla="*/ 61 h 897"/>
                      <a:gd name="T14" fmla="*/ 329 w 615"/>
                      <a:gd name="T15" fmla="*/ 101 h 897"/>
                      <a:gd name="T16" fmla="*/ 367 w 615"/>
                      <a:gd name="T17" fmla="*/ 107 h 897"/>
                      <a:gd name="T18" fmla="*/ 408 w 615"/>
                      <a:gd name="T19" fmla="*/ 148 h 897"/>
                      <a:gd name="T20" fmla="*/ 398 w 615"/>
                      <a:gd name="T21" fmla="*/ 192 h 897"/>
                      <a:gd name="T22" fmla="*/ 428 w 615"/>
                      <a:gd name="T23" fmla="*/ 198 h 897"/>
                      <a:gd name="T24" fmla="*/ 473 w 615"/>
                      <a:gd name="T25" fmla="*/ 198 h 897"/>
                      <a:gd name="T26" fmla="*/ 525 w 615"/>
                      <a:gd name="T27" fmla="*/ 216 h 897"/>
                      <a:gd name="T28" fmla="*/ 590 w 615"/>
                      <a:gd name="T29" fmla="*/ 240 h 897"/>
                      <a:gd name="T30" fmla="*/ 613 w 615"/>
                      <a:gd name="T31" fmla="*/ 283 h 897"/>
                      <a:gd name="T32" fmla="*/ 576 w 615"/>
                      <a:gd name="T33" fmla="*/ 333 h 897"/>
                      <a:gd name="T34" fmla="*/ 565 w 615"/>
                      <a:gd name="T35" fmla="*/ 387 h 897"/>
                      <a:gd name="T36" fmla="*/ 553 w 615"/>
                      <a:gd name="T37" fmla="*/ 454 h 897"/>
                      <a:gd name="T38" fmla="*/ 517 w 615"/>
                      <a:gd name="T39" fmla="*/ 489 h 897"/>
                      <a:gd name="T40" fmla="*/ 452 w 615"/>
                      <a:gd name="T41" fmla="*/ 511 h 897"/>
                      <a:gd name="T42" fmla="*/ 446 w 615"/>
                      <a:gd name="T43" fmla="*/ 546 h 897"/>
                      <a:gd name="T44" fmla="*/ 399 w 615"/>
                      <a:gd name="T45" fmla="*/ 623 h 897"/>
                      <a:gd name="T46" fmla="*/ 330 w 615"/>
                      <a:gd name="T47" fmla="*/ 625 h 897"/>
                      <a:gd name="T48" fmla="*/ 338 w 615"/>
                      <a:gd name="T49" fmla="*/ 689 h 897"/>
                      <a:gd name="T50" fmla="*/ 272 w 615"/>
                      <a:gd name="T51" fmla="*/ 739 h 897"/>
                      <a:gd name="T52" fmla="*/ 256 w 615"/>
                      <a:gd name="T53" fmla="*/ 770 h 897"/>
                      <a:gd name="T54" fmla="*/ 241 w 615"/>
                      <a:gd name="T55" fmla="*/ 847 h 897"/>
                      <a:gd name="T56" fmla="*/ 217 w 615"/>
                      <a:gd name="T57" fmla="*/ 888 h 897"/>
                      <a:gd name="T58" fmla="*/ 162 w 615"/>
                      <a:gd name="T59" fmla="*/ 822 h 897"/>
                      <a:gd name="T60" fmla="*/ 142 w 615"/>
                      <a:gd name="T61" fmla="*/ 670 h 897"/>
                      <a:gd name="T62" fmla="*/ 146 w 615"/>
                      <a:gd name="T63" fmla="*/ 570 h 897"/>
                      <a:gd name="T64" fmla="*/ 141 w 615"/>
                      <a:gd name="T65" fmla="*/ 415 h 897"/>
                      <a:gd name="T66" fmla="*/ 109 w 615"/>
                      <a:gd name="T67" fmla="*/ 376 h 897"/>
                      <a:gd name="T68" fmla="*/ 79 w 615"/>
                      <a:gd name="T69" fmla="*/ 374 h 897"/>
                      <a:gd name="T70" fmla="*/ 65 w 615"/>
                      <a:gd name="T71" fmla="*/ 339 h 897"/>
                      <a:gd name="T72" fmla="*/ 47 w 615"/>
                      <a:gd name="T73" fmla="*/ 300 h 897"/>
                      <a:gd name="T74" fmla="*/ 32 w 615"/>
                      <a:gd name="T75" fmla="*/ 267 h 897"/>
                      <a:gd name="T76" fmla="*/ 16 w 615"/>
                      <a:gd name="T77" fmla="*/ 231 h 897"/>
                      <a:gd name="T78" fmla="*/ 16 w 615"/>
                      <a:gd name="T79" fmla="*/ 192 h 897"/>
                      <a:gd name="T80" fmla="*/ 10 w 615"/>
                      <a:gd name="T81" fmla="*/ 159 h 897"/>
                      <a:gd name="T82" fmla="*/ 45 w 615"/>
                      <a:gd name="T83" fmla="*/ 124 h 897"/>
                      <a:gd name="T84" fmla="*/ 62 w 615"/>
                      <a:gd name="T85" fmla="*/ 76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5" h="897">
                        <a:moveTo>
                          <a:pt x="73" y="26"/>
                        </a:moveTo>
                        <a:lnTo>
                          <a:pt x="108" y="0"/>
                        </a:lnTo>
                        <a:lnTo>
                          <a:pt x="139" y="0"/>
                        </a:lnTo>
                        <a:lnTo>
                          <a:pt x="148" y="2"/>
                        </a:lnTo>
                        <a:lnTo>
                          <a:pt x="148" y="10"/>
                        </a:lnTo>
                        <a:lnTo>
                          <a:pt x="148" y="21"/>
                        </a:lnTo>
                        <a:lnTo>
                          <a:pt x="155" y="26"/>
                        </a:lnTo>
                        <a:lnTo>
                          <a:pt x="160" y="15"/>
                        </a:lnTo>
                        <a:lnTo>
                          <a:pt x="164" y="2"/>
                        </a:lnTo>
                        <a:lnTo>
                          <a:pt x="171" y="2"/>
                        </a:lnTo>
                        <a:lnTo>
                          <a:pt x="175" y="10"/>
                        </a:lnTo>
                        <a:lnTo>
                          <a:pt x="185" y="18"/>
                        </a:lnTo>
                        <a:lnTo>
                          <a:pt x="196" y="26"/>
                        </a:lnTo>
                        <a:lnTo>
                          <a:pt x="224" y="26"/>
                        </a:lnTo>
                        <a:lnTo>
                          <a:pt x="239" y="29"/>
                        </a:lnTo>
                        <a:lnTo>
                          <a:pt x="246" y="30"/>
                        </a:lnTo>
                        <a:lnTo>
                          <a:pt x="253" y="30"/>
                        </a:lnTo>
                        <a:lnTo>
                          <a:pt x="265" y="37"/>
                        </a:lnTo>
                        <a:lnTo>
                          <a:pt x="269" y="46"/>
                        </a:lnTo>
                        <a:lnTo>
                          <a:pt x="269" y="54"/>
                        </a:lnTo>
                        <a:lnTo>
                          <a:pt x="289" y="61"/>
                        </a:lnTo>
                        <a:lnTo>
                          <a:pt x="301" y="77"/>
                        </a:lnTo>
                        <a:lnTo>
                          <a:pt x="318" y="93"/>
                        </a:lnTo>
                        <a:lnTo>
                          <a:pt x="329" y="101"/>
                        </a:lnTo>
                        <a:lnTo>
                          <a:pt x="336" y="101"/>
                        </a:lnTo>
                        <a:lnTo>
                          <a:pt x="354" y="101"/>
                        </a:lnTo>
                        <a:lnTo>
                          <a:pt x="367" y="107"/>
                        </a:lnTo>
                        <a:lnTo>
                          <a:pt x="379" y="123"/>
                        </a:lnTo>
                        <a:lnTo>
                          <a:pt x="398" y="134"/>
                        </a:lnTo>
                        <a:lnTo>
                          <a:pt x="408" y="148"/>
                        </a:lnTo>
                        <a:lnTo>
                          <a:pt x="414" y="167"/>
                        </a:lnTo>
                        <a:lnTo>
                          <a:pt x="406" y="174"/>
                        </a:lnTo>
                        <a:lnTo>
                          <a:pt x="398" y="192"/>
                        </a:lnTo>
                        <a:lnTo>
                          <a:pt x="408" y="204"/>
                        </a:lnTo>
                        <a:lnTo>
                          <a:pt x="416" y="208"/>
                        </a:lnTo>
                        <a:lnTo>
                          <a:pt x="428" y="198"/>
                        </a:lnTo>
                        <a:lnTo>
                          <a:pt x="446" y="192"/>
                        </a:lnTo>
                        <a:lnTo>
                          <a:pt x="460" y="198"/>
                        </a:lnTo>
                        <a:lnTo>
                          <a:pt x="473" y="198"/>
                        </a:lnTo>
                        <a:lnTo>
                          <a:pt x="490" y="206"/>
                        </a:lnTo>
                        <a:lnTo>
                          <a:pt x="507" y="216"/>
                        </a:lnTo>
                        <a:lnTo>
                          <a:pt x="525" y="216"/>
                        </a:lnTo>
                        <a:lnTo>
                          <a:pt x="547" y="217"/>
                        </a:lnTo>
                        <a:lnTo>
                          <a:pt x="568" y="235"/>
                        </a:lnTo>
                        <a:lnTo>
                          <a:pt x="590" y="240"/>
                        </a:lnTo>
                        <a:lnTo>
                          <a:pt x="605" y="247"/>
                        </a:lnTo>
                        <a:lnTo>
                          <a:pt x="615" y="262"/>
                        </a:lnTo>
                        <a:lnTo>
                          <a:pt x="613" y="283"/>
                        </a:lnTo>
                        <a:lnTo>
                          <a:pt x="601" y="300"/>
                        </a:lnTo>
                        <a:lnTo>
                          <a:pt x="590" y="316"/>
                        </a:lnTo>
                        <a:lnTo>
                          <a:pt x="576" y="333"/>
                        </a:lnTo>
                        <a:lnTo>
                          <a:pt x="571" y="353"/>
                        </a:lnTo>
                        <a:lnTo>
                          <a:pt x="554" y="366"/>
                        </a:lnTo>
                        <a:lnTo>
                          <a:pt x="565" y="387"/>
                        </a:lnTo>
                        <a:lnTo>
                          <a:pt x="564" y="414"/>
                        </a:lnTo>
                        <a:lnTo>
                          <a:pt x="553" y="434"/>
                        </a:lnTo>
                        <a:lnTo>
                          <a:pt x="553" y="454"/>
                        </a:lnTo>
                        <a:lnTo>
                          <a:pt x="544" y="473"/>
                        </a:lnTo>
                        <a:lnTo>
                          <a:pt x="531" y="481"/>
                        </a:lnTo>
                        <a:lnTo>
                          <a:pt x="517" y="489"/>
                        </a:lnTo>
                        <a:lnTo>
                          <a:pt x="499" y="488"/>
                        </a:lnTo>
                        <a:lnTo>
                          <a:pt x="473" y="493"/>
                        </a:lnTo>
                        <a:lnTo>
                          <a:pt x="452" y="511"/>
                        </a:lnTo>
                        <a:lnTo>
                          <a:pt x="441" y="527"/>
                        </a:lnTo>
                        <a:lnTo>
                          <a:pt x="434" y="536"/>
                        </a:lnTo>
                        <a:lnTo>
                          <a:pt x="446" y="546"/>
                        </a:lnTo>
                        <a:lnTo>
                          <a:pt x="446" y="562"/>
                        </a:lnTo>
                        <a:lnTo>
                          <a:pt x="417" y="586"/>
                        </a:lnTo>
                        <a:lnTo>
                          <a:pt x="399" y="623"/>
                        </a:lnTo>
                        <a:lnTo>
                          <a:pt x="375" y="643"/>
                        </a:lnTo>
                        <a:lnTo>
                          <a:pt x="355" y="644"/>
                        </a:lnTo>
                        <a:lnTo>
                          <a:pt x="330" y="625"/>
                        </a:lnTo>
                        <a:lnTo>
                          <a:pt x="329" y="652"/>
                        </a:lnTo>
                        <a:lnTo>
                          <a:pt x="341" y="665"/>
                        </a:lnTo>
                        <a:lnTo>
                          <a:pt x="338" y="689"/>
                        </a:lnTo>
                        <a:lnTo>
                          <a:pt x="303" y="710"/>
                        </a:lnTo>
                        <a:lnTo>
                          <a:pt x="289" y="707"/>
                        </a:lnTo>
                        <a:lnTo>
                          <a:pt x="272" y="739"/>
                        </a:lnTo>
                        <a:lnTo>
                          <a:pt x="256" y="742"/>
                        </a:lnTo>
                        <a:lnTo>
                          <a:pt x="250" y="756"/>
                        </a:lnTo>
                        <a:lnTo>
                          <a:pt x="256" y="770"/>
                        </a:lnTo>
                        <a:lnTo>
                          <a:pt x="242" y="791"/>
                        </a:lnTo>
                        <a:lnTo>
                          <a:pt x="254" y="824"/>
                        </a:lnTo>
                        <a:lnTo>
                          <a:pt x="241" y="847"/>
                        </a:lnTo>
                        <a:lnTo>
                          <a:pt x="230" y="871"/>
                        </a:lnTo>
                        <a:lnTo>
                          <a:pt x="242" y="888"/>
                        </a:lnTo>
                        <a:lnTo>
                          <a:pt x="217" y="888"/>
                        </a:lnTo>
                        <a:lnTo>
                          <a:pt x="195" y="897"/>
                        </a:lnTo>
                        <a:lnTo>
                          <a:pt x="170" y="855"/>
                        </a:lnTo>
                        <a:lnTo>
                          <a:pt x="162" y="822"/>
                        </a:lnTo>
                        <a:lnTo>
                          <a:pt x="162" y="747"/>
                        </a:lnTo>
                        <a:lnTo>
                          <a:pt x="140" y="717"/>
                        </a:lnTo>
                        <a:lnTo>
                          <a:pt x="142" y="670"/>
                        </a:lnTo>
                        <a:lnTo>
                          <a:pt x="153" y="639"/>
                        </a:lnTo>
                        <a:lnTo>
                          <a:pt x="147" y="606"/>
                        </a:lnTo>
                        <a:lnTo>
                          <a:pt x="146" y="570"/>
                        </a:lnTo>
                        <a:lnTo>
                          <a:pt x="148" y="481"/>
                        </a:lnTo>
                        <a:lnTo>
                          <a:pt x="156" y="441"/>
                        </a:lnTo>
                        <a:lnTo>
                          <a:pt x="141" y="415"/>
                        </a:lnTo>
                        <a:lnTo>
                          <a:pt x="124" y="400"/>
                        </a:lnTo>
                        <a:lnTo>
                          <a:pt x="111" y="390"/>
                        </a:lnTo>
                        <a:lnTo>
                          <a:pt x="109" y="376"/>
                        </a:lnTo>
                        <a:lnTo>
                          <a:pt x="99" y="379"/>
                        </a:lnTo>
                        <a:lnTo>
                          <a:pt x="84" y="382"/>
                        </a:lnTo>
                        <a:lnTo>
                          <a:pt x="79" y="374"/>
                        </a:lnTo>
                        <a:lnTo>
                          <a:pt x="69" y="364"/>
                        </a:lnTo>
                        <a:lnTo>
                          <a:pt x="62" y="347"/>
                        </a:lnTo>
                        <a:lnTo>
                          <a:pt x="65" y="339"/>
                        </a:lnTo>
                        <a:lnTo>
                          <a:pt x="58" y="321"/>
                        </a:lnTo>
                        <a:lnTo>
                          <a:pt x="50" y="303"/>
                        </a:lnTo>
                        <a:lnTo>
                          <a:pt x="47" y="300"/>
                        </a:lnTo>
                        <a:lnTo>
                          <a:pt x="47" y="293"/>
                        </a:lnTo>
                        <a:lnTo>
                          <a:pt x="43" y="286"/>
                        </a:lnTo>
                        <a:lnTo>
                          <a:pt x="32" y="267"/>
                        </a:lnTo>
                        <a:lnTo>
                          <a:pt x="30" y="259"/>
                        </a:lnTo>
                        <a:lnTo>
                          <a:pt x="18" y="250"/>
                        </a:lnTo>
                        <a:lnTo>
                          <a:pt x="16" y="231"/>
                        </a:lnTo>
                        <a:lnTo>
                          <a:pt x="8" y="219"/>
                        </a:lnTo>
                        <a:lnTo>
                          <a:pt x="0" y="206"/>
                        </a:lnTo>
                        <a:lnTo>
                          <a:pt x="16" y="192"/>
                        </a:lnTo>
                        <a:lnTo>
                          <a:pt x="29" y="184"/>
                        </a:lnTo>
                        <a:lnTo>
                          <a:pt x="16" y="177"/>
                        </a:lnTo>
                        <a:lnTo>
                          <a:pt x="10" y="159"/>
                        </a:lnTo>
                        <a:lnTo>
                          <a:pt x="14" y="145"/>
                        </a:lnTo>
                        <a:lnTo>
                          <a:pt x="29" y="132"/>
                        </a:lnTo>
                        <a:lnTo>
                          <a:pt x="45" y="124"/>
                        </a:lnTo>
                        <a:lnTo>
                          <a:pt x="57" y="103"/>
                        </a:lnTo>
                        <a:lnTo>
                          <a:pt x="65" y="92"/>
                        </a:lnTo>
                        <a:lnTo>
                          <a:pt x="62" y="76"/>
                        </a:lnTo>
                        <a:lnTo>
                          <a:pt x="62" y="62"/>
                        </a:lnTo>
                        <a:lnTo>
                          <a:pt x="73" y="26"/>
                        </a:lnTo>
                        <a:close/>
                      </a:path>
                    </a:pathLst>
                  </a:custGeom>
                  <a:solidFill>
                    <a:srgbClr val="008000"/>
                  </a:solidFill>
                  <a:ln w="3175">
                    <a:solidFill>
                      <a:srgbClr val="000000"/>
                    </a:solidFill>
                    <a:prstDash val="solid"/>
                    <a:round/>
                    <a:headEnd/>
                    <a:tailEnd/>
                  </a:ln>
                </p:spPr>
                <p:txBody>
                  <a:bodyPr/>
                  <a:lstStyle/>
                  <a:p>
                    <a:endParaRPr lang="en-GB"/>
                  </a:p>
                </p:txBody>
              </p:sp>
              <p:sp>
                <p:nvSpPr>
                  <p:cNvPr id="246795" name="Freeform 11"/>
                  <p:cNvSpPr>
                    <a:spLocks/>
                  </p:cNvSpPr>
                  <p:nvPr/>
                </p:nvSpPr>
                <p:spPr bwMode="auto">
                  <a:xfrm>
                    <a:off x="2481" y="4026"/>
                    <a:ext cx="13" cy="5"/>
                  </a:xfrm>
                  <a:custGeom>
                    <a:avLst/>
                    <a:gdLst>
                      <a:gd name="T0" fmla="*/ 23 w 68"/>
                      <a:gd name="T1" fmla="*/ 0 h 27"/>
                      <a:gd name="T2" fmla="*/ 0 w 68"/>
                      <a:gd name="T3" fmla="*/ 15 h 27"/>
                      <a:gd name="T4" fmla="*/ 14 w 68"/>
                      <a:gd name="T5" fmla="*/ 27 h 27"/>
                      <a:gd name="T6" fmla="*/ 43 w 68"/>
                      <a:gd name="T7" fmla="*/ 26 h 27"/>
                      <a:gd name="T8" fmla="*/ 68 w 68"/>
                      <a:gd name="T9" fmla="*/ 27 h 27"/>
                      <a:gd name="T10" fmla="*/ 44 w 68"/>
                      <a:gd name="T11" fmla="*/ 11 h 27"/>
                      <a:gd name="T12" fmla="*/ 23 w 68"/>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68" h="27">
                        <a:moveTo>
                          <a:pt x="23" y="0"/>
                        </a:moveTo>
                        <a:lnTo>
                          <a:pt x="0" y="15"/>
                        </a:lnTo>
                        <a:lnTo>
                          <a:pt x="14" y="27"/>
                        </a:lnTo>
                        <a:lnTo>
                          <a:pt x="43" y="26"/>
                        </a:lnTo>
                        <a:lnTo>
                          <a:pt x="68" y="27"/>
                        </a:lnTo>
                        <a:lnTo>
                          <a:pt x="44" y="11"/>
                        </a:lnTo>
                        <a:lnTo>
                          <a:pt x="23" y="0"/>
                        </a:lnTo>
                        <a:close/>
                      </a:path>
                    </a:pathLst>
                  </a:custGeom>
                  <a:solidFill>
                    <a:srgbClr val="008000"/>
                  </a:solidFill>
                  <a:ln w="3175">
                    <a:solidFill>
                      <a:srgbClr val="000000"/>
                    </a:solidFill>
                    <a:prstDash val="solid"/>
                    <a:round/>
                    <a:headEnd/>
                    <a:tailEnd/>
                  </a:ln>
                </p:spPr>
                <p:txBody>
                  <a:bodyPr/>
                  <a:lstStyle/>
                  <a:p>
                    <a:endParaRPr lang="en-GB"/>
                  </a:p>
                </p:txBody>
              </p:sp>
            </p:grpSp>
            <p:grpSp>
              <p:nvGrpSpPr>
                <p:cNvPr id="246796" name="Group 12"/>
                <p:cNvGrpSpPr>
                  <a:grpSpLocks/>
                </p:cNvGrpSpPr>
                <p:nvPr/>
              </p:nvGrpSpPr>
              <p:grpSpPr bwMode="auto">
                <a:xfrm>
                  <a:off x="2387" y="3614"/>
                  <a:ext cx="174" cy="243"/>
                  <a:chOff x="2387" y="3614"/>
                  <a:chExt cx="174" cy="243"/>
                </a:xfrm>
              </p:grpSpPr>
              <p:sp>
                <p:nvSpPr>
                  <p:cNvPr id="246797" name="Freeform 13"/>
                  <p:cNvSpPr>
                    <a:spLocks/>
                  </p:cNvSpPr>
                  <p:nvPr/>
                </p:nvSpPr>
                <p:spPr bwMode="auto">
                  <a:xfrm>
                    <a:off x="2482" y="3696"/>
                    <a:ext cx="5" cy="6"/>
                  </a:xfrm>
                  <a:custGeom>
                    <a:avLst/>
                    <a:gdLst>
                      <a:gd name="T0" fmla="*/ 0 w 23"/>
                      <a:gd name="T1" fmla="*/ 23 h 32"/>
                      <a:gd name="T2" fmla="*/ 23 w 23"/>
                      <a:gd name="T3" fmla="*/ 32 h 32"/>
                      <a:gd name="T4" fmla="*/ 22 w 23"/>
                      <a:gd name="T5" fmla="*/ 21 h 32"/>
                      <a:gd name="T6" fmla="*/ 23 w 23"/>
                      <a:gd name="T7" fmla="*/ 5 h 32"/>
                      <a:gd name="T8" fmla="*/ 11 w 23"/>
                      <a:gd name="T9" fmla="*/ 0 h 32"/>
                      <a:gd name="T10" fmla="*/ 7 w 23"/>
                      <a:gd name="T11" fmla="*/ 12 h 32"/>
                      <a:gd name="T12" fmla="*/ 0 w 23"/>
                      <a:gd name="T13" fmla="*/ 23 h 32"/>
                    </a:gdLst>
                    <a:ahLst/>
                    <a:cxnLst>
                      <a:cxn ang="0">
                        <a:pos x="T0" y="T1"/>
                      </a:cxn>
                      <a:cxn ang="0">
                        <a:pos x="T2" y="T3"/>
                      </a:cxn>
                      <a:cxn ang="0">
                        <a:pos x="T4" y="T5"/>
                      </a:cxn>
                      <a:cxn ang="0">
                        <a:pos x="T6" y="T7"/>
                      </a:cxn>
                      <a:cxn ang="0">
                        <a:pos x="T8" y="T9"/>
                      </a:cxn>
                      <a:cxn ang="0">
                        <a:pos x="T10" y="T11"/>
                      </a:cxn>
                      <a:cxn ang="0">
                        <a:pos x="T12" y="T13"/>
                      </a:cxn>
                    </a:cxnLst>
                    <a:rect l="0" t="0" r="r" b="b"/>
                    <a:pathLst>
                      <a:path w="23" h="32">
                        <a:moveTo>
                          <a:pt x="0" y="23"/>
                        </a:moveTo>
                        <a:lnTo>
                          <a:pt x="23" y="32"/>
                        </a:lnTo>
                        <a:lnTo>
                          <a:pt x="22" y="21"/>
                        </a:lnTo>
                        <a:lnTo>
                          <a:pt x="23" y="5"/>
                        </a:lnTo>
                        <a:lnTo>
                          <a:pt x="11" y="0"/>
                        </a:lnTo>
                        <a:lnTo>
                          <a:pt x="7" y="12"/>
                        </a:lnTo>
                        <a:lnTo>
                          <a:pt x="0" y="23"/>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246798" name="Group 14"/>
                  <p:cNvGrpSpPr>
                    <a:grpSpLocks/>
                  </p:cNvGrpSpPr>
                  <p:nvPr/>
                </p:nvGrpSpPr>
                <p:grpSpPr bwMode="auto">
                  <a:xfrm>
                    <a:off x="2387" y="3614"/>
                    <a:ext cx="174" cy="243"/>
                    <a:chOff x="2387" y="3614"/>
                    <a:chExt cx="174" cy="243"/>
                  </a:xfrm>
                </p:grpSpPr>
                <p:sp>
                  <p:nvSpPr>
                    <p:cNvPr id="246799" name="Freeform 15"/>
                    <p:cNvSpPr>
                      <a:spLocks/>
                    </p:cNvSpPr>
                    <p:nvPr/>
                  </p:nvSpPr>
                  <p:spPr bwMode="auto">
                    <a:xfrm>
                      <a:off x="2387" y="3614"/>
                      <a:ext cx="125" cy="243"/>
                    </a:xfrm>
                    <a:custGeom>
                      <a:avLst/>
                      <a:gdLst>
                        <a:gd name="T0" fmla="*/ 273 w 623"/>
                        <a:gd name="T1" fmla="*/ 1166 h 1216"/>
                        <a:gd name="T2" fmla="*/ 258 w 623"/>
                        <a:gd name="T3" fmla="*/ 1107 h 1216"/>
                        <a:gd name="T4" fmla="*/ 255 w 623"/>
                        <a:gd name="T5" fmla="*/ 1054 h 1216"/>
                        <a:gd name="T6" fmla="*/ 215 w 623"/>
                        <a:gd name="T7" fmla="*/ 1020 h 1216"/>
                        <a:gd name="T8" fmla="*/ 204 w 623"/>
                        <a:gd name="T9" fmla="*/ 964 h 1216"/>
                        <a:gd name="T10" fmla="*/ 160 w 623"/>
                        <a:gd name="T11" fmla="*/ 984 h 1216"/>
                        <a:gd name="T12" fmla="*/ 134 w 623"/>
                        <a:gd name="T13" fmla="*/ 911 h 1216"/>
                        <a:gd name="T14" fmla="*/ 157 w 623"/>
                        <a:gd name="T15" fmla="*/ 864 h 1216"/>
                        <a:gd name="T16" fmla="*/ 201 w 623"/>
                        <a:gd name="T17" fmla="*/ 829 h 1216"/>
                        <a:gd name="T18" fmla="*/ 239 w 623"/>
                        <a:gd name="T19" fmla="*/ 859 h 1216"/>
                        <a:gd name="T20" fmla="*/ 283 w 623"/>
                        <a:gd name="T21" fmla="*/ 859 h 1216"/>
                        <a:gd name="T22" fmla="*/ 309 w 623"/>
                        <a:gd name="T23" fmla="*/ 922 h 1216"/>
                        <a:gd name="T24" fmla="*/ 331 w 623"/>
                        <a:gd name="T25" fmla="*/ 952 h 1216"/>
                        <a:gd name="T26" fmla="*/ 334 w 623"/>
                        <a:gd name="T27" fmla="*/ 898 h 1216"/>
                        <a:gd name="T28" fmla="*/ 342 w 623"/>
                        <a:gd name="T29" fmla="*/ 849 h 1216"/>
                        <a:gd name="T30" fmla="*/ 381 w 623"/>
                        <a:gd name="T31" fmla="*/ 840 h 1216"/>
                        <a:gd name="T32" fmla="*/ 422 w 623"/>
                        <a:gd name="T33" fmla="*/ 807 h 1216"/>
                        <a:gd name="T34" fmla="*/ 444 w 623"/>
                        <a:gd name="T35" fmla="*/ 760 h 1216"/>
                        <a:gd name="T36" fmla="*/ 476 w 623"/>
                        <a:gd name="T37" fmla="*/ 735 h 1216"/>
                        <a:gd name="T38" fmla="*/ 542 w 623"/>
                        <a:gd name="T39" fmla="*/ 709 h 1216"/>
                        <a:gd name="T40" fmla="*/ 544 w 623"/>
                        <a:gd name="T41" fmla="*/ 693 h 1216"/>
                        <a:gd name="T42" fmla="*/ 527 w 623"/>
                        <a:gd name="T43" fmla="*/ 648 h 1216"/>
                        <a:gd name="T44" fmla="*/ 620 w 623"/>
                        <a:gd name="T45" fmla="*/ 611 h 1216"/>
                        <a:gd name="T46" fmla="*/ 593 w 623"/>
                        <a:gd name="T47" fmla="*/ 562 h 1216"/>
                        <a:gd name="T48" fmla="*/ 568 w 623"/>
                        <a:gd name="T49" fmla="*/ 537 h 1216"/>
                        <a:gd name="T50" fmla="*/ 515 w 623"/>
                        <a:gd name="T51" fmla="*/ 465 h 1216"/>
                        <a:gd name="T52" fmla="*/ 475 w 623"/>
                        <a:gd name="T53" fmla="*/ 553 h 1216"/>
                        <a:gd name="T54" fmla="*/ 450 w 623"/>
                        <a:gd name="T55" fmla="*/ 584 h 1216"/>
                        <a:gd name="T56" fmla="*/ 436 w 623"/>
                        <a:gd name="T57" fmla="*/ 555 h 1216"/>
                        <a:gd name="T58" fmla="*/ 392 w 623"/>
                        <a:gd name="T59" fmla="*/ 480 h 1216"/>
                        <a:gd name="T60" fmla="*/ 449 w 623"/>
                        <a:gd name="T61" fmla="*/ 420 h 1216"/>
                        <a:gd name="T62" fmla="*/ 503 w 623"/>
                        <a:gd name="T63" fmla="*/ 403 h 1216"/>
                        <a:gd name="T64" fmla="*/ 522 w 623"/>
                        <a:gd name="T65" fmla="*/ 375 h 1216"/>
                        <a:gd name="T66" fmla="*/ 485 w 623"/>
                        <a:gd name="T67" fmla="*/ 368 h 1216"/>
                        <a:gd name="T68" fmla="*/ 484 w 623"/>
                        <a:gd name="T69" fmla="*/ 330 h 1216"/>
                        <a:gd name="T70" fmla="*/ 413 w 623"/>
                        <a:gd name="T71" fmla="*/ 211 h 1216"/>
                        <a:gd name="T72" fmla="*/ 401 w 623"/>
                        <a:gd name="T73" fmla="*/ 106 h 1216"/>
                        <a:gd name="T74" fmla="*/ 361 w 623"/>
                        <a:gd name="T75" fmla="*/ 30 h 1216"/>
                        <a:gd name="T76" fmla="*/ 324 w 623"/>
                        <a:gd name="T77" fmla="*/ 33 h 1216"/>
                        <a:gd name="T78" fmla="*/ 280 w 623"/>
                        <a:gd name="T79" fmla="*/ 17 h 1216"/>
                        <a:gd name="T80" fmla="*/ 201 w 623"/>
                        <a:gd name="T81" fmla="*/ 64 h 1216"/>
                        <a:gd name="T82" fmla="*/ 197 w 623"/>
                        <a:gd name="T83" fmla="*/ 84 h 1216"/>
                        <a:gd name="T84" fmla="*/ 239 w 623"/>
                        <a:gd name="T85" fmla="*/ 128 h 1216"/>
                        <a:gd name="T86" fmla="*/ 244 w 623"/>
                        <a:gd name="T87" fmla="*/ 193 h 1216"/>
                        <a:gd name="T88" fmla="*/ 181 w 623"/>
                        <a:gd name="T89" fmla="*/ 308 h 1216"/>
                        <a:gd name="T90" fmla="*/ 129 w 623"/>
                        <a:gd name="T91" fmla="*/ 401 h 1216"/>
                        <a:gd name="T92" fmla="*/ 85 w 623"/>
                        <a:gd name="T93" fmla="*/ 450 h 1216"/>
                        <a:gd name="T94" fmla="*/ 34 w 623"/>
                        <a:gd name="T95" fmla="*/ 534 h 1216"/>
                        <a:gd name="T96" fmla="*/ 11 w 623"/>
                        <a:gd name="T97" fmla="*/ 581 h 1216"/>
                        <a:gd name="T98" fmla="*/ 12 w 623"/>
                        <a:gd name="T99" fmla="*/ 654 h 1216"/>
                        <a:gd name="T100" fmla="*/ 5 w 623"/>
                        <a:gd name="T101" fmla="*/ 760 h 1216"/>
                        <a:gd name="T102" fmla="*/ 19 w 623"/>
                        <a:gd name="T103" fmla="*/ 748 h 1216"/>
                        <a:gd name="T104" fmla="*/ 34 w 623"/>
                        <a:gd name="T105" fmla="*/ 703 h 1216"/>
                        <a:gd name="T106" fmla="*/ 29 w 623"/>
                        <a:gd name="T107" fmla="*/ 771 h 1216"/>
                        <a:gd name="T108" fmla="*/ 44 w 623"/>
                        <a:gd name="T109" fmla="*/ 849 h 1216"/>
                        <a:gd name="T110" fmla="*/ 44 w 623"/>
                        <a:gd name="T111" fmla="*/ 915 h 1216"/>
                        <a:gd name="T112" fmla="*/ 96 w 623"/>
                        <a:gd name="T113" fmla="*/ 995 h 1216"/>
                        <a:gd name="T114" fmla="*/ 138 w 623"/>
                        <a:gd name="T115" fmla="*/ 1025 h 1216"/>
                        <a:gd name="T116" fmla="*/ 190 w 623"/>
                        <a:gd name="T117" fmla="*/ 1081 h 1216"/>
                        <a:gd name="T118" fmla="*/ 223 w 623"/>
                        <a:gd name="T119" fmla="*/ 1136 h 1216"/>
                        <a:gd name="T120" fmla="*/ 281 w 623"/>
                        <a:gd name="T121" fmla="*/ 1197 h 1216"/>
                        <a:gd name="T122" fmla="*/ 316 w 623"/>
                        <a:gd name="T123" fmla="*/ 1216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23" h="1216">
                          <a:moveTo>
                            <a:pt x="322" y="1188"/>
                          </a:moveTo>
                          <a:lnTo>
                            <a:pt x="296" y="1163"/>
                          </a:lnTo>
                          <a:lnTo>
                            <a:pt x="273" y="1166"/>
                          </a:lnTo>
                          <a:lnTo>
                            <a:pt x="251" y="1144"/>
                          </a:lnTo>
                          <a:lnTo>
                            <a:pt x="247" y="1117"/>
                          </a:lnTo>
                          <a:lnTo>
                            <a:pt x="258" y="1107"/>
                          </a:lnTo>
                          <a:lnTo>
                            <a:pt x="258" y="1099"/>
                          </a:lnTo>
                          <a:lnTo>
                            <a:pt x="267" y="1085"/>
                          </a:lnTo>
                          <a:lnTo>
                            <a:pt x="255" y="1054"/>
                          </a:lnTo>
                          <a:lnTo>
                            <a:pt x="237" y="1053"/>
                          </a:lnTo>
                          <a:lnTo>
                            <a:pt x="214" y="1033"/>
                          </a:lnTo>
                          <a:lnTo>
                            <a:pt x="215" y="1020"/>
                          </a:lnTo>
                          <a:lnTo>
                            <a:pt x="236" y="984"/>
                          </a:lnTo>
                          <a:lnTo>
                            <a:pt x="230" y="976"/>
                          </a:lnTo>
                          <a:lnTo>
                            <a:pt x="204" y="964"/>
                          </a:lnTo>
                          <a:lnTo>
                            <a:pt x="190" y="976"/>
                          </a:lnTo>
                          <a:lnTo>
                            <a:pt x="183" y="988"/>
                          </a:lnTo>
                          <a:lnTo>
                            <a:pt x="160" y="984"/>
                          </a:lnTo>
                          <a:lnTo>
                            <a:pt x="141" y="975"/>
                          </a:lnTo>
                          <a:lnTo>
                            <a:pt x="124" y="938"/>
                          </a:lnTo>
                          <a:lnTo>
                            <a:pt x="134" y="911"/>
                          </a:lnTo>
                          <a:lnTo>
                            <a:pt x="138" y="888"/>
                          </a:lnTo>
                          <a:lnTo>
                            <a:pt x="145" y="876"/>
                          </a:lnTo>
                          <a:lnTo>
                            <a:pt x="157" y="864"/>
                          </a:lnTo>
                          <a:lnTo>
                            <a:pt x="165" y="851"/>
                          </a:lnTo>
                          <a:lnTo>
                            <a:pt x="183" y="837"/>
                          </a:lnTo>
                          <a:lnTo>
                            <a:pt x="201" y="829"/>
                          </a:lnTo>
                          <a:lnTo>
                            <a:pt x="215" y="841"/>
                          </a:lnTo>
                          <a:lnTo>
                            <a:pt x="230" y="845"/>
                          </a:lnTo>
                          <a:lnTo>
                            <a:pt x="239" y="859"/>
                          </a:lnTo>
                          <a:lnTo>
                            <a:pt x="252" y="857"/>
                          </a:lnTo>
                          <a:lnTo>
                            <a:pt x="270" y="851"/>
                          </a:lnTo>
                          <a:lnTo>
                            <a:pt x="283" y="859"/>
                          </a:lnTo>
                          <a:lnTo>
                            <a:pt x="309" y="888"/>
                          </a:lnTo>
                          <a:lnTo>
                            <a:pt x="301" y="909"/>
                          </a:lnTo>
                          <a:lnTo>
                            <a:pt x="309" y="922"/>
                          </a:lnTo>
                          <a:lnTo>
                            <a:pt x="309" y="930"/>
                          </a:lnTo>
                          <a:lnTo>
                            <a:pt x="320" y="941"/>
                          </a:lnTo>
                          <a:lnTo>
                            <a:pt x="331" y="952"/>
                          </a:lnTo>
                          <a:lnTo>
                            <a:pt x="335" y="946"/>
                          </a:lnTo>
                          <a:lnTo>
                            <a:pt x="335" y="926"/>
                          </a:lnTo>
                          <a:lnTo>
                            <a:pt x="334" y="898"/>
                          </a:lnTo>
                          <a:lnTo>
                            <a:pt x="334" y="873"/>
                          </a:lnTo>
                          <a:lnTo>
                            <a:pt x="331" y="864"/>
                          </a:lnTo>
                          <a:lnTo>
                            <a:pt x="342" y="849"/>
                          </a:lnTo>
                          <a:lnTo>
                            <a:pt x="360" y="845"/>
                          </a:lnTo>
                          <a:lnTo>
                            <a:pt x="368" y="836"/>
                          </a:lnTo>
                          <a:lnTo>
                            <a:pt x="381" y="840"/>
                          </a:lnTo>
                          <a:lnTo>
                            <a:pt x="393" y="828"/>
                          </a:lnTo>
                          <a:lnTo>
                            <a:pt x="410" y="812"/>
                          </a:lnTo>
                          <a:lnTo>
                            <a:pt x="422" y="807"/>
                          </a:lnTo>
                          <a:lnTo>
                            <a:pt x="417" y="793"/>
                          </a:lnTo>
                          <a:lnTo>
                            <a:pt x="431" y="774"/>
                          </a:lnTo>
                          <a:lnTo>
                            <a:pt x="444" y="760"/>
                          </a:lnTo>
                          <a:lnTo>
                            <a:pt x="454" y="752"/>
                          </a:lnTo>
                          <a:lnTo>
                            <a:pt x="480" y="755"/>
                          </a:lnTo>
                          <a:lnTo>
                            <a:pt x="476" y="735"/>
                          </a:lnTo>
                          <a:lnTo>
                            <a:pt x="500" y="721"/>
                          </a:lnTo>
                          <a:lnTo>
                            <a:pt x="522" y="712"/>
                          </a:lnTo>
                          <a:lnTo>
                            <a:pt x="542" y="709"/>
                          </a:lnTo>
                          <a:lnTo>
                            <a:pt x="534" y="729"/>
                          </a:lnTo>
                          <a:lnTo>
                            <a:pt x="554" y="706"/>
                          </a:lnTo>
                          <a:lnTo>
                            <a:pt x="544" y="693"/>
                          </a:lnTo>
                          <a:lnTo>
                            <a:pt x="543" y="664"/>
                          </a:lnTo>
                          <a:lnTo>
                            <a:pt x="522" y="664"/>
                          </a:lnTo>
                          <a:lnTo>
                            <a:pt x="527" y="648"/>
                          </a:lnTo>
                          <a:lnTo>
                            <a:pt x="589" y="649"/>
                          </a:lnTo>
                          <a:lnTo>
                            <a:pt x="623" y="627"/>
                          </a:lnTo>
                          <a:lnTo>
                            <a:pt x="620" y="611"/>
                          </a:lnTo>
                          <a:lnTo>
                            <a:pt x="603" y="595"/>
                          </a:lnTo>
                          <a:lnTo>
                            <a:pt x="604" y="568"/>
                          </a:lnTo>
                          <a:lnTo>
                            <a:pt x="593" y="562"/>
                          </a:lnTo>
                          <a:lnTo>
                            <a:pt x="587" y="543"/>
                          </a:lnTo>
                          <a:lnTo>
                            <a:pt x="580" y="533"/>
                          </a:lnTo>
                          <a:lnTo>
                            <a:pt x="568" y="537"/>
                          </a:lnTo>
                          <a:lnTo>
                            <a:pt x="544" y="517"/>
                          </a:lnTo>
                          <a:lnTo>
                            <a:pt x="537" y="493"/>
                          </a:lnTo>
                          <a:lnTo>
                            <a:pt x="515" y="465"/>
                          </a:lnTo>
                          <a:lnTo>
                            <a:pt x="482" y="500"/>
                          </a:lnTo>
                          <a:lnTo>
                            <a:pt x="482" y="541"/>
                          </a:lnTo>
                          <a:lnTo>
                            <a:pt x="475" y="553"/>
                          </a:lnTo>
                          <a:lnTo>
                            <a:pt x="461" y="555"/>
                          </a:lnTo>
                          <a:lnTo>
                            <a:pt x="453" y="562"/>
                          </a:lnTo>
                          <a:lnTo>
                            <a:pt x="450" y="584"/>
                          </a:lnTo>
                          <a:lnTo>
                            <a:pt x="438" y="607"/>
                          </a:lnTo>
                          <a:lnTo>
                            <a:pt x="426" y="584"/>
                          </a:lnTo>
                          <a:lnTo>
                            <a:pt x="436" y="555"/>
                          </a:lnTo>
                          <a:lnTo>
                            <a:pt x="432" y="533"/>
                          </a:lnTo>
                          <a:lnTo>
                            <a:pt x="419" y="526"/>
                          </a:lnTo>
                          <a:lnTo>
                            <a:pt x="392" y="480"/>
                          </a:lnTo>
                          <a:lnTo>
                            <a:pt x="394" y="464"/>
                          </a:lnTo>
                          <a:lnTo>
                            <a:pt x="426" y="420"/>
                          </a:lnTo>
                          <a:lnTo>
                            <a:pt x="449" y="420"/>
                          </a:lnTo>
                          <a:lnTo>
                            <a:pt x="469" y="417"/>
                          </a:lnTo>
                          <a:lnTo>
                            <a:pt x="478" y="398"/>
                          </a:lnTo>
                          <a:lnTo>
                            <a:pt x="503" y="403"/>
                          </a:lnTo>
                          <a:lnTo>
                            <a:pt x="511" y="391"/>
                          </a:lnTo>
                          <a:lnTo>
                            <a:pt x="534" y="393"/>
                          </a:lnTo>
                          <a:lnTo>
                            <a:pt x="522" y="375"/>
                          </a:lnTo>
                          <a:lnTo>
                            <a:pt x="519" y="349"/>
                          </a:lnTo>
                          <a:lnTo>
                            <a:pt x="500" y="376"/>
                          </a:lnTo>
                          <a:lnTo>
                            <a:pt x="485" y="368"/>
                          </a:lnTo>
                          <a:lnTo>
                            <a:pt x="504" y="339"/>
                          </a:lnTo>
                          <a:lnTo>
                            <a:pt x="503" y="309"/>
                          </a:lnTo>
                          <a:lnTo>
                            <a:pt x="484" y="330"/>
                          </a:lnTo>
                          <a:lnTo>
                            <a:pt x="468" y="349"/>
                          </a:lnTo>
                          <a:lnTo>
                            <a:pt x="410" y="300"/>
                          </a:lnTo>
                          <a:lnTo>
                            <a:pt x="413" y="211"/>
                          </a:lnTo>
                          <a:lnTo>
                            <a:pt x="387" y="183"/>
                          </a:lnTo>
                          <a:lnTo>
                            <a:pt x="384" y="148"/>
                          </a:lnTo>
                          <a:lnTo>
                            <a:pt x="401" y="106"/>
                          </a:lnTo>
                          <a:lnTo>
                            <a:pt x="407" y="58"/>
                          </a:lnTo>
                          <a:lnTo>
                            <a:pt x="385" y="32"/>
                          </a:lnTo>
                          <a:lnTo>
                            <a:pt x="361" y="30"/>
                          </a:lnTo>
                          <a:lnTo>
                            <a:pt x="348" y="21"/>
                          </a:lnTo>
                          <a:lnTo>
                            <a:pt x="346" y="0"/>
                          </a:lnTo>
                          <a:lnTo>
                            <a:pt x="324" y="33"/>
                          </a:lnTo>
                          <a:lnTo>
                            <a:pt x="303" y="36"/>
                          </a:lnTo>
                          <a:lnTo>
                            <a:pt x="296" y="9"/>
                          </a:lnTo>
                          <a:lnTo>
                            <a:pt x="280" y="17"/>
                          </a:lnTo>
                          <a:lnTo>
                            <a:pt x="262" y="19"/>
                          </a:lnTo>
                          <a:lnTo>
                            <a:pt x="217" y="70"/>
                          </a:lnTo>
                          <a:lnTo>
                            <a:pt x="201" y="64"/>
                          </a:lnTo>
                          <a:lnTo>
                            <a:pt x="180" y="26"/>
                          </a:lnTo>
                          <a:lnTo>
                            <a:pt x="182" y="58"/>
                          </a:lnTo>
                          <a:lnTo>
                            <a:pt x="197" y="84"/>
                          </a:lnTo>
                          <a:lnTo>
                            <a:pt x="222" y="104"/>
                          </a:lnTo>
                          <a:lnTo>
                            <a:pt x="237" y="106"/>
                          </a:lnTo>
                          <a:lnTo>
                            <a:pt x="239" y="128"/>
                          </a:lnTo>
                          <a:lnTo>
                            <a:pt x="250" y="145"/>
                          </a:lnTo>
                          <a:lnTo>
                            <a:pt x="243" y="162"/>
                          </a:lnTo>
                          <a:lnTo>
                            <a:pt x="244" y="193"/>
                          </a:lnTo>
                          <a:lnTo>
                            <a:pt x="230" y="240"/>
                          </a:lnTo>
                          <a:lnTo>
                            <a:pt x="196" y="305"/>
                          </a:lnTo>
                          <a:lnTo>
                            <a:pt x="181" y="308"/>
                          </a:lnTo>
                          <a:lnTo>
                            <a:pt x="154" y="370"/>
                          </a:lnTo>
                          <a:lnTo>
                            <a:pt x="146" y="406"/>
                          </a:lnTo>
                          <a:lnTo>
                            <a:pt x="129" y="401"/>
                          </a:lnTo>
                          <a:lnTo>
                            <a:pt x="128" y="413"/>
                          </a:lnTo>
                          <a:lnTo>
                            <a:pt x="107" y="435"/>
                          </a:lnTo>
                          <a:lnTo>
                            <a:pt x="85" y="450"/>
                          </a:lnTo>
                          <a:lnTo>
                            <a:pt x="55" y="481"/>
                          </a:lnTo>
                          <a:lnTo>
                            <a:pt x="33" y="511"/>
                          </a:lnTo>
                          <a:lnTo>
                            <a:pt x="34" y="534"/>
                          </a:lnTo>
                          <a:lnTo>
                            <a:pt x="26" y="547"/>
                          </a:lnTo>
                          <a:lnTo>
                            <a:pt x="16" y="561"/>
                          </a:lnTo>
                          <a:lnTo>
                            <a:pt x="11" y="581"/>
                          </a:lnTo>
                          <a:lnTo>
                            <a:pt x="16" y="603"/>
                          </a:lnTo>
                          <a:lnTo>
                            <a:pt x="22" y="637"/>
                          </a:lnTo>
                          <a:lnTo>
                            <a:pt x="12" y="654"/>
                          </a:lnTo>
                          <a:lnTo>
                            <a:pt x="4" y="691"/>
                          </a:lnTo>
                          <a:lnTo>
                            <a:pt x="0" y="738"/>
                          </a:lnTo>
                          <a:lnTo>
                            <a:pt x="5" y="760"/>
                          </a:lnTo>
                          <a:lnTo>
                            <a:pt x="1" y="801"/>
                          </a:lnTo>
                          <a:lnTo>
                            <a:pt x="12" y="817"/>
                          </a:lnTo>
                          <a:lnTo>
                            <a:pt x="19" y="748"/>
                          </a:lnTo>
                          <a:lnTo>
                            <a:pt x="19" y="696"/>
                          </a:lnTo>
                          <a:lnTo>
                            <a:pt x="31" y="678"/>
                          </a:lnTo>
                          <a:lnTo>
                            <a:pt x="34" y="703"/>
                          </a:lnTo>
                          <a:lnTo>
                            <a:pt x="30" y="720"/>
                          </a:lnTo>
                          <a:lnTo>
                            <a:pt x="30" y="739"/>
                          </a:lnTo>
                          <a:lnTo>
                            <a:pt x="29" y="771"/>
                          </a:lnTo>
                          <a:lnTo>
                            <a:pt x="37" y="802"/>
                          </a:lnTo>
                          <a:lnTo>
                            <a:pt x="39" y="834"/>
                          </a:lnTo>
                          <a:lnTo>
                            <a:pt x="44" y="849"/>
                          </a:lnTo>
                          <a:lnTo>
                            <a:pt x="49" y="867"/>
                          </a:lnTo>
                          <a:lnTo>
                            <a:pt x="39" y="888"/>
                          </a:lnTo>
                          <a:lnTo>
                            <a:pt x="44" y="915"/>
                          </a:lnTo>
                          <a:lnTo>
                            <a:pt x="54" y="950"/>
                          </a:lnTo>
                          <a:lnTo>
                            <a:pt x="74" y="967"/>
                          </a:lnTo>
                          <a:lnTo>
                            <a:pt x="96" y="995"/>
                          </a:lnTo>
                          <a:lnTo>
                            <a:pt x="112" y="1015"/>
                          </a:lnTo>
                          <a:lnTo>
                            <a:pt x="124" y="1012"/>
                          </a:lnTo>
                          <a:lnTo>
                            <a:pt x="138" y="1025"/>
                          </a:lnTo>
                          <a:lnTo>
                            <a:pt x="150" y="1033"/>
                          </a:lnTo>
                          <a:lnTo>
                            <a:pt x="158" y="1050"/>
                          </a:lnTo>
                          <a:lnTo>
                            <a:pt x="190" y="1081"/>
                          </a:lnTo>
                          <a:lnTo>
                            <a:pt x="201" y="1086"/>
                          </a:lnTo>
                          <a:lnTo>
                            <a:pt x="222" y="1105"/>
                          </a:lnTo>
                          <a:lnTo>
                            <a:pt x="223" y="1136"/>
                          </a:lnTo>
                          <a:lnTo>
                            <a:pt x="248" y="1167"/>
                          </a:lnTo>
                          <a:lnTo>
                            <a:pt x="270" y="1194"/>
                          </a:lnTo>
                          <a:lnTo>
                            <a:pt x="281" y="1197"/>
                          </a:lnTo>
                          <a:lnTo>
                            <a:pt x="292" y="1188"/>
                          </a:lnTo>
                          <a:lnTo>
                            <a:pt x="298" y="1185"/>
                          </a:lnTo>
                          <a:lnTo>
                            <a:pt x="316" y="1216"/>
                          </a:lnTo>
                          <a:lnTo>
                            <a:pt x="322" y="1188"/>
                          </a:lnTo>
                          <a:close/>
                        </a:path>
                      </a:pathLst>
                    </a:custGeom>
                    <a:solidFill>
                      <a:srgbClr val="008000"/>
                    </a:solidFill>
                    <a:ln w="3175">
                      <a:solidFill>
                        <a:srgbClr val="000000"/>
                      </a:solidFill>
                      <a:prstDash val="solid"/>
                      <a:round/>
                      <a:headEnd/>
                      <a:tailEnd/>
                    </a:ln>
                  </p:spPr>
                  <p:txBody>
                    <a:bodyPr/>
                    <a:lstStyle/>
                    <a:p>
                      <a:endParaRPr lang="en-GB"/>
                    </a:p>
                  </p:txBody>
                </p:sp>
                <p:sp>
                  <p:nvSpPr>
                    <p:cNvPr id="246800" name="Freeform 16"/>
                    <p:cNvSpPr>
                      <a:spLocks/>
                    </p:cNvSpPr>
                    <p:nvPr/>
                  </p:nvSpPr>
                  <p:spPr bwMode="auto">
                    <a:xfrm>
                      <a:off x="2442" y="3806"/>
                      <a:ext cx="22" cy="15"/>
                    </a:xfrm>
                    <a:custGeom>
                      <a:avLst/>
                      <a:gdLst>
                        <a:gd name="T0" fmla="*/ 2 w 108"/>
                        <a:gd name="T1" fmla="*/ 0 h 76"/>
                        <a:gd name="T2" fmla="*/ 32 w 108"/>
                        <a:gd name="T3" fmla="*/ 5 h 76"/>
                        <a:gd name="T4" fmla="*/ 50 w 108"/>
                        <a:gd name="T5" fmla="*/ 22 h 76"/>
                        <a:gd name="T6" fmla="*/ 61 w 108"/>
                        <a:gd name="T7" fmla="*/ 34 h 76"/>
                        <a:gd name="T8" fmla="*/ 71 w 108"/>
                        <a:gd name="T9" fmla="*/ 37 h 76"/>
                        <a:gd name="T10" fmla="*/ 85 w 108"/>
                        <a:gd name="T11" fmla="*/ 50 h 76"/>
                        <a:gd name="T12" fmla="*/ 97 w 108"/>
                        <a:gd name="T13" fmla="*/ 66 h 76"/>
                        <a:gd name="T14" fmla="*/ 108 w 108"/>
                        <a:gd name="T15" fmla="*/ 76 h 76"/>
                        <a:gd name="T16" fmla="*/ 83 w 108"/>
                        <a:gd name="T17" fmla="*/ 76 h 76"/>
                        <a:gd name="T18" fmla="*/ 68 w 108"/>
                        <a:gd name="T19" fmla="*/ 58 h 76"/>
                        <a:gd name="T20" fmla="*/ 47 w 108"/>
                        <a:gd name="T21" fmla="*/ 51 h 76"/>
                        <a:gd name="T22" fmla="*/ 35 w 108"/>
                        <a:gd name="T23" fmla="*/ 37 h 76"/>
                        <a:gd name="T24" fmla="*/ 14 w 108"/>
                        <a:gd name="T25" fmla="*/ 27 h 76"/>
                        <a:gd name="T26" fmla="*/ 0 w 108"/>
                        <a:gd name="T27" fmla="*/ 18 h 76"/>
                        <a:gd name="T28" fmla="*/ 2 w 108"/>
                        <a:gd name="T29"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76">
                          <a:moveTo>
                            <a:pt x="2" y="0"/>
                          </a:moveTo>
                          <a:lnTo>
                            <a:pt x="32" y="5"/>
                          </a:lnTo>
                          <a:lnTo>
                            <a:pt x="50" y="22"/>
                          </a:lnTo>
                          <a:lnTo>
                            <a:pt x="61" y="34"/>
                          </a:lnTo>
                          <a:lnTo>
                            <a:pt x="71" y="37"/>
                          </a:lnTo>
                          <a:lnTo>
                            <a:pt x="85" y="50"/>
                          </a:lnTo>
                          <a:lnTo>
                            <a:pt x="97" y="66"/>
                          </a:lnTo>
                          <a:lnTo>
                            <a:pt x="108" y="76"/>
                          </a:lnTo>
                          <a:lnTo>
                            <a:pt x="83" y="76"/>
                          </a:lnTo>
                          <a:lnTo>
                            <a:pt x="68" y="58"/>
                          </a:lnTo>
                          <a:lnTo>
                            <a:pt x="47" y="51"/>
                          </a:lnTo>
                          <a:lnTo>
                            <a:pt x="35" y="37"/>
                          </a:lnTo>
                          <a:lnTo>
                            <a:pt x="14" y="27"/>
                          </a:lnTo>
                          <a:lnTo>
                            <a:pt x="0" y="18"/>
                          </a:lnTo>
                          <a:lnTo>
                            <a:pt x="2" y="0"/>
                          </a:lnTo>
                          <a:close/>
                        </a:path>
                      </a:pathLst>
                    </a:custGeom>
                    <a:solidFill>
                      <a:srgbClr val="008000"/>
                    </a:solidFill>
                    <a:ln w="3175">
                      <a:solidFill>
                        <a:srgbClr val="000000"/>
                      </a:solidFill>
                      <a:prstDash val="solid"/>
                      <a:round/>
                      <a:headEnd/>
                      <a:tailEnd/>
                    </a:ln>
                  </p:spPr>
                  <p:txBody>
                    <a:bodyPr/>
                    <a:lstStyle/>
                    <a:p>
                      <a:endParaRPr lang="en-GB"/>
                    </a:p>
                  </p:txBody>
                </p:sp>
                <p:sp>
                  <p:nvSpPr>
                    <p:cNvPr id="246801" name="Freeform 17"/>
                    <p:cNvSpPr>
                      <a:spLocks/>
                    </p:cNvSpPr>
                    <p:nvPr/>
                  </p:nvSpPr>
                  <p:spPr bwMode="auto">
                    <a:xfrm>
                      <a:off x="2463" y="3822"/>
                      <a:ext cx="13" cy="7"/>
                    </a:xfrm>
                    <a:custGeom>
                      <a:avLst/>
                      <a:gdLst>
                        <a:gd name="T0" fmla="*/ 0 w 62"/>
                        <a:gd name="T1" fmla="*/ 19 h 35"/>
                        <a:gd name="T2" fmla="*/ 19 w 62"/>
                        <a:gd name="T3" fmla="*/ 0 h 35"/>
                        <a:gd name="T4" fmla="*/ 41 w 62"/>
                        <a:gd name="T5" fmla="*/ 4 h 35"/>
                        <a:gd name="T6" fmla="*/ 62 w 62"/>
                        <a:gd name="T7" fmla="*/ 24 h 35"/>
                        <a:gd name="T8" fmla="*/ 62 w 62"/>
                        <a:gd name="T9" fmla="*/ 31 h 35"/>
                        <a:gd name="T10" fmla="*/ 47 w 62"/>
                        <a:gd name="T11" fmla="*/ 35 h 35"/>
                        <a:gd name="T12" fmla="*/ 36 w 62"/>
                        <a:gd name="T13" fmla="*/ 28 h 35"/>
                        <a:gd name="T14" fmla="*/ 19 w 62"/>
                        <a:gd name="T15" fmla="*/ 28 h 35"/>
                        <a:gd name="T16" fmla="*/ 0 w 62"/>
                        <a:gd name="T17" fmla="*/ 1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35">
                          <a:moveTo>
                            <a:pt x="0" y="19"/>
                          </a:moveTo>
                          <a:lnTo>
                            <a:pt x="19" y="0"/>
                          </a:lnTo>
                          <a:lnTo>
                            <a:pt x="41" y="4"/>
                          </a:lnTo>
                          <a:lnTo>
                            <a:pt x="62" y="24"/>
                          </a:lnTo>
                          <a:lnTo>
                            <a:pt x="62" y="31"/>
                          </a:lnTo>
                          <a:lnTo>
                            <a:pt x="47" y="35"/>
                          </a:lnTo>
                          <a:lnTo>
                            <a:pt x="36" y="28"/>
                          </a:lnTo>
                          <a:lnTo>
                            <a:pt x="19" y="28"/>
                          </a:lnTo>
                          <a:lnTo>
                            <a:pt x="0" y="19"/>
                          </a:lnTo>
                          <a:close/>
                        </a:path>
                      </a:pathLst>
                    </a:custGeom>
                    <a:solidFill>
                      <a:srgbClr val="008000"/>
                    </a:solidFill>
                    <a:ln w="3175">
                      <a:solidFill>
                        <a:srgbClr val="000000"/>
                      </a:solidFill>
                      <a:prstDash val="solid"/>
                      <a:round/>
                      <a:headEnd/>
                      <a:tailEnd/>
                    </a:ln>
                  </p:spPr>
                  <p:txBody>
                    <a:bodyPr/>
                    <a:lstStyle/>
                    <a:p>
                      <a:endParaRPr lang="en-GB"/>
                    </a:p>
                  </p:txBody>
                </p:sp>
                <p:sp>
                  <p:nvSpPr>
                    <p:cNvPr id="246802" name="Freeform 18"/>
                    <p:cNvSpPr>
                      <a:spLocks/>
                    </p:cNvSpPr>
                    <p:nvPr/>
                  </p:nvSpPr>
                  <p:spPr bwMode="auto">
                    <a:xfrm>
                      <a:off x="2471" y="3659"/>
                      <a:ext cx="12" cy="16"/>
                    </a:xfrm>
                    <a:custGeom>
                      <a:avLst/>
                      <a:gdLst>
                        <a:gd name="T0" fmla="*/ 13 w 59"/>
                        <a:gd name="T1" fmla="*/ 0 h 77"/>
                        <a:gd name="T2" fmla="*/ 29 w 59"/>
                        <a:gd name="T3" fmla="*/ 12 h 77"/>
                        <a:gd name="T4" fmla="*/ 34 w 59"/>
                        <a:gd name="T5" fmla="*/ 11 h 77"/>
                        <a:gd name="T6" fmla="*/ 57 w 59"/>
                        <a:gd name="T7" fmla="*/ 33 h 77"/>
                        <a:gd name="T8" fmla="*/ 59 w 59"/>
                        <a:gd name="T9" fmla="*/ 43 h 77"/>
                        <a:gd name="T10" fmla="*/ 51 w 59"/>
                        <a:gd name="T11" fmla="*/ 50 h 77"/>
                        <a:gd name="T12" fmla="*/ 51 w 59"/>
                        <a:gd name="T13" fmla="*/ 54 h 77"/>
                        <a:gd name="T14" fmla="*/ 44 w 59"/>
                        <a:gd name="T15" fmla="*/ 58 h 77"/>
                        <a:gd name="T16" fmla="*/ 44 w 59"/>
                        <a:gd name="T17" fmla="*/ 61 h 77"/>
                        <a:gd name="T18" fmla="*/ 36 w 59"/>
                        <a:gd name="T19" fmla="*/ 77 h 77"/>
                        <a:gd name="T20" fmla="*/ 25 w 59"/>
                        <a:gd name="T21" fmla="*/ 69 h 77"/>
                        <a:gd name="T22" fmla="*/ 17 w 59"/>
                        <a:gd name="T23" fmla="*/ 72 h 77"/>
                        <a:gd name="T24" fmla="*/ 0 w 59"/>
                        <a:gd name="T25" fmla="*/ 46 h 77"/>
                        <a:gd name="T26" fmla="*/ 10 w 59"/>
                        <a:gd name="T27" fmla="*/ 28 h 77"/>
                        <a:gd name="T28" fmla="*/ 13 w 59"/>
                        <a:gd name="T29"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9" h="77">
                          <a:moveTo>
                            <a:pt x="13" y="0"/>
                          </a:moveTo>
                          <a:lnTo>
                            <a:pt x="29" y="12"/>
                          </a:lnTo>
                          <a:lnTo>
                            <a:pt x="34" y="11"/>
                          </a:lnTo>
                          <a:lnTo>
                            <a:pt x="57" y="33"/>
                          </a:lnTo>
                          <a:lnTo>
                            <a:pt x="59" y="43"/>
                          </a:lnTo>
                          <a:lnTo>
                            <a:pt x="51" y="50"/>
                          </a:lnTo>
                          <a:lnTo>
                            <a:pt x="51" y="54"/>
                          </a:lnTo>
                          <a:lnTo>
                            <a:pt x="44" y="58"/>
                          </a:lnTo>
                          <a:lnTo>
                            <a:pt x="44" y="61"/>
                          </a:lnTo>
                          <a:lnTo>
                            <a:pt x="36" y="77"/>
                          </a:lnTo>
                          <a:lnTo>
                            <a:pt x="25" y="69"/>
                          </a:lnTo>
                          <a:lnTo>
                            <a:pt x="17" y="72"/>
                          </a:lnTo>
                          <a:lnTo>
                            <a:pt x="0" y="46"/>
                          </a:lnTo>
                          <a:lnTo>
                            <a:pt x="10" y="28"/>
                          </a:lnTo>
                          <a:lnTo>
                            <a:pt x="13" y="0"/>
                          </a:lnTo>
                          <a:close/>
                        </a:path>
                      </a:pathLst>
                    </a:custGeom>
                    <a:solidFill>
                      <a:srgbClr val="008000"/>
                    </a:solidFill>
                    <a:ln w="3175">
                      <a:solidFill>
                        <a:srgbClr val="000000"/>
                      </a:solidFill>
                      <a:prstDash val="solid"/>
                      <a:round/>
                      <a:headEnd/>
                      <a:tailEnd/>
                    </a:ln>
                  </p:spPr>
                  <p:txBody>
                    <a:bodyPr/>
                    <a:lstStyle/>
                    <a:p>
                      <a:endParaRPr lang="en-GB"/>
                    </a:p>
                  </p:txBody>
                </p:sp>
                <p:sp>
                  <p:nvSpPr>
                    <p:cNvPr id="246803" name="Freeform 19"/>
                    <p:cNvSpPr>
                      <a:spLocks/>
                    </p:cNvSpPr>
                    <p:nvPr/>
                  </p:nvSpPr>
                  <p:spPr bwMode="auto">
                    <a:xfrm>
                      <a:off x="2484" y="3656"/>
                      <a:ext cx="7" cy="7"/>
                    </a:xfrm>
                    <a:custGeom>
                      <a:avLst/>
                      <a:gdLst>
                        <a:gd name="T0" fmla="*/ 0 w 39"/>
                        <a:gd name="T1" fmla="*/ 20 h 35"/>
                        <a:gd name="T2" fmla="*/ 22 w 39"/>
                        <a:gd name="T3" fmla="*/ 35 h 35"/>
                        <a:gd name="T4" fmla="*/ 26 w 39"/>
                        <a:gd name="T5" fmla="*/ 29 h 35"/>
                        <a:gd name="T6" fmla="*/ 39 w 39"/>
                        <a:gd name="T7" fmla="*/ 13 h 35"/>
                        <a:gd name="T8" fmla="*/ 33 w 39"/>
                        <a:gd name="T9" fmla="*/ 4 h 35"/>
                        <a:gd name="T10" fmla="*/ 25 w 39"/>
                        <a:gd name="T11" fmla="*/ 8 h 35"/>
                        <a:gd name="T12" fmla="*/ 22 w 39"/>
                        <a:gd name="T13" fmla="*/ 0 h 35"/>
                        <a:gd name="T14" fmla="*/ 16 w 39"/>
                        <a:gd name="T15" fmla="*/ 10 h 35"/>
                        <a:gd name="T16" fmla="*/ 0 w 39"/>
                        <a:gd name="T17"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5">
                          <a:moveTo>
                            <a:pt x="0" y="20"/>
                          </a:moveTo>
                          <a:lnTo>
                            <a:pt x="22" y="35"/>
                          </a:lnTo>
                          <a:lnTo>
                            <a:pt x="26" y="29"/>
                          </a:lnTo>
                          <a:lnTo>
                            <a:pt x="39" y="13"/>
                          </a:lnTo>
                          <a:lnTo>
                            <a:pt x="33" y="4"/>
                          </a:lnTo>
                          <a:lnTo>
                            <a:pt x="25" y="8"/>
                          </a:lnTo>
                          <a:lnTo>
                            <a:pt x="22" y="0"/>
                          </a:lnTo>
                          <a:lnTo>
                            <a:pt x="16" y="10"/>
                          </a:lnTo>
                          <a:lnTo>
                            <a:pt x="0" y="20"/>
                          </a:lnTo>
                          <a:close/>
                        </a:path>
                      </a:pathLst>
                    </a:custGeom>
                    <a:solidFill>
                      <a:srgbClr val="008000"/>
                    </a:solidFill>
                    <a:ln w="3175">
                      <a:solidFill>
                        <a:srgbClr val="000000"/>
                      </a:solidFill>
                      <a:prstDash val="solid"/>
                      <a:round/>
                      <a:headEnd/>
                      <a:tailEnd/>
                    </a:ln>
                  </p:spPr>
                  <p:txBody>
                    <a:bodyPr/>
                    <a:lstStyle/>
                    <a:p>
                      <a:endParaRPr lang="en-GB"/>
                    </a:p>
                  </p:txBody>
                </p:sp>
                <p:sp>
                  <p:nvSpPr>
                    <p:cNvPr id="246804" name="Freeform 20"/>
                    <p:cNvSpPr>
                      <a:spLocks/>
                    </p:cNvSpPr>
                    <p:nvPr/>
                  </p:nvSpPr>
                  <p:spPr bwMode="auto">
                    <a:xfrm>
                      <a:off x="2473" y="3653"/>
                      <a:ext cx="8" cy="5"/>
                    </a:xfrm>
                    <a:custGeom>
                      <a:avLst/>
                      <a:gdLst>
                        <a:gd name="T0" fmla="*/ 0 w 39"/>
                        <a:gd name="T1" fmla="*/ 1 h 26"/>
                        <a:gd name="T2" fmla="*/ 21 w 39"/>
                        <a:gd name="T3" fmla="*/ 0 h 26"/>
                        <a:gd name="T4" fmla="*/ 39 w 39"/>
                        <a:gd name="T5" fmla="*/ 25 h 26"/>
                        <a:gd name="T6" fmla="*/ 23 w 39"/>
                        <a:gd name="T7" fmla="*/ 26 h 26"/>
                        <a:gd name="T8" fmla="*/ 22 w 39"/>
                        <a:gd name="T9" fmla="*/ 20 h 26"/>
                        <a:gd name="T10" fmla="*/ 14 w 39"/>
                        <a:gd name="T11" fmla="*/ 26 h 26"/>
                        <a:gd name="T12" fmla="*/ 13 w 39"/>
                        <a:gd name="T13" fmla="*/ 26 h 26"/>
                        <a:gd name="T14" fmla="*/ 6 w 39"/>
                        <a:gd name="T15" fmla="*/ 20 h 26"/>
                        <a:gd name="T16" fmla="*/ 9 w 39"/>
                        <a:gd name="T17" fmla="*/ 15 h 26"/>
                        <a:gd name="T18" fmla="*/ 0 w 39"/>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 h="26">
                          <a:moveTo>
                            <a:pt x="0" y="1"/>
                          </a:moveTo>
                          <a:lnTo>
                            <a:pt x="21" y="0"/>
                          </a:lnTo>
                          <a:lnTo>
                            <a:pt x="39" y="25"/>
                          </a:lnTo>
                          <a:lnTo>
                            <a:pt x="23" y="26"/>
                          </a:lnTo>
                          <a:lnTo>
                            <a:pt x="22" y="20"/>
                          </a:lnTo>
                          <a:lnTo>
                            <a:pt x="14" y="26"/>
                          </a:lnTo>
                          <a:lnTo>
                            <a:pt x="13" y="26"/>
                          </a:lnTo>
                          <a:lnTo>
                            <a:pt x="6" y="20"/>
                          </a:lnTo>
                          <a:lnTo>
                            <a:pt x="9" y="15"/>
                          </a:lnTo>
                          <a:lnTo>
                            <a:pt x="0" y="1"/>
                          </a:lnTo>
                          <a:close/>
                        </a:path>
                      </a:pathLst>
                    </a:custGeom>
                    <a:solidFill>
                      <a:srgbClr val="008000"/>
                    </a:solidFill>
                    <a:ln w="3175">
                      <a:solidFill>
                        <a:srgbClr val="000000"/>
                      </a:solidFill>
                      <a:prstDash val="solid"/>
                      <a:round/>
                      <a:headEnd/>
                      <a:tailEnd/>
                    </a:ln>
                  </p:spPr>
                  <p:txBody>
                    <a:bodyPr/>
                    <a:lstStyle/>
                    <a:p>
                      <a:endParaRPr lang="en-GB"/>
                    </a:p>
                  </p:txBody>
                </p:sp>
                <p:sp>
                  <p:nvSpPr>
                    <p:cNvPr id="246805" name="Freeform 21"/>
                    <p:cNvSpPr>
                      <a:spLocks/>
                    </p:cNvSpPr>
                    <p:nvPr/>
                  </p:nvSpPr>
                  <p:spPr bwMode="auto">
                    <a:xfrm>
                      <a:off x="2491" y="3675"/>
                      <a:ext cx="19" cy="37"/>
                    </a:xfrm>
                    <a:custGeom>
                      <a:avLst/>
                      <a:gdLst>
                        <a:gd name="T0" fmla="*/ 40 w 94"/>
                        <a:gd name="T1" fmla="*/ 101 h 183"/>
                        <a:gd name="T2" fmla="*/ 25 w 94"/>
                        <a:gd name="T3" fmla="*/ 124 h 183"/>
                        <a:gd name="T4" fmla="*/ 18 w 94"/>
                        <a:gd name="T5" fmla="*/ 124 h 183"/>
                        <a:gd name="T6" fmla="*/ 12 w 94"/>
                        <a:gd name="T7" fmla="*/ 128 h 183"/>
                        <a:gd name="T8" fmla="*/ 4 w 94"/>
                        <a:gd name="T9" fmla="*/ 129 h 183"/>
                        <a:gd name="T10" fmla="*/ 3 w 94"/>
                        <a:gd name="T11" fmla="*/ 135 h 183"/>
                        <a:gd name="T12" fmla="*/ 15 w 94"/>
                        <a:gd name="T13" fmla="*/ 136 h 183"/>
                        <a:gd name="T14" fmla="*/ 21 w 94"/>
                        <a:gd name="T15" fmla="*/ 140 h 183"/>
                        <a:gd name="T16" fmla="*/ 26 w 94"/>
                        <a:gd name="T17" fmla="*/ 148 h 183"/>
                        <a:gd name="T18" fmla="*/ 26 w 94"/>
                        <a:gd name="T19" fmla="*/ 152 h 183"/>
                        <a:gd name="T20" fmla="*/ 35 w 94"/>
                        <a:gd name="T21" fmla="*/ 159 h 183"/>
                        <a:gd name="T22" fmla="*/ 35 w 94"/>
                        <a:gd name="T23" fmla="*/ 167 h 183"/>
                        <a:gd name="T24" fmla="*/ 40 w 94"/>
                        <a:gd name="T25" fmla="*/ 167 h 183"/>
                        <a:gd name="T26" fmla="*/ 58 w 94"/>
                        <a:gd name="T27" fmla="*/ 183 h 183"/>
                        <a:gd name="T28" fmla="*/ 54 w 94"/>
                        <a:gd name="T29" fmla="*/ 171 h 183"/>
                        <a:gd name="T30" fmla="*/ 54 w 94"/>
                        <a:gd name="T31" fmla="*/ 159 h 183"/>
                        <a:gd name="T32" fmla="*/ 59 w 94"/>
                        <a:gd name="T33" fmla="*/ 159 h 183"/>
                        <a:gd name="T34" fmla="*/ 64 w 94"/>
                        <a:gd name="T35" fmla="*/ 165 h 183"/>
                        <a:gd name="T36" fmla="*/ 68 w 94"/>
                        <a:gd name="T37" fmla="*/ 165 h 183"/>
                        <a:gd name="T38" fmla="*/ 71 w 94"/>
                        <a:gd name="T39" fmla="*/ 166 h 183"/>
                        <a:gd name="T40" fmla="*/ 74 w 94"/>
                        <a:gd name="T41" fmla="*/ 165 h 183"/>
                        <a:gd name="T42" fmla="*/ 74 w 94"/>
                        <a:gd name="T43" fmla="*/ 155 h 183"/>
                        <a:gd name="T44" fmla="*/ 68 w 94"/>
                        <a:gd name="T45" fmla="*/ 148 h 183"/>
                        <a:gd name="T46" fmla="*/ 66 w 94"/>
                        <a:gd name="T47" fmla="*/ 136 h 183"/>
                        <a:gd name="T48" fmla="*/ 70 w 94"/>
                        <a:gd name="T49" fmla="*/ 125 h 183"/>
                        <a:gd name="T50" fmla="*/ 89 w 94"/>
                        <a:gd name="T51" fmla="*/ 146 h 183"/>
                        <a:gd name="T52" fmla="*/ 89 w 94"/>
                        <a:gd name="T53" fmla="*/ 133 h 183"/>
                        <a:gd name="T54" fmla="*/ 94 w 94"/>
                        <a:gd name="T55" fmla="*/ 118 h 183"/>
                        <a:gd name="T56" fmla="*/ 80 w 94"/>
                        <a:gd name="T57" fmla="*/ 101 h 183"/>
                        <a:gd name="T58" fmla="*/ 79 w 94"/>
                        <a:gd name="T59" fmla="*/ 91 h 183"/>
                        <a:gd name="T60" fmla="*/ 80 w 94"/>
                        <a:gd name="T61" fmla="*/ 68 h 183"/>
                        <a:gd name="T62" fmla="*/ 61 w 94"/>
                        <a:gd name="T63" fmla="*/ 42 h 183"/>
                        <a:gd name="T64" fmla="*/ 43 w 94"/>
                        <a:gd name="T65" fmla="*/ 28 h 183"/>
                        <a:gd name="T66" fmla="*/ 48 w 94"/>
                        <a:gd name="T67" fmla="*/ 20 h 183"/>
                        <a:gd name="T68" fmla="*/ 39 w 94"/>
                        <a:gd name="T69" fmla="*/ 14 h 183"/>
                        <a:gd name="T70" fmla="*/ 39 w 94"/>
                        <a:gd name="T71" fmla="*/ 4 h 183"/>
                        <a:gd name="T72" fmla="*/ 25 w 94"/>
                        <a:gd name="T73" fmla="*/ 20 h 183"/>
                        <a:gd name="T74" fmla="*/ 21 w 94"/>
                        <a:gd name="T75" fmla="*/ 15 h 183"/>
                        <a:gd name="T76" fmla="*/ 26 w 94"/>
                        <a:gd name="T77" fmla="*/ 8 h 183"/>
                        <a:gd name="T78" fmla="*/ 26 w 94"/>
                        <a:gd name="T79" fmla="*/ 0 h 183"/>
                        <a:gd name="T80" fmla="*/ 18 w 94"/>
                        <a:gd name="T81" fmla="*/ 0 h 183"/>
                        <a:gd name="T82" fmla="*/ 10 w 94"/>
                        <a:gd name="T83" fmla="*/ 3 h 183"/>
                        <a:gd name="T84" fmla="*/ 0 w 94"/>
                        <a:gd name="T85" fmla="*/ 7 h 183"/>
                        <a:gd name="T86" fmla="*/ 0 w 94"/>
                        <a:gd name="T87" fmla="*/ 15 h 183"/>
                        <a:gd name="T88" fmla="*/ 0 w 94"/>
                        <a:gd name="T89" fmla="*/ 26 h 183"/>
                        <a:gd name="T90" fmla="*/ 3 w 94"/>
                        <a:gd name="T91" fmla="*/ 30 h 183"/>
                        <a:gd name="T92" fmla="*/ 14 w 94"/>
                        <a:gd name="T93" fmla="*/ 37 h 183"/>
                        <a:gd name="T94" fmla="*/ 12 w 94"/>
                        <a:gd name="T95" fmla="*/ 47 h 183"/>
                        <a:gd name="T96" fmla="*/ 17 w 94"/>
                        <a:gd name="T97" fmla="*/ 51 h 183"/>
                        <a:gd name="T98" fmla="*/ 23 w 94"/>
                        <a:gd name="T99" fmla="*/ 55 h 183"/>
                        <a:gd name="T100" fmla="*/ 32 w 94"/>
                        <a:gd name="T101" fmla="*/ 55 h 183"/>
                        <a:gd name="T102" fmla="*/ 39 w 94"/>
                        <a:gd name="T103" fmla="*/ 62 h 183"/>
                        <a:gd name="T104" fmla="*/ 40 w 94"/>
                        <a:gd name="T105" fmla="*/ 75 h 183"/>
                        <a:gd name="T106" fmla="*/ 39 w 94"/>
                        <a:gd name="T107" fmla="*/ 89 h 183"/>
                        <a:gd name="T108" fmla="*/ 40 w 94"/>
                        <a:gd name="T109" fmla="*/ 101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4" h="183">
                          <a:moveTo>
                            <a:pt x="40" y="101"/>
                          </a:moveTo>
                          <a:lnTo>
                            <a:pt x="25" y="124"/>
                          </a:lnTo>
                          <a:lnTo>
                            <a:pt x="18" y="124"/>
                          </a:lnTo>
                          <a:lnTo>
                            <a:pt x="12" y="128"/>
                          </a:lnTo>
                          <a:lnTo>
                            <a:pt x="4" y="129"/>
                          </a:lnTo>
                          <a:lnTo>
                            <a:pt x="3" y="135"/>
                          </a:lnTo>
                          <a:lnTo>
                            <a:pt x="15" y="136"/>
                          </a:lnTo>
                          <a:lnTo>
                            <a:pt x="21" y="140"/>
                          </a:lnTo>
                          <a:lnTo>
                            <a:pt x="26" y="148"/>
                          </a:lnTo>
                          <a:lnTo>
                            <a:pt x="26" y="152"/>
                          </a:lnTo>
                          <a:lnTo>
                            <a:pt x="35" y="159"/>
                          </a:lnTo>
                          <a:lnTo>
                            <a:pt x="35" y="167"/>
                          </a:lnTo>
                          <a:lnTo>
                            <a:pt x="40" y="167"/>
                          </a:lnTo>
                          <a:lnTo>
                            <a:pt x="58" y="183"/>
                          </a:lnTo>
                          <a:lnTo>
                            <a:pt x="54" y="171"/>
                          </a:lnTo>
                          <a:lnTo>
                            <a:pt x="54" y="159"/>
                          </a:lnTo>
                          <a:lnTo>
                            <a:pt x="59" y="159"/>
                          </a:lnTo>
                          <a:lnTo>
                            <a:pt x="64" y="165"/>
                          </a:lnTo>
                          <a:lnTo>
                            <a:pt x="68" y="165"/>
                          </a:lnTo>
                          <a:lnTo>
                            <a:pt x="71" y="166"/>
                          </a:lnTo>
                          <a:lnTo>
                            <a:pt x="74" y="165"/>
                          </a:lnTo>
                          <a:lnTo>
                            <a:pt x="74" y="155"/>
                          </a:lnTo>
                          <a:lnTo>
                            <a:pt x="68" y="148"/>
                          </a:lnTo>
                          <a:lnTo>
                            <a:pt x="66" y="136"/>
                          </a:lnTo>
                          <a:lnTo>
                            <a:pt x="70" y="125"/>
                          </a:lnTo>
                          <a:lnTo>
                            <a:pt x="89" y="146"/>
                          </a:lnTo>
                          <a:lnTo>
                            <a:pt x="89" y="133"/>
                          </a:lnTo>
                          <a:lnTo>
                            <a:pt x="94" y="118"/>
                          </a:lnTo>
                          <a:lnTo>
                            <a:pt x="80" y="101"/>
                          </a:lnTo>
                          <a:lnTo>
                            <a:pt x="79" y="91"/>
                          </a:lnTo>
                          <a:lnTo>
                            <a:pt x="80" y="68"/>
                          </a:lnTo>
                          <a:lnTo>
                            <a:pt x="61" y="42"/>
                          </a:lnTo>
                          <a:lnTo>
                            <a:pt x="43" y="28"/>
                          </a:lnTo>
                          <a:lnTo>
                            <a:pt x="48" y="20"/>
                          </a:lnTo>
                          <a:lnTo>
                            <a:pt x="39" y="14"/>
                          </a:lnTo>
                          <a:lnTo>
                            <a:pt x="39" y="4"/>
                          </a:lnTo>
                          <a:lnTo>
                            <a:pt x="25" y="20"/>
                          </a:lnTo>
                          <a:lnTo>
                            <a:pt x="21" y="15"/>
                          </a:lnTo>
                          <a:lnTo>
                            <a:pt x="26" y="8"/>
                          </a:lnTo>
                          <a:lnTo>
                            <a:pt x="26" y="0"/>
                          </a:lnTo>
                          <a:lnTo>
                            <a:pt x="18" y="0"/>
                          </a:lnTo>
                          <a:lnTo>
                            <a:pt x="10" y="3"/>
                          </a:lnTo>
                          <a:lnTo>
                            <a:pt x="0" y="7"/>
                          </a:lnTo>
                          <a:lnTo>
                            <a:pt x="0" y="15"/>
                          </a:lnTo>
                          <a:lnTo>
                            <a:pt x="0" y="26"/>
                          </a:lnTo>
                          <a:lnTo>
                            <a:pt x="3" y="30"/>
                          </a:lnTo>
                          <a:lnTo>
                            <a:pt x="14" y="37"/>
                          </a:lnTo>
                          <a:lnTo>
                            <a:pt x="12" y="47"/>
                          </a:lnTo>
                          <a:lnTo>
                            <a:pt x="17" y="51"/>
                          </a:lnTo>
                          <a:lnTo>
                            <a:pt x="23" y="55"/>
                          </a:lnTo>
                          <a:lnTo>
                            <a:pt x="32" y="55"/>
                          </a:lnTo>
                          <a:lnTo>
                            <a:pt x="39" y="62"/>
                          </a:lnTo>
                          <a:lnTo>
                            <a:pt x="40" y="75"/>
                          </a:lnTo>
                          <a:lnTo>
                            <a:pt x="39" y="89"/>
                          </a:lnTo>
                          <a:lnTo>
                            <a:pt x="40" y="101"/>
                          </a:lnTo>
                          <a:close/>
                        </a:path>
                      </a:pathLst>
                    </a:custGeom>
                    <a:solidFill>
                      <a:srgbClr val="008000"/>
                    </a:solidFill>
                    <a:ln w="3175">
                      <a:solidFill>
                        <a:srgbClr val="000000"/>
                      </a:solidFill>
                      <a:prstDash val="solid"/>
                      <a:round/>
                      <a:headEnd/>
                      <a:tailEnd/>
                    </a:ln>
                  </p:spPr>
                  <p:txBody>
                    <a:bodyPr/>
                    <a:lstStyle/>
                    <a:p>
                      <a:endParaRPr lang="en-GB"/>
                    </a:p>
                  </p:txBody>
                </p:sp>
                <p:sp>
                  <p:nvSpPr>
                    <p:cNvPr id="246806" name="Freeform 22"/>
                    <p:cNvSpPr>
                      <a:spLocks/>
                    </p:cNvSpPr>
                    <p:nvPr/>
                  </p:nvSpPr>
                  <p:spPr bwMode="auto">
                    <a:xfrm>
                      <a:off x="2500" y="3655"/>
                      <a:ext cx="19" cy="16"/>
                    </a:xfrm>
                    <a:custGeom>
                      <a:avLst/>
                      <a:gdLst>
                        <a:gd name="T0" fmla="*/ 0 w 91"/>
                        <a:gd name="T1" fmla="*/ 61 h 82"/>
                        <a:gd name="T2" fmla="*/ 21 w 91"/>
                        <a:gd name="T3" fmla="*/ 82 h 82"/>
                        <a:gd name="T4" fmla="*/ 34 w 91"/>
                        <a:gd name="T5" fmla="*/ 68 h 82"/>
                        <a:gd name="T6" fmla="*/ 42 w 91"/>
                        <a:gd name="T7" fmla="*/ 70 h 82"/>
                        <a:gd name="T8" fmla="*/ 61 w 91"/>
                        <a:gd name="T9" fmla="*/ 42 h 82"/>
                        <a:gd name="T10" fmla="*/ 70 w 91"/>
                        <a:gd name="T11" fmla="*/ 44 h 82"/>
                        <a:gd name="T12" fmla="*/ 85 w 91"/>
                        <a:gd name="T13" fmla="*/ 25 h 82"/>
                        <a:gd name="T14" fmla="*/ 84 w 91"/>
                        <a:gd name="T15" fmla="*/ 19 h 82"/>
                        <a:gd name="T16" fmla="*/ 91 w 91"/>
                        <a:gd name="T17" fmla="*/ 14 h 82"/>
                        <a:gd name="T18" fmla="*/ 86 w 91"/>
                        <a:gd name="T19" fmla="*/ 8 h 82"/>
                        <a:gd name="T20" fmla="*/ 72 w 91"/>
                        <a:gd name="T21" fmla="*/ 8 h 82"/>
                        <a:gd name="T22" fmla="*/ 61 w 91"/>
                        <a:gd name="T23" fmla="*/ 7 h 82"/>
                        <a:gd name="T24" fmla="*/ 54 w 91"/>
                        <a:gd name="T25" fmla="*/ 0 h 82"/>
                        <a:gd name="T26" fmla="*/ 42 w 91"/>
                        <a:gd name="T27" fmla="*/ 2 h 82"/>
                        <a:gd name="T28" fmla="*/ 38 w 91"/>
                        <a:gd name="T29" fmla="*/ 8 h 82"/>
                        <a:gd name="T30" fmla="*/ 38 w 91"/>
                        <a:gd name="T31" fmla="*/ 16 h 82"/>
                        <a:gd name="T32" fmla="*/ 38 w 91"/>
                        <a:gd name="T33" fmla="*/ 32 h 82"/>
                        <a:gd name="T34" fmla="*/ 31 w 91"/>
                        <a:gd name="T35" fmla="*/ 34 h 82"/>
                        <a:gd name="T36" fmla="*/ 27 w 91"/>
                        <a:gd name="T37" fmla="*/ 41 h 82"/>
                        <a:gd name="T38" fmla="*/ 11 w 91"/>
                        <a:gd name="T39" fmla="*/ 57 h 82"/>
                        <a:gd name="T40" fmla="*/ 0 w 91"/>
                        <a:gd name="T41" fmla="*/ 6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82">
                          <a:moveTo>
                            <a:pt x="0" y="61"/>
                          </a:moveTo>
                          <a:lnTo>
                            <a:pt x="21" y="82"/>
                          </a:lnTo>
                          <a:lnTo>
                            <a:pt x="34" y="68"/>
                          </a:lnTo>
                          <a:lnTo>
                            <a:pt x="42" y="70"/>
                          </a:lnTo>
                          <a:lnTo>
                            <a:pt x="61" y="42"/>
                          </a:lnTo>
                          <a:lnTo>
                            <a:pt x="70" y="44"/>
                          </a:lnTo>
                          <a:lnTo>
                            <a:pt x="85" y="25"/>
                          </a:lnTo>
                          <a:lnTo>
                            <a:pt x="84" y="19"/>
                          </a:lnTo>
                          <a:lnTo>
                            <a:pt x="91" y="14"/>
                          </a:lnTo>
                          <a:lnTo>
                            <a:pt x="86" y="8"/>
                          </a:lnTo>
                          <a:lnTo>
                            <a:pt x="72" y="8"/>
                          </a:lnTo>
                          <a:lnTo>
                            <a:pt x="61" y="7"/>
                          </a:lnTo>
                          <a:lnTo>
                            <a:pt x="54" y="0"/>
                          </a:lnTo>
                          <a:lnTo>
                            <a:pt x="42" y="2"/>
                          </a:lnTo>
                          <a:lnTo>
                            <a:pt x="38" y="8"/>
                          </a:lnTo>
                          <a:lnTo>
                            <a:pt x="38" y="16"/>
                          </a:lnTo>
                          <a:lnTo>
                            <a:pt x="38" y="32"/>
                          </a:lnTo>
                          <a:lnTo>
                            <a:pt x="31" y="34"/>
                          </a:lnTo>
                          <a:lnTo>
                            <a:pt x="27" y="41"/>
                          </a:lnTo>
                          <a:lnTo>
                            <a:pt x="11" y="57"/>
                          </a:lnTo>
                          <a:lnTo>
                            <a:pt x="0" y="61"/>
                          </a:lnTo>
                          <a:close/>
                        </a:path>
                      </a:pathLst>
                    </a:custGeom>
                    <a:solidFill>
                      <a:srgbClr val="008000"/>
                    </a:solidFill>
                    <a:ln w="3175">
                      <a:solidFill>
                        <a:srgbClr val="000000"/>
                      </a:solidFill>
                      <a:prstDash val="solid"/>
                      <a:round/>
                      <a:headEnd/>
                      <a:tailEnd/>
                    </a:ln>
                  </p:spPr>
                  <p:txBody>
                    <a:bodyPr/>
                    <a:lstStyle/>
                    <a:p>
                      <a:endParaRPr lang="en-GB"/>
                    </a:p>
                  </p:txBody>
                </p:sp>
                <p:sp>
                  <p:nvSpPr>
                    <p:cNvPr id="246807" name="Freeform 23"/>
                    <p:cNvSpPr>
                      <a:spLocks/>
                    </p:cNvSpPr>
                    <p:nvPr/>
                  </p:nvSpPr>
                  <p:spPr bwMode="auto">
                    <a:xfrm>
                      <a:off x="2551" y="3695"/>
                      <a:ext cx="10" cy="9"/>
                    </a:xfrm>
                    <a:custGeom>
                      <a:avLst/>
                      <a:gdLst>
                        <a:gd name="T0" fmla="*/ 0 w 48"/>
                        <a:gd name="T1" fmla="*/ 24 h 44"/>
                        <a:gd name="T2" fmla="*/ 17 w 48"/>
                        <a:gd name="T3" fmla="*/ 10 h 44"/>
                        <a:gd name="T4" fmla="*/ 23 w 48"/>
                        <a:gd name="T5" fmla="*/ 10 h 44"/>
                        <a:gd name="T6" fmla="*/ 23 w 48"/>
                        <a:gd name="T7" fmla="*/ 5 h 44"/>
                        <a:gd name="T8" fmla="*/ 26 w 48"/>
                        <a:gd name="T9" fmla="*/ 0 h 44"/>
                        <a:gd name="T10" fmla="*/ 32 w 48"/>
                        <a:gd name="T11" fmla="*/ 3 h 44"/>
                        <a:gd name="T12" fmla="*/ 42 w 48"/>
                        <a:gd name="T13" fmla="*/ 12 h 44"/>
                        <a:gd name="T14" fmla="*/ 42 w 48"/>
                        <a:gd name="T15" fmla="*/ 17 h 44"/>
                        <a:gd name="T16" fmla="*/ 48 w 48"/>
                        <a:gd name="T17" fmla="*/ 19 h 44"/>
                        <a:gd name="T18" fmla="*/ 47 w 48"/>
                        <a:gd name="T19" fmla="*/ 28 h 44"/>
                        <a:gd name="T20" fmla="*/ 42 w 48"/>
                        <a:gd name="T21" fmla="*/ 29 h 44"/>
                        <a:gd name="T22" fmla="*/ 42 w 48"/>
                        <a:gd name="T23" fmla="*/ 36 h 44"/>
                        <a:gd name="T24" fmla="*/ 34 w 48"/>
                        <a:gd name="T25" fmla="*/ 44 h 44"/>
                        <a:gd name="T26" fmla="*/ 11 w 48"/>
                        <a:gd name="T27" fmla="*/ 44 h 44"/>
                        <a:gd name="T28" fmla="*/ 9 w 48"/>
                        <a:gd name="T29" fmla="*/ 37 h 44"/>
                        <a:gd name="T30" fmla="*/ 0 w 48"/>
                        <a:gd name="T31" fmla="*/ 2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44">
                          <a:moveTo>
                            <a:pt x="0" y="24"/>
                          </a:moveTo>
                          <a:lnTo>
                            <a:pt x="17" y="10"/>
                          </a:lnTo>
                          <a:lnTo>
                            <a:pt x="23" y="10"/>
                          </a:lnTo>
                          <a:lnTo>
                            <a:pt x="23" y="5"/>
                          </a:lnTo>
                          <a:lnTo>
                            <a:pt x="26" y="0"/>
                          </a:lnTo>
                          <a:lnTo>
                            <a:pt x="32" y="3"/>
                          </a:lnTo>
                          <a:lnTo>
                            <a:pt x="42" y="12"/>
                          </a:lnTo>
                          <a:lnTo>
                            <a:pt x="42" y="17"/>
                          </a:lnTo>
                          <a:lnTo>
                            <a:pt x="48" y="19"/>
                          </a:lnTo>
                          <a:lnTo>
                            <a:pt x="47" y="28"/>
                          </a:lnTo>
                          <a:lnTo>
                            <a:pt x="42" y="29"/>
                          </a:lnTo>
                          <a:lnTo>
                            <a:pt x="42" y="36"/>
                          </a:lnTo>
                          <a:lnTo>
                            <a:pt x="34" y="44"/>
                          </a:lnTo>
                          <a:lnTo>
                            <a:pt x="11" y="44"/>
                          </a:lnTo>
                          <a:lnTo>
                            <a:pt x="9" y="37"/>
                          </a:lnTo>
                          <a:lnTo>
                            <a:pt x="0" y="24"/>
                          </a:lnTo>
                          <a:close/>
                        </a:path>
                      </a:pathLst>
                    </a:custGeom>
                    <a:solidFill>
                      <a:srgbClr val="008000"/>
                    </a:solidFill>
                    <a:ln w="3175">
                      <a:solidFill>
                        <a:srgbClr val="000000"/>
                      </a:solidFill>
                      <a:prstDash val="solid"/>
                      <a:round/>
                      <a:headEnd/>
                      <a:tailEnd/>
                    </a:ln>
                  </p:spPr>
                  <p:txBody>
                    <a:bodyPr/>
                    <a:lstStyle/>
                    <a:p>
                      <a:endParaRPr lang="en-GB"/>
                    </a:p>
                  </p:txBody>
                </p:sp>
                <p:sp>
                  <p:nvSpPr>
                    <p:cNvPr id="246808" name="Freeform 24"/>
                    <p:cNvSpPr>
                      <a:spLocks/>
                    </p:cNvSpPr>
                    <p:nvPr/>
                  </p:nvSpPr>
                  <p:spPr bwMode="auto">
                    <a:xfrm>
                      <a:off x="2513" y="3657"/>
                      <a:ext cx="34" cy="60"/>
                    </a:xfrm>
                    <a:custGeom>
                      <a:avLst/>
                      <a:gdLst>
                        <a:gd name="T0" fmla="*/ 0 w 167"/>
                        <a:gd name="T1" fmla="*/ 63 h 301"/>
                        <a:gd name="T2" fmla="*/ 6 w 167"/>
                        <a:gd name="T3" fmla="*/ 54 h 301"/>
                        <a:gd name="T4" fmla="*/ 35 w 167"/>
                        <a:gd name="T5" fmla="*/ 24 h 301"/>
                        <a:gd name="T6" fmla="*/ 51 w 167"/>
                        <a:gd name="T7" fmla="*/ 12 h 301"/>
                        <a:gd name="T8" fmla="*/ 60 w 167"/>
                        <a:gd name="T9" fmla="*/ 10 h 301"/>
                        <a:gd name="T10" fmla="*/ 74 w 167"/>
                        <a:gd name="T11" fmla="*/ 3 h 301"/>
                        <a:gd name="T12" fmla="*/ 101 w 167"/>
                        <a:gd name="T13" fmla="*/ 13 h 301"/>
                        <a:gd name="T14" fmla="*/ 108 w 167"/>
                        <a:gd name="T15" fmla="*/ 24 h 301"/>
                        <a:gd name="T16" fmla="*/ 123 w 167"/>
                        <a:gd name="T17" fmla="*/ 24 h 301"/>
                        <a:gd name="T18" fmla="*/ 136 w 167"/>
                        <a:gd name="T19" fmla="*/ 72 h 301"/>
                        <a:gd name="T20" fmla="*/ 151 w 167"/>
                        <a:gd name="T21" fmla="*/ 106 h 301"/>
                        <a:gd name="T22" fmla="*/ 160 w 167"/>
                        <a:gd name="T23" fmla="*/ 140 h 301"/>
                        <a:gd name="T24" fmla="*/ 161 w 167"/>
                        <a:gd name="T25" fmla="*/ 179 h 301"/>
                        <a:gd name="T26" fmla="*/ 149 w 167"/>
                        <a:gd name="T27" fmla="*/ 189 h 301"/>
                        <a:gd name="T28" fmla="*/ 132 w 167"/>
                        <a:gd name="T29" fmla="*/ 203 h 301"/>
                        <a:gd name="T30" fmla="*/ 123 w 167"/>
                        <a:gd name="T31" fmla="*/ 221 h 301"/>
                        <a:gd name="T32" fmla="*/ 112 w 167"/>
                        <a:gd name="T33" fmla="*/ 226 h 301"/>
                        <a:gd name="T34" fmla="*/ 103 w 167"/>
                        <a:gd name="T35" fmla="*/ 241 h 301"/>
                        <a:gd name="T36" fmla="*/ 91 w 167"/>
                        <a:gd name="T37" fmla="*/ 261 h 301"/>
                        <a:gd name="T38" fmla="*/ 88 w 167"/>
                        <a:gd name="T39" fmla="*/ 287 h 301"/>
                        <a:gd name="T40" fmla="*/ 80 w 167"/>
                        <a:gd name="T41" fmla="*/ 301 h 301"/>
                        <a:gd name="T42" fmla="*/ 60 w 167"/>
                        <a:gd name="T43" fmla="*/ 299 h 301"/>
                        <a:gd name="T44" fmla="*/ 38 w 167"/>
                        <a:gd name="T45" fmla="*/ 282 h 301"/>
                        <a:gd name="T46" fmla="*/ 37 w 167"/>
                        <a:gd name="T47" fmla="*/ 265 h 301"/>
                        <a:gd name="T48" fmla="*/ 28 w 167"/>
                        <a:gd name="T49" fmla="*/ 242 h 301"/>
                        <a:gd name="T50" fmla="*/ 28 w 167"/>
                        <a:gd name="T51" fmla="*/ 221 h 301"/>
                        <a:gd name="T52" fmla="*/ 31 w 167"/>
                        <a:gd name="T53" fmla="*/ 209 h 301"/>
                        <a:gd name="T54" fmla="*/ 36 w 167"/>
                        <a:gd name="T55" fmla="*/ 191 h 301"/>
                        <a:gd name="T56" fmla="*/ 26 w 167"/>
                        <a:gd name="T57" fmla="*/ 171 h 301"/>
                        <a:gd name="T58" fmla="*/ 27 w 167"/>
                        <a:gd name="T59" fmla="*/ 139 h 301"/>
                        <a:gd name="T60" fmla="*/ 21 w 167"/>
                        <a:gd name="T61" fmla="*/ 105 h 301"/>
                        <a:gd name="T62" fmla="*/ 0 w 167"/>
                        <a:gd name="T63" fmla="*/ 9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7" h="301">
                          <a:moveTo>
                            <a:pt x="0" y="90"/>
                          </a:moveTo>
                          <a:lnTo>
                            <a:pt x="0" y="63"/>
                          </a:lnTo>
                          <a:lnTo>
                            <a:pt x="8" y="59"/>
                          </a:lnTo>
                          <a:lnTo>
                            <a:pt x="6" y="54"/>
                          </a:lnTo>
                          <a:lnTo>
                            <a:pt x="24" y="32"/>
                          </a:lnTo>
                          <a:lnTo>
                            <a:pt x="35" y="24"/>
                          </a:lnTo>
                          <a:lnTo>
                            <a:pt x="40" y="19"/>
                          </a:lnTo>
                          <a:lnTo>
                            <a:pt x="51" y="12"/>
                          </a:lnTo>
                          <a:lnTo>
                            <a:pt x="54" y="12"/>
                          </a:lnTo>
                          <a:lnTo>
                            <a:pt x="60" y="10"/>
                          </a:lnTo>
                          <a:lnTo>
                            <a:pt x="65" y="4"/>
                          </a:lnTo>
                          <a:lnTo>
                            <a:pt x="74" y="3"/>
                          </a:lnTo>
                          <a:lnTo>
                            <a:pt x="91" y="0"/>
                          </a:lnTo>
                          <a:lnTo>
                            <a:pt x="101" y="13"/>
                          </a:lnTo>
                          <a:lnTo>
                            <a:pt x="100" y="19"/>
                          </a:lnTo>
                          <a:lnTo>
                            <a:pt x="108" y="24"/>
                          </a:lnTo>
                          <a:lnTo>
                            <a:pt x="122" y="6"/>
                          </a:lnTo>
                          <a:lnTo>
                            <a:pt x="123" y="24"/>
                          </a:lnTo>
                          <a:lnTo>
                            <a:pt x="130" y="49"/>
                          </a:lnTo>
                          <a:lnTo>
                            <a:pt x="136" y="72"/>
                          </a:lnTo>
                          <a:lnTo>
                            <a:pt x="150" y="94"/>
                          </a:lnTo>
                          <a:lnTo>
                            <a:pt x="151" y="106"/>
                          </a:lnTo>
                          <a:lnTo>
                            <a:pt x="154" y="130"/>
                          </a:lnTo>
                          <a:lnTo>
                            <a:pt x="160" y="140"/>
                          </a:lnTo>
                          <a:lnTo>
                            <a:pt x="167" y="163"/>
                          </a:lnTo>
                          <a:lnTo>
                            <a:pt x="161" y="179"/>
                          </a:lnTo>
                          <a:lnTo>
                            <a:pt x="160" y="186"/>
                          </a:lnTo>
                          <a:lnTo>
                            <a:pt x="149" y="189"/>
                          </a:lnTo>
                          <a:lnTo>
                            <a:pt x="138" y="198"/>
                          </a:lnTo>
                          <a:lnTo>
                            <a:pt x="132" y="203"/>
                          </a:lnTo>
                          <a:lnTo>
                            <a:pt x="134" y="210"/>
                          </a:lnTo>
                          <a:lnTo>
                            <a:pt x="123" y="221"/>
                          </a:lnTo>
                          <a:lnTo>
                            <a:pt x="116" y="226"/>
                          </a:lnTo>
                          <a:lnTo>
                            <a:pt x="112" y="226"/>
                          </a:lnTo>
                          <a:lnTo>
                            <a:pt x="101" y="234"/>
                          </a:lnTo>
                          <a:lnTo>
                            <a:pt x="103" y="241"/>
                          </a:lnTo>
                          <a:lnTo>
                            <a:pt x="91" y="251"/>
                          </a:lnTo>
                          <a:lnTo>
                            <a:pt x="91" y="261"/>
                          </a:lnTo>
                          <a:lnTo>
                            <a:pt x="88" y="274"/>
                          </a:lnTo>
                          <a:lnTo>
                            <a:pt x="88" y="287"/>
                          </a:lnTo>
                          <a:lnTo>
                            <a:pt x="86" y="295"/>
                          </a:lnTo>
                          <a:lnTo>
                            <a:pt x="80" y="301"/>
                          </a:lnTo>
                          <a:lnTo>
                            <a:pt x="69" y="301"/>
                          </a:lnTo>
                          <a:lnTo>
                            <a:pt x="60" y="299"/>
                          </a:lnTo>
                          <a:lnTo>
                            <a:pt x="45" y="290"/>
                          </a:lnTo>
                          <a:lnTo>
                            <a:pt x="38" y="282"/>
                          </a:lnTo>
                          <a:lnTo>
                            <a:pt x="37" y="274"/>
                          </a:lnTo>
                          <a:lnTo>
                            <a:pt x="37" y="265"/>
                          </a:lnTo>
                          <a:lnTo>
                            <a:pt x="31" y="251"/>
                          </a:lnTo>
                          <a:lnTo>
                            <a:pt x="28" y="242"/>
                          </a:lnTo>
                          <a:lnTo>
                            <a:pt x="29" y="234"/>
                          </a:lnTo>
                          <a:lnTo>
                            <a:pt x="28" y="221"/>
                          </a:lnTo>
                          <a:lnTo>
                            <a:pt x="23" y="218"/>
                          </a:lnTo>
                          <a:lnTo>
                            <a:pt x="31" y="209"/>
                          </a:lnTo>
                          <a:lnTo>
                            <a:pt x="37" y="198"/>
                          </a:lnTo>
                          <a:lnTo>
                            <a:pt x="36" y="191"/>
                          </a:lnTo>
                          <a:lnTo>
                            <a:pt x="33" y="181"/>
                          </a:lnTo>
                          <a:lnTo>
                            <a:pt x="26" y="171"/>
                          </a:lnTo>
                          <a:lnTo>
                            <a:pt x="29" y="155"/>
                          </a:lnTo>
                          <a:lnTo>
                            <a:pt x="27" y="139"/>
                          </a:lnTo>
                          <a:lnTo>
                            <a:pt x="24" y="123"/>
                          </a:lnTo>
                          <a:lnTo>
                            <a:pt x="21" y="105"/>
                          </a:lnTo>
                          <a:lnTo>
                            <a:pt x="12" y="99"/>
                          </a:lnTo>
                          <a:lnTo>
                            <a:pt x="0" y="90"/>
                          </a:lnTo>
                          <a:close/>
                        </a:path>
                      </a:pathLst>
                    </a:custGeom>
                    <a:solidFill>
                      <a:srgbClr val="008000"/>
                    </a:solidFill>
                    <a:ln w="3175">
                      <a:solidFill>
                        <a:srgbClr val="000000"/>
                      </a:solidFill>
                      <a:prstDash val="solid"/>
                      <a:round/>
                      <a:headEnd/>
                      <a:tailEnd/>
                    </a:ln>
                  </p:spPr>
                  <p:txBody>
                    <a:bodyPr/>
                    <a:lstStyle/>
                    <a:p>
                      <a:endParaRPr lang="en-GB"/>
                    </a:p>
                  </p:txBody>
                </p:sp>
                <p:sp>
                  <p:nvSpPr>
                    <p:cNvPr id="246809" name="Freeform 25"/>
                    <p:cNvSpPr>
                      <a:spLocks/>
                    </p:cNvSpPr>
                    <p:nvPr/>
                  </p:nvSpPr>
                  <p:spPr bwMode="auto">
                    <a:xfrm>
                      <a:off x="2505" y="3743"/>
                      <a:ext cx="11" cy="12"/>
                    </a:xfrm>
                    <a:custGeom>
                      <a:avLst/>
                      <a:gdLst>
                        <a:gd name="T0" fmla="*/ 0 w 55"/>
                        <a:gd name="T1" fmla="*/ 42 h 59"/>
                        <a:gd name="T2" fmla="*/ 20 w 55"/>
                        <a:gd name="T3" fmla="*/ 50 h 59"/>
                        <a:gd name="T4" fmla="*/ 34 w 55"/>
                        <a:gd name="T5" fmla="*/ 51 h 59"/>
                        <a:gd name="T6" fmla="*/ 43 w 55"/>
                        <a:gd name="T7" fmla="*/ 56 h 59"/>
                        <a:gd name="T8" fmla="*/ 48 w 55"/>
                        <a:gd name="T9" fmla="*/ 59 h 59"/>
                        <a:gd name="T10" fmla="*/ 55 w 55"/>
                        <a:gd name="T11" fmla="*/ 48 h 59"/>
                        <a:gd name="T12" fmla="*/ 53 w 55"/>
                        <a:gd name="T13" fmla="*/ 41 h 59"/>
                        <a:gd name="T14" fmla="*/ 55 w 55"/>
                        <a:gd name="T15" fmla="*/ 35 h 59"/>
                        <a:gd name="T16" fmla="*/ 52 w 55"/>
                        <a:gd name="T17" fmla="*/ 28 h 59"/>
                        <a:gd name="T18" fmla="*/ 47 w 55"/>
                        <a:gd name="T19" fmla="*/ 32 h 59"/>
                        <a:gd name="T20" fmla="*/ 34 w 55"/>
                        <a:gd name="T21" fmla="*/ 17 h 59"/>
                        <a:gd name="T22" fmla="*/ 34 w 55"/>
                        <a:gd name="T23" fmla="*/ 6 h 59"/>
                        <a:gd name="T24" fmla="*/ 40 w 55"/>
                        <a:gd name="T25" fmla="*/ 1 h 59"/>
                        <a:gd name="T26" fmla="*/ 36 w 55"/>
                        <a:gd name="T27" fmla="*/ 0 h 59"/>
                        <a:gd name="T28" fmla="*/ 21 w 55"/>
                        <a:gd name="T29" fmla="*/ 7 h 59"/>
                        <a:gd name="T30" fmla="*/ 21 w 55"/>
                        <a:gd name="T31" fmla="*/ 15 h 59"/>
                        <a:gd name="T32" fmla="*/ 18 w 55"/>
                        <a:gd name="T33" fmla="*/ 26 h 59"/>
                        <a:gd name="T34" fmla="*/ 11 w 55"/>
                        <a:gd name="T35" fmla="*/ 38 h 59"/>
                        <a:gd name="T36" fmla="*/ 0 w 55"/>
                        <a:gd name="T37" fmla="*/ 4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 h="59">
                          <a:moveTo>
                            <a:pt x="0" y="42"/>
                          </a:moveTo>
                          <a:lnTo>
                            <a:pt x="20" y="50"/>
                          </a:lnTo>
                          <a:lnTo>
                            <a:pt x="34" y="51"/>
                          </a:lnTo>
                          <a:lnTo>
                            <a:pt x="43" y="56"/>
                          </a:lnTo>
                          <a:lnTo>
                            <a:pt x="48" y="59"/>
                          </a:lnTo>
                          <a:lnTo>
                            <a:pt x="55" y="48"/>
                          </a:lnTo>
                          <a:lnTo>
                            <a:pt x="53" y="41"/>
                          </a:lnTo>
                          <a:lnTo>
                            <a:pt x="55" y="35"/>
                          </a:lnTo>
                          <a:lnTo>
                            <a:pt x="52" y="28"/>
                          </a:lnTo>
                          <a:lnTo>
                            <a:pt x="47" y="32"/>
                          </a:lnTo>
                          <a:lnTo>
                            <a:pt x="34" y="17"/>
                          </a:lnTo>
                          <a:lnTo>
                            <a:pt x="34" y="6"/>
                          </a:lnTo>
                          <a:lnTo>
                            <a:pt x="40" y="1"/>
                          </a:lnTo>
                          <a:lnTo>
                            <a:pt x="36" y="0"/>
                          </a:lnTo>
                          <a:lnTo>
                            <a:pt x="21" y="7"/>
                          </a:lnTo>
                          <a:lnTo>
                            <a:pt x="21" y="15"/>
                          </a:lnTo>
                          <a:lnTo>
                            <a:pt x="18" y="26"/>
                          </a:lnTo>
                          <a:lnTo>
                            <a:pt x="11" y="38"/>
                          </a:lnTo>
                          <a:lnTo>
                            <a:pt x="0" y="42"/>
                          </a:lnTo>
                          <a:close/>
                        </a:path>
                      </a:pathLst>
                    </a:custGeom>
                    <a:solidFill>
                      <a:srgbClr val="008000"/>
                    </a:solidFill>
                    <a:ln w="3175">
                      <a:solidFill>
                        <a:srgbClr val="000000"/>
                      </a:solidFill>
                      <a:prstDash val="solid"/>
                      <a:round/>
                      <a:headEnd/>
                      <a:tailEnd/>
                    </a:ln>
                  </p:spPr>
                  <p:txBody>
                    <a:bodyPr/>
                    <a:lstStyle/>
                    <a:p>
                      <a:endParaRPr lang="en-GB"/>
                    </a:p>
                  </p:txBody>
                </p:sp>
              </p:grpSp>
            </p:grpSp>
            <p:grpSp>
              <p:nvGrpSpPr>
                <p:cNvPr id="246810" name="Group 26"/>
                <p:cNvGrpSpPr>
                  <a:grpSpLocks/>
                </p:cNvGrpSpPr>
                <p:nvPr/>
              </p:nvGrpSpPr>
              <p:grpSpPr bwMode="auto">
                <a:xfrm>
                  <a:off x="2451" y="3735"/>
                  <a:ext cx="23" cy="23"/>
                  <a:chOff x="2451" y="3735"/>
                  <a:chExt cx="23" cy="23"/>
                </a:xfrm>
              </p:grpSpPr>
              <p:sp>
                <p:nvSpPr>
                  <p:cNvPr id="246811" name="Freeform 27"/>
                  <p:cNvSpPr>
                    <a:spLocks/>
                  </p:cNvSpPr>
                  <p:nvPr/>
                </p:nvSpPr>
                <p:spPr bwMode="auto">
                  <a:xfrm>
                    <a:off x="2451" y="3735"/>
                    <a:ext cx="16" cy="18"/>
                  </a:xfrm>
                  <a:custGeom>
                    <a:avLst/>
                    <a:gdLst>
                      <a:gd name="T0" fmla="*/ 0 w 77"/>
                      <a:gd name="T1" fmla="*/ 9 h 92"/>
                      <a:gd name="T2" fmla="*/ 10 w 77"/>
                      <a:gd name="T3" fmla="*/ 3 h 92"/>
                      <a:gd name="T4" fmla="*/ 14 w 77"/>
                      <a:gd name="T5" fmla="*/ 5 h 92"/>
                      <a:gd name="T6" fmla="*/ 22 w 77"/>
                      <a:gd name="T7" fmla="*/ 3 h 92"/>
                      <a:gd name="T8" fmla="*/ 33 w 77"/>
                      <a:gd name="T9" fmla="*/ 0 h 92"/>
                      <a:gd name="T10" fmla="*/ 41 w 77"/>
                      <a:gd name="T11" fmla="*/ 5 h 92"/>
                      <a:gd name="T12" fmla="*/ 47 w 77"/>
                      <a:gd name="T13" fmla="*/ 5 h 92"/>
                      <a:gd name="T14" fmla="*/ 50 w 77"/>
                      <a:gd name="T15" fmla="*/ 15 h 92"/>
                      <a:gd name="T16" fmla="*/ 55 w 77"/>
                      <a:gd name="T17" fmla="*/ 19 h 92"/>
                      <a:gd name="T18" fmla="*/ 54 w 77"/>
                      <a:gd name="T19" fmla="*/ 27 h 92"/>
                      <a:gd name="T20" fmla="*/ 56 w 77"/>
                      <a:gd name="T21" fmla="*/ 35 h 92"/>
                      <a:gd name="T22" fmla="*/ 57 w 77"/>
                      <a:gd name="T23" fmla="*/ 42 h 92"/>
                      <a:gd name="T24" fmla="*/ 67 w 77"/>
                      <a:gd name="T25" fmla="*/ 56 h 92"/>
                      <a:gd name="T26" fmla="*/ 72 w 77"/>
                      <a:gd name="T27" fmla="*/ 59 h 92"/>
                      <a:gd name="T28" fmla="*/ 76 w 77"/>
                      <a:gd name="T29" fmla="*/ 60 h 92"/>
                      <a:gd name="T30" fmla="*/ 77 w 77"/>
                      <a:gd name="T31" fmla="*/ 68 h 92"/>
                      <a:gd name="T32" fmla="*/ 70 w 77"/>
                      <a:gd name="T33" fmla="*/ 76 h 92"/>
                      <a:gd name="T34" fmla="*/ 57 w 77"/>
                      <a:gd name="T35" fmla="*/ 92 h 92"/>
                      <a:gd name="T36" fmla="*/ 54 w 77"/>
                      <a:gd name="T37" fmla="*/ 91 h 92"/>
                      <a:gd name="T38" fmla="*/ 52 w 77"/>
                      <a:gd name="T39" fmla="*/ 82 h 92"/>
                      <a:gd name="T40" fmla="*/ 53 w 77"/>
                      <a:gd name="T41" fmla="*/ 69 h 92"/>
                      <a:gd name="T42" fmla="*/ 55 w 77"/>
                      <a:gd name="T43" fmla="*/ 65 h 92"/>
                      <a:gd name="T44" fmla="*/ 54 w 77"/>
                      <a:gd name="T45" fmla="*/ 58 h 92"/>
                      <a:gd name="T46" fmla="*/ 36 w 77"/>
                      <a:gd name="T47" fmla="*/ 60 h 92"/>
                      <a:gd name="T48" fmla="*/ 22 w 77"/>
                      <a:gd name="T49" fmla="*/ 73 h 92"/>
                      <a:gd name="T50" fmla="*/ 22 w 77"/>
                      <a:gd name="T51" fmla="*/ 79 h 92"/>
                      <a:gd name="T52" fmla="*/ 18 w 77"/>
                      <a:gd name="T53" fmla="*/ 88 h 92"/>
                      <a:gd name="T54" fmla="*/ 9 w 77"/>
                      <a:gd name="T55" fmla="*/ 89 h 92"/>
                      <a:gd name="T56" fmla="*/ 5 w 77"/>
                      <a:gd name="T57" fmla="*/ 85 h 92"/>
                      <a:gd name="T58" fmla="*/ 9 w 77"/>
                      <a:gd name="T59" fmla="*/ 76 h 92"/>
                      <a:gd name="T60" fmla="*/ 10 w 77"/>
                      <a:gd name="T61" fmla="*/ 69 h 92"/>
                      <a:gd name="T62" fmla="*/ 13 w 77"/>
                      <a:gd name="T63" fmla="*/ 68 h 92"/>
                      <a:gd name="T64" fmla="*/ 11 w 77"/>
                      <a:gd name="T65" fmla="*/ 61 h 92"/>
                      <a:gd name="T66" fmla="*/ 21 w 77"/>
                      <a:gd name="T67" fmla="*/ 49 h 92"/>
                      <a:gd name="T68" fmla="*/ 26 w 77"/>
                      <a:gd name="T69" fmla="*/ 49 h 92"/>
                      <a:gd name="T70" fmla="*/ 33 w 77"/>
                      <a:gd name="T71" fmla="*/ 50 h 92"/>
                      <a:gd name="T72" fmla="*/ 38 w 77"/>
                      <a:gd name="T73" fmla="*/ 44 h 92"/>
                      <a:gd name="T74" fmla="*/ 43 w 77"/>
                      <a:gd name="T75" fmla="*/ 43 h 92"/>
                      <a:gd name="T76" fmla="*/ 45 w 77"/>
                      <a:gd name="T77" fmla="*/ 39 h 92"/>
                      <a:gd name="T78" fmla="*/ 29 w 77"/>
                      <a:gd name="T79" fmla="*/ 37 h 92"/>
                      <a:gd name="T80" fmla="*/ 30 w 77"/>
                      <a:gd name="T81" fmla="*/ 22 h 92"/>
                      <a:gd name="T82" fmla="*/ 25 w 77"/>
                      <a:gd name="T83" fmla="*/ 22 h 92"/>
                      <a:gd name="T84" fmla="*/ 14 w 77"/>
                      <a:gd name="T85" fmla="*/ 22 h 92"/>
                      <a:gd name="T86" fmla="*/ 0 w 77"/>
                      <a:gd name="T87" fmla="*/ 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 h="92">
                        <a:moveTo>
                          <a:pt x="0" y="9"/>
                        </a:moveTo>
                        <a:lnTo>
                          <a:pt x="10" y="3"/>
                        </a:lnTo>
                        <a:lnTo>
                          <a:pt x="14" y="5"/>
                        </a:lnTo>
                        <a:lnTo>
                          <a:pt x="22" y="3"/>
                        </a:lnTo>
                        <a:lnTo>
                          <a:pt x="33" y="0"/>
                        </a:lnTo>
                        <a:lnTo>
                          <a:pt x="41" y="5"/>
                        </a:lnTo>
                        <a:lnTo>
                          <a:pt x="47" y="5"/>
                        </a:lnTo>
                        <a:lnTo>
                          <a:pt x="50" y="15"/>
                        </a:lnTo>
                        <a:lnTo>
                          <a:pt x="55" y="19"/>
                        </a:lnTo>
                        <a:lnTo>
                          <a:pt x="54" y="27"/>
                        </a:lnTo>
                        <a:lnTo>
                          <a:pt x="56" y="35"/>
                        </a:lnTo>
                        <a:lnTo>
                          <a:pt x="57" y="42"/>
                        </a:lnTo>
                        <a:lnTo>
                          <a:pt x="67" y="56"/>
                        </a:lnTo>
                        <a:lnTo>
                          <a:pt x="72" y="59"/>
                        </a:lnTo>
                        <a:lnTo>
                          <a:pt x="76" y="60"/>
                        </a:lnTo>
                        <a:lnTo>
                          <a:pt x="77" y="68"/>
                        </a:lnTo>
                        <a:lnTo>
                          <a:pt x="70" y="76"/>
                        </a:lnTo>
                        <a:lnTo>
                          <a:pt x="57" y="92"/>
                        </a:lnTo>
                        <a:lnTo>
                          <a:pt x="54" y="91"/>
                        </a:lnTo>
                        <a:lnTo>
                          <a:pt x="52" y="82"/>
                        </a:lnTo>
                        <a:lnTo>
                          <a:pt x="53" y="69"/>
                        </a:lnTo>
                        <a:lnTo>
                          <a:pt x="55" y="65"/>
                        </a:lnTo>
                        <a:lnTo>
                          <a:pt x="54" y="58"/>
                        </a:lnTo>
                        <a:lnTo>
                          <a:pt x="36" y="60"/>
                        </a:lnTo>
                        <a:lnTo>
                          <a:pt x="22" y="73"/>
                        </a:lnTo>
                        <a:lnTo>
                          <a:pt x="22" y="79"/>
                        </a:lnTo>
                        <a:lnTo>
                          <a:pt x="18" y="88"/>
                        </a:lnTo>
                        <a:lnTo>
                          <a:pt x="9" y="89"/>
                        </a:lnTo>
                        <a:lnTo>
                          <a:pt x="5" y="85"/>
                        </a:lnTo>
                        <a:lnTo>
                          <a:pt x="9" y="76"/>
                        </a:lnTo>
                        <a:lnTo>
                          <a:pt x="10" y="69"/>
                        </a:lnTo>
                        <a:lnTo>
                          <a:pt x="13" y="68"/>
                        </a:lnTo>
                        <a:lnTo>
                          <a:pt x="11" y="61"/>
                        </a:lnTo>
                        <a:lnTo>
                          <a:pt x="21" y="49"/>
                        </a:lnTo>
                        <a:lnTo>
                          <a:pt x="26" y="49"/>
                        </a:lnTo>
                        <a:lnTo>
                          <a:pt x="33" y="50"/>
                        </a:lnTo>
                        <a:lnTo>
                          <a:pt x="38" y="44"/>
                        </a:lnTo>
                        <a:lnTo>
                          <a:pt x="43" y="43"/>
                        </a:lnTo>
                        <a:lnTo>
                          <a:pt x="45" y="39"/>
                        </a:lnTo>
                        <a:lnTo>
                          <a:pt x="29" y="37"/>
                        </a:lnTo>
                        <a:lnTo>
                          <a:pt x="30" y="22"/>
                        </a:lnTo>
                        <a:lnTo>
                          <a:pt x="25" y="22"/>
                        </a:lnTo>
                        <a:lnTo>
                          <a:pt x="14" y="22"/>
                        </a:lnTo>
                        <a:lnTo>
                          <a:pt x="0" y="9"/>
                        </a:lnTo>
                        <a:close/>
                      </a:path>
                    </a:pathLst>
                  </a:custGeom>
                  <a:solidFill>
                    <a:srgbClr val="0000FF"/>
                  </a:solidFill>
                  <a:ln w="3175">
                    <a:solidFill>
                      <a:srgbClr val="000000"/>
                    </a:solidFill>
                    <a:prstDash val="solid"/>
                    <a:round/>
                    <a:headEnd/>
                    <a:tailEnd/>
                  </a:ln>
                </p:spPr>
                <p:txBody>
                  <a:bodyPr/>
                  <a:lstStyle/>
                  <a:p>
                    <a:endParaRPr lang="en-GB"/>
                  </a:p>
                </p:txBody>
              </p:sp>
              <p:sp>
                <p:nvSpPr>
                  <p:cNvPr id="246812" name="Freeform 28"/>
                  <p:cNvSpPr>
                    <a:spLocks/>
                  </p:cNvSpPr>
                  <p:nvPr/>
                </p:nvSpPr>
                <p:spPr bwMode="auto">
                  <a:xfrm>
                    <a:off x="2460" y="3756"/>
                    <a:ext cx="6" cy="2"/>
                  </a:xfrm>
                  <a:custGeom>
                    <a:avLst/>
                    <a:gdLst>
                      <a:gd name="T0" fmla="*/ 0 w 32"/>
                      <a:gd name="T1" fmla="*/ 9 h 12"/>
                      <a:gd name="T2" fmla="*/ 18 w 32"/>
                      <a:gd name="T3" fmla="*/ 12 h 12"/>
                      <a:gd name="T4" fmla="*/ 32 w 32"/>
                      <a:gd name="T5" fmla="*/ 1 h 12"/>
                      <a:gd name="T6" fmla="*/ 18 w 32"/>
                      <a:gd name="T7" fmla="*/ 0 h 12"/>
                      <a:gd name="T8" fmla="*/ 11 w 32"/>
                      <a:gd name="T9" fmla="*/ 3 h 12"/>
                      <a:gd name="T10" fmla="*/ 0 w 32"/>
                      <a:gd name="T11" fmla="*/ 9 h 12"/>
                    </a:gdLst>
                    <a:ahLst/>
                    <a:cxnLst>
                      <a:cxn ang="0">
                        <a:pos x="T0" y="T1"/>
                      </a:cxn>
                      <a:cxn ang="0">
                        <a:pos x="T2" y="T3"/>
                      </a:cxn>
                      <a:cxn ang="0">
                        <a:pos x="T4" y="T5"/>
                      </a:cxn>
                      <a:cxn ang="0">
                        <a:pos x="T6" y="T7"/>
                      </a:cxn>
                      <a:cxn ang="0">
                        <a:pos x="T8" y="T9"/>
                      </a:cxn>
                      <a:cxn ang="0">
                        <a:pos x="T10" y="T11"/>
                      </a:cxn>
                    </a:cxnLst>
                    <a:rect l="0" t="0" r="r" b="b"/>
                    <a:pathLst>
                      <a:path w="32" h="12">
                        <a:moveTo>
                          <a:pt x="0" y="9"/>
                        </a:moveTo>
                        <a:lnTo>
                          <a:pt x="18" y="12"/>
                        </a:lnTo>
                        <a:lnTo>
                          <a:pt x="32" y="1"/>
                        </a:lnTo>
                        <a:lnTo>
                          <a:pt x="18" y="0"/>
                        </a:lnTo>
                        <a:lnTo>
                          <a:pt x="11" y="3"/>
                        </a:lnTo>
                        <a:lnTo>
                          <a:pt x="0" y="9"/>
                        </a:lnTo>
                        <a:close/>
                      </a:path>
                    </a:pathLst>
                  </a:custGeom>
                  <a:solidFill>
                    <a:srgbClr val="0000FF"/>
                  </a:solidFill>
                  <a:ln w="3175">
                    <a:solidFill>
                      <a:srgbClr val="000000"/>
                    </a:solidFill>
                    <a:prstDash val="solid"/>
                    <a:round/>
                    <a:headEnd/>
                    <a:tailEnd/>
                  </a:ln>
                </p:spPr>
                <p:txBody>
                  <a:bodyPr/>
                  <a:lstStyle/>
                  <a:p>
                    <a:endParaRPr lang="en-GB"/>
                  </a:p>
                </p:txBody>
              </p:sp>
              <p:sp>
                <p:nvSpPr>
                  <p:cNvPr id="246813" name="Freeform 29"/>
                  <p:cNvSpPr>
                    <a:spLocks/>
                  </p:cNvSpPr>
                  <p:nvPr/>
                </p:nvSpPr>
                <p:spPr bwMode="auto">
                  <a:xfrm>
                    <a:off x="2469" y="3754"/>
                    <a:ext cx="5" cy="2"/>
                  </a:xfrm>
                  <a:custGeom>
                    <a:avLst/>
                    <a:gdLst>
                      <a:gd name="T0" fmla="*/ 0 w 28"/>
                      <a:gd name="T1" fmla="*/ 8 h 11"/>
                      <a:gd name="T2" fmla="*/ 16 w 28"/>
                      <a:gd name="T3" fmla="*/ 11 h 11"/>
                      <a:gd name="T4" fmla="*/ 28 w 28"/>
                      <a:gd name="T5" fmla="*/ 1 h 11"/>
                      <a:gd name="T6" fmla="*/ 21 w 28"/>
                      <a:gd name="T7" fmla="*/ 0 h 11"/>
                      <a:gd name="T8" fmla="*/ 0 w 28"/>
                      <a:gd name="T9" fmla="*/ 8 h 11"/>
                    </a:gdLst>
                    <a:ahLst/>
                    <a:cxnLst>
                      <a:cxn ang="0">
                        <a:pos x="T0" y="T1"/>
                      </a:cxn>
                      <a:cxn ang="0">
                        <a:pos x="T2" y="T3"/>
                      </a:cxn>
                      <a:cxn ang="0">
                        <a:pos x="T4" y="T5"/>
                      </a:cxn>
                      <a:cxn ang="0">
                        <a:pos x="T6" y="T7"/>
                      </a:cxn>
                      <a:cxn ang="0">
                        <a:pos x="T8" y="T9"/>
                      </a:cxn>
                    </a:cxnLst>
                    <a:rect l="0" t="0" r="r" b="b"/>
                    <a:pathLst>
                      <a:path w="28" h="11">
                        <a:moveTo>
                          <a:pt x="0" y="8"/>
                        </a:moveTo>
                        <a:lnTo>
                          <a:pt x="16" y="11"/>
                        </a:lnTo>
                        <a:lnTo>
                          <a:pt x="28" y="1"/>
                        </a:lnTo>
                        <a:lnTo>
                          <a:pt x="21" y="0"/>
                        </a:lnTo>
                        <a:lnTo>
                          <a:pt x="0" y="8"/>
                        </a:lnTo>
                        <a:close/>
                      </a:path>
                    </a:pathLst>
                  </a:custGeom>
                  <a:solidFill>
                    <a:srgbClr val="0000FF"/>
                  </a:solidFill>
                  <a:ln w="3175">
                    <a:solidFill>
                      <a:srgbClr val="000000"/>
                    </a:solidFill>
                    <a:prstDash val="solid"/>
                    <a:round/>
                    <a:headEnd/>
                    <a:tailEnd/>
                  </a:ln>
                </p:spPr>
                <p:txBody>
                  <a:bodyPr/>
                  <a:lstStyle/>
                  <a:p>
                    <a:endParaRPr lang="en-GB"/>
                  </a:p>
                </p:txBody>
              </p:sp>
            </p:grpSp>
            <p:grpSp>
              <p:nvGrpSpPr>
                <p:cNvPr id="246814" name="Group 30"/>
                <p:cNvGrpSpPr>
                  <a:grpSpLocks/>
                </p:cNvGrpSpPr>
                <p:nvPr/>
              </p:nvGrpSpPr>
              <p:grpSpPr bwMode="auto">
                <a:xfrm>
                  <a:off x="2516" y="3596"/>
                  <a:ext cx="6" cy="9"/>
                  <a:chOff x="2516" y="3596"/>
                  <a:chExt cx="6" cy="9"/>
                </a:xfrm>
              </p:grpSpPr>
              <p:sp>
                <p:nvSpPr>
                  <p:cNvPr id="246815" name="Freeform 31"/>
                  <p:cNvSpPr>
                    <a:spLocks/>
                  </p:cNvSpPr>
                  <p:nvPr/>
                </p:nvSpPr>
                <p:spPr bwMode="auto">
                  <a:xfrm>
                    <a:off x="2516" y="3601"/>
                    <a:ext cx="6" cy="4"/>
                  </a:xfrm>
                  <a:custGeom>
                    <a:avLst/>
                    <a:gdLst>
                      <a:gd name="T0" fmla="*/ 0 w 26"/>
                      <a:gd name="T1" fmla="*/ 15 h 21"/>
                      <a:gd name="T2" fmla="*/ 26 w 26"/>
                      <a:gd name="T3" fmla="*/ 21 h 21"/>
                      <a:gd name="T4" fmla="*/ 24 w 26"/>
                      <a:gd name="T5" fmla="*/ 9 h 21"/>
                      <a:gd name="T6" fmla="*/ 24 w 26"/>
                      <a:gd name="T7" fmla="*/ 0 h 21"/>
                      <a:gd name="T8" fmla="*/ 12 w 26"/>
                      <a:gd name="T9" fmla="*/ 6 h 21"/>
                      <a:gd name="T10" fmla="*/ 0 w 26"/>
                      <a:gd name="T11" fmla="*/ 15 h 21"/>
                    </a:gdLst>
                    <a:ahLst/>
                    <a:cxnLst>
                      <a:cxn ang="0">
                        <a:pos x="T0" y="T1"/>
                      </a:cxn>
                      <a:cxn ang="0">
                        <a:pos x="T2" y="T3"/>
                      </a:cxn>
                      <a:cxn ang="0">
                        <a:pos x="T4" y="T5"/>
                      </a:cxn>
                      <a:cxn ang="0">
                        <a:pos x="T6" y="T7"/>
                      </a:cxn>
                      <a:cxn ang="0">
                        <a:pos x="T8" y="T9"/>
                      </a:cxn>
                      <a:cxn ang="0">
                        <a:pos x="T10" y="T11"/>
                      </a:cxn>
                    </a:cxnLst>
                    <a:rect l="0" t="0" r="r" b="b"/>
                    <a:pathLst>
                      <a:path w="26" h="21">
                        <a:moveTo>
                          <a:pt x="0" y="15"/>
                        </a:moveTo>
                        <a:lnTo>
                          <a:pt x="26" y="21"/>
                        </a:lnTo>
                        <a:lnTo>
                          <a:pt x="24" y="9"/>
                        </a:lnTo>
                        <a:lnTo>
                          <a:pt x="24" y="0"/>
                        </a:lnTo>
                        <a:lnTo>
                          <a:pt x="12" y="6"/>
                        </a:lnTo>
                        <a:lnTo>
                          <a:pt x="0" y="15"/>
                        </a:lnTo>
                        <a:close/>
                      </a:path>
                    </a:pathLst>
                  </a:custGeom>
                  <a:solidFill>
                    <a:srgbClr val="5FDF00"/>
                  </a:solidFill>
                  <a:ln w="3175">
                    <a:solidFill>
                      <a:srgbClr val="000000"/>
                    </a:solidFill>
                    <a:prstDash val="solid"/>
                    <a:round/>
                    <a:headEnd/>
                    <a:tailEnd/>
                  </a:ln>
                </p:spPr>
                <p:txBody>
                  <a:bodyPr/>
                  <a:lstStyle/>
                  <a:p>
                    <a:endParaRPr lang="en-GB"/>
                  </a:p>
                </p:txBody>
              </p:sp>
              <p:sp>
                <p:nvSpPr>
                  <p:cNvPr id="246816" name="Freeform 32"/>
                  <p:cNvSpPr>
                    <a:spLocks/>
                  </p:cNvSpPr>
                  <p:nvPr/>
                </p:nvSpPr>
                <p:spPr bwMode="auto">
                  <a:xfrm>
                    <a:off x="2517" y="3596"/>
                    <a:ext cx="4" cy="2"/>
                  </a:xfrm>
                  <a:custGeom>
                    <a:avLst/>
                    <a:gdLst>
                      <a:gd name="T0" fmla="*/ 0 w 20"/>
                      <a:gd name="T1" fmla="*/ 7 h 11"/>
                      <a:gd name="T2" fmla="*/ 20 w 20"/>
                      <a:gd name="T3" fmla="*/ 0 h 11"/>
                      <a:gd name="T4" fmla="*/ 19 w 20"/>
                      <a:gd name="T5" fmla="*/ 11 h 11"/>
                      <a:gd name="T6" fmla="*/ 0 w 20"/>
                      <a:gd name="T7" fmla="*/ 7 h 11"/>
                    </a:gdLst>
                    <a:ahLst/>
                    <a:cxnLst>
                      <a:cxn ang="0">
                        <a:pos x="T0" y="T1"/>
                      </a:cxn>
                      <a:cxn ang="0">
                        <a:pos x="T2" y="T3"/>
                      </a:cxn>
                      <a:cxn ang="0">
                        <a:pos x="T4" y="T5"/>
                      </a:cxn>
                      <a:cxn ang="0">
                        <a:pos x="T6" y="T7"/>
                      </a:cxn>
                    </a:cxnLst>
                    <a:rect l="0" t="0" r="r" b="b"/>
                    <a:pathLst>
                      <a:path w="20" h="11">
                        <a:moveTo>
                          <a:pt x="0" y="7"/>
                        </a:moveTo>
                        <a:lnTo>
                          <a:pt x="20" y="0"/>
                        </a:lnTo>
                        <a:lnTo>
                          <a:pt x="19" y="11"/>
                        </a:lnTo>
                        <a:lnTo>
                          <a:pt x="0" y="7"/>
                        </a:lnTo>
                        <a:close/>
                      </a:path>
                    </a:pathLst>
                  </a:custGeom>
                  <a:solidFill>
                    <a:srgbClr val="5FDF00"/>
                  </a:solidFill>
                  <a:ln w="3175">
                    <a:solidFill>
                      <a:srgbClr val="000000"/>
                    </a:solidFill>
                    <a:prstDash val="solid"/>
                    <a:round/>
                    <a:headEnd/>
                    <a:tailEnd/>
                  </a:ln>
                </p:spPr>
                <p:txBody>
                  <a:bodyPr/>
                  <a:lstStyle/>
                  <a:p>
                    <a:endParaRPr lang="en-GB"/>
                  </a:p>
                </p:txBody>
              </p:sp>
            </p:grpSp>
          </p:grpSp>
          <p:grpSp>
            <p:nvGrpSpPr>
              <p:cNvPr id="246817" name="Group 33"/>
              <p:cNvGrpSpPr>
                <a:grpSpLocks/>
              </p:cNvGrpSpPr>
              <p:nvPr/>
            </p:nvGrpSpPr>
            <p:grpSpPr bwMode="auto">
              <a:xfrm>
                <a:off x="2457" y="3554"/>
                <a:ext cx="297" cy="401"/>
                <a:chOff x="2457" y="3554"/>
                <a:chExt cx="297" cy="401"/>
              </a:xfrm>
            </p:grpSpPr>
            <p:sp>
              <p:nvSpPr>
                <p:cNvPr id="246818" name="Freeform 34"/>
                <p:cNvSpPr>
                  <a:spLocks/>
                </p:cNvSpPr>
                <p:nvPr/>
              </p:nvSpPr>
              <p:spPr bwMode="auto">
                <a:xfrm>
                  <a:off x="2593" y="3731"/>
                  <a:ext cx="161" cy="224"/>
                </a:xfrm>
                <a:custGeom>
                  <a:avLst/>
                  <a:gdLst>
                    <a:gd name="T0" fmla="*/ 113 w 806"/>
                    <a:gd name="T1" fmla="*/ 150 h 1121"/>
                    <a:gd name="T2" fmla="*/ 157 w 806"/>
                    <a:gd name="T3" fmla="*/ 104 h 1121"/>
                    <a:gd name="T4" fmla="*/ 221 w 806"/>
                    <a:gd name="T5" fmla="*/ 119 h 1121"/>
                    <a:gd name="T6" fmla="*/ 250 w 806"/>
                    <a:gd name="T7" fmla="*/ 108 h 1121"/>
                    <a:gd name="T8" fmla="*/ 277 w 806"/>
                    <a:gd name="T9" fmla="*/ 100 h 1121"/>
                    <a:gd name="T10" fmla="*/ 323 w 806"/>
                    <a:gd name="T11" fmla="*/ 88 h 1121"/>
                    <a:gd name="T12" fmla="*/ 331 w 806"/>
                    <a:gd name="T13" fmla="*/ 38 h 1121"/>
                    <a:gd name="T14" fmla="*/ 382 w 806"/>
                    <a:gd name="T15" fmla="*/ 7 h 1121"/>
                    <a:gd name="T16" fmla="*/ 414 w 806"/>
                    <a:gd name="T17" fmla="*/ 0 h 1121"/>
                    <a:gd name="T18" fmla="*/ 461 w 806"/>
                    <a:gd name="T19" fmla="*/ 19 h 1121"/>
                    <a:gd name="T20" fmla="*/ 497 w 806"/>
                    <a:gd name="T21" fmla="*/ 34 h 1121"/>
                    <a:gd name="T22" fmla="*/ 544 w 806"/>
                    <a:gd name="T23" fmla="*/ 61 h 1121"/>
                    <a:gd name="T24" fmla="*/ 584 w 806"/>
                    <a:gd name="T25" fmla="*/ 111 h 1121"/>
                    <a:gd name="T26" fmla="*/ 664 w 806"/>
                    <a:gd name="T27" fmla="*/ 116 h 1121"/>
                    <a:gd name="T28" fmla="*/ 739 w 806"/>
                    <a:gd name="T29" fmla="*/ 92 h 1121"/>
                    <a:gd name="T30" fmla="*/ 754 w 806"/>
                    <a:gd name="T31" fmla="*/ 46 h 1121"/>
                    <a:gd name="T32" fmla="*/ 780 w 806"/>
                    <a:gd name="T33" fmla="*/ 69 h 1121"/>
                    <a:gd name="T34" fmla="*/ 794 w 806"/>
                    <a:gd name="T35" fmla="*/ 158 h 1121"/>
                    <a:gd name="T36" fmla="*/ 776 w 806"/>
                    <a:gd name="T37" fmla="*/ 221 h 1121"/>
                    <a:gd name="T38" fmla="*/ 790 w 806"/>
                    <a:gd name="T39" fmla="*/ 263 h 1121"/>
                    <a:gd name="T40" fmla="*/ 773 w 806"/>
                    <a:gd name="T41" fmla="*/ 337 h 1121"/>
                    <a:gd name="T42" fmla="*/ 751 w 806"/>
                    <a:gd name="T43" fmla="*/ 383 h 1121"/>
                    <a:gd name="T44" fmla="*/ 761 w 806"/>
                    <a:gd name="T45" fmla="*/ 445 h 1121"/>
                    <a:gd name="T46" fmla="*/ 758 w 806"/>
                    <a:gd name="T47" fmla="*/ 487 h 1121"/>
                    <a:gd name="T48" fmla="*/ 776 w 806"/>
                    <a:gd name="T49" fmla="*/ 527 h 1121"/>
                    <a:gd name="T50" fmla="*/ 800 w 806"/>
                    <a:gd name="T51" fmla="*/ 592 h 1121"/>
                    <a:gd name="T52" fmla="*/ 771 w 806"/>
                    <a:gd name="T53" fmla="*/ 715 h 1121"/>
                    <a:gd name="T54" fmla="*/ 737 w 806"/>
                    <a:gd name="T55" fmla="*/ 813 h 1121"/>
                    <a:gd name="T56" fmla="*/ 688 w 806"/>
                    <a:gd name="T57" fmla="*/ 924 h 1121"/>
                    <a:gd name="T58" fmla="*/ 637 w 806"/>
                    <a:gd name="T59" fmla="*/ 1016 h 1121"/>
                    <a:gd name="T60" fmla="*/ 576 w 806"/>
                    <a:gd name="T61" fmla="*/ 1107 h 1121"/>
                    <a:gd name="T62" fmla="*/ 519 w 806"/>
                    <a:gd name="T63" fmla="*/ 1113 h 1121"/>
                    <a:gd name="T64" fmla="*/ 512 w 806"/>
                    <a:gd name="T65" fmla="*/ 1070 h 1121"/>
                    <a:gd name="T66" fmla="*/ 505 w 806"/>
                    <a:gd name="T67" fmla="*/ 1028 h 1121"/>
                    <a:gd name="T68" fmla="*/ 493 w 806"/>
                    <a:gd name="T69" fmla="*/ 993 h 1121"/>
                    <a:gd name="T70" fmla="*/ 480 w 806"/>
                    <a:gd name="T71" fmla="*/ 907 h 1121"/>
                    <a:gd name="T72" fmla="*/ 458 w 806"/>
                    <a:gd name="T73" fmla="*/ 868 h 1121"/>
                    <a:gd name="T74" fmla="*/ 454 w 806"/>
                    <a:gd name="T75" fmla="*/ 810 h 1121"/>
                    <a:gd name="T76" fmla="*/ 458 w 806"/>
                    <a:gd name="T77" fmla="*/ 766 h 1121"/>
                    <a:gd name="T78" fmla="*/ 465 w 806"/>
                    <a:gd name="T79" fmla="*/ 732 h 1121"/>
                    <a:gd name="T80" fmla="*/ 454 w 806"/>
                    <a:gd name="T81" fmla="*/ 670 h 1121"/>
                    <a:gd name="T82" fmla="*/ 374 w 806"/>
                    <a:gd name="T83" fmla="*/ 589 h 1121"/>
                    <a:gd name="T84" fmla="*/ 363 w 806"/>
                    <a:gd name="T85" fmla="*/ 527 h 1121"/>
                    <a:gd name="T86" fmla="*/ 309 w 806"/>
                    <a:gd name="T87" fmla="*/ 542 h 1121"/>
                    <a:gd name="T88" fmla="*/ 273 w 806"/>
                    <a:gd name="T89" fmla="*/ 545 h 1121"/>
                    <a:gd name="T90" fmla="*/ 236 w 806"/>
                    <a:gd name="T91" fmla="*/ 569 h 1121"/>
                    <a:gd name="T92" fmla="*/ 192 w 806"/>
                    <a:gd name="T93" fmla="*/ 585 h 1121"/>
                    <a:gd name="T94" fmla="*/ 127 w 806"/>
                    <a:gd name="T95" fmla="*/ 605 h 1121"/>
                    <a:gd name="T96" fmla="*/ 41 w 806"/>
                    <a:gd name="T97" fmla="*/ 534 h 1121"/>
                    <a:gd name="T98" fmla="*/ 22 w 806"/>
                    <a:gd name="T99" fmla="*/ 442 h 1121"/>
                    <a:gd name="T100" fmla="*/ 0 w 806"/>
                    <a:gd name="T101" fmla="*/ 398 h 1121"/>
                    <a:gd name="T102" fmla="*/ 19 w 806"/>
                    <a:gd name="T103" fmla="*/ 352 h 1121"/>
                    <a:gd name="T104" fmla="*/ 19 w 806"/>
                    <a:gd name="T105" fmla="*/ 302 h 1121"/>
                    <a:gd name="T106" fmla="*/ 51 w 806"/>
                    <a:gd name="T107" fmla="*/ 274 h 1121"/>
                    <a:gd name="T108" fmla="*/ 37 w 806"/>
                    <a:gd name="T109" fmla="*/ 248 h 1121"/>
                    <a:gd name="T110" fmla="*/ 48 w 806"/>
                    <a:gd name="T111" fmla="*/ 216 h 1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06" h="1121">
                      <a:moveTo>
                        <a:pt x="66" y="169"/>
                      </a:moveTo>
                      <a:lnTo>
                        <a:pt x="113" y="150"/>
                      </a:lnTo>
                      <a:lnTo>
                        <a:pt x="135" y="111"/>
                      </a:lnTo>
                      <a:lnTo>
                        <a:pt x="157" y="104"/>
                      </a:lnTo>
                      <a:lnTo>
                        <a:pt x="189" y="77"/>
                      </a:lnTo>
                      <a:lnTo>
                        <a:pt x="221" y="119"/>
                      </a:lnTo>
                      <a:lnTo>
                        <a:pt x="239" y="104"/>
                      </a:lnTo>
                      <a:lnTo>
                        <a:pt x="250" y="108"/>
                      </a:lnTo>
                      <a:lnTo>
                        <a:pt x="266" y="100"/>
                      </a:lnTo>
                      <a:lnTo>
                        <a:pt x="277" y="100"/>
                      </a:lnTo>
                      <a:lnTo>
                        <a:pt x="298" y="104"/>
                      </a:lnTo>
                      <a:lnTo>
                        <a:pt x="323" y="88"/>
                      </a:lnTo>
                      <a:lnTo>
                        <a:pt x="306" y="66"/>
                      </a:lnTo>
                      <a:lnTo>
                        <a:pt x="331" y="38"/>
                      </a:lnTo>
                      <a:lnTo>
                        <a:pt x="353" y="38"/>
                      </a:lnTo>
                      <a:lnTo>
                        <a:pt x="382" y="7"/>
                      </a:lnTo>
                      <a:lnTo>
                        <a:pt x="404" y="7"/>
                      </a:lnTo>
                      <a:lnTo>
                        <a:pt x="414" y="0"/>
                      </a:lnTo>
                      <a:lnTo>
                        <a:pt x="446" y="7"/>
                      </a:lnTo>
                      <a:lnTo>
                        <a:pt x="461" y="19"/>
                      </a:lnTo>
                      <a:lnTo>
                        <a:pt x="472" y="22"/>
                      </a:lnTo>
                      <a:lnTo>
                        <a:pt x="497" y="34"/>
                      </a:lnTo>
                      <a:lnTo>
                        <a:pt x="522" y="46"/>
                      </a:lnTo>
                      <a:lnTo>
                        <a:pt x="544" y="61"/>
                      </a:lnTo>
                      <a:lnTo>
                        <a:pt x="573" y="92"/>
                      </a:lnTo>
                      <a:lnTo>
                        <a:pt x="584" y="111"/>
                      </a:lnTo>
                      <a:lnTo>
                        <a:pt x="616" y="108"/>
                      </a:lnTo>
                      <a:lnTo>
                        <a:pt x="664" y="116"/>
                      </a:lnTo>
                      <a:lnTo>
                        <a:pt x="689" y="131"/>
                      </a:lnTo>
                      <a:lnTo>
                        <a:pt x="739" y="92"/>
                      </a:lnTo>
                      <a:lnTo>
                        <a:pt x="736" y="69"/>
                      </a:lnTo>
                      <a:lnTo>
                        <a:pt x="754" y="46"/>
                      </a:lnTo>
                      <a:lnTo>
                        <a:pt x="773" y="38"/>
                      </a:lnTo>
                      <a:lnTo>
                        <a:pt x="780" y="69"/>
                      </a:lnTo>
                      <a:lnTo>
                        <a:pt x="783" y="111"/>
                      </a:lnTo>
                      <a:lnTo>
                        <a:pt x="794" y="158"/>
                      </a:lnTo>
                      <a:lnTo>
                        <a:pt x="794" y="193"/>
                      </a:lnTo>
                      <a:lnTo>
                        <a:pt x="776" y="221"/>
                      </a:lnTo>
                      <a:lnTo>
                        <a:pt x="798" y="229"/>
                      </a:lnTo>
                      <a:lnTo>
                        <a:pt x="790" y="263"/>
                      </a:lnTo>
                      <a:lnTo>
                        <a:pt x="783" y="306"/>
                      </a:lnTo>
                      <a:lnTo>
                        <a:pt x="773" y="337"/>
                      </a:lnTo>
                      <a:lnTo>
                        <a:pt x="758" y="364"/>
                      </a:lnTo>
                      <a:lnTo>
                        <a:pt x="751" y="383"/>
                      </a:lnTo>
                      <a:lnTo>
                        <a:pt x="754" y="410"/>
                      </a:lnTo>
                      <a:lnTo>
                        <a:pt x="761" y="445"/>
                      </a:lnTo>
                      <a:lnTo>
                        <a:pt x="754" y="468"/>
                      </a:lnTo>
                      <a:lnTo>
                        <a:pt x="758" y="487"/>
                      </a:lnTo>
                      <a:lnTo>
                        <a:pt x="765" y="503"/>
                      </a:lnTo>
                      <a:lnTo>
                        <a:pt x="776" y="527"/>
                      </a:lnTo>
                      <a:lnTo>
                        <a:pt x="806" y="562"/>
                      </a:lnTo>
                      <a:lnTo>
                        <a:pt x="800" y="592"/>
                      </a:lnTo>
                      <a:lnTo>
                        <a:pt x="787" y="651"/>
                      </a:lnTo>
                      <a:lnTo>
                        <a:pt x="771" y="715"/>
                      </a:lnTo>
                      <a:lnTo>
                        <a:pt x="757" y="762"/>
                      </a:lnTo>
                      <a:lnTo>
                        <a:pt x="737" y="813"/>
                      </a:lnTo>
                      <a:lnTo>
                        <a:pt x="711" y="876"/>
                      </a:lnTo>
                      <a:lnTo>
                        <a:pt x="688" y="924"/>
                      </a:lnTo>
                      <a:lnTo>
                        <a:pt x="661" y="977"/>
                      </a:lnTo>
                      <a:lnTo>
                        <a:pt x="637" y="1016"/>
                      </a:lnTo>
                      <a:lnTo>
                        <a:pt x="611" y="1059"/>
                      </a:lnTo>
                      <a:lnTo>
                        <a:pt x="576" y="1107"/>
                      </a:lnTo>
                      <a:lnTo>
                        <a:pt x="545" y="1121"/>
                      </a:lnTo>
                      <a:lnTo>
                        <a:pt x="519" y="1113"/>
                      </a:lnTo>
                      <a:lnTo>
                        <a:pt x="505" y="1078"/>
                      </a:lnTo>
                      <a:lnTo>
                        <a:pt x="512" y="1070"/>
                      </a:lnTo>
                      <a:lnTo>
                        <a:pt x="519" y="1043"/>
                      </a:lnTo>
                      <a:lnTo>
                        <a:pt x="505" y="1028"/>
                      </a:lnTo>
                      <a:lnTo>
                        <a:pt x="505" y="1009"/>
                      </a:lnTo>
                      <a:lnTo>
                        <a:pt x="493" y="993"/>
                      </a:lnTo>
                      <a:lnTo>
                        <a:pt x="493" y="942"/>
                      </a:lnTo>
                      <a:lnTo>
                        <a:pt x="480" y="907"/>
                      </a:lnTo>
                      <a:lnTo>
                        <a:pt x="472" y="887"/>
                      </a:lnTo>
                      <a:lnTo>
                        <a:pt x="458" y="868"/>
                      </a:lnTo>
                      <a:lnTo>
                        <a:pt x="436" y="845"/>
                      </a:lnTo>
                      <a:lnTo>
                        <a:pt x="454" y="810"/>
                      </a:lnTo>
                      <a:lnTo>
                        <a:pt x="458" y="782"/>
                      </a:lnTo>
                      <a:lnTo>
                        <a:pt x="458" y="766"/>
                      </a:lnTo>
                      <a:lnTo>
                        <a:pt x="472" y="755"/>
                      </a:lnTo>
                      <a:lnTo>
                        <a:pt x="465" y="732"/>
                      </a:lnTo>
                      <a:lnTo>
                        <a:pt x="461" y="701"/>
                      </a:lnTo>
                      <a:lnTo>
                        <a:pt x="454" y="670"/>
                      </a:lnTo>
                      <a:lnTo>
                        <a:pt x="382" y="608"/>
                      </a:lnTo>
                      <a:lnTo>
                        <a:pt x="374" y="589"/>
                      </a:lnTo>
                      <a:lnTo>
                        <a:pt x="382" y="545"/>
                      </a:lnTo>
                      <a:lnTo>
                        <a:pt x="363" y="527"/>
                      </a:lnTo>
                      <a:lnTo>
                        <a:pt x="345" y="538"/>
                      </a:lnTo>
                      <a:lnTo>
                        <a:pt x="309" y="542"/>
                      </a:lnTo>
                      <a:lnTo>
                        <a:pt x="295" y="523"/>
                      </a:lnTo>
                      <a:lnTo>
                        <a:pt x="273" y="545"/>
                      </a:lnTo>
                      <a:lnTo>
                        <a:pt x="261" y="569"/>
                      </a:lnTo>
                      <a:lnTo>
                        <a:pt x="236" y="569"/>
                      </a:lnTo>
                      <a:lnTo>
                        <a:pt x="218" y="585"/>
                      </a:lnTo>
                      <a:lnTo>
                        <a:pt x="192" y="585"/>
                      </a:lnTo>
                      <a:lnTo>
                        <a:pt x="164" y="608"/>
                      </a:lnTo>
                      <a:lnTo>
                        <a:pt x="127" y="605"/>
                      </a:lnTo>
                      <a:lnTo>
                        <a:pt x="81" y="566"/>
                      </a:lnTo>
                      <a:lnTo>
                        <a:pt x="41" y="534"/>
                      </a:lnTo>
                      <a:lnTo>
                        <a:pt x="22" y="511"/>
                      </a:lnTo>
                      <a:lnTo>
                        <a:pt x="22" y="442"/>
                      </a:lnTo>
                      <a:lnTo>
                        <a:pt x="0" y="422"/>
                      </a:lnTo>
                      <a:lnTo>
                        <a:pt x="0" y="398"/>
                      </a:lnTo>
                      <a:lnTo>
                        <a:pt x="5" y="379"/>
                      </a:lnTo>
                      <a:lnTo>
                        <a:pt x="19" y="352"/>
                      </a:lnTo>
                      <a:lnTo>
                        <a:pt x="8" y="329"/>
                      </a:lnTo>
                      <a:lnTo>
                        <a:pt x="19" y="302"/>
                      </a:lnTo>
                      <a:lnTo>
                        <a:pt x="37" y="290"/>
                      </a:lnTo>
                      <a:lnTo>
                        <a:pt x="51" y="274"/>
                      </a:lnTo>
                      <a:lnTo>
                        <a:pt x="51" y="259"/>
                      </a:lnTo>
                      <a:lnTo>
                        <a:pt x="37" y="248"/>
                      </a:lnTo>
                      <a:lnTo>
                        <a:pt x="37" y="229"/>
                      </a:lnTo>
                      <a:lnTo>
                        <a:pt x="48" y="216"/>
                      </a:lnTo>
                      <a:lnTo>
                        <a:pt x="66" y="169"/>
                      </a:lnTo>
                      <a:close/>
                    </a:path>
                  </a:pathLst>
                </a:custGeom>
                <a:solidFill>
                  <a:srgbClr val="008000"/>
                </a:solidFill>
                <a:ln w="3175">
                  <a:solidFill>
                    <a:srgbClr val="000000"/>
                  </a:solidFill>
                  <a:prstDash val="solid"/>
                  <a:round/>
                  <a:headEnd/>
                  <a:tailEnd/>
                </a:ln>
              </p:spPr>
              <p:txBody>
                <a:bodyPr/>
                <a:lstStyle/>
                <a:p>
                  <a:endParaRPr lang="en-GB"/>
                </a:p>
              </p:txBody>
            </p:sp>
            <p:grpSp>
              <p:nvGrpSpPr>
                <p:cNvPr id="246819" name="Group 35"/>
                <p:cNvGrpSpPr>
                  <a:grpSpLocks/>
                </p:cNvGrpSpPr>
                <p:nvPr/>
              </p:nvGrpSpPr>
              <p:grpSpPr bwMode="auto">
                <a:xfrm>
                  <a:off x="2722" y="3813"/>
                  <a:ext cx="18" cy="48"/>
                  <a:chOff x="2722" y="3813"/>
                  <a:chExt cx="18" cy="48"/>
                </a:xfrm>
              </p:grpSpPr>
              <p:sp>
                <p:nvSpPr>
                  <p:cNvPr id="246820" name="Freeform 36"/>
                  <p:cNvSpPr>
                    <a:spLocks/>
                  </p:cNvSpPr>
                  <p:nvPr/>
                </p:nvSpPr>
                <p:spPr bwMode="auto">
                  <a:xfrm>
                    <a:off x="2722" y="3813"/>
                    <a:ext cx="8" cy="13"/>
                  </a:xfrm>
                  <a:custGeom>
                    <a:avLst/>
                    <a:gdLst>
                      <a:gd name="T0" fmla="*/ 26 w 37"/>
                      <a:gd name="T1" fmla="*/ 0 h 66"/>
                      <a:gd name="T2" fmla="*/ 0 w 37"/>
                      <a:gd name="T3" fmla="*/ 19 h 66"/>
                      <a:gd name="T4" fmla="*/ 12 w 37"/>
                      <a:gd name="T5" fmla="*/ 46 h 66"/>
                      <a:gd name="T6" fmla="*/ 19 w 37"/>
                      <a:gd name="T7" fmla="*/ 66 h 66"/>
                      <a:gd name="T8" fmla="*/ 37 w 37"/>
                      <a:gd name="T9" fmla="*/ 51 h 66"/>
                      <a:gd name="T10" fmla="*/ 26 w 37"/>
                      <a:gd name="T11" fmla="*/ 0 h 66"/>
                    </a:gdLst>
                    <a:ahLst/>
                    <a:cxnLst>
                      <a:cxn ang="0">
                        <a:pos x="T0" y="T1"/>
                      </a:cxn>
                      <a:cxn ang="0">
                        <a:pos x="T2" y="T3"/>
                      </a:cxn>
                      <a:cxn ang="0">
                        <a:pos x="T4" y="T5"/>
                      </a:cxn>
                      <a:cxn ang="0">
                        <a:pos x="T6" y="T7"/>
                      </a:cxn>
                      <a:cxn ang="0">
                        <a:pos x="T8" y="T9"/>
                      </a:cxn>
                      <a:cxn ang="0">
                        <a:pos x="T10" y="T11"/>
                      </a:cxn>
                    </a:cxnLst>
                    <a:rect l="0" t="0" r="r" b="b"/>
                    <a:pathLst>
                      <a:path w="37" h="66">
                        <a:moveTo>
                          <a:pt x="26" y="0"/>
                        </a:moveTo>
                        <a:lnTo>
                          <a:pt x="0" y="19"/>
                        </a:lnTo>
                        <a:lnTo>
                          <a:pt x="12" y="46"/>
                        </a:lnTo>
                        <a:lnTo>
                          <a:pt x="19" y="66"/>
                        </a:lnTo>
                        <a:lnTo>
                          <a:pt x="37" y="51"/>
                        </a:lnTo>
                        <a:lnTo>
                          <a:pt x="26" y="0"/>
                        </a:lnTo>
                        <a:close/>
                      </a:path>
                    </a:pathLst>
                  </a:custGeom>
                  <a:solidFill>
                    <a:srgbClr val="0000FF"/>
                  </a:solidFill>
                  <a:ln w="3175">
                    <a:solidFill>
                      <a:srgbClr val="000000"/>
                    </a:solidFill>
                    <a:prstDash val="solid"/>
                    <a:round/>
                    <a:headEnd/>
                    <a:tailEnd/>
                  </a:ln>
                </p:spPr>
                <p:txBody>
                  <a:bodyPr/>
                  <a:lstStyle/>
                  <a:p>
                    <a:endParaRPr lang="en-GB"/>
                  </a:p>
                </p:txBody>
              </p:sp>
              <p:sp>
                <p:nvSpPr>
                  <p:cNvPr id="246821" name="Freeform 37"/>
                  <p:cNvSpPr>
                    <a:spLocks/>
                  </p:cNvSpPr>
                  <p:nvPr/>
                </p:nvSpPr>
                <p:spPr bwMode="auto">
                  <a:xfrm>
                    <a:off x="2735" y="3847"/>
                    <a:ext cx="5" cy="14"/>
                  </a:xfrm>
                  <a:custGeom>
                    <a:avLst/>
                    <a:gdLst>
                      <a:gd name="T0" fmla="*/ 19 w 29"/>
                      <a:gd name="T1" fmla="*/ 0 h 68"/>
                      <a:gd name="T2" fmla="*/ 0 w 29"/>
                      <a:gd name="T3" fmla="*/ 14 h 68"/>
                      <a:gd name="T4" fmla="*/ 4 w 29"/>
                      <a:gd name="T5" fmla="*/ 36 h 68"/>
                      <a:gd name="T6" fmla="*/ 7 w 29"/>
                      <a:gd name="T7" fmla="*/ 65 h 68"/>
                      <a:gd name="T8" fmla="*/ 29 w 29"/>
                      <a:gd name="T9" fmla="*/ 68 h 68"/>
                      <a:gd name="T10" fmla="*/ 29 w 29"/>
                      <a:gd name="T11" fmla="*/ 46 h 68"/>
                      <a:gd name="T12" fmla="*/ 19 w 29"/>
                      <a:gd name="T13" fmla="*/ 0 h 68"/>
                    </a:gdLst>
                    <a:ahLst/>
                    <a:cxnLst>
                      <a:cxn ang="0">
                        <a:pos x="T0" y="T1"/>
                      </a:cxn>
                      <a:cxn ang="0">
                        <a:pos x="T2" y="T3"/>
                      </a:cxn>
                      <a:cxn ang="0">
                        <a:pos x="T4" y="T5"/>
                      </a:cxn>
                      <a:cxn ang="0">
                        <a:pos x="T6" y="T7"/>
                      </a:cxn>
                      <a:cxn ang="0">
                        <a:pos x="T8" y="T9"/>
                      </a:cxn>
                      <a:cxn ang="0">
                        <a:pos x="T10" y="T11"/>
                      </a:cxn>
                      <a:cxn ang="0">
                        <a:pos x="T12" y="T13"/>
                      </a:cxn>
                    </a:cxnLst>
                    <a:rect l="0" t="0" r="r" b="b"/>
                    <a:pathLst>
                      <a:path w="29" h="68">
                        <a:moveTo>
                          <a:pt x="19" y="0"/>
                        </a:moveTo>
                        <a:lnTo>
                          <a:pt x="0" y="14"/>
                        </a:lnTo>
                        <a:lnTo>
                          <a:pt x="4" y="36"/>
                        </a:lnTo>
                        <a:lnTo>
                          <a:pt x="7" y="65"/>
                        </a:lnTo>
                        <a:lnTo>
                          <a:pt x="29" y="68"/>
                        </a:lnTo>
                        <a:lnTo>
                          <a:pt x="29" y="46"/>
                        </a:lnTo>
                        <a:lnTo>
                          <a:pt x="19" y="0"/>
                        </a:lnTo>
                        <a:close/>
                      </a:path>
                    </a:pathLst>
                  </a:custGeom>
                  <a:solidFill>
                    <a:srgbClr val="0000FF"/>
                  </a:solidFill>
                  <a:ln w="3175">
                    <a:solidFill>
                      <a:srgbClr val="000000"/>
                    </a:solidFill>
                    <a:prstDash val="solid"/>
                    <a:round/>
                    <a:headEnd/>
                    <a:tailEnd/>
                  </a:ln>
                </p:spPr>
                <p:txBody>
                  <a:bodyPr/>
                  <a:lstStyle/>
                  <a:p>
                    <a:endParaRPr lang="en-GB"/>
                  </a:p>
                </p:txBody>
              </p:sp>
            </p:grpSp>
            <p:sp>
              <p:nvSpPr>
                <p:cNvPr id="246822" name="Freeform 38"/>
                <p:cNvSpPr>
                  <a:spLocks/>
                </p:cNvSpPr>
                <p:nvPr/>
              </p:nvSpPr>
              <p:spPr bwMode="auto">
                <a:xfrm>
                  <a:off x="2457" y="3554"/>
                  <a:ext cx="279" cy="212"/>
                </a:xfrm>
                <a:custGeom>
                  <a:avLst/>
                  <a:gdLst>
                    <a:gd name="T0" fmla="*/ 730 w 1395"/>
                    <a:gd name="T1" fmla="*/ 1056 h 1059"/>
                    <a:gd name="T2" fmla="*/ 773 w 1395"/>
                    <a:gd name="T3" fmla="*/ 954 h 1059"/>
                    <a:gd name="T4" fmla="*/ 805 w 1395"/>
                    <a:gd name="T5" fmla="*/ 903 h 1059"/>
                    <a:gd name="T6" fmla="*/ 910 w 1395"/>
                    <a:gd name="T7" fmla="*/ 876 h 1059"/>
                    <a:gd name="T8" fmla="*/ 838 w 1395"/>
                    <a:gd name="T9" fmla="*/ 832 h 1059"/>
                    <a:gd name="T10" fmla="*/ 933 w 1395"/>
                    <a:gd name="T11" fmla="*/ 865 h 1059"/>
                    <a:gd name="T12" fmla="*/ 947 w 1395"/>
                    <a:gd name="T13" fmla="*/ 815 h 1059"/>
                    <a:gd name="T14" fmla="*/ 988 w 1395"/>
                    <a:gd name="T15" fmla="*/ 825 h 1059"/>
                    <a:gd name="T16" fmla="*/ 1039 w 1395"/>
                    <a:gd name="T17" fmla="*/ 799 h 1059"/>
                    <a:gd name="T18" fmla="*/ 1086 w 1395"/>
                    <a:gd name="T19" fmla="*/ 798 h 1059"/>
                    <a:gd name="T20" fmla="*/ 1108 w 1395"/>
                    <a:gd name="T21" fmla="*/ 872 h 1059"/>
                    <a:gd name="T22" fmla="*/ 1218 w 1395"/>
                    <a:gd name="T23" fmla="*/ 895 h 1059"/>
                    <a:gd name="T24" fmla="*/ 1314 w 1395"/>
                    <a:gd name="T25" fmla="*/ 950 h 1059"/>
                    <a:gd name="T26" fmla="*/ 1392 w 1395"/>
                    <a:gd name="T27" fmla="*/ 888 h 1059"/>
                    <a:gd name="T28" fmla="*/ 1387 w 1395"/>
                    <a:gd name="T29" fmla="*/ 718 h 1059"/>
                    <a:gd name="T30" fmla="*/ 1338 w 1395"/>
                    <a:gd name="T31" fmla="*/ 648 h 1059"/>
                    <a:gd name="T32" fmla="*/ 1299 w 1395"/>
                    <a:gd name="T33" fmla="*/ 699 h 1059"/>
                    <a:gd name="T34" fmla="*/ 1255 w 1395"/>
                    <a:gd name="T35" fmla="*/ 721 h 1059"/>
                    <a:gd name="T36" fmla="*/ 1221 w 1395"/>
                    <a:gd name="T37" fmla="*/ 692 h 1059"/>
                    <a:gd name="T38" fmla="*/ 1284 w 1395"/>
                    <a:gd name="T39" fmla="*/ 648 h 1059"/>
                    <a:gd name="T40" fmla="*/ 1281 w 1395"/>
                    <a:gd name="T41" fmla="*/ 495 h 1059"/>
                    <a:gd name="T42" fmla="*/ 1065 w 1395"/>
                    <a:gd name="T43" fmla="*/ 257 h 1059"/>
                    <a:gd name="T44" fmla="*/ 821 w 1395"/>
                    <a:gd name="T45" fmla="*/ 100 h 1059"/>
                    <a:gd name="T46" fmla="*/ 437 w 1395"/>
                    <a:gd name="T47" fmla="*/ 1 h 1059"/>
                    <a:gd name="T48" fmla="*/ 202 w 1395"/>
                    <a:gd name="T49" fmla="*/ 29 h 1059"/>
                    <a:gd name="T50" fmla="*/ 102 w 1395"/>
                    <a:gd name="T51" fmla="*/ 99 h 1059"/>
                    <a:gd name="T52" fmla="*/ 35 w 1395"/>
                    <a:gd name="T53" fmla="*/ 56 h 1059"/>
                    <a:gd name="T54" fmla="*/ 23 w 1395"/>
                    <a:gd name="T55" fmla="*/ 151 h 1059"/>
                    <a:gd name="T56" fmla="*/ 17 w 1395"/>
                    <a:gd name="T57" fmla="*/ 254 h 1059"/>
                    <a:gd name="T58" fmla="*/ 88 w 1395"/>
                    <a:gd name="T59" fmla="*/ 256 h 1059"/>
                    <a:gd name="T60" fmla="*/ 186 w 1395"/>
                    <a:gd name="T61" fmla="*/ 196 h 1059"/>
                    <a:gd name="T62" fmla="*/ 277 w 1395"/>
                    <a:gd name="T63" fmla="*/ 200 h 1059"/>
                    <a:gd name="T64" fmla="*/ 361 w 1395"/>
                    <a:gd name="T65" fmla="*/ 199 h 1059"/>
                    <a:gd name="T66" fmla="*/ 445 w 1395"/>
                    <a:gd name="T67" fmla="*/ 223 h 1059"/>
                    <a:gd name="T68" fmla="*/ 442 w 1395"/>
                    <a:gd name="T69" fmla="*/ 285 h 1059"/>
                    <a:gd name="T70" fmla="*/ 573 w 1395"/>
                    <a:gd name="T71" fmla="*/ 279 h 1059"/>
                    <a:gd name="T72" fmla="*/ 624 w 1395"/>
                    <a:gd name="T73" fmla="*/ 291 h 1059"/>
                    <a:gd name="T74" fmla="*/ 610 w 1395"/>
                    <a:gd name="T75" fmla="*/ 327 h 1059"/>
                    <a:gd name="T76" fmla="*/ 631 w 1395"/>
                    <a:gd name="T77" fmla="*/ 387 h 1059"/>
                    <a:gd name="T78" fmla="*/ 668 w 1395"/>
                    <a:gd name="T79" fmla="*/ 463 h 1059"/>
                    <a:gd name="T80" fmla="*/ 675 w 1395"/>
                    <a:gd name="T81" fmla="*/ 519 h 1059"/>
                    <a:gd name="T82" fmla="*/ 653 w 1395"/>
                    <a:gd name="T83" fmla="*/ 488 h 1059"/>
                    <a:gd name="T84" fmla="*/ 602 w 1395"/>
                    <a:gd name="T85" fmla="*/ 541 h 1059"/>
                    <a:gd name="T86" fmla="*/ 625 w 1395"/>
                    <a:gd name="T87" fmla="*/ 625 h 1059"/>
                    <a:gd name="T88" fmla="*/ 657 w 1395"/>
                    <a:gd name="T89" fmla="*/ 724 h 1059"/>
                    <a:gd name="T90" fmla="*/ 725 w 1395"/>
                    <a:gd name="T91" fmla="*/ 718 h 1059"/>
                    <a:gd name="T92" fmla="*/ 698 w 1395"/>
                    <a:gd name="T93" fmla="*/ 643 h 1059"/>
                    <a:gd name="T94" fmla="*/ 669 w 1395"/>
                    <a:gd name="T95" fmla="*/ 572 h 1059"/>
                    <a:gd name="T96" fmla="*/ 719 w 1395"/>
                    <a:gd name="T97" fmla="*/ 620 h 1059"/>
                    <a:gd name="T98" fmla="*/ 744 w 1395"/>
                    <a:gd name="T99" fmla="*/ 625 h 1059"/>
                    <a:gd name="T100" fmla="*/ 770 w 1395"/>
                    <a:gd name="T101" fmla="*/ 685 h 1059"/>
                    <a:gd name="T102" fmla="*/ 737 w 1395"/>
                    <a:gd name="T103" fmla="*/ 753 h 1059"/>
                    <a:gd name="T104" fmla="*/ 693 w 1395"/>
                    <a:gd name="T105" fmla="*/ 729 h 1059"/>
                    <a:gd name="T106" fmla="*/ 716 w 1395"/>
                    <a:gd name="T107" fmla="*/ 772 h 1059"/>
                    <a:gd name="T108" fmla="*/ 693 w 1395"/>
                    <a:gd name="T109" fmla="*/ 877 h 1059"/>
                    <a:gd name="T110" fmla="*/ 726 w 1395"/>
                    <a:gd name="T111" fmla="*/ 935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95" h="1059">
                      <a:moveTo>
                        <a:pt x="678" y="985"/>
                      </a:moveTo>
                      <a:lnTo>
                        <a:pt x="698" y="1015"/>
                      </a:lnTo>
                      <a:lnTo>
                        <a:pt x="691" y="1032"/>
                      </a:lnTo>
                      <a:lnTo>
                        <a:pt x="700" y="1046"/>
                      </a:lnTo>
                      <a:lnTo>
                        <a:pt x="712" y="1059"/>
                      </a:lnTo>
                      <a:lnTo>
                        <a:pt x="730" y="1056"/>
                      </a:lnTo>
                      <a:lnTo>
                        <a:pt x="748" y="1032"/>
                      </a:lnTo>
                      <a:lnTo>
                        <a:pt x="770" y="1017"/>
                      </a:lnTo>
                      <a:lnTo>
                        <a:pt x="780" y="1003"/>
                      </a:lnTo>
                      <a:lnTo>
                        <a:pt x="776" y="988"/>
                      </a:lnTo>
                      <a:lnTo>
                        <a:pt x="773" y="972"/>
                      </a:lnTo>
                      <a:lnTo>
                        <a:pt x="773" y="954"/>
                      </a:lnTo>
                      <a:lnTo>
                        <a:pt x="785" y="946"/>
                      </a:lnTo>
                      <a:lnTo>
                        <a:pt x="785" y="930"/>
                      </a:lnTo>
                      <a:lnTo>
                        <a:pt x="780" y="920"/>
                      </a:lnTo>
                      <a:lnTo>
                        <a:pt x="788" y="911"/>
                      </a:lnTo>
                      <a:lnTo>
                        <a:pt x="801" y="912"/>
                      </a:lnTo>
                      <a:lnTo>
                        <a:pt x="805" y="903"/>
                      </a:lnTo>
                      <a:lnTo>
                        <a:pt x="805" y="891"/>
                      </a:lnTo>
                      <a:lnTo>
                        <a:pt x="810" y="880"/>
                      </a:lnTo>
                      <a:lnTo>
                        <a:pt x="841" y="885"/>
                      </a:lnTo>
                      <a:lnTo>
                        <a:pt x="852" y="895"/>
                      </a:lnTo>
                      <a:lnTo>
                        <a:pt x="908" y="888"/>
                      </a:lnTo>
                      <a:lnTo>
                        <a:pt x="910" y="876"/>
                      </a:lnTo>
                      <a:lnTo>
                        <a:pt x="893" y="861"/>
                      </a:lnTo>
                      <a:lnTo>
                        <a:pt x="855" y="864"/>
                      </a:lnTo>
                      <a:lnTo>
                        <a:pt x="838" y="861"/>
                      </a:lnTo>
                      <a:lnTo>
                        <a:pt x="831" y="854"/>
                      </a:lnTo>
                      <a:lnTo>
                        <a:pt x="831" y="840"/>
                      </a:lnTo>
                      <a:lnTo>
                        <a:pt x="838" y="832"/>
                      </a:lnTo>
                      <a:lnTo>
                        <a:pt x="852" y="845"/>
                      </a:lnTo>
                      <a:lnTo>
                        <a:pt x="874" y="845"/>
                      </a:lnTo>
                      <a:lnTo>
                        <a:pt x="888" y="846"/>
                      </a:lnTo>
                      <a:lnTo>
                        <a:pt x="902" y="846"/>
                      </a:lnTo>
                      <a:lnTo>
                        <a:pt x="914" y="856"/>
                      </a:lnTo>
                      <a:lnTo>
                        <a:pt x="933" y="865"/>
                      </a:lnTo>
                      <a:lnTo>
                        <a:pt x="948" y="868"/>
                      </a:lnTo>
                      <a:lnTo>
                        <a:pt x="948" y="853"/>
                      </a:lnTo>
                      <a:lnTo>
                        <a:pt x="960" y="846"/>
                      </a:lnTo>
                      <a:lnTo>
                        <a:pt x="954" y="835"/>
                      </a:lnTo>
                      <a:lnTo>
                        <a:pt x="945" y="825"/>
                      </a:lnTo>
                      <a:lnTo>
                        <a:pt x="947" y="815"/>
                      </a:lnTo>
                      <a:lnTo>
                        <a:pt x="952" y="806"/>
                      </a:lnTo>
                      <a:lnTo>
                        <a:pt x="965" y="788"/>
                      </a:lnTo>
                      <a:lnTo>
                        <a:pt x="972" y="799"/>
                      </a:lnTo>
                      <a:lnTo>
                        <a:pt x="966" y="815"/>
                      </a:lnTo>
                      <a:lnTo>
                        <a:pt x="976" y="821"/>
                      </a:lnTo>
                      <a:lnTo>
                        <a:pt x="988" y="825"/>
                      </a:lnTo>
                      <a:lnTo>
                        <a:pt x="998" y="832"/>
                      </a:lnTo>
                      <a:lnTo>
                        <a:pt x="1014" y="832"/>
                      </a:lnTo>
                      <a:lnTo>
                        <a:pt x="1027" y="829"/>
                      </a:lnTo>
                      <a:lnTo>
                        <a:pt x="1032" y="819"/>
                      </a:lnTo>
                      <a:lnTo>
                        <a:pt x="1032" y="807"/>
                      </a:lnTo>
                      <a:lnTo>
                        <a:pt x="1039" y="799"/>
                      </a:lnTo>
                      <a:lnTo>
                        <a:pt x="1053" y="790"/>
                      </a:lnTo>
                      <a:lnTo>
                        <a:pt x="1060" y="782"/>
                      </a:lnTo>
                      <a:lnTo>
                        <a:pt x="1057" y="771"/>
                      </a:lnTo>
                      <a:lnTo>
                        <a:pt x="1062" y="760"/>
                      </a:lnTo>
                      <a:lnTo>
                        <a:pt x="1077" y="782"/>
                      </a:lnTo>
                      <a:lnTo>
                        <a:pt x="1086" y="798"/>
                      </a:lnTo>
                      <a:lnTo>
                        <a:pt x="1089" y="805"/>
                      </a:lnTo>
                      <a:lnTo>
                        <a:pt x="1096" y="819"/>
                      </a:lnTo>
                      <a:lnTo>
                        <a:pt x="1102" y="830"/>
                      </a:lnTo>
                      <a:lnTo>
                        <a:pt x="1101" y="845"/>
                      </a:lnTo>
                      <a:lnTo>
                        <a:pt x="1100" y="857"/>
                      </a:lnTo>
                      <a:lnTo>
                        <a:pt x="1108" y="872"/>
                      </a:lnTo>
                      <a:lnTo>
                        <a:pt x="1121" y="880"/>
                      </a:lnTo>
                      <a:lnTo>
                        <a:pt x="1135" y="880"/>
                      </a:lnTo>
                      <a:lnTo>
                        <a:pt x="1150" y="877"/>
                      </a:lnTo>
                      <a:lnTo>
                        <a:pt x="1175" y="880"/>
                      </a:lnTo>
                      <a:lnTo>
                        <a:pt x="1203" y="898"/>
                      </a:lnTo>
                      <a:lnTo>
                        <a:pt x="1218" y="895"/>
                      </a:lnTo>
                      <a:lnTo>
                        <a:pt x="1230" y="909"/>
                      </a:lnTo>
                      <a:lnTo>
                        <a:pt x="1240" y="920"/>
                      </a:lnTo>
                      <a:lnTo>
                        <a:pt x="1263" y="930"/>
                      </a:lnTo>
                      <a:lnTo>
                        <a:pt x="1277" y="928"/>
                      </a:lnTo>
                      <a:lnTo>
                        <a:pt x="1295" y="934"/>
                      </a:lnTo>
                      <a:lnTo>
                        <a:pt x="1314" y="950"/>
                      </a:lnTo>
                      <a:lnTo>
                        <a:pt x="1339" y="976"/>
                      </a:lnTo>
                      <a:lnTo>
                        <a:pt x="1360" y="994"/>
                      </a:lnTo>
                      <a:lnTo>
                        <a:pt x="1371" y="971"/>
                      </a:lnTo>
                      <a:lnTo>
                        <a:pt x="1376" y="951"/>
                      </a:lnTo>
                      <a:lnTo>
                        <a:pt x="1387" y="925"/>
                      </a:lnTo>
                      <a:lnTo>
                        <a:pt x="1392" y="888"/>
                      </a:lnTo>
                      <a:lnTo>
                        <a:pt x="1395" y="848"/>
                      </a:lnTo>
                      <a:lnTo>
                        <a:pt x="1390" y="841"/>
                      </a:lnTo>
                      <a:lnTo>
                        <a:pt x="1394" y="795"/>
                      </a:lnTo>
                      <a:lnTo>
                        <a:pt x="1393" y="764"/>
                      </a:lnTo>
                      <a:lnTo>
                        <a:pt x="1387" y="745"/>
                      </a:lnTo>
                      <a:lnTo>
                        <a:pt x="1387" y="718"/>
                      </a:lnTo>
                      <a:lnTo>
                        <a:pt x="1375" y="705"/>
                      </a:lnTo>
                      <a:lnTo>
                        <a:pt x="1369" y="693"/>
                      </a:lnTo>
                      <a:lnTo>
                        <a:pt x="1362" y="674"/>
                      </a:lnTo>
                      <a:lnTo>
                        <a:pt x="1362" y="661"/>
                      </a:lnTo>
                      <a:lnTo>
                        <a:pt x="1354" y="648"/>
                      </a:lnTo>
                      <a:lnTo>
                        <a:pt x="1338" y="648"/>
                      </a:lnTo>
                      <a:lnTo>
                        <a:pt x="1325" y="648"/>
                      </a:lnTo>
                      <a:lnTo>
                        <a:pt x="1319" y="662"/>
                      </a:lnTo>
                      <a:lnTo>
                        <a:pt x="1309" y="664"/>
                      </a:lnTo>
                      <a:lnTo>
                        <a:pt x="1294" y="664"/>
                      </a:lnTo>
                      <a:lnTo>
                        <a:pt x="1294" y="685"/>
                      </a:lnTo>
                      <a:lnTo>
                        <a:pt x="1299" y="699"/>
                      </a:lnTo>
                      <a:lnTo>
                        <a:pt x="1296" y="711"/>
                      </a:lnTo>
                      <a:lnTo>
                        <a:pt x="1293" y="725"/>
                      </a:lnTo>
                      <a:lnTo>
                        <a:pt x="1281" y="730"/>
                      </a:lnTo>
                      <a:lnTo>
                        <a:pt x="1270" y="729"/>
                      </a:lnTo>
                      <a:lnTo>
                        <a:pt x="1262" y="724"/>
                      </a:lnTo>
                      <a:lnTo>
                        <a:pt x="1255" y="721"/>
                      </a:lnTo>
                      <a:lnTo>
                        <a:pt x="1247" y="721"/>
                      </a:lnTo>
                      <a:lnTo>
                        <a:pt x="1237" y="719"/>
                      </a:lnTo>
                      <a:lnTo>
                        <a:pt x="1225" y="718"/>
                      </a:lnTo>
                      <a:lnTo>
                        <a:pt x="1215" y="716"/>
                      </a:lnTo>
                      <a:lnTo>
                        <a:pt x="1208" y="702"/>
                      </a:lnTo>
                      <a:lnTo>
                        <a:pt x="1221" y="692"/>
                      </a:lnTo>
                      <a:lnTo>
                        <a:pt x="1230" y="691"/>
                      </a:lnTo>
                      <a:lnTo>
                        <a:pt x="1235" y="694"/>
                      </a:lnTo>
                      <a:lnTo>
                        <a:pt x="1244" y="693"/>
                      </a:lnTo>
                      <a:lnTo>
                        <a:pt x="1263" y="683"/>
                      </a:lnTo>
                      <a:lnTo>
                        <a:pt x="1271" y="666"/>
                      </a:lnTo>
                      <a:lnTo>
                        <a:pt x="1284" y="648"/>
                      </a:lnTo>
                      <a:lnTo>
                        <a:pt x="1294" y="632"/>
                      </a:lnTo>
                      <a:lnTo>
                        <a:pt x="1301" y="619"/>
                      </a:lnTo>
                      <a:lnTo>
                        <a:pt x="1313" y="607"/>
                      </a:lnTo>
                      <a:lnTo>
                        <a:pt x="1314" y="591"/>
                      </a:lnTo>
                      <a:lnTo>
                        <a:pt x="1323" y="559"/>
                      </a:lnTo>
                      <a:lnTo>
                        <a:pt x="1281" y="495"/>
                      </a:lnTo>
                      <a:lnTo>
                        <a:pt x="1240" y="437"/>
                      </a:lnTo>
                      <a:lnTo>
                        <a:pt x="1199" y="388"/>
                      </a:lnTo>
                      <a:lnTo>
                        <a:pt x="1158" y="345"/>
                      </a:lnTo>
                      <a:lnTo>
                        <a:pt x="1126" y="312"/>
                      </a:lnTo>
                      <a:lnTo>
                        <a:pt x="1100" y="287"/>
                      </a:lnTo>
                      <a:lnTo>
                        <a:pt x="1065" y="257"/>
                      </a:lnTo>
                      <a:lnTo>
                        <a:pt x="1029" y="228"/>
                      </a:lnTo>
                      <a:lnTo>
                        <a:pt x="984" y="192"/>
                      </a:lnTo>
                      <a:lnTo>
                        <a:pt x="945" y="165"/>
                      </a:lnTo>
                      <a:lnTo>
                        <a:pt x="908" y="144"/>
                      </a:lnTo>
                      <a:lnTo>
                        <a:pt x="868" y="124"/>
                      </a:lnTo>
                      <a:lnTo>
                        <a:pt x="821" y="100"/>
                      </a:lnTo>
                      <a:lnTo>
                        <a:pt x="754" y="71"/>
                      </a:lnTo>
                      <a:lnTo>
                        <a:pt x="683" y="46"/>
                      </a:lnTo>
                      <a:lnTo>
                        <a:pt x="622" y="29"/>
                      </a:lnTo>
                      <a:lnTo>
                        <a:pt x="577" y="20"/>
                      </a:lnTo>
                      <a:lnTo>
                        <a:pt x="514" y="9"/>
                      </a:lnTo>
                      <a:lnTo>
                        <a:pt x="437" y="1"/>
                      </a:lnTo>
                      <a:lnTo>
                        <a:pt x="335" y="0"/>
                      </a:lnTo>
                      <a:lnTo>
                        <a:pt x="256" y="6"/>
                      </a:lnTo>
                      <a:lnTo>
                        <a:pt x="249" y="20"/>
                      </a:lnTo>
                      <a:lnTo>
                        <a:pt x="233" y="25"/>
                      </a:lnTo>
                      <a:lnTo>
                        <a:pt x="223" y="29"/>
                      </a:lnTo>
                      <a:lnTo>
                        <a:pt x="202" y="29"/>
                      </a:lnTo>
                      <a:lnTo>
                        <a:pt x="181" y="38"/>
                      </a:lnTo>
                      <a:lnTo>
                        <a:pt x="155" y="41"/>
                      </a:lnTo>
                      <a:lnTo>
                        <a:pt x="137" y="63"/>
                      </a:lnTo>
                      <a:lnTo>
                        <a:pt x="134" y="79"/>
                      </a:lnTo>
                      <a:lnTo>
                        <a:pt x="120" y="100"/>
                      </a:lnTo>
                      <a:lnTo>
                        <a:pt x="102" y="99"/>
                      </a:lnTo>
                      <a:lnTo>
                        <a:pt x="85" y="117"/>
                      </a:lnTo>
                      <a:lnTo>
                        <a:pt x="85" y="93"/>
                      </a:lnTo>
                      <a:lnTo>
                        <a:pt x="100" y="54"/>
                      </a:lnTo>
                      <a:lnTo>
                        <a:pt x="102" y="36"/>
                      </a:lnTo>
                      <a:lnTo>
                        <a:pt x="65" y="47"/>
                      </a:lnTo>
                      <a:lnTo>
                        <a:pt x="35" y="56"/>
                      </a:lnTo>
                      <a:lnTo>
                        <a:pt x="37" y="70"/>
                      </a:lnTo>
                      <a:lnTo>
                        <a:pt x="60" y="88"/>
                      </a:lnTo>
                      <a:lnTo>
                        <a:pt x="57" y="100"/>
                      </a:lnTo>
                      <a:lnTo>
                        <a:pt x="53" y="118"/>
                      </a:lnTo>
                      <a:lnTo>
                        <a:pt x="41" y="134"/>
                      </a:lnTo>
                      <a:lnTo>
                        <a:pt x="23" y="151"/>
                      </a:lnTo>
                      <a:lnTo>
                        <a:pt x="21" y="175"/>
                      </a:lnTo>
                      <a:lnTo>
                        <a:pt x="12" y="199"/>
                      </a:lnTo>
                      <a:lnTo>
                        <a:pt x="14" y="217"/>
                      </a:lnTo>
                      <a:lnTo>
                        <a:pt x="37" y="214"/>
                      </a:lnTo>
                      <a:lnTo>
                        <a:pt x="35" y="243"/>
                      </a:lnTo>
                      <a:lnTo>
                        <a:pt x="17" y="254"/>
                      </a:lnTo>
                      <a:lnTo>
                        <a:pt x="0" y="272"/>
                      </a:lnTo>
                      <a:lnTo>
                        <a:pt x="20" y="292"/>
                      </a:lnTo>
                      <a:lnTo>
                        <a:pt x="42" y="270"/>
                      </a:lnTo>
                      <a:lnTo>
                        <a:pt x="53" y="268"/>
                      </a:lnTo>
                      <a:lnTo>
                        <a:pt x="73" y="263"/>
                      </a:lnTo>
                      <a:lnTo>
                        <a:pt x="88" y="256"/>
                      </a:lnTo>
                      <a:lnTo>
                        <a:pt x="102" y="254"/>
                      </a:lnTo>
                      <a:lnTo>
                        <a:pt x="120" y="238"/>
                      </a:lnTo>
                      <a:lnTo>
                        <a:pt x="135" y="213"/>
                      </a:lnTo>
                      <a:lnTo>
                        <a:pt x="151" y="209"/>
                      </a:lnTo>
                      <a:lnTo>
                        <a:pt x="166" y="201"/>
                      </a:lnTo>
                      <a:lnTo>
                        <a:pt x="186" y="196"/>
                      </a:lnTo>
                      <a:lnTo>
                        <a:pt x="194" y="201"/>
                      </a:lnTo>
                      <a:lnTo>
                        <a:pt x="207" y="199"/>
                      </a:lnTo>
                      <a:lnTo>
                        <a:pt x="218" y="194"/>
                      </a:lnTo>
                      <a:lnTo>
                        <a:pt x="243" y="193"/>
                      </a:lnTo>
                      <a:lnTo>
                        <a:pt x="251" y="198"/>
                      </a:lnTo>
                      <a:lnTo>
                        <a:pt x="277" y="200"/>
                      </a:lnTo>
                      <a:lnTo>
                        <a:pt x="295" y="194"/>
                      </a:lnTo>
                      <a:lnTo>
                        <a:pt x="309" y="179"/>
                      </a:lnTo>
                      <a:lnTo>
                        <a:pt x="332" y="182"/>
                      </a:lnTo>
                      <a:lnTo>
                        <a:pt x="352" y="179"/>
                      </a:lnTo>
                      <a:lnTo>
                        <a:pt x="364" y="179"/>
                      </a:lnTo>
                      <a:lnTo>
                        <a:pt x="361" y="199"/>
                      </a:lnTo>
                      <a:lnTo>
                        <a:pt x="369" y="205"/>
                      </a:lnTo>
                      <a:lnTo>
                        <a:pt x="381" y="213"/>
                      </a:lnTo>
                      <a:lnTo>
                        <a:pt x="395" y="203"/>
                      </a:lnTo>
                      <a:lnTo>
                        <a:pt x="410" y="210"/>
                      </a:lnTo>
                      <a:lnTo>
                        <a:pt x="426" y="219"/>
                      </a:lnTo>
                      <a:lnTo>
                        <a:pt x="445" y="223"/>
                      </a:lnTo>
                      <a:lnTo>
                        <a:pt x="475" y="228"/>
                      </a:lnTo>
                      <a:lnTo>
                        <a:pt x="440" y="233"/>
                      </a:lnTo>
                      <a:lnTo>
                        <a:pt x="426" y="238"/>
                      </a:lnTo>
                      <a:lnTo>
                        <a:pt x="420" y="246"/>
                      </a:lnTo>
                      <a:lnTo>
                        <a:pt x="431" y="271"/>
                      </a:lnTo>
                      <a:lnTo>
                        <a:pt x="442" y="285"/>
                      </a:lnTo>
                      <a:lnTo>
                        <a:pt x="466" y="281"/>
                      </a:lnTo>
                      <a:lnTo>
                        <a:pt x="483" y="287"/>
                      </a:lnTo>
                      <a:lnTo>
                        <a:pt x="504" y="297"/>
                      </a:lnTo>
                      <a:lnTo>
                        <a:pt x="527" y="298"/>
                      </a:lnTo>
                      <a:lnTo>
                        <a:pt x="541" y="300"/>
                      </a:lnTo>
                      <a:lnTo>
                        <a:pt x="573" y="279"/>
                      </a:lnTo>
                      <a:lnTo>
                        <a:pt x="580" y="280"/>
                      </a:lnTo>
                      <a:lnTo>
                        <a:pt x="564" y="298"/>
                      </a:lnTo>
                      <a:lnTo>
                        <a:pt x="582" y="321"/>
                      </a:lnTo>
                      <a:lnTo>
                        <a:pt x="618" y="312"/>
                      </a:lnTo>
                      <a:lnTo>
                        <a:pt x="624" y="308"/>
                      </a:lnTo>
                      <a:lnTo>
                        <a:pt x="624" y="291"/>
                      </a:lnTo>
                      <a:lnTo>
                        <a:pt x="638" y="298"/>
                      </a:lnTo>
                      <a:lnTo>
                        <a:pt x="662" y="317"/>
                      </a:lnTo>
                      <a:lnTo>
                        <a:pt x="638" y="314"/>
                      </a:lnTo>
                      <a:lnTo>
                        <a:pt x="631" y="319"/>
                      </a:lnTo>
                      <a:lnTo>
                        <a:pt x="622" y="323"/>
                      </a:lnTo>
                      <a:lnTo>
                        <a:pt x="610" y="327"/>
                      </a:lnTo>
                      <a:lnTo>
                        <a:pt x="596" y="328"/>
                      </a:lnTo>
                      <a:lnTo>
                        <a:pt x="580" y="340"/>
                      </a:lnTo>
                      <a:lnTo>
                        <a:pt x="596" y="348"/>
                      </a:lnTo>
                      <a:lnTo>
                        <a:pt x="641" y="347"/>
                      </a:lnTo>
                      <a:lnTo>
                        <a:pt x="637" y="365"/>
                      </a:lnTo>
                      <a:lnTo>
                        <a:pt x="631" y="387"/>
                      </a:lnTo>
                      <a:lnTo>
                        <a:pt x="645" y="389"/>
                      </a:lnTo>
                      <a:lnTo>
                        <a:pt x="655" y="398"/>
                      </a:lnTo>
                      <a:lnTo>
                        <a:pt x="661" y="423"/>
                      </a:lnTo>
                      <a:lnTo>
                        <a:pt x="669" y="434"/>
                      </a:lnTo>
                      <a:lnTo>
                        <a:pt x="668" y="446"/>
                      </a:lnTo>
                      <a:lnTo>
                        <a:pt x="668" y="463"/>
                      </a:lnTo>
                      <a:lnTo>
                        <a:pt x="711" y="503"/>
                      </a:lnTo>
                      <a:lnTo>
                        <a:pt x="707" y="519"/>
                      </a:lnTo>
                      <a:lnTo>
                        <a:pt x="701" y="526"/>
                      </a:lnTo>
                      <a:lnTo>
                        <a:pt x="693" y="521"/>
                      </a:lnTo>
                      <a:lnTo>
                        <a:pt x="683" y="518"/>
                      </a:lnTo>
                      <a:lnTo>
                        <a:pt x="675" y="519"/>
                      </a:lnTo>
                      <a:lnTo>
                        <a:pt x="671" y="519"/>
                      </a:lnTo>
                      <a:lnTo>
                        <a:pt x="687" y="500"/>
                      </a:lnTo>
                      <a:lnTo>
                        <a:pt x="683" y="488"/>
                      </a:lnTo>
                      <a:lnTo>
                        <a:pt x="669" y="483"/>
                      </a:lnTo>
                      <a:lnTo>
                        <a:pt x="662" y="484"/>
                      </a:lnTo>
                      <a:lnTo>
                        <a:pt x="653" y="488"/>
                      </a:lnTo>
                      <a:lnTo>
                        <a:pt x="639" y="495"/>
                      </a:lnTo>
                      <a:lnTo>
                        <a:pt x="631" y="503"/>
                      </a:lnTo>
                      <a:lnTo>
                        <a:pt x="614" y="506"/>
                      </a:lnTo>
                      <a:lnTo>
                        <a:pt x="600" y="506"/>
                      </a:lnTo>
                      <a:lnTo>
                        <a:pt x="602" y="521"/>
                      </a:lnTo>
                      <a:lnTo>
                        <a:pt x="602" y="541"/>
                      </a:lnTo>
                      <a:lnTo>
                        <a:pt x="600" y="560"/>
                      </a:lnTo>
                      <a:lnTo>
                        <a:pt x="603" y="577"/>
                      </a:lnTo>
                      <a:lnTo>
                        <a:pt x="610" y="591"/>
                      </a:lnTo>
                      <a:lnTo>
                        <a:pt x="607" y="605"/>
                      </a:lnTo>
                      <a:lnTo>
                        <a:pt x="615" y="616"/>
                      </a:lnTo>
                      <a:lnTo>
                        <a:pt x="625" y="625"/>
                      </a:lnTo>
                      <a:lnTo>
                        <a:pt x="624" y="636"/>
                      </a:lnTo>
                      <a:lnTo>
                        <a:pt x="637" y="643"/>
                      </a:lnTo>
                      <a:lnTo>
                        <a:pt x="629" y="662"/>
                      </a:lnTo>
                      <a:lnTo>
                        <a:pt x="631" y="683"/>
                      </a:lnTo>
                      <a:lnTo>
                        <a:pt x="640" y="699"/>
                      </a:lnTo>
                      <a:lnTo>
                        <a:pt x="657" y="724"/>
                      </a:lnTo>
                      <a:lnTo>
                        <a:pt x="665" y="724"/>
                      </a:lnTo>
                      <a:lnTo>
                        <a:pt x="675" y="729"/>
                      </a:lnTo>
                      <a:lnTo>
                        <a:pt x="691" y="710"/>
                      </a:lnTo>
                      <a:lnTo>
                        <a:pt x="701" y="701"/>
                      </a:lnTo>
                      <a:lnTo>
                        <a:pt x="715" y="714"/>
                      </a:lnTo>
                      <a:lnTo>
                        <a:pt x="725" y="718"/>
                      </a:lnTo>
                      <a:lnTo>
                        <a:pt x="740" y="713"/>
                      </a:lnTo>
                      <a:lnTo>
                        <a:pt x="741" y="697"/>
                      </a:lnTo>
                      <a:lnTo>
                        <a:pt x="726" y="680"/>
                      </a:lnTo>
                      <a:lnTo>
                        <a:pt x="715" y="667"/>
                      </a:lnTo>
                      <a:lnTo>
                        <a:pt x="712" y="655"/>
                      </a:lnTo>
                      <a:lnTo>
                        <a:pt x="698" y="643"/>
                      </a:lnTo>
                      <a:lnTo>
                        <a:pt x="687" y="641"/>
                      </a:lnTo>
                      <a:lnTo>
                        <a:pt x="682" y="620"/>
                      </a:lnTo>
                      <a:lnTo>
                        <a:pt x="675" y="608"/>
                      </a:lnTo>
                      <a:lnTo>
                        <a:pt x="668" y="599"/>
                      </a:lnTo>
                      <a:lnTo>
                        <a:pt x="665" y="576"/>
                      </a:lnTo>
                      <a:lnTo>
                        <a:pt x="669" y="572"/>
                      </a:lnTo>
                      <a:lnTo>
                        <a:pt x="682" y="587"/>
                      </a:lnTo>
                      <a:lnTo>
                        <a:pt x="683" y="599"/>
                      </a:lnTo>
                      <a:lnTo>
                        <a:pt x="693" y="613"/>
                      </a:lnTo>
                      <a:lnTo>
                        <a:pt x="703" y="624"/>
                      </a:lnTo>
                      <a:lnTo>
                        <a:pt x="711" y="632"/>
                      </a:lnTo>
                      <a:lnTo>
                        <a:pt x="719" y="620"/>
                      </a:lnTo>
                      <a:lnTo>
                        <a:pt x="725" y="616"/>
                      </a:lnTo>
                      <a:lnTo>
                        <a:pt x="734" y="613"/>
                      </a:lnTo>
                      <a:lnTo>
                        <a:pt x="737" y="603"/>
                      </a:lnTo>
                      <a:lnTo>
                        <a:pt x="747" y="599"/>
                      </a:lnTo>
                      <a:lnTo>
                        <a:pt x="740" y="613"/>
                      </a:lnTo>
                      <a:lnTo>
                        <a:pt x="744" y="625"/>
                      </a:lnTo>
                      <a:lnTo>
                        <a:pt x="755" y="632"/>
                      </a:lnTo>
                      <a:lnTo>
                        <a:pt x="754" y="643"/>
                      </a:lnTo>
                      <a:lnTo>
                        <a:pt x="744" y="655"/>
                      </a:lnTo>
                      <a:lnTo>
                        <a:pt x="748" y="666"/>
                      </a:lnTo>
                      <a:lnTo>
                        <a:pt x="762" y="674"/>
                      </a:lnTo>
                      <a:lnTo>
                        <a:pt x="770" y="685"/>
                      </a:lnTo>
                      <a:lnTo>
                        <a:pt x="762" y="699"/>
                      </a:lnTo>
                      <a:lnTo>
                        <a:pt x="754" y="713"/>
                      </a:lnTo>
                      <a:lnTo>
                        <a:pt x="755" y="722"/>
                      </a:lnTo>
                      <a:lnTo>
                        <a:pt x="750" y="733"/>
                      </a:lnTo>
                      <a:lnTo>
                        <a:pt x="744" y="745"/>
                      </a:lnTo>
                      <a:lnTo>
                        <a:pt x="737" y="753"/>
                      </a:lnTo>
                      <a:lnTo>
                        <a:pt x="729" y="745"/>
                      </a:lnTo>
                      <a:lnTo>
                        <a:pt x="716" y="745"/>
                      </a:lnTo>
                      <a:lnTo>
                        <a:pt x="708" y="735"/>
                      </a:lnTo>
                      <a:lnTo>
                        <a:pt x="705" y="724"/>
                      </a:lnTo>
                      <a:lnTo>
                        <a:pt x="696" y="721"/>
                      </a:lnTo>
                      <a:lnTo>
                        <a:pt x="693" y="729"/>
                      </a:lnTo>
                      <a:lnTo>
                        <a:pt x="698" y="735"/>
                      </a:lnTo>
                      <a:lnTo>
                        <a:pt x="700" y="748"/>
                      </a:lnTo>
                      <a:lnTo>
                        <a:pt x="700" y="757"/>
                      </a:lnTo>
                      <a:lnTo>
                        <a:pt x="708" y="755"/>
                      </a:lnTo>
                      <a:lnTo>
                        <a:pt x="716" y="760"/>
                      </a:lnTo>
                      <a:lnTo>
                        <a:pt x="716" y="772"/>
                      </a:lnTo>
                      <a:lnTo>
                        <a:pt x="707" y="787"/>
                      </a:lnTo>
                      <a:lnTo>
                        <a:pt x="711" y="806"/>
                      </a:lnTo>
                      <a:lnTo>
                        <a:pt x="705" y="829"/>
                      </a:lnTo>
                      <a:lnTo>
                        <a:pt x="708" y="853"/>
                      </a:lnTo>
                      <a:lnTo>
                        <a:pt x="705" y="865"/>
                      </a:lnTo>
                      <a:lnTo>
                        <a:pt x="693" y="877"/>
                      </a:lnTo>
                      <a:lnTo>
                        <a:pt x="693" y="888"/>
                      </a:lnTo>
                      <a:lnTo>
                        <a:pt x="700" y="903"/>
                      </a:lnTo>
                      <a:lnTo>
                        <a:pt x="712" y="906"/>
                      </a:lnTo>
                      <a:lnTo>
                        <a:pt x="726" y="915"/>
                      </a:lnTo>
                      <a:lnTo>
                        <a:pt x="732" y="930"/>
                      </a:lnTo>
                      <a:lnTo>
                        <a:pt x="726" y="935"/>
                      </a:lnTo>
                      <a:lnTo>
                        <a:pt x="711" y="953"/>
                      </a:lnTo>
                      <a:lnTo>
                        <a:pt x="694" y="962"/>
                      </a:lnTo>
                      <a:lnTo>
                        <a:pt x="678" y="985"/>
                      </a:lnTo>
                      <a:close/>
                    </a:path>
                  </a:pathLst>
                </a:custGeom>
                <a:solidFill>
                  <a:srgbClr val="008000"/>
                </a:solidFill>
                <a:ln w="3175">
                  <a:solidFill>
                    <a:srgbClr val="000000"/>
                  </a:solidFill>
                  <a:prstDash val="solid"/>
                  <a:round/>
                  <a:headEnd/>
                  <a:tailEnd/>
                </a:ln>
              </p:spPr>
              <p:txBody>
                <a:bodyPr/>
                <a:lstStyle/>
                <a:p>
                  <a:endParaRPr lang="en-GB"/>
                </a:p>
              </p:txBody>
            </p:sp>
            <p:grpSp>
              <p:nvGrpSpPr>
                <p:cNvPr id="246823" name="Group 39"/>
                <p:cNvGrpSpPr>
                  <a:grpSpLocks/>
                </p:cNvGrpSpPr>
                <p:nvPr/>
              </p:nvGrpSpPr>
              <p:grpSpPr bwMode="auto">
                <a:xfrm>
                  <a:off x="2561" y="3628"/>
                  <a:ext cx="94" cy="113"/>
                  <a:chOff x="2561" y="3628"/>
                  <a:chExt cx="94" cy="113"/>
                </a:xfrm>
              </p:grpSpPr>
              <p:sp>
                <p:nvSpPr>
                  <p:cNvPr id="246824" name="Freeform 40"/>
                  <p:cNvSpPr>
                    <a:spLocks/>
                  </p:cNvSpPr>
                  <p:nvPr/>
                </p:nvSpPr>
                <p:spPr bwMode="auto">
                  <a:xfrm>
                    <a:off x="2580" y="3718"/>
                    <a:ext cx="6" cy="9"/>
                  </a:xfrm>
                  <a:custGeom>
                    <a:avLst/>
                    <a:gdLst>
                      <a:gd name="T0" fmla="*/ 3 w 32"/>
                      <a:gd name="T1" fmla="*/ 0 h 46"/>
                      <a:gd name="T2" fmla="*/ 0 w 32"/>
                      <a:gd name="T3" fmla="*/ 18 h 46"/>
                      <a:gd name="T4" fmla="*/ 3 w 32"/>
                      <a:gd name="T5" fmla="*/ 38 h 46"/>
                      <a:gd name="T6" fmla="*/ 12 w 32"/>
                      <a:gd name="T7" fmla="*/ 38 h 46"/>
                      <a:gd name="T8" fmla="*/ 32 w 32"/>
                      <a:gd name="T9" fmla="*/ 46 h 46"/>
                      <a:gd name="T10" fmla="*/ 25 w 32"/>
                      <a:gd name="T11" fmla="*/ 27 h 46"/>
                      <a:gd name="T12" fmla="*/ 28 w 32"/>
                      <a:gd name="T13" fmla="*/ 19 h 46"/>
                      <a:gd name="T14" fmla="*/ 3 w 32"/>
                      <a:gd name="T15" fmla="*/ 0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46">
                        <a:moveTo>
                          <a:pt x="3" y="0"/>
                        </a:moveTo>
                        <a:lnTo>
                          <a:pt x="0" y="18"/>
                        </a:lnTo>
                        <a:lnTo>
                          <a:pt x="3" y="38"/>
                        </a:lnTo>
                        <a:lnTo>
                          <a:pt x="12" y="38"/>
                        </a:lnTo>
                        <a:lnTo>
                          <a:pt x="32" y="46"/>
                        </a:lnTo>
                        <a:lnTo>
                          <a:pt x="25" y="27"/>
                        </a:lnTo>
                        <a:lnTo>
                          <a:pt x="28" y="19"/>
                        </a:lnTo>
                        <a:lnTo>
                          <a:pt x="3" y="0"/>
                        </a:lnTo>
                        <a:close/>
                      </a:path>
                    </a:pathLst>
                  </a:custGeom>
                  <a:solidFill>
                    <a:srgbClr val="008000"/>
                  </a:solidFill>
                  <a:ln w="3175">
                    <a:solidFill>
                      <a:srgbClr val="000000"/>
                    </a:solidFill>
                    <a:prstDash val="solid"/>
                    <a:round/>
                    <a:headEnd/>
                    <a:tailEnd/>
                  </a:ln>
                </p:spPr>
                <p:txBody>
                  <a:bodyPr/>
                  <a:lstStyle/>
                  <a:p>
                    <a:endParaRPr lang="en-GB"/>
                  </a:p>
                </p:txBody>
              </p:sp>
              <p:sp>
                <p:nvSpPr>
                  <p:cNvPr id="246825" name="Freeform 41"/>
                  <p:cNvSpPr>
                    <a:spLocks/>
                  </p:cNvSpPr>
                  <p:nvPr/>
                </p:nvSpPr>
                <p:spPr bwMode="auto">
                  <a:xfrm>
                    <a:off x="2580" y="3707"/>
                    <a:ext cx="17" cy="22"/>
                  </a:xfrm>
                  <a:custGeom>
                    <a:avLst/>
                    <a:gdLst>
                      <a:gd name="T0" fmla="*/ 4 w 84"/>
                      <a:gd name="T1" fmla="*/ 0 h 110"/>
                      <a:gd name="T2" fmla="*/ 30 w 84"/>
                      <a:gd name="T3" fmla="*/ 15 h 110"/>
                      <a:gd name="T4" fmla="*/ 39 w 84"/>
                      <a:gd name="T5" fmla="*/ 15 h 110"/>
                      <a:gd name="T6" fmla="*/ 40 w 84"/>
                      <a:gd name="T7" fmla="*/ 31 h 110"/>
                      <a:gd name="T8" fmla="*/ 50 w 84"/>
                      <a:gd name="T9" fmla="*/ 42 h 110"/>
                      <a:gd name="T10" fmla="*/ 58 w 84"/>
                      <a:gd name="T11" fmla="*/ 52 h 110"/>
                      <a:gd name="T12" fmla="*/ 69 w 84"/>
                      <a:gd name="T13" fmla="*/ 50 h 110"/>
                      <a:gd name="T14" fmla="*/ 82 w 84"/>
                      <a:gd name="T15" fmla="*/ 62 h 110"/>
                      <a:gd name="T16" fmla="*/ 79 w 84"/>
                      <a:gd name="T17" fmla="*/ 74 h 110"/>
                      <a:gd name="T18" fmla="*/ 84 w 84"/>
                      <a:gd name="T19" fmla="*/ 82 h 110"/>
                      <a:gd name="T20" fmla="*/ 69 w 84"/>
                      <a:gd name="T21" fmla="*/ 97 h 110"/>
                      <a:gd name="T22" fmla="*/ 58 w 84"/>
                      <a:gd name="T23" fmla="*/ 109 h 110"/>
                      <a:gd name="T24" fmla="*/ 50 w 84"/>
                      <a:gd name="T25" fmla="*/ 110 h 110"/>
                      <a:gd name="T26" fmla="*/ 48 w 84"/>
                      <a:gd name="T27" fmla="*/ 101 h 110"/>
                      <a:gd name="T28" fmla="*/ 51 w 84"/>
                      <a:gd name="T29" fmla="*/ 90 h 110"/>
                      <a:gd name="T30" fmla="*/ 48 w 84"/>
                      <a:gd name="T31" fmla="*/ 79 h 110"/>
                      <a:gd name="T32" fmla="*/ 47 w 84"/>
                      <a:gd name="T33" fmla="*/ 58 h 110"/>
                      <a:gd name="T34" fmla="*/ 33 w 84"/>
                      <a:gd name="T35" fmla="*/ 48 h 110"/>
                      <a:gd name="T36" fmla="*/ 18 w 84"/>
                      <a:gd name="T37" fmla="*/ 47 h 110"/>
                      <a:gd name="T38" fmla="*/ 17 w 84"/>
                      <a:gd name="T39" fmla="*/ 39 h 110"/>
                      <a:gd name="T40" fmla="*/ 11 w 84"/>
                      <a:gd name="T41" fmla="*/ 31 h 110"/>
                      <a:gd name="T42" fmla="*/ 0 w 84"/>
                      <a:gd name="T43" fmla="*/ 23 h 110"/>
                      <a:gd name="T44" fmla="*/ 4 w 84"/>
                      <a:gd name="T45"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4" h="110">
                        <a:moveTo>
                          <a:pt x="4" y="0"/>
                        </a:moveTo>
                        <a:lnTo>
                          <a:pt x="30" y="15"/>
                        </a:lnTo>
                        <a:lnTo>
                          <a:pt x="39" y="15"/>
                        </a:lnTo>
                        <a:lnTo>
                          <a:pt x="40" y="31"/>
                        </a:lnTo>
                        <a:lnTo>
                          <a:pt x="50" y="42"/>
                        </a:lnTo>
                        <a:lnTo>
                          <a:pt x="58" y="52"/>
                        </a:lnTo>
                        <a:lnTo>
                          <a:pt x="69" y="50"/>
                        </a:lnTo>
                        <a:lnTo>
                          <a:pt x="82" y="62"/>
                        </a:lnTo>
                        <a:lnTo>
                          <a:pt x="79" y="74"/>
                        </a:lnTo>
                        <a:lnTo>
                          <a:pt x="84" y="82"/>
                        </a:lnTo>
                        <a:lnTo>
                          <a:pt x="69" y="97"/>
                        </a:lnTo>
                        <a:lnTo>
                          <a:pt x="58" y="109"/>
                        </a:lnTo>
                        <a:lnTo>
                          <a:pt x="50" y="110"/>
                        </a:lnTo>
                        <a:lnTo>
                          <a:pt x="48" y="101"/>
                        </a:lnTo>
                        <a:lnTo>
                          <a:pt x="51" y="90"/>
                        </a:lnTo>
                        <a:lnTo>
                          <a:pt x="48" y="79"/>
                        </a:lnTo>
                        <a:lnTo>
                          <a:pt x="47" y="58"/>
                        </a:lnTo>
                        <a:lnTo>
                          <a:pt x="33" y="48"/>
                        </a:lnTo>
                        <a:lnTo>
                          <a:pt x="18" y="47"/>
                        </a:lnTo>
                        <a:lnTo>
                          <a:pt x="17" y="39"/>
                        </a:lnTo>
                        <a:lnTo>
                          <a:pt x="11" y="31"/>
                        </a:lnTo>
                        <a:lnTo>
                          <a:pt x="0" y="23"/>
                        </a:lnTo>
                        <a:lnTo>
                          <a:pt x="4" y="0"/>
                        </a:lnTo>
                        <a:close/>
                      </a:path>
                    </a:pathLst>
                  </a:custGeom>
                  <a:solidFill>
                    <a:srgbClr val="008000"/>
                  </a:solidFill>
                  <a:ln w="3175">
                    <a:solidFill>
                      <a:srgbClr val="000000"/>
                    </a:solidFill>
                    <a:prstDash val="solid"/>
                    <a:round/>
                    <a:headEnd/>
                    <a:tailEnd/>
                  </a:ln>
                </p:spPr>
                <p:txBody>
                  <a:bodyPr/>
                  <a:lstStyle/>
                  <a:p>
                    <a:endParaRPr lang="en-GB"/>
                  </a:p>
                </p:txBody>
              </p:sp>
              <p:sp>
                <p:nvSpPr>
                  <p:cNvPr id="246826" name="Freeform 42"/>
                  <p:cNvSpPr>
                    <a:spLocks/>
                  </p:cNvSpPr>
                  <p:nvPr/>
                </p:nvSpPr>
                <p:spPr bwMode="auto">
                  <a:xfrm>
                    <a:off x="2622" y="3735"/>
                    <a:ext cx="5" cy="6"/>
                  </a:xfrm>
                  <a:custGeom>
                    <a:avLst/>
                    <a:gdLst>
                      <a:gd name="T0" fmla="*/ 0 w 24"/>
                      <a:gd name="T1" fmla="*/ 0 h 31"/>
                      <a:gd name="T2" fmla="*/ 4 w 24"/>
                      <a:gd name="T3" fmla="*/ 28 h 31"/>
                      <a:gd name="T4" fmla="*/ 24 w 24"/>
                      <a:gd name="T5" fmla="*/ 31 h 31"/>
                      <a:gd name="T6" fmla="*/ 0 w 24"/>
                      <a:gd name="T7" fmla="*/ 0 h 31"/>
                    </a:gdLst>
                    <a:ahLst/>
                    <a:cxnLst>
                      <a:cxn ang="0">
                        <a:pos x="T0" y="T1"/>
                      </a:cxn>
                      <a:cxn ang="0">
                        <a:pos x="T2" y="T3"/>
                      </a:cxn>
                      <a:cxn ang="0">
                        <a:pos x="T4" y="T5"/>
                      </a:cxn>
                      <a:cxn ang="0">
                        <a:pos x="T6" y="T7"/>
                      </a:cxn>
                    </a:cxnLst>
                    <a:rect l="0" t="0" r="r" b="b"/>
                    <a:pathLst>
                      <a:path w="24" h="31">
                        <a:moveTo>
                          <a:pt x="0" y="0"/>
                        </a:moveTo>
                        <a:lnTo>
                          <a:pt x="4" y="28"/>
                        </a:lnTo>
                        <a:lnTo>
                          <a:pt x="24" y="31"/>
                        </a:lnTo>
                        <a:lnTo>
                          <a:pt x="0" y="0"/>
                        </a:lnTo>
                        <a:close/>
                      </a:path>
                    </a:pathLst>
                  </a:custGeom>
                  <a:solidFill>
                    <a:srgbClr val="008000"/>
                  </a:solidFill>
                  <a:ln w="3175">
                    <a:solidFill>
                      <a:srgbClr val="000000"/>
                    </a:solidFill>
                    <a:prstDash val="solid"/>
                    <a:round/>
                    <a:headEnd/>
                    <a:tailEnd/>
                  </a:ln>
                </p:spPr>
                <p:txBody>
                  <a:bodyPr/>
                  <a:lstStyle/>
                  <a:p>
                    <a:endParaRPr lang="en-GB"/>
                  </a:p>
                </p:txBody>
              </p:sp>
              <p:sp>
                <p:nvSpPr>
                  <p:cNvPr id="246827" name="Freeform 43"/>
                  <p:cNvSpPr>
                    <a:spLocks/>
                  </p:cNvSpPr>
                  <p:nvPr/>
                </p:nvSpPr>
                <p:spPr bwMode="auto">
                  <a:xfrm>
                    <a:off x="2634" y="3736"/>
                    <a:ext cx="6" cy="5"/>
                  </a:xfrm>
                  <a:custGeom>
                    <a:avLst/>
                    <a:gdLst>
                      <a:gd name="T0" fmla="*/ 0 w 30"/>
                      <a:gd name="T1" fmla="*/ 22 h 26"/>
                      <a:gd name="T2" fmla="*/ 15 w 30"/>
                      <a:gd name="T3" fmla="*/ 0 h 26"/>
                      <a:gd name="T4" fmla="*/ 30 w 30"/>
                      <a:gd name="T5" fmla="*/ 6 h 26"/>
                      <a:gd name="T6" fmla="*/ 18 w 30"/>
                      <a:gd name="T7" fmla="*/ 26 h 26"/>
                      <a:gd name="T8" fmla="*/ 0 w 30"/>
                      <a:gd name="T9" fmla="*/ 22 h 26"/>
                    </a:gdLst>
                    <a:ahLst/>
                    <a:cxnLst>
                      <a:cxn ang="0">
                        <a:pos x="T0" y="T1"/>
                      </a:cxn>
                      <a:cxn ang="0">
                        <a:pos x="T2" y="T3"/>
                      </a:cxn>
                      <a:cxn ang="0">
                        <a:pos x="T4" y="T5"/>
                      </a:cxn>
                      <a:cxn ang="0">
                        <a:pos x="T6" y="T7"/>
                      </a:cxn>
                      <a:cxn ang="0">
                        <a:pos x="T8" y="T9"/>
                      </a:cxn>
                    </a:cxnLst>
                    <a:rect l="0" t="0" r="r" b="b"/>
                    <a:pathLst>
                      <a:path w="30" h="26">
                        <a:moveTo>
                          <a:pt x="0" y="22"/>
                        </a:moveTo>
                        <a:lnTo>
                          <a:pt x="15" y="0"/>
                        </a:lnTo>
                        <a:lnTo>
                          <a:pt x="30" y="6"/>
                        </a:lnTo>
                        <a:lnTo>
                          <a:pt x="18" y="26"/>
                        </a:lnTo>
                        <a:lnTo>
                          <a:pt x="0" y="22"/>
                        </a:lnTo>
                        <a:close/>
                      </a:path>
                    </a:pathLst>
                  </a:custGeom>
                  <a:solidFill>
                    <a:srgbClr val="008000"/>
                  </a:solidFill>
                  <a:ln w="3175">
                    <a:solidFill>
                      <a:srgbClr val="000000"/>
                    </a:solidFill>
                    <a:prstDash val="solid"/>
                    <a:round/>
                    <a:headEnd/>
                    <a:tailEnd/>
                  </a:ln>
                </p:spPr>
                <p:txBody>
                  <a:bodyPr/>
                  <a:lstStyle/>
                  <a:p>
                    <a:endParaRPr lang="en-GB"/>
                  </a:p>
                </p:txBody>
              </p:sp>
              <p:sp>
                <p:nvSpPr>
                  <p:cNvPr id="246828" name="Freeform 44"/>
                  <p:cNvSpPr>
                    <a:spLocks/>
                  </p:cNvSpPr>
                  <p:nvPr/>
                </p:nvSpPr>
                <p:spPr bwMode="auto">
                  <a:xfrm>
                    <a:off x="2648" y="3726"/>
                    <a:ext cx="7" cy="7"/>
                  </a:xfrm>
                  <a:custGeom>
                    <a:avLst/>
                    <a:gdLst>
                      <a:gd name="T0" fmla="*/ 0 w 34"/>
                      <a:gd name="T1" fmla="*/ 23 h 34"/>
                      <a:gd name="T2" fmla="*/ 34 w 34"/>
                      <a:gd name="T3" fmla="*/ 34 h 34"/>
                      <a:gd name="T4" fmla="*/ 16 w 34"/>
                      <a:gd name="T5" fmla="*/ 0 h 34"/>
                      <a:gd name="T6" fmla="*/ 0 w 34"/>
                      <a:gd name="T7" fmla="*/ 23 h 34"/>
                    </a:gdLst>
                    <a:ahLst/>
                    <a:cxnLst>
                      <a:cxn ang="0">
                        <a:pos x="T0" y="T1"/>
                      </a:cxn>
                      <a:cxn ang="0">
                        <a:pos x="T2" y="T3"/>
                      </a:cxn>
                      <a:cxn ang="0">
                        <a:pos x="T4" y="T5"/>
                      </a:cxn>
                      <a:cxn ang="0">
                        <a:pos x="T6" y="T7"/>
                      </a:cxn>
                    </a:cxnLst>
                    <a:rect l="0" t="0" r="r" b="b"/>
                    <a:pathLst>
                      <a:path w="34" h="34">
                        <a:moveTo>
                          <a:pt x="0" y="23"/>
                        </a:moveTo>
                        <a:lnTo>
                          <a:pt x="34" y="34"/>
                        </a:lnTo>
                        <a:lnTo>
                          <a:pt x="16" y="0"/>
                        </a:lnTo>
                        <a:lnTo>
                          <a:pt x="0" y="23"/>
                        </a:lnTo>
                        <a:close/>
                      </a:path>
                    </a:pathLst>
                  </a:custGeom>
                  <a:solidFill>
                    <a:srgbClr val="008000"/>
                  </a:solidFill>
                  <a:ln w="3175">
                    <a:solidFill>
                      <a:srgbClr val="000000"/>
                    </a:solidFill>
                    <a:prstDash val="solid"/>
                    <a:round/>
                    <a:headEnd/>
                    <a:tailEnd/>
                  </a:ln>
                </p:spPr>
                <p:txBody>
                  <a:bodyPr/>
                  <a:lstStyle/>
                  <a:p>
                    <a:endParaRPr lang="en-GB"/>
                  </a:p>
                </p:txBody>
              </p:sp>
              <p:sp>
                <p:nvSpPr>
                  <p:cNvPr id="246829" name="Freeform 45"/>
                  <p:cNvSpPr>
                    <a:spLocks/>
                  </p:cNvSpPr>
                  <p:nvPr/>
                </p:nvSpPr>
                <p:spPr bwMode="auto">
                  <a:xfrm>
                    <a:off x="2561" y="3628"/>
                    <a:ext cx="20" cy="10"/>
                  </a:xfrm>
                  <a:custGeom>
                    <a:avLst/>
                    <a:gdLst>
                      <a:gd name="T0" fmla="*/ 0 w 102"/>
                      <a:gd name="T1" fmla="*/ 31 h 50"/>
                      <a:gd name="T2" fmla="*/ 47 w 102"/>
                      <a:gd name="T3" fmla="*/ 34 h 50"/>
                      <a:gd name="T4" fmla="*/ 61 w 102"/>
                      <a:gd name="T5" fmla="*/ 46 h 50"/>
                      <a:gd name="T6" fmla="*/ 76 w 102"/>
                      <a:gd name="T7" fmla="*/ 50 h 50"/>
                      <a:gd name="T8" fmla="*/ 102 w 102"/>
                      <a:gd name="T9" fmla="*/ 39 h 50"/>
                      <a:gd name="T10" fmla="*/ 87 w 102"/>
                      <a:gd name="T11" fmla="*/ 23 h 50"/>
                      <a:gd name="T12" fmla="*/ 65 w 102"/>
                      <a:gd name="T13" fmla="*/ 23 h 50"/>
                      <a:gd name="T14" fmla="*/ 58 w 102"/>
                      <a:gd name="T15" fmla="*/ 0 h 50"/>
                      <a:gd name="T16" fmla="*/ 40 w 102"/>
                      <a:gd name="T17" fmla="*/ 3 h 50"/>
                      <a:gd name="T18" fmla="*/ 0 w 102"/>
                      <a:gd name="T19" fmla="*/ 3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50">
                        <a:moveTo>
                          <a:pt x="0" y="31"/>
                        </a:moveTo>
                        <a:lnTo>
                          <a:pt x="47" y="34"/>
                        </a:lnTo>
                        <a:lnTo>
                          <a:pt x="61" y="46"/>
                        </a:lnTo>
                        <a:lnTo>
                          <a:pt x="76" y="50"/>
                        </a:lnTo>
                        <a:lnTo>
                          <a:pt x="102" y="39"/>
                        </a:lnTo>
                        <a:lnTo>
                          <a:pt x="87" y="23"/>
                        </a:lnTo>
                        <a:lnTo>
                          <a:pt x="65" y="23"/>
                        </a:lnTo>
                        <a:lnTo>
                          <a:pt x="58" y="0"/>
                        </a:lnTo>
                        <a:lnTo>
                          <a:pt x="40" y="3"/>
                        </a:lnTo>
                        <a:lnTo>
                          <a:pt x="0" y="31"/>
                        </a:lnTo>
                        <a:close/>
                      </a:path>
                    </a:pathLst>
                  </a:custGeom>
                  <a:solidFill>
                    <a:srgbClr val="008000"/>
                  </a:solidFill>
                  <a:ln w="3175">
                    <a:solidFill>
                      <a:srgbClr val="000000"/>
                    </a:solidFill>
                    <a:prstDash val="solid"/>
                    <a:round/>
                    <a:headEnd/>
                    <a:tailEnd/>
                  </a:ln>
                </p:spPr>
                <p:txBody>
                  <a:bodyPr/>
                  <a:lstStyle/>
                  <a:p>
                    <a:endParaRPr lang="en-GB"/>
                  </a:p>
                </p:txBody>
              </p:sp>
            </p:grpSp>
            <p:sp>
              <p:nvSpPr>
                <p:cNvPr id="246830" name="Freeform 46"/>
                <p:cNvSpPr>
                  <a:spLocks/>
                </p:cNvSpPr>
                <p:nvPr/>
              </p:nvSpPr>
              <p:spPr bwMode="auto">
                <a:xfrm>
                  <a:off x="2652" y="3654"/>
                  <a:ext cx="32" cy="24"/>
                </a:xfrm>
                <a:custGeom>
                  <a:avLst/>
                  <a:gdLst>
                    <a:gd name="T0" fmla="*/ 155 w 161"/>
                    <a:gd name="T1" fmla="*/ 74 h 119"/>
                    <a:gd name="T2" fmla="*/ 161 w 161"/>
                    <a:gd name="T3" fmla="*/ 107 h 119"/>
                    <a:gd name="T4" fmla="*/ 143 w 161"/>
                    <a:gd name="T5" fmla="*/ 116 h 119"/>
                    <a:gd name="T6" fmla="*/ 123 w 161"/>
                    <a:gd name="T7" fmla="*/ 119 h 119"/>
                    <a:gd name="T8" fmla="*/ 106 w 161"/>
                    <a:gd name="T9" fmla="*/ 108 h 119"/>
                    <a:gd name="T10" fmla="*/ 96 w 161"/>
                    <a:gd name="T11" fmla="*/ 93 h 119"/>
                    <a:gd name="T12" fmla="*/ 89 w 161"/>
                    <a:gd name="T13" fmla="*/ 84 h 119"/>
                    <a:gd name="T14" fmla="*/ 66 w 161"/>
                    <a:gd name="T15" fmla="*/ 87 h 119"/>
                    <a:gd name="T16" fmla="*/ 45 w 161"/>
                    <a:gd name="T17" fmla="*/ 89 h 119"/>
                    <a:gd name="T18" fmla="*/ 30 w 161"/>
                    <a:gd name="T19" fmla="*/ 84 h 119"/>
                    <a:gd name="T20" fmla="*/ 23 w 161"/>
                    <a:gd name="T21" fmla="*/ 69 h 119"/>
                    <a:gd name="T22" fmla="*/ 0 w 161"/>
                    <a:gd name="T23" fmla="*/ 68 h 119"/>
                    <a:gd name="T24" fmla="*/ 1 w 161"/>
                    <a:gd name="T25" fmla="*/ 54 h 119"/>
                    <a:gd name="T26" fmla="*/ 5 w 161"/>
                    <a:gd name="T27" fmla="*/ 42 h 119"/>
                    <a:gd name="T28" fmla="*/ 1 w 161"/>
                    <a:gd name="T29" fmla="*/ 29 h 119"/>
                    <a:gd name="T30" fmla="*/ 4 w 161"/>
                    <a:gd name="T31" fmla="*/ 19 h 119"/>
                    <a:gd name="T32" fmla="*/ 7 w 161"/>
                    <a:gd name="T33" fmla="*/ 10 h 119"/>
                    <a:gd name="T34" fmla="*/ 22 w 161"/>
                    <a:gd name="T35" fmla="*/ 0 h 119"/>
                    <a:gd name="T36" fmla="*/ 38 w 161"/>
                    <a:gd name="T37" fmla="*/ 3 h 119"/>
                    <a:gd name="T38" fmla="*/ 38 w 161"/>
                    <a:gd name="T39" fmla="*/ 18 h 119"/>
                    <a:gd name="T40" fmla="*/ 37 w 161"/>
                    <a:gd name="T41" fmla="*/ 29 h 119"/>
                    <a:gd name="T42" fmla="*/ 42 w 161"/>
                    <a:gd name="T43" fmla="*/ 35 h 119"/>
                    <a:gd name="T44" fmla="*/ 52 w 161"/>
                    <a:gd name="T45" fmla="*/ 38 h 119"/>
                    <a:gd name="T46" fmla="*/ 60 w 161"/>
                    <a:gd name="T47" fmla="*/ 41 h 119"/>
                    <a:gd name="T48" fmla="*/ 69 w 161"/>
                    <a:gd name="T49" fmla="*/ 37 h 119"/>
                    <a:gd name="T50" fmla="*/ 76 w 161"/>
                    <a:gd name="T51" fmla="*/ 37 h 119"/>
                    <a:gd name="T52" fmla="*/ 83 w 161"/>
                    <a:gd name="T53" fmla="*/ 27 h 119"/>
                    <a:gd name="T54" fmla="*/ 92 w 161"/>
                    <a:gd name="T55" fmla="*/ 30 h 119"/>
                    <a:gd name="T56" fmla="*/ 99 w 161"/>
                    <a:gd name="T57" fmla="*/ 41 h 119"/>
                    <a:gd name="T58" fmla="*/ 98 w 161"/>
                    <a:gd name="T59" fmla="*/ 49 h 119"/>
                    <a:gd name="T60" fmla="*/ 114 w 161"/>
                    <a:gd name="T61" fmla="*/ 49 h 119"/>
                    <a:gd name="T62" fmla="*/ 130 w 161"/>
                    <a:gd name="T63" fmla="*/ 46 h 119"/>
                    <a:gd name="T64" fmla="*/ 138 w 161"/>
                    <a:gd name="T65" fmla="*/ 52 h 119"/>
                    <a:gd name="T66" fmla="*/ 155 w 161"/>
                    <a:gd name="T67" fmla="*/ 7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1" h="119">
                      <a:moveTo>
                        <a:pt x="155" y="74"/>
                      </a:moveTo>
                      <a:lnTo>
                        <a:pt x="161" y="107"/>
                      </a:lnTo>
                      <a:lnTo>
                        <a:pt x="143" y="116"/>
                      </a:lnTo>
                      <a:lnTo>
                        <a:pt x="123" y="119"/>
                      </a:lnTo>
                      <a:lnTo>
                        <a:pt x="106" y="108"/>
                      </a:lnTo>
                      <a:lnTo>
                        <a:pt x="96" y="93"/>
                      </a:lnTo>
                      <a:lnTo>
                        <a:pt x="89" y="84"/>
                      </a:lnTo>
                      <a:lnTo>
                        <a:pt x="66" y="87"/>
                      </a:lnTo>
                      <a:lnTo>
                        <a:pt x="45" y="89"/>
                      </a:lnTo>
                      <a:lnTo>
                        <a:pt x="30" y="84"/>
                      </a:lnTo>
                      <a:lnTo>
                        <a:pt x="23" y="69"/>
                      </a:lnTo>
                      <a:lnTo>
                        <a:pt x="0" y="68"/>
                      </a:lnTo>
                      <a:lnTo>
                        <a:pt x="1" y="54"/>
                      </a:lnTo>
                      <a:lnTo>
                        <a:pt x="5" y="42"/>
                      </a:lnTo>
                      <a:lnTo>
                        <a:pt x="1" y="29"/>
                      </a:lnTo>
                      <a:lnTo>
                        <a:pt x="4" y="19"/>
                      </a:lnTo>
                      <a:lnTo>
                        <a:pt x="7" y="10"/>
                      </a:lnTo>
                      <a:lnTo>
                        <a:pt x="22" y="0"/>
                      </a:lnTo>
                      <a:lnTo>
                        <a:pt x="38" y="3"/>
                      </a:lnTo>
                      <a:lnTo>
                        <a:pt x="38" y="18"/>
                      </a:lnTo>
                      <a:lnTo>
                        <a:pt x="37" y="29"/>
                      </a:lnTo>
                      <a:lnTo>
                        <a:pt x="42" y="35"/>
                      </a:lnTo>
                      <a:lnTo>
                        <a:pt x="52" y="38"/>
                      </a:lnTo>
                      <a:lnTo>
                        <a:pt x="60" y="41"/>
                      </a:lnTo>
                      <a:lnTo>
                        <a:pt x="69" y="37"/>
                      </a:lnTo>
                      <a:lnTo>
                        <a:pt x="76" y="37"/>
                      </a:lnTo>
                      <a:lnTo>
                        <a:pt x="83" y="27"/>
                      </a:lnTo>
                      <a:lnTo>
                        <a:pt x="92" y="30"/>
                      </a:lnTo>
                      <a:lnTo>
                        <a:pt x="99" y="41"/>
                      </a:lnTo>
                      <a:lnTo>
                        <a:pt x="98" y="49"/>
                      </a:lnTo>
                      <a:lnTo>
                        <a:pt x="114" y="49"/>
                      </a:lnTo>
                      <a:lnTo>
                        <a:pt x="130" y="46"/>
                      </a:lnTo>
                      <a:lnTo>
                        <a:pt x="138" y="52"/>
                      </a:lnTo>
                      <a:lnTo>
                        <a:pt x="155" y="74"/>
                      </a:lnTo>
                      <a:close/>
                    </a:path>
                  </a:pathLst>
                </a:custGeom>
                <a:solidFill>
                  <a:srgbClr val="0000FF"/>
                </a:solidFill>
                <a:ln w="3175">
                  <a:solidFill>
                    <a:srgbClr val="000000"/>
                  </a:solidFill>
                  <a:prstDash val="solid"/>
                  <a:round/>
                  <a:headEnd/>
                  <a:tailEnd/>
                </a:ln>
              </p:spPr>
              <p:txBody>
                <a:bodyPr/>
                <a:lstStyle/>
                <a:p>
                  <a:endParaRPr lang="en-GB"/>
                </a:p>
              </p:txBody>
            </p:sp>
          </p:grpSp>
        </p:grpSp>
      </p:grpSp>
      <p:graphicFrame>
        <p:nvGraphicFramePr>
          <p:cNvPr id="246831" name="Object 47"/>
          <p:cNvGraphicFramePr>
            <a:graphicFrameLocks/>
          </p:cNvGraphicFramePr>
          <p:nvPr>
            <p:extLst/>
          </p:nvPr>
        </p:nvGraphicFramePr>
        <p:xfrm>
          <a:off x="2462213" y="3990975"/>
          <a:ext cx="3657600" cy="1143000"/>
        </p:xfrm>
        <a:graphic>
          <a:graphicData uri="http://schemas.openxmlformats.org/presentationml/2006/ole">
            <mc:AlternateContent xmlns:mc="http://schemas.openxmlformats.org/markup-compatibility/2006">
              <mc:Choice xmlns:v="urn:schemas-microsoft-com:vml" Requires="v">
                <p:oleObj spid="_x0000_s1100" name="Clip" r:id="rId4" imgW="2906640" imgH="1690560" progId="MS_ClipArt_Gallery.2">
                  <p:embed/>
                </p:oleObj>
              </mc:Choice>
              <mc:Fallback>
                <p:oleObj name="Clip" r:id="rId4" imgW="2906640" imgH="1690560" progId="MS_ClipArt_Gallery.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2213" y="3990975"/>
                        <a:ext cx="3657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6838" name="Group 54"/>
          <p:cNvGrpSpPr>
            <a:grpSpLocks/>
          </p:cNvGrpSpPr>
          <p:nvPr/>
        </p:nvGrpSpPr>
        <p:grpSpPr bwMode="auto">
          <a:xfrm>
            <a:off x="7050088" y="3670300"/>
            <a:ext cx="1250950" cy="1487488"/>
            <a:chOff x="4032" y="2304"/>
            <a:chExt cx="1152" cy="1680"/>
          </a:xfrm>
        </p:grpSpPr>
        <p:grpSp>
          <p:nvGrpSpPr>
            <p:cNvPr id="246832" name="Group 48"/>
            <p:cNvGrpSpPr>
              <a:grpSpLocks/>
            </p:cNvGrpSpPr>
            <p:nvPr/>
          </p:nvGrpSpPr>
          <p:grpSpPr bwMode="auto">
            <a:xfrm>
              <a:off x="4032" y="2304"/>
              <a:ext cx="1152" cy="1680"/>
              <a:chOff x="4416" y="576"/>
              <a:chExt cx="1008" cy="1536"/>
            </a:xfrm>
          </p:grpSpPr>
          <p:pic>
            <p:nvPicPr>
              <p:cNvPr id="246833" name="Picture 4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6" y="576"/>
                <a:ext cx="1008" cy="1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6834" name="Freeform 50"/>
              <p:cNvSpPr>
                <a:spLocks/>
              </p:cNvSpPr>
              <p:nvPr/>
            </p:nvSpPr>
            <p:spPr bwMode="auto">
              <a:xfrm>
                <a:off x="4512" y="672"/>
                <a:ext cx="816" cy="672"/>
              </a:xfrm>
              <a:custGeom>
                <a:avLst/>
                <a:gdLst>
                  <a:gd name="T0" fmla="*/ 0 w 1311"/>
                  <a:gd name="T1" fmla="*/ 0 h 1003"/>
                  <a:gd name="T2" fmla="*/ 0 w 1311"/>
                  <a:gd name="T3" fmla="*/ 1002 h 1003"/>
                  <a:gd name="T4" fmla="*/ 1310 w 1311"/>
                  <a:gd name="T5" fmla="*/ 1002 h 1003"/>
                  <a:gd name="T6" fmla="*/ 1310 w 1311"/>
                  <a:gd name="T7" fmla="*/ 0 h 1003"/>
                  <a:gd name="T8" fmla="*/ 0 w 1311"/>
                  <a:gd name="T9" fmla="*/ 0 h 1003"/>
                </a:gdLst>
                <a:ahLst/>
                <a:cxnLst>
                  <a:cxn ang="0">
                    <a:pos x="T0" y="T1"/>
                  </a:cxn>
                  <a:cxn ang="0">
                    <a:pos x="T2" y="T3"/>
                  </a:cxn>
                  <a:cxn ang="0">
                    <a:pos x="T4" y="T5"/>
                  </a:cxn>
                  <a:cxn ang="0">
                    <a:pos x="T6" y="T7"/>
                  </a:cxn>
                  <a:cxn ang="0">
                    <a:pos x="T8" y="T9"/>
                  </a:cxn>
                </a:cxnLst>
                <a:rect l="0" t="0" r="r" b="b"/>
                <a:pathLst>
                  <a:path w="1311" h="1003">
                    <a:moveTo>
                      <a:pt x="0" y="0"/>
                    </a:moveTo>
                    <a:lnTo>
                      <a:pt x="0" y="1002"/>
                    </a:lnTo>
                    <a:lnTo>
                      <a:pt x="1310" y="1002"/>
                    </a:lnTo>
                    <a:lnTo>
                      <a:pt x="1310" y="0"/>
                    </a:lnTo>
                    <a:lnTo>
                      <a:pt x="0" y="0"/>
                    </a:lnTo>
                  </a:path>
                </a:pathLst>
              </a:custGeom>
              <a:gradFill rotWithShape="0">
                <a:gsLst>
                  <a:gs pos="0">
                    <a:srgbClr val="00CCCC">
                      <a:gamma/>
                      <a:tint val="0"/>
                      <a:invGamma/>
                    </a:srgbClr>
                  </a:gs>
                  <a:gs pos="100000">
                    <a:srgbClr val="00CCCC"/>
                  </a:gs>
                </a:gsLst>
                <a:path path="rect">
                  <a:fillToRect l="50000" t="50000" r="50000" b="50000"/>
                </a:path>
              </a:gradFill>
              <a:ln>
                <a:noFill/>
              </a:ln>
              <a:effectLst/>
              <a:extLst>
                <a:ext uri="{91240B29-F687-4F45-9708-019B960494DF}">
                  <a14:hiddenLine xmlns:a14="http://schemas.microsoft.com/office/drawing/2010/main" w="12700" cap="rnd"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aphicFrame>
          <p:nvGraphicFramePr>
            <p:cNvPr id="246835" name="Object 51">
              <a:hlinkClick r:id="" action="ppaction://ole?verb=0"/>
            </p:cNvPr>
            <p:cNvGraphicFramePr>
              <a:graphicFrameLocks/>
            </p:cNvGraphicFramePr>
            <p:nvPr/>
          </p:nvGraphicFramePr>
          <p:xfrm>
            <a:off x="4342" y="2544"/>
            <a:ext cx="498" cy="525"/>
          </p:xfrm>
          <a:graphic>
            <a:graphicData uri="http://schemas.openxmlformats.org/presentationml/2006/ole">
              <mc:AlternateContent xmlns:mc="http://schemas.openxmlformats.org/markup-compatibility/2006">
                <mc:Choice xmlns:v="urn:schemas-microsoft-com:vml" Requires="v">
                  <p:oleObj spid="_x0000_s1101" name="Clip" r:id="rId7" imgW="3471840" imgH="3519360" progId="MS_ClipArt_Gallery.2">
                    <p:embed/>
                  </p:oleObj>
                </mc:Choice>
                <mc:Fallback>
                  <p:oleObj name="Clip" r:id="rId7" imgW="3471840" imgH="3519360" progId="MS_ClipArt_Gallery.2">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2" y="2544"/>
                          <a:ext cx="498" cy="5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24714804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8" name="Rectangle 1032"/>
          <p:cNvSpPr>
            <a:spLocks noGrp="1" noChangeArrowheads="1"/>
          </p:cNvSpPr>
          <p:nvPr>
            <p:ph type="body" sz="quarter" idx="15"/>
          </p:nvPr>
        </p:nvSpPr>
        <p:spPr>
          <a:xfrm>
            <a:off x="180000" y="899999"/>
            <a:ext cx="8820000" cy="5600553"/>
          </a:xfrm>
        </p:spPr>
        <p:txBody>
          <a:bodyPr>
            <a:normAutofit/>
          </a:bodyPr>
          <a:lstStyle/>
          <a:p>
            <a:endParaRPr lang="en-GB" altLang="en-US" dirty="0"/>
          </a:p>
          <a:p>
            <a:endParaRPr lang="en-GB" altLang="en-US" dirty="0"/>
          </a:p>
          <a:p>
            <a:endParaRPr lang="en-GB" altLang="en-US" dirty="0"/>
          </a:p>
          <a:p>
            <a:endParaRPr lang="en-GB" altLang="en-US" dirty="0"/>
          </a:p>
          <a:p>
            <a:endParaRPr lang="en-GB" altLang="en-US" dirty="0"/>
          </a:p>
          <a:p>
            <a:pPr lvl="1"/>
            <a:endParaRPr lang="en-GB" altLang="en-US" dirty="0"/>
          </a:p>
          <a:p>
            <a:pPr lvl="2"/>
            <a:endParaRPr lang="en-GB" altLang="en-US" dirty="0" smtClean="0"/>
          </a:p>
          <a:p>
            <a:pPr lvl="2"/>
            <a:endParaRPr lang="en-GB" altLang="en-US" dirty="0"/>
          </a:p>
          <a:p>
            <a:pPr lvl="2"/>
            <a:endParaRPr lang="en-GB" altLang="en-US" dirty="0" smtClean="0"/>
          </a:p>
          <a:p>
            <a:pPr marL="720000" lvl="2" indent="0">
              <a:buNone/>
            </a:pPr>
            <a:endParaRPr lang="en-GB" altLang="en-US" dirty="0"/>
          </a:p>
        </p:txBody>
      </p:sp>
      <p:sp>
        <p:nvSpPr>
          <p:cNvPr id="261127" name="Rectangle 1031"/>
          <p:cNvSpPr>
            <a:spLocks noGrp="1" noChangeArrowheads="1"/>
          </p:cNvSpPr>
          <p:nvPr>
            <p:ph type="title"/>
          </p:nvPr>
        </p:nvSpPr>
        <p:spPr/>
        <p:txBody>
          <a:bodyPr/>
          <a:lstStyle/>
          <a:p>
            <a:r>
              <a:rPr lang="en-GB" altLang="en-US"/>
              <a:t>Analysis and Design Workflow</a:t>
            </a:r>
          </a:p>
        </p:txBody>
      </p:sp>
      <p:sp>
        <p:nvSpPr>
          <p:cNvPr id="261125" name="Rectangle 1029"/>
          <p:cNvSpPr>
            <a:spLocks noChangeArrowheads="1"/>
          </p:cNvSpPr>
          <p:nvPr/>
        </p:nvSpPr>
        <p:spPr bwMode="auto">
          <a:xfrm>
            <a:off x="311673" y="1067653"/>
            <a:ext cx="4110698" cy="3656013"/>
          </a:xfrm>
          <a:prstGeom prst="rect">
            <a:avLst/>
          </a:prstGeom>
          <a:solidFill>
            <a:srgbClr val="EBFFFE"/>
          </a:solidFill>
          <a:ln w="25400">
            <a:solidFill>
              <a:srgbClr val="00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7788" tIns="41275" rIns="77788" bIns="41275"/>
          <a:lstStyle>
            <a:lvl1pPr marL="247650" indent="-247650" defTabSz="660400">
              <a:defRPr sz="2400">
                <a:solidFill>
                  <a:schemeClr val="tx1"/>
                </a:solidFill>
                <a:latin typeface="Times New Roman" pitchFamily="18" charset="0"/>
              </a:defRPr>
            </a:lvl1pPr>
            <a:lvl2pPr marL="592138" indent="-195263" defTabSz="660400">
              <a:defRPr sz="2400">
                <a:solidFill>
                  <a:schemeClr val="tx1"/>
                </a:solidFill>
                <a:latin typeface="Times New Roman" pitchFamily="18" charset="0"/>
              </a:defRPr>
            </a:lvl2pPr>
            <a:lvl3pPr marL="989013" indent="-198438" defTabSz="660400">
              <a:defRPr sz="2400">
                <a:solidFill>
                  <a:schemeClr val="tx1"/>
                </a:solidFill>
                <a:latin typeface="Times New Roman" pitchFamily="18" charset="0"/>
              </a:defRPr>
            </a:lvl3pPr>
            <a:lvl4pPr marL="1336675" indent="-147638" defTabSz="660400">
              <a:defRPr sz="2400">
                <a:solidFill>
                  <a:schemeClr val="tx1"/>
                </a:solidFill>
                <a:latin typeface="Times New Roman" pitchFamily="18" charset="0"/>
              </a:defRPr>
            </a:lvl4pPr>
            <a:lvl5pPr marL="1728788" indent="-146050" defTabSz="660400">
              <a:defRPr sz="2400">
                <a:solidFill>
                  <a:schemeClr val="tx1"/>
                </a:solidFill>
                <a:latin typeface="Times New Roman" pitchFamily="18" charset="0"/>
              </a:defRPr>
            </a:lvl5pPr>
            <a:lvl6pPr marL="2185988" indent="-146050" defTabSz="660400" eaLnBrk="0" fontAlgn="base" hangingPunct="0">
              <a:spcBef>
                <a:spcPct val="0"/>
              </a:spcBef>
              <a:spcAft>
                <a:spcPct val="0"/>
              </a:spcAft>
              <a:defRPr sz="2400">
                <a:solidFill>
                  <a:schemeClr val="tx1"/>
                </a:solidFill>
                <a:latin typeface="Times New Roman" pitchFamily="18" charset="0"/>
              </a:defRPr>
            </a:lvl6pPr>
            <a:lvl7pPr marL="2643188" indent="-146050" defTabSz="660400" eaLnBrk="0" fontAlgn="base" hangingPunct="0">
              <a:spcBef>
                <a:spcPct val="0"/>
              </a:spcBef>
              <a:spcAft>
                <a:spcPct val="0"/>
              </a:spcAft>
              <a:defRPr sz="2400">
                <a:solidFill>
                  <a:schemeClr val="tx1"/>
                </a:solidFill>
                <a:latin typeface="Times New Roman" pitchFamily="18" charset="0"/>
              </a:defRPr>
            </a:lvl7pPr>
            <a:lvl8pPr marL="3100388" indent="-146050" defTabSz="660400" eaLnBrk="0" fontAlgn="base" hangingPunct="0">
              <a:spcBef>
                <a:spcPct val="0"/>
              </a:spcBef>
              <a:spcAft>
                <a:spcPct val="0"/>
              </a:spcAft>
              <a:defRPr sz="2400">
                <a:solidFill>
                  <a:schemeClr val="tx1"/>
                </a:solidFill>
                <a:latin typeface="Times New Roman" pitchFamily="18" charset="0"/>
              </a:defRPr>
            </a:lvl8pPr>
            <a:lvl9pPr marL="3557588" indent="-146050" defTabSz="6604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30000"/>
              </a:spcBef>
            </a:pPr>
            <a:r>
              <a:rPr lang="en-GB" altLang="en-US" b="1" i="1" dirty="0">
                <a:solidFill>
                  <a:srgbClr val="333399"/>
                </a:solidFill>
                <a:latin typeface="Arial" pitchFamily="34" charset="0"/>
              </a:rPr>
              <a:t>Analysis</a:t>
            </a:r>
          </a:p>
          <a:p>
            <a:pPr lvl="1">
              <a:lnSpc>
                <a:spcPct val="90000"/>
              </a:lnSpc>
              <a:spcBef>
                <a:spcPct val="30000"/>
              </a:spcBef>
              <a:buFontTx/>
              <a:buChar char="–"/>
            </a:pPr>
            <a:r>
              <a:rPr lang="en-GB" altLang="en-US" sz="1800" b="1" dirty="0">
                <a:latin typeface="Arial" pitchFamily="34" charset="0"/>
              </a:rPr>
              <a:t>The ‘what’</a:t>
            </a:r>
          </a:p>
          <a:p>
            <a:pPr lvl="1">
              <a:lnSpc>
                <a:spcPct val="90000"/>
              </a:lnSpc>
              <a:spcBef>
                <a:spcPct val="30000"/>
              </a:spcBef>
              <a:buFontTx/>
              <a:buChar char="–"/>
            </a:pPr>
            <a:r>
              <a:rPr lang="en-GB" altLang="en-US" sz="1800" b="1" dirty="0">
                <a:latin typeface="Arial" pitchFamily="34" charset="0"/>
              </a:rPr>
              <a:t>Defining the problem space</a:t>
            </a:r>
          </a:p>
          <a:p>
            <a:pPr lvl="1">
              <a:lnSpc>
                <a:spcPct val="90000"/>
              </a:lnSpc>
              <a:spcBef>
                <a:spcPct val="30000"/>
              </a:spcBef>
              <a:buFontTx/>
              <a:buChar char="–"/>
            </a:pPr>
            <a:r>
              <a:rPr lang="en-GB" altLang="en-US" sz="1800" b="1" dirty="0">
                <a:latin typeface="Arial" pitchFamily="34" charset="0"/>
              </a:rPr>
              <a:t>A conceptual model		to facilitate understanding</a:t>
            </a:r>
          </a:p>
          <a:p>
            <a:pPr lvl="1">
              <a:lnSpc>
                <a:spcPct val="90000"/>
              </a:lnSpc>
              <a:spcBef>
                <a:spcPct val="30000"/>
              </a:spcBef>
              <a:buFontTx/>
              <a:buChar char="–"/>
            </a:pPr>
            <a:r>
              <a:rPr lang="en-GB" altLang="en-US" sz="1800" b="1" dirty="0">
                <a:latin typeface="Arial" pitchFamily="34" charset="0"/>
              </a:rPr>
              <a:t>Unaffected by software considerations</a:t>
            </a:r>
          </a:p>
          <a:p>
            <a:pPr lvl="1">
              <a:lnSpc>
                <a:spcPct val="90000"/>
              </a:lnSpc>
              <a:spcBef>
                <a:spcPct val="30000"/>
              </a:spcBef>
              <a:buFontTx/>
              <a:buChar char="–"/>
            </a:pPr>
            <a:r>
              <a:rPr lang="en-GB" altLang="en-US" sz="1800" b="1" dirty="0">
                <a:latin typeface="Arial" pitchFamily="34" charset="0"/>
              </a:rPr>
              <a:t>Unaffected by performance considerations</a:t>
            </a:r>
          </a:p>
        </p:txBody>
      </p:sp>
      <p:sp>
        <p:nvSpPr>
          <p:cNvPr id="261126" name="Rectangle 1030"/>
          <p:cNvSpPr>
            <a:spLocks noChangeArrowheads="1"/>
          </p:cNvSpPr>
          <p:nvPr/>
        </p:nvSpPr>
        <p:spPr bwMode="auto">
          <a:xfrm>
            <a:off x="4721488" y="1082850"/>
            <a:ext cx="4178762" cy="3657600"/>
          </a:xfrm>
          <a:prstGeom prst="rect">
            <a:avLst/>
          </a:prstGeom>
          <a:solidFill>
            <a:srgbClr val="EBFFFE"/>
          </a:solidFill>
          <a:ln w="25400">
            <a:solidFill>
              <a:srgbClr val="00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7788" tIns="41275" rIns="77788" bIns="41275"/>
          <a:lstStyle>
            <a:lvl1pPr marL="247650" indent="-247650" defTabSz="660400">
              <a:defRPr sz="2400">
                <a:solidFill>
                  <a:schemeClr val="tx1"/>
                </a:solidFill>
                <a:latin typeface="Times New Roman" pitchFamily="18" charset="0"/>
              </a:defRPr>
            </a:lvl1pPr>
            <a:lvl2pPr marL="592138" indent="-195263" defTabSz="660400">
              <a:defRPr sz="2400">
                <a:solidFill>
                  <a:schemeClr val="tx1"/>
                </a:solidFill>
                <a:latin typeface="Times New Roman" pitchFamily="18" charset="0"/>
              </a:defRPr>
            </a:lvl2pPr>
            <a:lvl3pPr marL="989013" indent="-198438" defTabSz="660400">
              <a:defRPr sz="2400">
                <a:solidFill>
                  <a:schemeClr val="tx1"/>
                </a:solidFill>
                <a:latin typeface="Times New Roman" pitchFamily="18" charset="0"/>
              </a:defRPr>
            </a:lvl3pPr>
            <a:lvl4pPr marL="1336675" indent="-147638" defTabSz="660400">
              <a:defRPr sz="2400">
                <a:solidFill>
                  <a:schemeClr val="tx1"/>
                </a:solidFill>
                <a:latin typeface="Times New Roman" pitchFamily="18" charset="0"/>
              </a:defRPr>
            </a:lvl4pPr>
            <a:lvl5pPr marL="1728788" indent="-146050" defTabSz="660400">
              <a:defRPr sz="2400">
                <a:solidFill>
                  <a:schemeClr val="tx1"/>
                </a:solidFill>
                <a:latin typeface="Times New Roman" pitchFamily="18" charset="0"/>
              </a:defRPr>
            </a:lvl5pPr>
            <a:lvl6pPr marL="2185988" indent="-146050" defTabSz="660400" eaLnBrk="0" fontAlgn="base" hangingPunct="0">
              <a:spcBef>
                <a:spcPct val="0"/>
              </a:spcBef>
              <a:spcAft>
                <a:spcPct val="0"/>
              </a:spcAft>
              <a:defRPr sz="2400">
                <a:solidFill>
                  <a:schemeClr val="tx1"/>
                </a:solidFill>
                <a:latin typeface="Times New Roman" pitchFamily="18" charset="0"/>
              </a:defRPr>
            </a:lvl6pPr>
            <a:lvl7pPr marL="2643188" indent="-146050" defTabSz="660400" eaLnBrk="0" fontAlgn="base" hangingPunct="0">
              <a:spcBef>
                <a:spcPct val="0"/>
              </a:spcBef>
              <a:spcAft>
                <a:spcPct val="0"/>
              </a:spcAft>
              <a:defRPr sz="2400">
                <a:solidFill>
                  <a:schemeClr val="tx1"/>
                </a:solidFill>
                <a:latin typeface="Times New Roman" pitchFamily="18" charset="0"/>
              </a:defRPr>
            </a:lvl7pPr>
            <a:lvl8pPr marL="3100388" indent="-146050" defTabSz="660400" eaLnBrk="0" fontAlgn="base" hangingPunct="0">
              <a:spcBef>
                <a:spcPct val="0"/>
              </a:spcBef>
              <a:spcAft>
                <a:spcPct val="0"/>
              </a:spcAft>
              <a:defRPr sz="2400">
                <a:solidFill>
                  <a:schemeClr val="tx1"/>
                </a:solidFill>
                <a:latin typeface="Times New Roman" pitchFamily="18" charset="0"/>
              </a:defRPr>
            </a:lvl8pPr>
            <a:lvl9pPr marL="3557588" indent="-146050" defTabSz="660400" eaLnBrk="0" fontAlgn="base" hangingPunct="0">
              <a:spcBef>
                <a:spcPct val="0"/>
              </a:spcBef>
              <a:spcAft>
                <a:spcPct val="0"/>
              </a:spcAft>
              <a:defRPr sz="2400">
                <a:solidFill>
                  <a:schemeClr val="tx1"/>
                </a:solidFill>
                <a:latin typeface="Times New Roman" pitchFamily="18" charset="0"/>
              </a:defRPr>
            </a:lvl9pPr>
          </a:lstStyle>
          <a:p>
            <a:pPr>
              <a:lnSpc>
                <a:spcPct val="90000"/>
              </a:lnSpc>
              <a:spcBef>
                <a:spcPct val="30000"/>
              </a:spcBef>
            </a:pPr>
            <a:r>
              <a:rPr lang="en-GB" altLang="en-US" b="1" i="1" dirty="0">
                <a:solidFill>
                  <a:srgbClr val="333399"/>
                </a:solidFill>
                <a:latin typeface="Arial" pitchFamily="34" charset="0"/>
              </a:rPr>
              <a:t>Design</a:t>
            </a:r>
          </a:p>
          <a:p>
            <a:pPr lvl="1">
              <a:lnSpc>
                <a:spcPct val="90000"/>
              </a:lnSpc>
              <a:spcBef>
                <a:spcPct val="30000"/>
              </a:spcBef>
              <a:buFontTx/>
              <a:buChar char="–"/>
            </a:pPr>
            <a:r>
              <a:rPr lang="en-GB" altLang="en-US" sz="1800" b="1" dirty="0">
                <a:latin typeface="Arial" pitchFamily="34" charset="0"/>
              </a:rPr>
              <a:t>The ‘how’</a:t>
            </a:r>
          </a:p>
          <a:p>
            <a:pPr lvl="1">
              <a:lnSpc>
                <a:spcPct val="90000"/>
              </a:lnSpc>
              <a:spcBef>
                <a:spcPct val="30000"/>
              </a:spcBef>
              <a:buFontTx/>
              <a:buChar char="–"/>
            </a:pPr>
            <a:r>
              <a:rPr lang="en-GB" altLang="en-US" sz="1800" b="1" dirty="0">
                <a:latin typeface="Arial" pitchFamily="34" charset="0"/>
              </a:rPr>
              <a:t>Defining the solution space</a:t>
            </a:r>
          </a:p>
          <a:p>
            <a:pPr lvl="1">
              <a:lnSpc>
                <a:spcPct val="90000"/>
              </a:lnSpc>
              <a:spcBef>
                <a:spcPct val="30000"/>
              </a:spcBef>
              <a:buFontTx/>
              <a:buChar char="–"/>
            </a:pPr>
            <a:r>
              <a:rPr lang="en-GB" altLang="en-US" sz="1800" b="1" dirty="0">
                <a:latin typeface="Arial" pitchFamily="34" charset="0"/>
              </a:rPr>
              <a:t>A specification model		to facilitate implementation</a:t>
            </a:r>
          </a:p>
          <a:p>
            <a:pPr lvl="1">
              <a:lnSpc>
                <a:spcPct val="90000"/>
              </a:lnSpc>
              <a:spcBef>
                <a:spcPct val="30000"/>
              </a:spcBef>
              <a:buFontTx/>
              <a:buChar char="–"/>
            </a:pPr>
            <a:r>
              <a:rPr lang="en-GB" altLang="en-US" sz="1800" b="1" dirty="0">
                <a:latin typeface="Arial" pitchFamily="34" charset="0"/>
              </a:rPr>
              <a:t>Improving the software </a:t>
            </a:r>
          </a:p>
          <a:p>
            <a:pPr lvl="1">
              <a:lnSpc>
                <a:spcPct val="90000"/>
              </a:lnSpc>
              <a:spcBef>
                <a:spcPct val="30000"/>
              </a:spcBef>
              <a:buFontTx/>
              <a:buChar char="–"/>
            </a:pPr>
            <a:r>
              <a:rPr lang="en-GB" altLang="en-US" sz="1800" b="1" dirty="0">
                <a:latin typeface="Arial" pitchFamily="34" charset="0"/>
              </a:rPr>
              <a:t>Improving the performance</a:t>
            </a:r>
          </a:p>
        </p:txBody>
      </p:sp>
    </p:spTree>
    <p:extLst>
      <p:ext uri="{BB962C8B-B14F-4D97-AF65-F5344CB8AC3E}">
        <p14:creationId xmlns:p14="http://schemas.microsoft.com/office/powerpoint/2010/main" val="1764741194"/>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5" name="Rectangle 1031"/>
          <p:cNvSpPr>
            <a:spLocks noGrp="1" noChangeArrowheads="1"/>
          </p:cNvSpPr>
          <p:nvPr>
            <p:ph type="body" sz="quarter" idx="15"/>
          </p:nvPr>
        </p:nvSpPr>
        <p:spPr/>
        <p:txBody>
          <a:bodyPr/>
          <a:lstStyle/>
          <a:p>
            <a:r>
              <a:rPr lang="en-GB" altLang="en-US" dirty="0"/>
              <a:t>A graphical and textual notation for concepts</a:t>
            </a:r>
          </a:p>
          <a:p>
            <a:pPr lvl="1"/>
            <a:r>
              <a:rPr lang="en-GB" altLang="en-US" dirty="0"/>
              <a:t>Rich and expressive, but can be used simply</a:t>
            </a:r>
          </a:p>
          <a:p>
            <a:pPr lvl="1"/>
            <a:r>
              <a:rPr lang="en-GB" altLang="en-US" dirty="0"/>
              <a:t>Text allowed/encouraged when graphics prove difficult</a:t>
            </a:r>
          </a:p>
          <a:p>
            <a:r>
              <a:rPr lang="en-GB" altLang="en-US" dirty="0"/>
              <a:t>A meta-model of the notation</a:t>
            </a:r>
          </a:p>
          <a:p>
            <a:pPr lvl="1"/>
            <a:r>
              <a:rPr lang="en-GB" altLang="en-US" dirty="0"/>
              <a:t>Defines the syntax and semantics of the notation</a:t>
            </a:r>
          </a:p>
          <a:p>
            <a:pPr lvl="1"/>
            <a:r>
              <a:rPr lang="en-GB" altLang="en-US" dirty="0"/>
              <a:t>Useful for tool builders and code generators</a:t>
            </a:r>
          </a:p>
          <a:p>
            <a:r>
              <a:rPr lang="en-GB" altLang="en-US" dirty="0"/>
              <a:t>UML is independent of process and lifecycle</a:t>
            </a:r>
          </a:p>
          <a:p>
            <a:pPr lvl="1"/>
            <a:r>
              <a:rPr lang="en-GB" altLang="en-US" dirty="0"/>
              <a:t>The unified process was designed for UML</a:t>
            </a:r>
          </a:p>
          <a:p>
            <a:pPr lvl="1"/>
            <a:r>
              <a:rPr lang="en-GB" altLang="en-US" dirty="0"/>
              <a:t>It specifies a lifecycle and </a:t>
            </a:r>
            <a:r>
              <a:rPr lang="en-GB" altLang="en-US" dirty="0" smtClean="0"/>
              <a:t>workflows</a:t>
            </a:r>
            <a:endParaRPr lang="en-GB" altLang="en-US" dirty="0"/>
          </a:p>
        </p:txBody>
      </p:sp>
      <p:sp>
        <p:nvSpPr>
          <p:cNvPr id="252934" name="Rectangle 1030"/>
          <p:cNvSpPr>
            <a:spLocks noGrp="1" noChangeArrowheads="1"/>
          </p:cNvSpPr>
          <p:nvPr>
            <p:ph type="title"/>
          </p:nvPr>
        </p:nvSpPr>
        <p:spPr/>
        <p:txBody>
          <a:bodyPr/>
          <a:lstStyle/>
          <a:p>
            <a:r>
              <a:rPr lang="en-GB" altLang="en-US" dirty="0" smtClean="0"/>
              <a:t>What is UML?</a:t>
            </a:r>
            <a:endParaRPr lang="en-GB" altLang="en-US" dirty="0"/>
          </a:p>
        </p:txBody>
      </p:sp>
      <p:pic>
        <p:nvPicPr>
          <p:cNvPr id="252933" name="Picture 1029" descr="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0479" y="4274972"/>
            <a:ext cx="2222125" cy="1845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001891"/>
      </p:ext>
    </p:extLst>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395" name="Rectangle 419"/>
          <p:cNvSpPr>
            <a:spLocks noGrp="1" noChangeArrowheads="1"/>
          </p:cNvSpPr>
          <p:nvPr>
            <p:ph type="title"/>
          </p:nvPr>
        </p:nvSpPr>
        <p:spPr/>
        <p:txBody>
          <a:bodyPr/>
          <a:lstStyle/>
          <a:p>
            <a:r>
              <a:rPr lang="en-GB" altLang="en-US"/>
              <a:t>UML History</a:t>
            </a:r>
          </a:p>
        </p:txBody>
      </p:sp>
      <p:sp>
        <p:nvSpPr>
          <p:cNvPr id="255396" name="Rectangle 420"/>
          <p:cNvSpPr>
            <a:spLocks noGrp="1" noChangeArrowheads="1"/>
          </p:cNvSpPr>
          <p:nvPr>
            <p:ph type="body" idx="1"/>
          </p:nvPr>
        </p:nvSpPr>
        <p:spPr/>
        <p:txBody>
          <a:bodyPr/>
          <a:lstStyle/>
          <a:p>
            <a:r>
              <a:rPr lang="en-GB" altLang="en-US" dirty="0"/>
              <a:t>UML is the industry standard OO </a:t>
            </a:r>
            <a:r>
              <a:rPr lang="en-GB" altLang="en-US" dirty="0" smtClean="0"/>
              <a:t>notation – from 1995</a:t>
            </a:r>
            <a:endParaRPr lang="en-GB" altLang="en-US" dirty="0"/>
          </a:p>
          <a:p>
            <a:pPr lvl="1"/>
            <a:r>
              <a:rPr lang="en-GB" altLang="en-US" dirty="0"/>
              <a:t>Principal authors of OMT (</a:t>
            </a:r>
            <a:r>
              <a:rPr lang="en-GB" altLang="en-US" dirty="0" err="1"/>
              <a:t>Rumbaugh</a:t>
            </a:r>
            <a:r>
              <a:rPr lang="en-GB" altLang="en-US" dirty="0"/>
              <a:t>) and </a:t>
            </a:r>
            <a:r>
              <a:rPr lang="en-GB" altLang="en-US" dirty="0" err="1"/>
              <a:t>Booch</a:t>
            </a:r>
            <a:r>
              <a:rPr lang="en-GB" altLang="en-US" dirty="0"/>
              <a:t>, and </a:t>
            </a:r>
            <a:r>
              <a:rPr lang="en-GB" altLang="en-US" dirty="0" err="1"/>
              <a:t>Objectory</a:t>
            </a:r>
            <a:r>
              <a:rPr lang="en-GB" altLang="en-US" dirty="0"/>
              <a:t> (Ivar Jacobson)</a:t>
            </a:r>
          </a:p>
        </p:txBody>
      </p:sp>
      <p:grpSp>
        <p:nvGrpSpPr>
          <p:cNvPr id="254980" name="Group 4"/>
          <p:cNvGrpSpPr>
            <a:grpSpLocks/>
          </p:cNvGrpSpPr>
          <p:nvPr/>
        </p:nvGrpSpPr>
        <p:grpSpPr bwMode="auto">
          <a:xfrm>
            <a:off x="3733800" y="2221101"/>
            <a:ext cx="1933575" cy="993775"/>
            <a:chOff x="2548" y="1577"/>
            <a:chExt cx="1320" cy="626"/>
          </a:xfrm>
        </p:grpSpPr>
        <p:grpSp>
          <p:nvGrpSpPr>
            <p:cNvPr id="254981" name="Group 5"/>
            <p:cNvGrpSpPr>
              <a:grpSpLocks/>
            </p:cNvGrpSpPr>
            <p:nvPr/>
          </p:nvGrpSpPr>
          <p:grpSpPr bwMode="auto">
            <a:xfrm>
              <a:off x="2548" y="1577"/>
              <a:ext cx="1320" cy="626"/>
              <a:chOff x="2548" y="1577"/>
              <a:chExt cx="1320" cy="626"/>
            </a:xfrm>
          </p:grpSpPr>
          <p:grpSp>
            <p:nvGrpSpPr>
              <p:cNvPr id="254982" name="Group 6"/>
              <p:cNvGrpSpPr>
                <a:grpSpLocks/>
              </p:cNvGrpSpPr>
              <p:nvPr/>
            </p:nvGrpSpPr>
            <p:grpSpPr bwMode="auto">
              <a:xfrm>
                <a:off x="2548" y="1577"/>
                <a:ext cx="1320" cy="626"/>
                <a:chOff x="2548" y="1577"/>
                <a:chExt cx="1320" cy="626"/>
              </a:xfrm>
            </p:grpSpPr>
            <p:grpSp>
              <p:nvGrpSpPr>
                <p:cNvPr id="254983" name="Group 7"/>
                <p:cNvGrpSpPr>
                  <a:grpSpLocks/>
                </p:cNvGrpSpPr>
                <p:nvPr/>
              </p:nvGrpSpPr>
              <p:grpSpPr bwMode="auto">
                <a:xfrm>
                  <a:off x="2548" y="1577"/>
                  <a:ext cx="1320" cy="626"/>
                  <a:chOff x="2548" y="1577"/>
                  <a:chExt cx="1320" cy="626"/>
                </a:xfrm>
              </p:grpSpPr>
              <p:grpSp>
                <p:nvGrpSpPr>
                  <p:cNvPr id="254984" name="Group 8"/>
                  <p:cNvGrpSpPr>
                    <a:grpSpLocks/>
                  </p:cNvGrpSpPr>
                  <p:nvPr/>
                </p:nvGrpSpPr>
                <p:grpSpPr bwMode="auto">
                  <a:xfrm>
                    <a:off x="2548" y="1577"/>
                    <a:ext cx="1320" cy="626"/>
                    <a:chOff x="2548" y="1577"/>
                    <a:chExt cx="1320" cy="626"/>
                  </a:xfrm>
                </p:grpSpPr>
                <p:grpSp>
                  <p:nvGrpSpPr>
                    <p:cNvPr id="254985" name="Group 9"/>
                    <p:cNvGrpSpPr>
                      <a:grpSpLocks/>
                    </p:cNvGrpSpPr>
                    <p:nvPr/>
                  </p:nvGrpSpPr>
                  <p:grpSpPr bwMode="auto">
                    <a:xfrm>
                      <a:off x="2548" y="1577"/>
                      <a:ext cx="1320" cy="626"/>
                      <a:chOff x="2548" y="1577"/>
                      <a:chExt cx="1320" cy="626"/>
                    </a:xfrm>
                  </p:grpSpPr>
                  <p:grpSp>
                    <p:nvGrpSpPr>
                      <p:cNvPr id="254986" name="Group 10"/>
                      <p:cNvGrpSpPr>
                        <a:grpSpLocks/>
                      </p:cNvGrpSpPr>
                      <p:nvPr/>
                    </p:nvGrpSpPr>
                    <p:grpSpPr bwMode="auto">
                      <a:xfrm>
                        <a:off x="2548" y="2071"/>
                        <a:ext cx="1262" cy="132"/>
                        <a:chOff x="2548" y="2071"/>
                        <a:chExt cx="1262" cy="132"/>
                      </a:xfrm>
                    </p:grpSpPr>
                    <p:grpSp>
                      <p:nvGrpSpPr>
                        <p:cNvPr id="254987" name="Group 11"/>
                        <p:cNvGrpSpPr>
                          <a:grpSpLocks/>
                        </p:cNvGrpSpPr>
                        <p:nvPr/>
                      </p:nvGrpSpPr>
                      <p:grpSpPr bwMode="auto">
                        <a:xfrm>
                          <a:off x="2548" y="2080"/>
                          <a:ext cx="1262" cy="123"/>
                          <a:chOff x="2548" y="2080"/>
                          <a:chExt cx="1262" cy="123"/>
                        </a:xfrm>
                      </p:grpSpPr>
                      <p:sp>
                        <p:nvSpPr>
                          <p:cNvPr id="254988" name="Oval 12"/>
                          <p:cNvSpPr>
                            <a:spLocks noChangeArrowheads="1"/>
                          </p:cNvSpPr>
                          <p:nvPr/>
                        </p:nvSpPr>
                        <p:spPr bwMode="auto">
                          <a:xfrm>
                            <a:off x="2548" y="2124"/>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89" name="Oval 13"/>
                          <p:cNvSpPr>
                            <a:spLocks noChangeArrowheads="1"/>
                          </p:cNvSpPr>
                          <p:nvPr/>
                        </p:nvSpPr>
                        <p:spPr bwMode="auto">
                          <a:xfrm>
                            <a:off x="2598" y="2090"/>
                            <a:ext cx="131" cy="46"/>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0" name="Oval 14"/>
                          <p:cNvSpPr>
                            <a:spLocks noChangeArrowheads="1"/>
                          </p:cNvSpPr>
                          <p:nvPr/>
                        </p:nvSpPr>
                        <p:spPr bwMode="auto">
                          <a:xfrm>
                            <a:off x="2681" y="2094"/>
                            <a:ext cx="132" cy="4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1" name="Oval 15"/>
                          <p:cNvSpPr>
                            <a:spLocks noChangeArrowheads="1"/>
                          </p:cNvSpPr>
                          <p:nvPr/>
                        </p:nvSpPr>
                        <p:spPr bwMode="auto">
                          <a:xfrm>
                            <a:off x="2830" y="2122"/>
                            <a:ext cx="138" cy="6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2" name="Oval 16"/>
                          <p:cNvSpPr>
                            <a:spLocks noChangeArrowheads="1"/>
                          </p:cNvSpPr>
                          <p:nvPr/>
                        </p:nvSpPr>
                        <p:spPr bwMode="auto">
                          <a:xfrm>
                            <a:off x="2642" y="2130"/>
                            <a:ext cx="19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3" name="Oval 17"/>
                          <p:cNvSpPr>
                            <a:spLocks noChangeArrowheads="1"/>
                          </p:cNvSpPr>
                          <p:nvPr/>
                        </p:nvSpPr>
                        <p:spPr bwMode="auto">
                          <a:xfrm>
                            <a:off x="2950" y="2133"/>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4" name="Oval 18"/>
                          <p:cNvSpPr>
                            <a:spLocks noChangeArrowheads="1"/>
                          </p:cNvSpPr>
                          <p:nvPr/>
                        </p:nvSpPr>
                        <p:spPr bwMode="auto">
                          <a:xfrm>
                            <a:off x="3055" y="2128"/>
                            <a:ext cx="111" cy="59"/>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5" name="Oval 19"/>
                          <p:cNvSpPr>
                            <a:spLocks noChangeArrowheads="1"/>
                          </p:cNvSpPr>
                          <p:nvPr/>
                        </p:nvSpPr>
                        <p:spPr bwMode="auto">
                          <a:xfrm>
                            <a:off x="3153" y="2128"/>
                            <a:ext cx="107" cy="64"/>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6" name="Oval 20"/>
                          <p:cNvSpPr>
                            <a:spLocks noChangeArrowheads="1"/>
                          </p:cNvSpPr>
                          <p:nvPr/>
                        </p:nvSpPr>
                        <p:spPr bwMode="auto">
                          <a:xfrm>
                            <a:off x="3231" y="2146"/>
                            <a:ext cx="113" cy="50"/>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7" name="Oval 21"/>
                          <p:cNvSpPr>
                            <a:spLocks noChangeArrowheads="1"/>
                          </p:cNvSpPr>
                          <p:nvPr/>
                        </p:nvSpPr>
                        <p:spPr bwMode="auto">
                          <a:xfrm>
                            <a:off x="3338" y="2115"/>
                            <a:ext cx="73" cy="7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8" name="Oval 22"/>
                          <p:cNvSpPr>
                            <a:spLocks noChangeArrowheads="1"/>
                          </p:cNvSpPr>
                          <p:nvPr/>
                        </p:nvSpPr>
                        <p:spPr bwMode="auto">
                          <a:xfrm>
                            <a:off x="3397" y="2080"/>
                            <a:ext cx="109" cy="82"/>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9" name="Oval 23"/>
                          <p:cNvSpPr>
                            <a:spLocks noChangeArrowheads="1"/>
                          </p:cNvSpPr>
                          <p:nvPr/>
                        </p:nvSpPr>
                        <p:spPr bwMode="auto">
                          <a:xfrm>
                            <a:off x="3478" y="2091"/>
                            <a:ext cx="121" cy="8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00" name="Oval 24"/>
                          <p:cNvSpPr>
                            <a:spLocks noChangeArrowheads="1"/>
                          </p:cNvSpPr>
                          <p:nvPr/>
                        </p:nvSpPr>
                        <p:spPr bwMode="auto">
                          <a:xfrm>
                            <a:off x="3573" y="2105"/>
                            <a:ext cx="133" cy="6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01" name="Oval 25"/>
                          <p:cNvSpPr>
                            <a:spLocks noChangeArrowheads="1"/>
                          </p:cNvSpPr>
                          <p:nvPr/>
                        </p:nvSpPr>
                        <p:spPr bwMode="auto">
                          <a:xfrm>
                            <a:off x="3681" y="2091"/>
                            <a:ext cx="12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5002" name="Oval 26"/>
                        <p:cNvSpPr>
                          <a:spLocks noChangeArrowheads="1"/>
                        </p:cNvSpPr>
                        <p:nvPr/>
                      </p:nvSpPr>
                      <p:spPr bwMode="auto">
                        <a:xfrm>
                          <a:off x="3696" y="2071"/>
                          <a:ext cx="96"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5003" name="Group 27"/>
                      <p:cNvGrpSpPr>
                        <a:grpSpLocks/>
                      </p:cNvGrpSpPr>
                      <p:nvPr/>
                    </p:nvGrpSpPr>
                    <p:grpSpPr bwMode="auto">
                      <a:xfrm>
                        <a:off x="2894" y="1577"/>
                        <a:ext cx="974" cy="600"/>
                        <a:chOff x="2894" y="1577"/>
                        <a:chExt cx="974" cy="600"/>
                      </a:xfrm>
                    </p:grpSpPr>
                    <p:sp>
                      <p:nvSpPr>
                        <p:cNvPr id="255004" name="Oval 28"/>
                        <p:cNvSpPr>
                          <a:spLocks noChangeArrowheads="1"/>
                        </p:cNvSpPr>
                        <p:nvPr/>
                      </p:nvSpPr>
                      <p:spPr bwMode="auto">
                        <a:xfrm>
                          <a:off x="3069" y="1596"/>
                          <a:ext cx="136"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05" name="Oval 29"/>
                        <p:cNvSpPr>
                          <a:spLocks noChangeArrowheads="1"/>
                        </p:cNvSpPr>
                        <p:nvPr/>
                      </p:nvSpPr>
                      <p:spPr bwMode="auto">
                        <a:xfrm>
                          <a:off x="3222" y="1577"/>
                          <a:ext cx="133" cy="13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06" name="Oval 30"/>
                        <p:cNvSpPr>
                          <a:spLocks noChangeArrowheads="1"/>
                        </p:cNvSpPr>
                        <p:nvPr/>
                      </p:nvSpPr>
                      <p:spPr bwMode="auto">
                        <a:xfrm>
                          <a:off x="2961" y="1668"/>
                          <a:ext cx="133"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07" name="Oval 31"/>
                        <p:cNvSpPr>
                          <a:spLocks noChangeArrowheads="1"/>
                        </p:cNvSpPr>
                        <p:nvPr/>
                      </p:nvSpPr>
                      <p:spPr bwMode="auto">
                        <a:xfrm>
                          <a:off x="2894" y="1789"/>
                          <a:ext cx="135"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08" name="Oval 32"/>
                        <p:cNvSpPr>
                          <a:spLocks noChangeArrowheads="1"/>
                        </p:cNvSpPr>
                        <p:nvPr/>
                      </p:nvSpPr>
                      <p:spPr bwMode="auto">
                        <a:xfrm>
                          <a:off x="2941" y="2050"/>
                          <a:ext cx="103" cy="10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09" name="Oval 33"/>
                        <p:cNvSpPr>
                          <a:spLocks noChangeArrowheads="1"/>
                        </p:cNvSpPr>
                        <p:nvPr/>
                      </p:nvSpPr>
                      <p:spPr bwMode="auto">
                        <a:xfrm>
                          <a:off x="2930" y="1916"/>
                          <a:ext cx="76" cy="7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0" name="Oval 34"/>
                        <p:cNvSpPr>
                          <a:spLocks noChangeArrowheads="1"/>
                        </p:cNvSpPr>
                        <p:nvPr/>
                      </p:nvSpPr>
                      <p:spPr bwMode="auto">
                        <a:xfrm>
                          <a:off x="2920" y="1967"/>
                          <a:ext cx="86" cy="8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1" name="Oval 35"/>
                        <p:cNvSpPr>
                          <a:spLocks noChangeArrowheads="1"/>
                        </p:cNvSpPr>
                        <p:nvPr/>
                      </p:nvSpPr>
                      <p:spPr bwMode="auto">
                        <a:xfrm>
                          <a:off x="3121" y="2073"/>
                          <a:ext cx="228" cy="104"/>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2" name="Oval 36"/>
                        <p:cNvSpPr>
                          <a:spLocks noChangeArrowheads="1"/>
                        </p:cNvSpPr>
                        <p:nvPr/>
                      </p:nvSpPr>
                      <p:spPr bwMode="auto">
                        <a:xfrm>
                          <a:off x="3462" y="1606"/>
                          <a:ext cx="136"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3" name="Oval 37"/>
                        <p:cNvSpPr>
                          <a:spLocks noChangeArrowheads="1"/>
                        </p:cNvSpPr>
                        <p:nvPr/>
                      </p:nvSpPr>
                      <p:spPr bwMode="auto">
                        <a:xfrm>
                          <a:off x="3686" y="1589"/>
                          <a:ext cx="89" cy="9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4" name="Oval 38"/>
                        <p:cNvSpPr>
                          <a:spLocks noChangeArrowheads="1"/>
                        </p:cNvSpPr>
                        <p:nvPr/>
                      </p:nvSpPr>
                      <p:spPr bwMode="auto">
                        <a:xfrm>
                          <a:off x="3642" y="1627"/>
                          <a:ext cx="67" cy="6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5" name="Oval 39"/>
                        <p:cNvSpPr>
                          <a:spLocks noChangeArrowheads="1"/>
                        </p:cNvSpPr>
                        <p:nvPr/>
                      </p:nvSpPr>
                      <p:spPr bwMode="auto">
                        <a:xfrm>
                          <a:off x="3669" y="1630"/>
                          <a:ext cx="199" cy="203"/>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6" name="Oval 40"/>
                        <p:cNvSpPr>
                          <a:spLocks noChangeArrowheads="1"/>
                        </p:cNvSpPr>
                        <p:nvPr/>
                      </p:nvSpPr>
                      <p:spPr bwMode="auto">
                        <a:xfrm>
                          <a:off x="3729" y="1936"/>
                          <a:ext cx="113" cy="11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17" name="Oval 41"/>
                        <p:cNvSpPr>
                          <a:spLocks noChangeArrowheads="1"/>
                        </p:cNvSpPr>
                        <p:nvPr/>
                      </p:nvSpPr>
                      <p:spPr bwMode="auto">
                        <a:xfrm>
                          <a:off x="3637" y="1973"/>
                          <a:ext cx="153" cy="15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018" name="Group 42"/>
                    <p:cNvGrpSpPr>
                      <a:grpSpLocks/>
                    </p:cNvGrpSpPr>
                    <p:nvPr/>
                  </p:nvGrpSpPr>
                  <p:grpSpPr bwMode="auto">
                    <a:xfrm>
                      <a:off x="3644" y="1599"/>
                      <a:ext cx="121" cy="102"/>
                      <a:chOff x="3644" y="1599"/>
                      <a:chExt cx="121" cy="102"/>
                    </a:xfrm>
                  </p:grpSpPr>
                  <p:sp>
                    <p:nvSpPr>
                      <p:cNvPr id="255019" name="Oval 43"/>
                      <p:cNvSpPr>
                        <a:spLocks noChangeArrowheads="1"/>
                      </p:cNvSpPr>
                      <p:nvPr/>
                    </p:nvSpPr>
                    <p:spPr bwMode="auto">
                      <a:xfrm>
                        <a:off x="3687" y="1599"/>
                        <a:ext cx="78" cy="7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0" name="Oval 44"/>
                      <p:cNvSpPr>
                        <a:spLocks noChangeArrowheads="1"/>
                      </p:cNvSpPr>
                      <p:nvPr/>
                    </p:nvSpPr>
                    <p:spPr bwMode="auto">
                      <a:xfrm>
                        <a:off x="3644" y="1638"/>
                        <a:ext cx="60" cy="6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021" name="Group 45"/>
                  <p:cNvGrpSpPr>
                    <a:grpSpLocks/>
                  </p:cNvGrpSpPr>
                  <p:nvPr/>
                </p:nvGrpSpPr>
                <p:grpSpPr bwMode="auto">
                  <a:xfrm>
                    <a:off x="2906" y="1581"/>
                    <a:ext cx="947" cy="596"/>
                    <a:chOff x="2906" y="1581"/>
                    <a:chExt cx="947" cy="596"/>
                  </a:xfrm>
                </p:grpSpPr>
                <p:sp>
                  <p:nvSpPr>
                    <p:cNvPr id="255022" name="Oval 46"/>
                    <p:cNvSpPr>
                      <a:spLocks noChangeArrowheads="1"/>
                    </p:cNvSpPr>
                    <p:nvPr/>
                  </p:nvSpPr>
                  <p:spPr bwMode="auto">
                    <a:xfrm>
                      <a:off x="3084" y="1607"/>
                      <a:ext cx="115"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3" name="Oval 47"/>
                    <p:cNvSpPr>
                      <a:spLocks noChangeArrowheads="1"/>
                    </p:cNvSpPr>
                    <p:nvPr/>
                  </p:nvSpPr>
                  <p:spPr bwMode="auto">
                    <a:xfrm>
                      <a:off x="2929" y="1982"/>
                      <a:ext cx="81"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4" name="Oval 48"/>
                    <p:cNvSpPr>
                      <a:spLocks noChangeArrowheads="1"/>
                    </p:cNvSpPr>
                    <p:nvPr/>
                  </p:nvSpPr>
                  <p:spPr bwMode="auto">
                    <a:xfrm>
                      <a:off x="3722" y="1874"/>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5" name="Oval 49"/>
                    <p:cNvSpPr>
                      <a:spLocks noChangeArrowheads="1"/>
                    </p:cNvSpPr>
                    <p:nvPr/>
                  </p:nvSpPr>
                  <p:spPr bwMode="auto">
                    <a:xfrm>
                      <a:off x="3573" y="1639"/>
                      <a:ext cx="85" cy="8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6" name="Oval 50"/>
                    <p:cNvSpPr>
                      <a:spLocks noChangeArrowheads="1"/>
                    </p:cNvSpPr>
                    <p:nvPr/>
                  </p:nvSpPr>
                  <p:spPr bwMode="auto">
                    <a:xfrm>
                      <a:off x="3234" y="1606"/>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7" name="Oval 51"/>
                    <p:cNvSpPr>
                      <a:spLocks noChangeArrowheads="1"/>
                    </p:cNvSpPr>
                    <p:nvPr/>
                  </p:nvSpPr>
                  <p:spPr bwMode="auto">
                    <a:xfrm>
                      <a:off x="3185" y="1643"/>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8" name="Oval 52"/>
                    <p:cNvSpPr>
                      <a:spLocks noChangeArrowheads="1"/>
                    </p:cNvSpPr>
                    <p:nvPr/>
                  </p:nvSpPr>
                  <p:spPr bwMode="auto">
                    <a:xfrm>
                      <a:off x="3328" y="2074"/>
                      <a:ext cx="77"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29" name="Oval 53"/>
                    <p:cNvSpPr>
                      <a:spLocks noChangeArrowheads="1"/>
                    </p:cNvSpPr>
                    <p:nvPr/>
                  </p:nvSpPr>
                  <p:spPr bwMode="auto">
                    <a:xfrm>
                      <a:off x="3379" y="1624"/>
                      <a:ext cx="106" cy="9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0" name="Oval 54"/>
                    <p:cNvSpPr>
                      <a:spLocks noChangeArrowheads="1"/>
                    </p:cNvSpPr>
                    <p:nvPr/>
                  </p:nvSpPr>
                  <p:spPr bwMode="auto">
                    <a:xfrm>
                      <a:off x="3266" y="1581"/>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1" name="Oval 55"/>
                    <p:cNvSpPr>
                      <a:spLocks noChangeArrowheads="1"/>
                    </p:cNvSpPr>
                    <p:nvPr/>
                  </p:nvSpPr>
                  <p:spPr bwMode="auto">
                    <a:xfrm>
                      <a:off x="3462" y="1616"/>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2" name="Oval 56"/>
                    <p:cNvSpPr>
                      <a:spLocks noChangeArrowheads="1"/>
                    </p:cNvSpPr>
                    <p:nvPr/>
                  </p:nvSpPr>
                  <p:spPr bwMode="auto">
                    <a:xfrm>
                      <a:off x="2972" y="1681"/>
                      <a:ext cx="137"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3" name="Oval 57"/>
                    <p:cNvSpPr>
                      <a:spLocks noChangeArrowheads="1"/>
                    </p:cNvSpPr>
                    <p:nvPr/>
                  </p:nvSpPr>
                  <p:spPr bwMode="auto">
                    <a:xfrm>
                      <a:off x="2906" y="1801"/>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4" name="Oval 58"/>
                    <p:cNvSpPr>
                      <a:spLocks noChangeArrowheads="1"/>
                    </p:cNvSpPr>
                    <p:nvPr/>
                  </p:nvSpPr>
                  <p:spPr bwMode="auto">
                    <a:xfrm>
                      <a:off x="3705" y="1932"/>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5" name="Oval 59"/>
                    <p:cNvSpPr>
                      <a:spLocks noChangeArrowheads="1"/>
                    </p:cNvSpPr>
                    <p:nvPr/>
                  </p:nvSpPr>
                  <p:spPr bwMode="auto">
                    <a:xfrm>
                      <a:off x="3550" y="1994"/>
                      <a:ext cx="128" cy="125"/>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6" name="Oval 60"/>
                    <p:cNvSpPr>
                      <a:spLocks noChangeArrowheads="1"/>
                    </p:cNvSpPr>
                    <p:nvPr/>
                  </p:nvSpPr>
                  <p:spPr bwMode="auto">
                    <a:xfrm>
                      <a:off x="3042" y="2050"/>
                      <a:ext cx="133" cy="12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7" name="Oval 61"/>
                    <p:cNvSpPr>
                      <a:spLocks noChangeArrowheads="1"/>
                    </p:cNvSpPr>
                    <p:nvPr/>
                  </p:nvSpPr>
                  <p:spPr bwMode="auto">
                    <a:xfrm>
                      <a:off x="2953" y="2055"/>
                      <a:ext cx="107" cy="10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8" name="Oval 62"/>
                    <p:cNvSpPr>
                      <a:spLocks noChangeArrowheads="1"/>
                    </p:cNvSpPr>
                    <p:nvPr/>
                  </p:nvSpPr>
                  <p:spPr bwMode="auto">
                    <a:xfrm>
                      <a:off x="3642" y="1978"/>
                      <a:ext cx="130" cy="12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39" name="Oval 63"/>
                    <p:cNvSpPr>
                      <a:spLocks noChangeArrowheads="1"/>
                    </p:cNvSpPr>
                    <p:nvPr/>
                  </p:nvSpPr>
                  <p:spPr bwMode="auto">
                    <a:xfrm>
                      <a:off x="3393" y="1963"/>
                      <a:ext cx="181" cy="18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40" name="Oval 64"/>
                    <p:cNvSpPr>
                      <a:spLocks noChangeArrowheads="1"/>
                    </p:cNvSpPr>
                    <p:nvPr/>
                  </p:nvSpPr>
                  <p:spPr bwMode="auto">
                    <a:xfrm>
                      <a:off x="3125" y="1938"/>
                      <a:ext cx="234" cy="2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41" name="Oval 65"/>
                    <p:cNvSpPr>
                      <a:spLocks noChangeArrowheads="1"/>
                    </p:cNvSpPr>
                    <p:nvPr/>
                  </p:nvSpPr>
                  <p:spPr bwMode="auto">
                    <a:xfrm>
                      <a:off x="2941" y="1920"/>
                      <a:ext cx="64"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42" name="Oval 66"/>
                    <p:cNvSpPr>
                      <a:spLocks noChangeArrowheads="1"/>
                    </p:cNvSpPr>
                    <p:nvPr/>
                  </p:nvSpPr>
                  <p:spPr bwMode="auto">
                    <a:xfrm>
                      <a:off x="3738" y="1819"/>
                      <a:ext cx="65" cy="6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43" name="Oval 67"/>
                    <p:cNvSpPr>
                      <a:spLocks noChangeArrowheads="1"/>
                    </p:cNvSpPr>
                    <p:nvPr/>
                  </p:nvSpPr>
                  <p:spPr bwMode="auto">
                    <a:xfrm>
                      <a:off x="3649" y="1634"/>
                      <a:ext cx="204" cy="20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044" name="Freeform 68"/>
                <p:cNvSpPr>
                  <a:spLocks/>
                </p:cNvSpPr>
                <p:nvPr/>
              </p:nvSpPr>
              <p:spPr bwMode="auto">
                <a:xfrm>
                  <a:off x="2974" y="1664"/>
                  <a:ext cx="808" cy="437"/>
                </a:xfrm>
                <a:custGeom>
                  <a:avLst/>
                  <a:gdLst>
                    <a:gd name="T0" fmla="*/ 165 w 808"/>
                    <a:gd name="T1" fmla="*/ 21 h 437"/>
                    <a:gd name="T2" fmla="*/ 74 w 808"/>
                    <a:gd name="T3" fmla="*/ 32 h 437"/>
                    <a:gd name="T4" fmla="*/ 0 w 808"/>
                    <a:gd name="T5" fmla="*/ 311 h 437"/>
                    <a:gd name="T6" fmla="*/ 57 w 808"/>
                    <a:gd name="T7" fmla="*/ 394 h 437"/>
                    <a:gd name="T8" fmla="*/ 222 w 808"/>
                    <a:gd name="T9" fmla="*/ 390 h 437"/>
                    <a:gd name="T10" fmla="*/ 398 w 808"/>
                    <a:gd name="T11" fmla="*/ 436 h 437"/>
                    <a:gd name="T12" fmla="*/ 489 w 808"/>
                    <a:gd name="T13" fmla="*/ 406 h 437"/>
                    <a:gd name="T14" fmla="*/ 734 w 808"/>
                    <a:gd name="T15" fmla="*/ 355 h 437"/>
                    <a:gd name="T16" fmla="*/ 775 w 808"/>
                    <a:gd name="T17" fmla="*/ 319 h 437"/>
                    <a:gd name="T18" fmla="*/ 765 w 808"/>
                    <a:gd name="T19" fmla="*/ 242 h 437"/>
                    <a:gd name="T20" fmla="*/ 807 w 808"/>
                    <a:gd name="T21" fmla="*/ 169 h 437"/>
                    <a:gd name="T22" fmla="*/ 694 w 808"/>
                    <a:gd name="T23" fmla="*/ 75 h 437"/>
                    <a:gd name="T24" fmla="*/ 647 w 808"/>
                    <a:gd name="T25" fmla="*/ 37 h 437"/>
                    <a:gd name="T26" fmla="*/ 360 w 808"/>
                    <a:gd name="T27" fmla="*/ 0 h 437"/>
                    <a:gd name="T28" fmla="*/ 165 w 808"/>
                    <a:gd name="T29" fmla="*/ 2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8" h="437">
                      <a:moveTo>
                        <a:pt x="165" y="21"/>
                      </a:moveTo>
                      <a:lnTo>
                        <a:pt x="74" y="32"/>
                      </a:lnTo>
                      <a:lnTo>
                        <a:pt x="0" y="311"/>
                      </a:lnTo>
                      <a:lnTo>
                        <a:pt x="57" y="394"/>
                      </a:lnTo>
                      <a:lnTo>
                        <a:pt x="222" y="390"/>
                      </a:lnTo>
                      <a:lnTo>
                        <a:pt x="398" y="436"/>
                      </a:lnTo>
                      <a:lnTo>
                        <a:pt x="489" y="406"/>
                      </a:lnTo>
                      <a:lnTo>
                        <a:pt x="734" y="355"/>
                      </a:lnTo>
                      <a:lnTo>
                        <a:pt x="775" y="319"/>
                      </a:lnTo>
                      <a:lnTo>
                        <a:pt x="765" y="242"/>
                      </a:lnTo>
                      <a:lnTo>
                        <a:pt x="807" y="169"/>
                      </a:lnTo>
                      <a:lnTo>
                        <a:pt x="694" y="75"/>
                      </a:lnTo>
                      <a:lnTo>
                        <a:pt x="647" y="37"/>
                      </a:lnTo>
                      <a:lnTo>
                        <a:pt x="360" y="0"/>
                      </a:lnTo>
                      <a:lnTo>
                        <a:pt x="165" y="21"/>
                      </a:lnTo>
                    </a:path>
                  </a:pathLst>
                </a:custGeom>
                <a:solidFill>
                  <a:srgbClr val="FFBF7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55045" name="Group 69"/>
              <p:cNvGrpSpPr>
                <a:grpSpLocks/>
              </p:cNvGrpSpPr>
              <p:nvPr/>
            </p:nvGrpSpPr>
            <p:grpSpPr bwMode="auto">
              <a:xfrm>
                <a:off x="2947" y="1683"/>
                <a:ext cx="874" cy="441"/>
                <a:chOff x="2947" y="1683"/>
                <a:chExt cx="874" cy="441"/>
              </a:xfrm>
            </p:grpSpPr>
            <p:sp>
              <p:nvSpPr>
                <p:cNvPr id="255046" name="Oval 70"/>
                <p:cNvSpPr>
                  <a:spLocks noChangeArrowheads="1"/>
                </p:cNvSpPr>
                <p:nvPr/>
              </p:nvSpPr>
              <p:spPr bwMode="auto">
                <a:xfrm>
                  <a:off x="2979" y="1986"/>
                  <a:ext cx="126"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47" name="Oval 71"/>
                <p:cNvSpPr>
                  <a:spLocks noChangeArrowheads="1"/>
                </p:cNvSpPr>
                <p:nvPr/>
              </p:nvSpPr>
              <p:spPr bwMode="auto">
                <a:xfrm>
                  <a:off x="2947" y="1771"/>
                  <a:ext cx="125" cy="12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48" name="Oval 72"/>
                <p:cNvSpPr>
                  <a:spLocks noChangeArrowheads="1"/>
                </p:cNvSpPr>
                <p:nvPr/>
              </p:nvSpPr>
              <p:spPr bwMode="auto">
                <a:xfrm>
                  <a:off x="3694" y="1683"/>
                  <a:ext cx="127"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49" name="Oval 73"/>
                <p:cNvSpPr>
                  <a:spLocks noChangeArrowheads="1"/>
                </p:cNvSpPr>
                <p:nvPr/>
              </p:nvSpPr>
              <p:spPr bwMode="auto">
                <a:xfrm>
                  <a:off x="3690" y="1863"/>
                  <a:ext cx="103" cy="100"/>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0" name="Oval 74"/>
                <p:cNvSpPr>
                  <a:spLocks noChangeArrowheads="1"/>
                </p:cNvSpPr>
                <p:nvPr/>
              </p:nvSpPr>
              <p:spPr bwMode="auto">
                <a:xfrm>
                  <a:off x="2956" y="1787"/>
                  <a:ext cx="135" cy="13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1" name="Oval 75"/>
                <p:cNvSpPr>
                  <a:spLocks noChangeArrowheads="1"/>
                </p:cNvSpPr>
                <p:nvPr/>
              </p:nvSpPr>
              <p:spPr bwMode="auto">
                <a:xfrm>
                  <a:off x="2988" y="1993"/>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2" name="Oval 76"/>
                <p:cNvSpPr>
                  <a:spLocks noChangeArrowheads="1"/>
                </p:cNvSpPr>
                <p:nvPr/>
              </p:nvSpPr>
              <p:spPr bwMode="auto">
                <a:xfrm>
                  <a:off x="3680" y="1694"/>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3" name="Oval 77"/>
                <p:cNvSpPr>
                  <a:spLocks noChangeArrowheads="1"/>
                </p:cNvSpPr>
                <p:nvPr/>
              </p:nvSpPr>
              <p:spPr bwMode="auto">
                <a:xfrm>
                  <a:off x="3663" y="1856"/>
                  <a:ext cx="115" cy="11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4" name="Oval 78"/>
                <p:cNvSpPr>
                  <a:spLocks noChangeArrowheads="1"/>
                </p:cNvSpPr>
                <p:nvPr/>
              </p:nvSpPr>
              <p:spPr bwMode="auto">
                <a:xfrm>
                  <a:off x="2950" y="1838"/>
                  <a:ext cx="122" cy="11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5" name="Oval 79"/>
                <p:cNvSpPr>
                  <a:spLocks noChangeArrowheads="1"/>
                </p:cNvSpPr>
                <p:nvPr/>
              </p:nvSpPr>
              <p:spPr bwMode="auto">
                <a:xfrm>
                  <a:off x="2966" y="1839"/>
                  <a:ext cx="114" cy="11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6" name="Oval 80"/>
                <p:cNvSpPr>
                  <a:spLocks noChangeArrowheads="1"/>
                </p:cNvSpPr>
                <p:nvPr/>
              </p:nvSpPr>
              <p:spPr bwMode="auto">
                <a:xfrm>
                  <a:off x="3623" y="1696"/>
                  <a:ext cx="125"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7" name="Oval 81"/>
                <p:cNvSpPr>
                  <a:spLocks noChangeArrowheads="1"/>
                </p:cNvSpPr>
                <p:nvPr/>
              </p:nvSpPr>
              <p:spPr bwMode="auto">
                <a:xfrm>
                  <a:off x="3624" y="1707"/>
                  <a:ext cx="114"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8" name="Oval 82"/>
                <p:cNvSpPr>
                  <a:spLocks noChangeArrowheads="1"/>
                </p:cNvSpPr>
                <p:nvPr/>
              </p:nvSpPr>
              <p:spPr bwMode="auto">
                <a:xfrm>
                  <a:off x="3712" y="1942"/>
                  <a:ext cx="82" cy="8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59" name="Oval 83"/>
                <p:cNvSpPr>
                  <a:spLocks noChangeArrowheads="1"/>
                </p:cNvSpPr>
                <p:nvPr/>
              </p:nvSpPr>
              <p:spPr bwMode="auto">
                <a:xfrm>
                  <a:off x="3705" y="1947"/>
                  <a:ext cx="76" cy="7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060" name="Rectangle 84"/>
            <p:cNvSpPr>
              <a:spLocks noChangeArrowheads="1"/>
            </p:cNvSpPr>
            <p:nvPr/>
          </p:nvSpPr>
          <p:spPr bwMode="auto">
            <a:xfrm>
              <a:off x="3032" y="1676"/>
              <a:ext cx="68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7625" rIns="96838" bIns="47625">
              <a:spAutoFit/>
            </a:bodyPr>
            <a:lstStyle>
              <a:lvl1pPr defTabSz="960438">
                <a:defRPr sz="2400">
                  <a:solidFill>
                    <a:schemeClr val="tx1"/>
                  </a:solidFill>
                  <a:latin typeface="Times New Roman" pitchFamily="18" charset="0"/>
                </a:defRPr>
              </a:lvl1pPr>
              <a:lvl2pPr marL="479425" defTabSz="960438">
                <a:defRPr sz="2400">
                  <a:solidFill>
                    <a:schemeClr val="tx1"/>
                  </a:solidFill>
                  <a:latin typeface="Times New Roman" pitchFamily="18" charset="0"/>
                </a:defRPr>
              </a:lvl2pPr>
              <a:lvl3pPr marL="960438" defTabSz="960438">
                <a:defRPr sz="2400">
                  <a:solidFill>
                    <a:schemeClr val="tx1"/>
                  </a:solidFill>
                  <a:latin typeface="Times New Roman" pitchFamily="18" charset="0"/>
                </a:defRPr>
              </a:lvl3pPr>
              <a:lvl4pPr marL="1439863" defTabSz="960438">
                <a:defRPr sz="2400">
                  <a:solidFill>
                    <a:schemeClr val="tx1"/>
                  </a:solidFill>
                  <a:latin typeface="Times New Roman" pitchFamily="18" charset="0"/>
                </a:defRPr>
              </a:lvl4pPr>
              <a:lvl5pPr marL="1920875" defTabSz="960438">
                <a:defRPr sz="2400">
                  <a:solidFill>
                    <a:schemeClr val="tx1"/>
                  </a:solidFill>
                  <a:latin typeface="Times New Roman" pitchFamily="18" charset="0"/>
                </a:defRPr>
              </a:lvl5pPr>
              <a:lvl6pPr marL="2378075" defTabSz="960438" eaLnBrk="0" fontAlgn="base" hangingPunct="0">
                <a:spcBef>
                  <a:spcPct val="0"/>
                </a:spcBef>
                <a:spcAft>
                  <a:spcPct val="0"/>
                </a:spcAft>
                <a:defRPr sz="2400">
                  <a:solidFill>
                    <a:schemeClr val="tx1"/>
                  </a:solidFill>
                  <a:latin typeface="Times New Roman" pitchFamily="18" charset="0"/>
                </a:defRPr>
              </a:lvl6pPr>
              <a:lvl7pPr marL="2835275" defTabSz="960438" eaLnBrk="0" fontAlgn="base" hangingPunct="0">
                <a:spcBef>
                  <a:spcPct val="0"/>
                </a:spcBef>
                <a:spcAft>
                  <a:spcPct val="0"/>
                </a:spcAft>
                <a:defRPr sz="2400">
                  <a:solidFill>
                    <a:schemeClr val="tx1"/>
                  </a:solidFill>
                  <a:latin typeface="Times New Roman" pitchFamily="18" charset="0"/>
                </a:defRPr>
              </a:lvl7pPr>
              <a:lvl8pPr marL="3292475" defTabSz="960438" eaLnBrk="0" fontAlgn="base" hangingPunct="0">
                <a:spcBef>
                  <a:spcPct val="0"/>
                </a:spcBef>
                <a:spcAft>
                  <a:spcPct val="0"/>
                </a:spcAft>
                <a:defRPr sz="2400">
                  <a:solidFill>
                    <a:schemeClr val="tx1"/>
                  </a:solidFill>
                  <a:latin typeface="Times New Roman" pitchFamily="18" charset="0"/>
                </a:defRPr>
              </a:lvl8pPr>
              <a:lvl9pPr marL="3749675" defTabSz="960438" eaLnBrk="0" fontAlgn="base" hangingPunct="0">
                <a:spcBef>
                  <a:spcPct val="0"/>
                </a:spcBef>
                <a:spcAft>
                  <a:spcPct val="0"/>
                </a:spcAft>
                <a:defRPr sz="2400">
                  <a:solidFill>
                    <a:schemeClr val="tx1"/>
                  </a:solidFill>
                  <a:latin typeface="Times New Roman" pitchFamily="18" charset="0"/>
                </a:defRPr>
              </a:lvl9pPr>
            </a:lstStyle>
            <a:p>
              <a:pPr algn="ctr">
                <a:lnSpc>
                  <a:spcPct val="90000"/>
                </a:lnSpc>
              </a:pPr>
              <a:endParaRPr lang="en-GB" altLang="en-US" sz="1900" b="1">
                <a:latin typeface="Arial" pitchFamily="34" charset="0"/>
              </a:endParaRPr>
            </a:p>
            <a:p>
              <a:pPr algn="ctr">
                <a:lnSpc>
                  <a:spcPct val="90000"/>
                </a:lnSpc>
              </a:pPr>
              <a:r>
                <a:rPr lang="en-GB" altLang="en-US" sz="1900" b="1">
                  <a:latin typeface="Arial" pitchFamily="34" charset="0"/>
                </a:rPr>
                <a:t>BOOCH</a:t>
              </a:r>
            </a:p>
          </p:txBody>
        </p:sp>
      </p:grpSp>
      <p:grpSp>
        <p:nvGrpSpPr>
          <p:cNvPr id="255061" name="Group 85"/>
          <p:cNvGrpSpPr>
            <a:grpSpLocks/>
          </p:cNvGrpSpPr>
          <p:nvPr/>
        </p:nvGrpSpPr>
        <p:grpSpPr bwMode="auto">
          <a:xfrm>
            <a:off x="1009650" y="2221101"/>
            <a:ext cx="1933575" cy="993775"/>
            <a:chOff x="689" y="1577"/>
            <a:chExt cx="1320" cy="626"/>
          </a:xfrm>
        </p:grpSpPr>
        <p:grpSp>
          <p:nvGrpSpPr>
            <p:cNvPr id="255062" name="Group 86"/>
            <p:cNvGrpSpPr>
              <a:grpSpLocks/>
            </p:cNvGrpSpPr>
            <p:nvPr/>
          </p:nvGrpSpPr>
          <p:grpSpPr bwMode="auto">
            <a:xfrm>
              <a:off x="689" y="1577"/>
              <a:ext cx="1320" cy="626"/>
              <a:chOff x="689" y="1577"/>
              <a:chExt cx="1320" cy="626"/>
            </a:xfrm>
          </p:grpSpPr>
          <p:grpSp>
            <p:nvGrpSpPr>
              <p:cNvPr id="255063" name="Group 87"/>
              <p:cNvGrpSpPr>
                <a:grpSpLocks/>
              </p:cNvGrpSpPr>
              <p:nvPr/>
            </p:nvGrpSpPr>
            <p:grpSpPr bwMode="auto">
              <a:xfrm>
                <a:off x="689" y="1577"/>
                <a:ext cx="1320" cy="626"/>
                <a:chOff x="689" y="1577"/>
                <a:chExt cx="1320" cy="626"/>
              </a:xfrm>
            </p:grpSpPr>
            <p:grpSp>
              <p:nvGrpSpPr>
                <p:cNvPr id="255064" name="Group 88"/>
                <p:cNvGrpSpPr>
                  <a:grpSpLocks/>
                </p:cNvGrpSpPr>
                <p:nvPr/>
              </p:nvGrpSpPr>
              <p:grpSpPr bwMode="auto">
                <a:xfrm>
                  <a:off x="689" y="1577"/>
                  <a:ext cx="1320" cy="626"/>
                  <a:chOff x="689" y="1577"/>
                  <a:chExt cx="1320" cy="626"/>
                </a:xfrm>
              </p:grpSpPr>
              <p:grpSp>
                <p:nvGrpSpPr>
                  <p:cNvPr id="255065" name="Group 89"/>
                  <p:cNvGrpSpPr>
                    <a:grpSpLocks/>
                  </p:cNvGrpSpPr>
                  <p:nvPr/>
                </p:nvGrpSpPr>
                <p:grpSpPr bwMode="auto">
                  <a:xfrm>
                    <a:off x="689" y="1577"/>
                    <a:ext cx="1320" cy="626"/>
                    <a:chOff x="689" y="1577"/>
                    <a:chExt cx="1320" cy="626"/>
                  </a:xfrm>
                </p:grpSpPr>
                <p:grpSp>
                  <p:nvGrpSpPr>
                    <p:cNvPr id="255066" name="Group 90"/>
                    <p:cNvGrpSpPr>
                      <a:grpSpLocks/>
                    </p:cNvGrpSpPr>
                    <p:nvPr/>
                  </p:nvGrpSpPr>
                  <p:grpSpPr bwMode="auto">
                    <a:xfrm>
                      <a:off x="689" y="1577"/>
                      <a:ext cx="1320" cy="626"/>
                      <a:chOff x="689" y="1577"/>
                      <a:chExt cx="1320" cy="626"/>
                    </a:xfrm>
                  </p:grpSpPr>
                  <p:grpSp>
                    <p:nvGrpSpPr>
                      <p:cNvPr id="255067" name="Group 91"/>
                      <p:cNvGrpSpPr>
                        <a:grpSpLocks/>
                      </p:cNvGrpSpPr>
                      <p:nvPr/>
                    </p:nvGrpSpPr>
                    <p:grpSpPr bwMode="auto">
                      <a:xfrm>
                        <a:off x="689" y="2071"/>
                        <a:ext cx="1262" cy="132"/>
                        <a:chOff x="689" y="2071"/>
                        <a:chExt cx="1262" cy="132"/>
                      </a:xfrm>
                    </p:grpSpPr>
                    <p:grpSp>
                      <p:nvGrpSpPr>
                        <p:cNvPr id="255068" name="Group 92"/>
                        <p:cNvGrpSpPr>
                          <a:grpSpLocks/>
                        </p:cNvGrpSpPr>
                        <p:nvPr/>
                      </p:nvGrpSpPr>
                      <p:grpSpPr bwMode="auto">
                        <a:xfrm>
                          <a:off x="689" y="2080"/>
                          <a:ext cx="1262" cy="123"/>
                          <a:chOff x="689" y="2080"/>
                          <a:chExt cx="1262" cy="123"/>
                        </a:xfrm>
                      </p:grpSpPr>
                      <p:sp>
                        <p:nvSpPr>
                          <p:cNvPr id="255069" name="Oval 93"/>
                          <p:cNvSpPr>
                            <a:spLocks noChangeArrowheads="1"/>
                          </p:cNvSpPr>
                          <p:nvPr/>
                        </p:nvSpPr>
                        <p:spPr bwMode="auto">
                          <a:xfrm>
                            <a:off x="689" y="2124"/>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0" name="Oval 94"/>
                          <p:cNvSpPr>
                            <a:spLocks noChangeArrowheads="1"/>
                          </p:cNvSpPr>
                          <p:nvPr/>
                        </p:nvSpPr>
                        <p:spPr bwMode="auto">
                          <a:xfrm>
                            <a:off x="739" y="2090"/>
                            <a:ext cx="131" cy="46"/>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1" name="Oval 95"/>
                          <p:cNvSpPr>
                            <a:spLocks noChangeArrowheads="1"/>
                          </p:cNvSpPr>
                          <p:nvPr/>
                        </p:nvSpPr>
                        <p:spPr bwMode="auto">
                          <a:xfrm>
                            <a:off x="822" y="2094"/>
                            <a:ext cx="132" cy="4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2" name="Oval 96"/>
                          <p:cNvSpPr>
                            <a:spLocks noChangeArrowheads="1"/>
                          </p:cNvSpPr>
                          <p:nvPr/>
                        </p:nvSpPr>
                        <p:spPr bwMode="auto">
                          <a:xfrm>
                            <a:off x="971" y="2122"/>
                            <a:ext cx="138" cy="6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3" name="Oval 97"/>
                          <p:cNvSpPr>
                            <a:spLocks noChangeArrowheads="1"/>
                          </p:cNvSpPr>
                          <p:nvPr/>
                        </p:nvSpPr>
                        <p:spPr bwMode="auto">
                          <a:xfrm>
                            <a:off x="783" y="2130"/>
                            <a:ext cx="19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4" name="Oval 98"/>
                          <p:cNvSpPr>
                            <a:spLocks noChangeArrowheads="1"/>
                          </p:cNvSpPr>
                          <p:nvPr/>
                        </p:nvSpPr>
                        <p:spPr bwMode="auto">
                          <a:xfrm>
                            <a:off x="1091" y="2133"/>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5" name="Oval 99"/>
                          <p:cNvSpPr>
                            <a:spLocks noChangeArrowheads="1"/>
                          </p:cNvSpPr>
                          <p:nvPr/>
                        </p:nvSpPr>
                        <p:spPr bwMode="auto">
                          <a:xfrm>
                            <a:off x="1196" y="2128"/>
                            <a:ext cx="111" cy="59"/>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6" name="Oval 100"/>
                          <p:cNvSpPr>
                            <a:spLocks noChangeArrowheads="1"/>
                          </p:cNvSpPr>
                          <p:nvPr/>
                        </p:nvSpPr>
                        <p:spPr bwMode="auto">
                          <a:xfrm>
                            <a:off x="1294" y="2128"/>
                            <a:ext cx="107" cy="64"/>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7" name="Oval 101"/>
                          <p:cNvSpPr>
                            <a:spLocks noChangeArrowheads="1"/>
                          </p:cNvSpPr>
                          <p:nvPr/>
                        </p:nvSpPr>
                        <p:spPr bwMode="auto">
                          <a:xfrm>
                            <a:off x="1372" y="2146"/>
                            <a:ext cx="113" cy="50"/>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8" name="Oval 102"/>
                          <p:cNvSpPr>
                            <a:spLocks noChangeArrowheads="1"/>
                          </p:cNvSpPr>
                          <p:nvPr/>
                        </p:nvSpPr>
                        <p:spPr bwMode="auto">
                          <a:xfrm>
                            <a:off x="1479" y="2115"/>
                            <a:ext cx="73" cy="7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79" name="Oval 103"/>
                          <p:cNvSpPr>
                            <a:spLocks noChangeArrowheads="1"/>
                          </p:cNvSpPr>
                          <p:nvPr/>
                        </p:nvSpPr>
                        <p:spPr bwMode="auto">
                          <a:xfrm>
                            <a:off x="1538" y="2080"/>
                            <a:ext cx="109" cy="82"/>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80" name="Oval 104"/>
                          <p:cNvSpPr>
                            <a:spLocks noChangeArrowheads="1"/>
                          </p:cNvSpPr>
                          <p:nvPr/>
                        </p:nvSpPr>
                        <p:spPr bwMode="auto">
                          <a:xfrm>
                            <a:off x="1619" y="2091"/>
                            <a:ext cx="121" cy="8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81" name="Oval 105"/>
                          <p:cNvSpPr>
                            <a:spLocks noChangeArrowheads="1"/>
                          </p:cNvSpPr>
                          <p:nvPr/>
                        </p:nvSpPr>
                        <p:spPr bwMode="auto">
                          <a:xfrm>
                            <a:off x="1714" y="2105"/>
                            <a:ext cx="133" cy="6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82" name="Oval 106"/>
                          <p:cNvSpPr>
                            <a:spLocks noChangeArrowheads="1"/>
                          </p:cNvSpPr>
                          <p:nvPr/>
                        </p:nvSpPr>
                        <p:spPr bwMode="auto">
                          <a:xfrm>
                            <a:off x="1822" y="2091"/>
                            <a:ext cx="12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5083" name="Oval 107"/>
                        <p:cNvSpPr>
                          <a:spLocks noChangeArrowheads="1"/>
                        </p:cNvSpPr>
                        <p:nvPr/>
                      </p:nvSpPr>
                      <p:spPr bwMode="auto">
                        <a:xfrm>
                          <a:off x="1837" y="2071"/>
                          <a:ext cx="96"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5084" name="Group 108"/>
                      <p:cNvGrpSpPr>
                        <a:grpSpLocks/>
                      </p:cNvGrpSpPr>
                      <p:nvPr/>
                    </p:nvGrpSpPr>
                    <p:grpSpPr bwMode="auto">
                      <a:xfrm>
                        <a:off x="1035" y="1577"/>
                        <a:ext cx="974" cy="600"/>
                        <a:chOff x="1035" y="1577"/>
                        <a:chExt cx="974" cy="600"/>
                      </a:xfrm>
                    </p:grpSpPr>
                    <p:sp>
                      <p:nvSpPr>
                        <p:cNvPr id="255085" name="Oval 109"/>
                        <p:cNvSpPr>
                          <a:spLocks noChangeArrowheads="1"/>
                        </p:cNvSpPr>
                        <p:nvPr/>
                      </p:nvSpPr>
                      <p:spPr bwMode="auto">
                        <a:xfrm>
                          <a:off x="1210" y="1596"/>
                          <a:ext cx="136"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86" name="Oval 110"/>
                        <p:cNvSpPr>
                          <a:spLocks noChangeArrowheads="1"/>
                        </p:cNvSpPr>
                        <p:nvPr/>
                      </p:nvSpPr>
                      <p:spPr bwMode="auto">
                        <a:xfrm>
                          <a:off x="1363" y="1577"/>
                          <a:ext cx="133" cy="13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87" name="Oval 111"/>
                        <p:cNvSpPr>
                          <a:spLocks noChangeArrowheads="1"/>
                        </p:cNvSpPr>
                        <p:nvPr/>
                      </p:nvSpPr>
                      <p:spPr bwMode="auto">
                        <a:xfrm>
                          <a:off x="1102" y="1668"/>
                          <a:ext cx="133"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88" name="Oval 112"/>
                        <p:cNvSpPr>
                          <a:spLocks noChangeArrowheads="1"/>
                        </p:cNvSpPr>
                        <p:nvPr/>
                      </p:nvSpPr>
                      <p:spPr bwMode="auto">
                        <a:xfrm>
                          <a:off x="1035" y="1789"/>
                          <a:ext cx="135"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89" name="Oval 113"/>
                        <p:cNvSpPr>
                          <a:spLocks noChangeArrowheads="1"/>
                        </p:cNvSpPr>
                        <p:nvPr/>
                      </p:nvSpPr>
                      <p:spPr bwMode="auto">
                        <a:xfrm>
                          <a:off x="1082" y="2050"/>
                          <a:ext cx="103" cy="10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0" name="Oval 114"/>
                        <p:cNvSpPr>
                          <a:spLocks noChangeArrowheads="1"/>
                        </p:cNvSpPr>
                        <p:nvPr/>
                      </p:nvSpPr>
                      <p:spPr bwMode="auto">
                        <a:xfrm>
                          <a:off x="1071" y="1916"/>
                          <a:ext cx="76" cy="7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1" name="Oval 115"/>
                        <p:cNvSpPr>
                          <a:spLocks noChangeArrowheads="1"/>
                        </p:cNvSpPr>
                        <p:nvPr/>
                      </p:nvSpPr>
                      <p:spPr bwMode="auto">
                        <a:xfrm>
                          <a:off x="1061" y="1967"/>
                          <a:ext cx="86" cy="8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2" name="Oval 116"/>
                        <p:cNvSpPr>
                          <a:spLocks noChangeArrowheads="1"/>
                        </p:cNvSpPr>
                        <p:nvPr/>
                      </p:nvSpPr>
                      <p:spPr bwMode="auto">
                        <a:xfrm>
                          <a:off x="1262" y="2073"/>
                          <a:ext cx="228" cy="104"/>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3" name="Oval 117"/>
                        <p:cNvSpPr>
                          <a:spLocks noChangeArrowheads="1"/>
                        </p:cNvSpPr>
                        <p:nvPr/>
                      </p:nvSpPr>
                      <p:spPr bwMode="auto">
                        <a:xfrm>
                          <a:off x="1603" y="1606"/>
                          <a:ext cx="136"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4" name="Oval 118"/>
                        <p:cNvSpPr>
                          <a:spLocks noChangeArrowheads="1"/>
                        </p:cNvSpPr>
                        <p:nvPr/>
                      </p:nvSpPr>
                      <p:spPr bwMode="auto">
                        <a:xfrm>
                          <a:off x="1827" y="1589"/>
                          <a:ext cx="89" cy="9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5" name="Oval 119"/>
                        <p:cNvSpPr>
                          <a:spLocks noChangeArrowheads="1"/>
                        </p:cNvSpPr>
                        <p:nvPr/>
                      </p:nvSpPr>
                      <p:spPr bwMode="auto">
                        <a:xfrm>
                          <a:off x="1783" y="1627"/>
                          <a:ext cx="67" cy="6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6" name="Oval 120"/>
                        <p:cNvSpPr>
                          <a:spLocks noChangeArrowheads="1"/>
                        </p:cNvSpPr>
                        <p:nvPr/>
                      </p:nvSpPr>
                      <p:spPr bwMode="auto">
                        <a:xfrm>
                          <a:off x="1810" y="1630"/>
                          <a:ext cx="199" cy="203"/>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7" name="Oval 121"/>
                        <p:cNvSpPr>
                          <a:spLocks noChangeArrowheads="1"/>
                        </p:cNvSpPr>
                        <p:nvPr/>
                      </p:nvSpPr>
                      <p:spPr bwMode="auto">
                        <a:xfrm>
                          <a:off x="1870" y="1936"/>
                          <a:ext cx="113" cy="11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098" name="Oval 122"/>
                        <p:cNvSpPr>
                          <a:spLocks noChangeArrowheads="1"/>
                        </p:cNvSpPr>
                        <p:nvPr/>
                      </p:nvSpPr>
                      <p:spPr bwMode="auto">
                        <a:xfrm>
                          <a:off x="1778" y="1973"/>
                          <a:ext cx="153" cy="15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099" name="Group 123"/>
                    <p:cNvGrpSpPr>
                      <a:grpSpLocks/>
                    </p:cNvGrpSpPr>
                    <p:nvPr/>
                  </p:nvGrpSpPr>
                  <p:grpSpPr bwMode="auto">
                    <a:xfrm>
                      <a:off x="1785" y="1599"/>
                      <a:ext cx="121" cy="102"/>
                      <a:chOff x="1785" y="1599"/>
                      <a:chExt cx="121" cy="102"/>
                    </a:xfrm>
                  </p:grpSpPr>
                  <p:sp>
                    <p:nvSpPr>
                      <p:cNvPr id="255100" name="Oval 124"/>
                      <p:cNvSpPr>
                        <a:spLocks noChangeArrowheads="1"/>
                      </p:cNvSpPr>
                      <p:nvPr/>
                    </p:nvSpPr>
                    <p:spPr bwMode="auto">
                      <a:xfrm>
                        <a:off x="1828" y="1599"/>
                        <a:ext cx="78" cy="7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01" name="Oval 125"/>
                      <p:cNvSpPr>
                        <a:spLocks noChangeArrowheads="1"/>
                      </p:cNvSpPr>
                      <p:nvPr/>
                    </p:nvSpPr>
                    <p:spPr bwMode="auto">
                      <a:xfrm>
                        <a:off x="1785" y="1638"/>
                        <a:ext cx="60" cy="6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102" name="Group 126"/>
                  <p:cNvGrpSpPr>
                    <a:grpSpLocks/>
                  </p:cNvGrpSpPr>
                  <p:nvPr/>
                </p:nvGrpSpPr>
                <p:grpSpPr bwMode="auto">
                  <a:xfrm>
                    <a:off x="1047" y="1581"/>
                    <a:ext cx="947" cy="596"/>
                    <a:chOff x="1047" y="1581"/>
                    <a:chExt cx="947" cy="596"/>
                  </a:xfrm>
                </p:grpSpPr>
                <p:sp>
                  <p:nvSpPr>
                    <p:cNvPr id="255103" name="Oval 127"/>
                    <p:cNvSpPr>
                      <a:spLocks noChangeArrowheads="1"/>
                    </p:cNvSpPr>
                    <p:nvPr/>
                  </p:nvSpPr>
                  <p:spPr bwMode="auto">
                    <a:xfrm>
                      <a:off x="1225" y="1607"/>
                      <a:ext cx="115"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04" name="Oval 128"/>
                    <p:cNvSpPr>
                      <a:spLocks noChangeArrowheads="1"/>
                    </p:cNvSpPr>
                    <p:nvPr/>
                  </p:nvSpPr>
                  <p:spPr bwMode="auto">
                    <a:xfrm>
                      <a:off x="1070" y="1982"/>
                      <a:ext cx="81"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05" name="Oval 129"/>
                    <p:cNvSpPr>
                      <a:spLocks noChangeArrowheads="1"/>
                    </p:cNvSpPr>
                    <p:nvPr/>
                  </p:nvSpPr>
                  <p:spPr bwMode="auto">
                    <a:xfrm>
                      <a:off x="1863" y="1874"/>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06" name="Oval 130"/>
                    <p:cNvSpPr>
                      <a:spLocks noChangeArrowheads="1"/>
                    </p:cNvSpPr>
                    <p:nvPr/>
                  </p:nvSpPr>
                  <p:spPr bwMode="auto">
                    <a:xfrm>
                      <a:off x="1714" y="1639"/>
                      <a:ext cx="85" cy="8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07" name="Oval 131"/>
                    <p:cNvSpPr>
                      <a:spLocks noChangeArrowheads="1"/>
                    </p:cNvSpPr>
                    <p:nvPr/>
                  </p:nvSpPr>
                  <p:spPr bwMode="auto">
                    <a:xfrm>
                      <a:off x="1375" y="1606"/>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08" name="Oval 132"/>
                    <p:cNvSpPr>
                      <a:spLocks noChangeArrowheads="1"/>
                    </p:cNvSpPr>
                    <p:nvPr/>
                  </p:nvSpPr>
                  <p:spPr bwMode="auto">
                    <a:xfrm>
                      <a:off x="1326" y="1643"/>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09" name="Oval 133"/>
                    <p:cNvSpPr>
                      <a:spLocks noChangeArrowheads="1"/>
                    </p:cNvSpPr>
                    <p:nvPr/>
                  </p:nvSpPr>
                  <p:spPr bwMode="auto">
                    <a:xfrm>
                      <a:off x="1469" y="2074"/>
                      <a:ext cx="77"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0" name="Oval 134"/>
                    <p:cNvSpPr>
                      <a:spLocks noChangeArrowheads="1"/>
                    </p:cNvSpPr>
                    <p:nvPr/>
                  </p:nvSpPr>
                  <p:spPr bwMode="auto">
                    <a:xfrm>
                      <a:off x="1520" y="1624"/>
                      <a:ext cx="106" cy="9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1" name="Oval 135"/>
                    <p:cNvSpPr>
                      <a:spLocks noChangeArrowheads="1"/>
                    </p:cNvSpPr>
                    <p:nvPr/>
                  </p:nvSpPr>
                  <p:spPr bwMode="auto">
                    <a:xfrm>
                      <a:off x="1407" y="1581"/>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2" name="Oval 136"/>
                    <p:cNvSpPr>
                      <a:spLocks noChangeArrowheads="1"/>
                    </p:cNvSpPr>
                    <p:nvPr/>
                  </p:nvSpPr>
                  <p:spPr bwMode="auto">
                    <a:xfrm>
                      <a:off x="1603" y="1616"/>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3" name="Oval 137"/>
                    <p:cNvSpPr>
                      <a:spLocks noChangeArrowheads="1"/>
                    </p:cNvSpPr>
                    <p:nvPr/>
                  </p:nvSpPr>
                  <p:spPr bwMode="auto">
                    <a:xfrm>
                      <a:off x="1113" y="1681"/>
                      <a:ext cx="137"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4" name="Oval 138"/>
                    <p:cNvSpPr>
                      <a:spLocks noChangeArrowheads="1"/>
                    </p:cNvSpPr>
                    <p:nvPr/>
                  </p:nvSpPr>
                  <p:spPr bwMode="auto">
                    <a:xfrm>
                      <a:off x="1047" y="1801"/>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5" name="Oval 139"/>
                    <p:cNvSpPr>
                      <a:spLocks noChangeArrowheads="1"/>
                    </p:cNvSpPr>
                    <p:nvPr/>
                  </p:nvSpPr>
                  <p:spPr bwMode="auto">
                    <a:xfrm>
                      <a:off x="1846" y="1932"/>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6" name="Oval 140"/>
                    <p:cNvSpPr>
                      <a:spLocks noChangeArrowheads="1"/>
                    </p:cNvSpPr>
                    <p:nvPr/>
                  </p:nvSpPr>
                  <p:spPr bwMode="auto">
                    <a:xfrm>
                      <a:off x="1691" y="1994"/>
                      <a:ext cx="128" cy="125"/>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7" name="Oval 141"/>
                    <p:cNvSpPr>
                      <a:spLocks noChangeArrowheads="1"/>
                    </p:cNvSpPr>
                    <p:nvPr/>
                  </p:nvSpPr>
                  <p:spPr bwMode="auto">
                    <a:xfrm>
                      <a:off x="1183" y="2050"/>
                      <a:ext cx="133" cy="12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8" name="Oval 142"/>
                    <p:cNvSpPr>
                      <a:spLocks noChangeArrowheads="1"/>
                    </p:cNvSpPr>
                    <p:nvPr/>
                  </p:nvSpPr>
                  <p:spPr bwMode="auto">
                    <a:xfrm>
                      <a:off x="1094" y="2055"/>
                      <a:ext cx="107" cy="10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19" name="Oval 143"/>
                    <p:cNvSpPr>
                      <a:spLocks noChangeArrowheads="1"/>
                    </p:cNvSpPr>
                    <p:nvPr/>
                  </p:nvSpPr>
                  <p:spPr bwMode="auto">
                    <a:xfrm>
                      <a:off x="1783" y="1978"/>
                      <a:ext cx="130" cy="12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20" name="Oval 144"/>
                    <p:cNvSpPr>
                      <a:spLocks noChangeArrowheads="1"/>
                    </p:cNvSpPr>
                    <p:nvPr/>
                  </p:nvSpPr>
                  <p:spPr bwMode="auto">
                    <a:xfrm>
                      <a:off x="1534" y="1963"/>
                      <a:ext cx="181" cy="18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21" name="Oval 145"/>
                    <p:cNvSpPr>
                      <a:spLocks noChangeArrowheads="1"/>
                    </p:cNvSpPr>
                    <p:nvPr/>
                  </p:nvSpPr>
                  <p:spPr bwMode="auto">
                    <a:xfrm>
                      <a:off x="1266" y="1938"/>
                      <a:ext cx="234" cy="2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22" name="Oval 146"/>
                    <p:cNvSpPr>
                      <a:spLocks noChangeArrowheads="1"/>
                    </p:cNvSpPr>
                    <p:nvPr/>
                  </p:nvSpPr>
                  <p:spPr bwMode="auto">
                    <a:xfrm>
                      <a:off x="1082" y="1920"/>
                      <a:ext cx="64"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23" name="Oval 147"/>
                    <p:cNvSpPr>
                      <a:spLocks noChangeArrowheads="1"/>
                    </p:cNvSpPr>
                    <p:nvPr/>
                  </p:nvSpPr>
                  <p:spPr bwMode="auto">
                    <a:xfrm>
                      <a:off x="1879" y="1819"/>
                      <a:ext cx="65" cy="6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24" name="Oval 148"/>
                    <p:cNvSpPr>
                      <a:spLocks noChangeArrowheads="1"/>
                    </p:cNvSpPr>
                    <p:nvPr/>
                  </p:nvSpPr>
                  <p:spPr bwMode="auto">
                    <a:xfrm>
                      <a:off x="1790" y="1634"/>
                      <a:ext cx="204" cy="20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125" name="Freeform 149"/>
                <p:cNvSpPr>
                  <a:spLocks/>
                </p:cNvSpPr>
                <p:nvPr/>
              </p:nvSpPr>
              <p:spPr bwMode="auto">
                <a:xfrm>
                  <a:off x="1115" y="1664"/>
                  <a:ext cx="808" cy="437"/>
                </a:xfrm>
                <a:custGeom>
                  <a:avLst/>
                  <a:gdLst>
                    <a:gd name="T0" fmla="*/ 165 w 808"/>
                    <a:gd name="T1" fmla="*/ 21 h 437"/>
                    <a:gd name="T2" fmla="*/ 74 w 808"/>
                    <a:gd name="T3" fmla="*/ 32 h 437"/>
                    <a:gd name="T4" fmla="*/ 0 w 808"/>
                    <a:gd name="T5" fmla="*/ 311 h 437"/>
                    <a:gd name="T6" fmla="*/ 57 w 808"/>
                    <a:gd name="T7" fmla="*/ 394 h 437"/>
                    <a:gd name="T8" fmla="*/ 222 w 808"/>
                    <a:gd name="T9" fmla="*/ 390 h 437"/>
                    <a:gd name="T10" fmla="*/ 398 w 808"/>
                    <a:gd name="T11" fmla="*/ 436 h 437"/>
                    <a:gd name="T12" fmla="*/ 489 w 808"/>
                    <a:gd name="T13" fmla="*/ 406 h 437"/>
                    <a:gd name="T14" fmla="*/ 734 w 808"/>
                    <a:gd name="T15" fmla="*/ 355 h 437"/>
                    <a:gd name="T16" fmla="*/ 775 w 808"/>
                    <a:gd name="T17" fmla="*/ 319 h 437"/>
                    <a:gd name="T18" fmla="*/ 765 w 808"/>
                    <a:gd name="T19" fmla="*/ 242 h 437"/>
                    <a:gd name="T20" fmla="*/ 807 w 808"/>
                    <a:gd name="T21" fmla="*/ 169 h 437"/>
                    <a:gd name="T22" fmla="*/ 694 w 808"/>
                    <a:gd name="T23" fmla="*/ 75 h 437"/>
                    <a:gd name="T24" fmla="*/ 647 w 808"/>
                    <a:gd name="T25" fmla="*/ 37 h 437"/>
                    <a:gd name="T26" fmla="*/ 360 w 808"/>
                    <a:gd name="T27" fmla="*/ 0 h 437"/>
                    <a:gd name="T28" fmla="*/ 165 w 808"/>
                    <a:gd name="T29" fmla="*/ 2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8" h="437">
                      <a:moveTo>
                        <a:pt x="165" y="21"/>
                      </a:moveTo>
                      <a:lnTo>
                        <a:pt x="74" y="32"/>
                      </a:lnTo>
                      <a:lnTo>
                        <a:pt x="0" y="311"/>
                      </a:lnTo>
                      <a:lnTo>
                        <a:pt x="57" y="394"/>
                      </a:lnTo>
                      <a:lnTo>
                        <a:pt x="222" y="390"/>
                      </a:lnTo>
                      <a:lnTo>
                        <a:pt x="398" y="436"/>
                      </a:lnTo>
                      <a:lnTo>
                        <a:pt x="489" y="406"/>
                      </a:lnTo>
                      <a:lnTo>
                        <a:pt x="734" y="355"/>
                      </a:lnTo>
                      <a:lnTo>
                        <a:pt x="775" y="319"/>
                      </a:lnTo>
                      <a:lnTo>
                        <a:pt x="765" y="242"/>
                      </a:lnTo>
                      <a:lnTo>
                        <a:pt x="807" y="169"/>
                      </a:lnTo>
                      <a:lnTo>
                        <a:pt x="694" y="75"/>
                      </a:lnTo>
                      <a:lnTo>
                        <a:pt x="647" y="37"/>
                      </a:lnTo>
                      <a:lnTo>
                        <a:pt x="360" y="0"/>
                      </a:lnTo>
                      <a:lnTo>
                        <a:pt x="165" y="21"/>
                      </a:lnTo>
                    </a:path>
                  </a:pathLst>
                </a:custGeom>
                <a:solidFill>
                  <a:srgbClr val="FFBF7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55126" name="Group 150"/>
              <p:cNvGrpSpPr>
                <a:grpSpLocks/>
              </p:cNvGrpSpPr>
              <p:nvPr/>
            </p:nvGrpSpPr>
            <p:grpSpPr bwMode="auto">
              <a:xfrm>
                <a:off x="1088" y="1683"/>
                <a:ext cx="874" cy="441"/>
                <a:chOff x="1088" y="1683"/>
                <a:chExt cx="874" cy="441"/>
              </a:xfrm>
            </p:grpSpPr>
            <p:sp>
              <p:nvSpPr>
                <p:cNvPr id="255127" name="Oval 151"/>
                <p:cNvSpPr>
                  <a:spLocks noChangeArrowheads="1"/>
                </p:cNvSpPr>
                <p:nvPr/>
              </p:nvSpPr>
              <p:spPr bwMode="auto">
                <a:xfrm>
                  <a:off x="1120" y="1986"/>
                  <a:ext cx="126"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28" name="Oval 152"/>
                <p:cNvSpPr>
                  <a:spLocks noChangeArrowheads="1"/>
                </p:cNvSpPr>
                <p:nvPr/>
              </p:nvSpPr>
              <p:spPr bwMode="auto">
                <a:xfrm>
                  <a:off x="1088" y="1771"/>
                  <a:ext cx="125" cy="12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29" name="Oval 153"/>
                <p:cNvSpPr>
                  <a:spLocks noChangeArrowheads="1"/>
                </p:cNvSpPr>
                <p:nvPr/>
              </p:nvSpPr>
              <p:spPr bwMode="auto">
                <a:xfrm>
                  <a:off x="1835" y="1683"/>
                  <a:ext cx="127"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0" name="Oval 154"/>
                <p:cNvSpPr>
                  <a:spLocks noChangeArrowheads="1"/>
                </p:cNvSpPr>
                <p:nvPr/>
              </p:nvSpPr>
              <p:spPr bwMode="auto">
                <a:xfrm>
                  <a:off x="1831" y="1863"/>
                  <a:ext cx="103" cy="100"/>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1" name="Oval 155"/>
                <p:cNvSpPr>
                  <a:spLocks noChangeArrowheads="1"/>
                </p:cNvSpPr>
                <p:nvPr/>
              </p:nvSpPr>
              <p:spPr bwMode="auto">
                <a:xfrm>
                  <a:off x="1097" y="1787"/>
                  <a:ext cx="135" cy="13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2" name="Oval 156"/>
                <p:cNvSpPr>
                  <a:spLocks noChangeArrowheads="1"/>
                </p:cNvSpPr>
                <p:nvPr/>
              </p:nvSpPr>
              <p:spPr bwMode="auto">
                <a:xfrm>
                  <a:off x="1129" y="1993"/>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3" name="Oval 157"/>
                <p:cNvSpPr>
                  <a:spLocks noChangeArrowheads="1"/>
                </p:cNvSpPr>
                <p:nvPr/>
              </p:nvSpPr>
              <p:spPr bwMode="auto">
                <a:xfrm>
                  <a:off x="1821" y="1694"/>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4" name="Oval 158"/>
                <p:cNvSpPr>
                  <a:spLocks noChangeArrowheads="1"/>
                </p:cNvSpPr>
                <p:nvPr/>
              </p:nvSpPr>
              <p:spPr bwMode="auto">
                <a:xfrm>
                  <a:off x="1804" y="1856"/>
                  <a:ext cx="115" cy="11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5" name="Oval 159"/>
                <p:cNvSpPr>
                  <a:spLocks noChangeArrowheads="1"/>
                </p:cNvSpPr>
                <p:nvPr/>
              </p:nvSpPr>
              <p:spPr bwMode="auto">
                <a:xfrm>
                  <a:off x="1091" y="1838"/>
                  <a:ext cx="122" cy="11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6" name="Oval 160"/>
                <p:cNvSpPr>
                  <a:spLocks noChangeArrowheads="1"/>
                </p:cNvSpPr>
                <p:nvPr/>
              </p:nvSpPr>
              <p:spPr bwMode="auto">
                <a:xfrm>
                  <a:off x="1107" y="1839"/>
                  <a:ext cx="114" cy="11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7" name="Oval 161"/>
                <p:cNvSpPr>
                  <a:spLocks noChangeArrowheads="1"/>
                </p:cNvSpPr>
                <p:nvPr/>
              </p:nvSpPr>
              <p:spPr bwMode="auto">
                <a:xfrm>
                  <a:off x="1764" y="1696"/>
                  <a:ext cx="125"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8" name="Oval 162"/>
                <p:cNvSpPr>
                  <a:spLocks noChangeArrowheads="1"/>
                </p:cNvSpPr>
                <p:nvPr/>
              </p:nvSpPr>
              <p:spPr bwMode="auto">
                <a:xfrm>
                  <a:off x="1765" y="1707"/>
                  <a:ext cx="114"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39" name="Oval 163"/>
                <p:cNvSpPr>
                  <a:spLocks noChangeArrowheads="1"/>
                </p:cNvSpPr>
                <p:nvPr/>
              </p:nvSpPr>
              <p:spPr bwMode="auto">
                <a:xfrm>
                  <a:off x="1853" y="1942"/>
                  <a:ext cx="82" cy="8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40" name="Oval 164"/>
                <p:cNvSpPr>
                  <a:spLocks noChangeArrowheads="1"/>
                </p:cNvSpPr>
                <p:nvPr/>
              </p:nvSpPr>
              <p:spPr bwMode="auto">
                <a:xfrm>
                  <a:off x="1846" y="1947"/>
                  <a:ext cx="76" cy="7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141" name="Rectangle 165"/>
            <p:cNvSpPr>
              <a:spLocks noChangeArrowheads="1"/>
            </p:cNvSpPr>
            <p:nvPr/>
          </p:nvSpPr>
          <p:spPr bwMode="auto">
            <a:xfrm>
              <a:off x="1290" y="1676"/>
              <a:ext cx="460"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7625" rIns="96838" bIns="47625">
              <a:spAutoFit/>
            </a:bodyPr>
            <a:lstStyle>
              <a:lvl1pPr defTabSz="960438">
                <a:defRPr sz="2400">
                  <a:solidFill>
                    <a:schemeClr val="tx1"/>
                  </a:solidFill>
                  <a:latin typeface="Times New Roman" pitchFamily="18" charset="0"/>
                </a:defRPr>
              </a:lvl1pPr>
              <a:lvl2pPr marL="479425" defTabSz="960438">
                <a:defRPr sz="2400">
                  <a:solidFill>
                    <a:schemeClr val="tx1"/>
                  </a:solidFill>
                  <a:latin typeface="Times New Roman" pitchFamily="18" charset="0"/>
                </a:defRPr>
              </a:lvl2pPr>
              <a:lvl3pPr marL="960438" defTabSz="960438">
                <a:defRPr sz="2400">
                  <a:solidFill>
                    <a:schemeClr val="tx1"/>
                  </a:solidFill>
                  <a:latin typeface="Times New Roman" pitchFamily="18" charset="0"/>
                </a:defRPr>
              </a:lvl3pPr>
              <a:lvl4pPr marL="1439863" defTabSz="960438">
                <a:defRPr sz="2400">
                  <a:solidFill>
                    <a:schemeClr val="tx1"/>
                  </a:solidFill>
                  <a:latin typeface="Times New Roman" pitchFamily="18" charset="0"/>
                </a:defRPr>
              </a:lvl4pPr>
              <a:lvl5pPr marL="1920875" defTabSz="960438">
                <a:defRPr sz="2400">
                  <a:solidFill>
                    <a:schemeClr val="tx1"/>
                  </a:solidFill>
                  <a:latin typeface="Times New Roman" pitchFamily="18" charset="0"/>
                </a:defRPr>
              </a:lvl5pPr>
              <a:lvl6pPr marL="2378075" defTabSz="960438" eaLnBrk="0" fontAlgn="base" hangingPunct="0">
                <a:spcBef>
                  <a:spcPct val="0"/>
                </a:spcBef>
                <a:spcAft>
                  <a:spcPct val="0"/>
                </a:spcAft>
                <a:defRPr sz="2400">
                  <a:solidFill>
                    <a:schemeClr val="tx1"/>
                  </a:solidFill>
                  <a:latin typeface="Times New Roman" pitchFamily="18" charset="0"/>
                </a:defRPr>
              </a:lvl6pPr>
              <a:lvl7pPr marL="2835275" defTabSz="960438" eaLnBrk="0" fontAlgn="base" hangingPunct="0">
                <a:spcBef>
                  <a:spcPct val="0"/>
                </a:spcBef>
                <a:spcAft>
                  <a:spcPct val="0"/>
                </a:spcAft>
                <a:defRPr sz="2400">
                  <a:solidFill>
                    <a:schemeClr val="tx1"/>
                  </a:solidFill>
                  <a:latin typeface="Times New Roman" pitchFamily="18" charset="0"/>
                </a:defRPr>
              </a:lvl7pPr>
              <a:lvl8pPr marL="3292475" defTabSz="960438" eaLnBrk="0" fontAlgn="base" hangingPunct="0">
                <a:spcBef>
                  <a:spcPct val="0"/>
                </a:spcBef>
                <a:spcAft>
                  <a:spcPct val="0"/>
                </a:spcAft>
                <a:defRPr sz="2400">
                  <a:solidFill>
                    <a:schemeClr val="tx1"/>
                  </a:solidFill>
                  <a:latin typeface="Times New Roman" pitchFamily="18" charset="0"/>
                </a:defRPr>
              </a:lvl8pPr>
              <a:lvl9pPr marL="3749675" defTabSz="960438" eaLnBrk="0" fontAlgn="base" hangingPunct="0">
                <a:spcBef>
                  <a:spcPct val="0"/>
                </a:spcBef>
                <a:spcAft>
                  <a:spcPct val="0"/>
                </a:spcAft>
                <a:defRPr sz="2400">
                  <a:solidFill>
                    <a:schemeClr val="tx1"/>
                  </a:solidFill>
                  <a:latin typeface="Times New Roman" pitchFamily="18" charset="0"/>
                </a:defRPr>
              </a:lvl9pPr>
            </a:lstStyle>
            <a:p>
              <a:pPr algn="ctr">
                <a:lnSpc>
                  <a:spcPct val="90000"/>
                </a:lnSpc>
              </a:pPr>
              <a:endParaRPr lang="en-GB" altLang="en-US" sz="1900" b="1">
                <a:latin typeface="Arial" pitchFamily="34" charset="0"/>
              </a:endParaRPr>
            </a:p>
            <a:p>
              <a:pPr algn="ctr">
                <a:lnSpc>
                  <a:spcPct val="90000"/>
                </a:lnSpc>
              </a:pPr>
              <a:r>
                <a:rPr lang="en-GB" altLang="en-US" sz="1900" b="1">
                  <a:latin typeface="Arial" pitchFamily="34" charset="0"/>
                </a:rPr>
                <a:t>OMT</a:t>
              </a:r>
            </a:p>
          </p:txBody>
        </p:sp>
      </p:grpSp>
      <p:grpSp>
        <p:nvGrpSpPr>
          <p:cNvPr id="255142" name="Group 166"/>
          <p:cNvGrpSpPr>
            <a:grpSpLocks/>
          </p:cNvGrpSpPr>
          <p:nvPr/>
        </p:nvGrpSpPr>
        <p:grpSpPr bwMode="auto">
          <a:xfrm>
            <a:off x="6400800" y="2221101"/>
            <a:ext cx="1933575" cy="993775"/>
            <a:chOff x="4368" y="1577"/>
            <a:chExt cx="1320" cy="626"/>
          </a:xfrm>
        </p:grpSpPr>
        <p:grpSp>
          <p:nvGrpSpPr>
            <p:cNvPr id="255143" name="Group 167"/>
            <p:cNvGrpSpPr>
              <a:grpSpLocks/>
            </p:cNvGrpSpPr>
            <p:nvPr/>
          </p:nvGrpSpPr>
          <p:grpSpPr bwMode="auto">
            <a:xfrm>
              <a:off x="4368" y="1577"/>
              <a:ext cx="1320" cy="626"/>
              <a:chOff x="4368" y="1577"/>
              <a:chExt cx="1320" cy="626"/>
            </a:xfrm>
          </p:grpSpPr>
          <p:grpSp>
            <p:nvGrpSpPr>
              <p:cNvPr id="255144" name="Group 168"/>
              <p:cNvGrpSpPr>
                <a:grpSpLocks/>
              </p:cNvGrpSpPr>
              <p:nvPr/>
            </p:nvGrpSpPr>
            <p:grpSpPr bwMode="auto">
              <a:xfrm>
                <a:off x="4368" y="1577"/>
                <a:ext cx="1320" cy="626"/>
                <a:chOff x="4368" y="1577"/>
                <a:chExt cx="1320" cy="626"/>
              </a:xfrm>
            </p:grpSpPr>
            <p:grpSp>
              <p:nvGrpSpPr>
                <p:cNvPr id="255145" name="Group 169"/>
                <p:cNvGrpSpPr>
                  <a:grpSpLocks/>
                </p:cNvGrpSpPr>
                <p:nvPr/>
              </p:nvGrpSpPr>
              <p:grpSpPr bwMode="auto">
                <a:xfrm>
                  <a:off x="4368" y="1577"/>
                  <a:ext cx="1320" cy="626"/>
                  <a:chOff x="4368" y="1577"/>
                  <a:chExt cx="1320" cy="626"/>
                </a:xfrm>
              </p:grpSpPr>
              <p:grpSp>
                <p:nvGrpSpPr>
                  <p:cNvPr id="255146" name="Group 170"/>
                  <p:cNvGrpSpPr>
                    <a:grpSpLocks/>
                  </p:cNvGrpSpPr>
                  <p:nvPr/>
                </p:nvGrpSpPr>
                <p:grpSpPr bwMode="auto">
                  <a:xfrm>
                    <a:off x="4368" y="1577"/>
                    <a:ext cx="1320" cy="626"/>
                    <a:chOff x="4368" y="1577"/>
                    <a:chExt cx="1320" cy="626"/>
                  </a:xfrm>
                </p:grpSpPr>
                <p:grpSp>
                  <p:nvGrpSpPr>
                    <p:cNvPr id="255147" name="Group 171"/>
                    <p:cNvGrpSpPr>
                      <a:grpSpLocks/>
                    </p:cNvGrpSpPr>
                    <p:nvPr/>
                  </p:nvGrpSpPr>
                  <p:grpSpPr bwMode="auto">
                    <a:xfrm>
                      <a:off x="4368" y="1577"/>
                      <a:ext cx="1320" cy="626"/>
                      <a:chOff x="4368" y="1577"/>
                      <a:chExt cx="1320" cy="626"/>
                    </a:xfrm>
                  </p:grpSpPr>
                  <p:grpSp>
                    <p:nvGrpSpPr>
                      <p:cNvPr id="255148" name="Group 172"/>
                      <p:cNvGrpSpPr>
                        <a:grpSpLocks/>
                      </p:cNvGrpSpPr>
                      <p:nvPr/>
                    </p:nvGrpSpPr>
                    <p:grpSpPr bwMode="auto">
                      <a:xfrm>
                        <a:off x="4368" y="2071"/>
                        <a:ext cx="1262" cy="132"/>
                        <a:chOff x="4368" y="2071"/>
                        <a:chExt cx="1262" cy="132"/>
                      </a:xfrm>
                    </p:grpSpPr>
                    <p:grpSp>
                      <p:nvGrpSpPr>
                        <p:cNvPr id="255149" name="Group 173"/>
                        <p:cNvGrpSpPr>
                          <a:grpSpLocks/>
                        </p:cNvGrpSpPr>
                        <p:nvPr/>
                      </p:nvGrpSpPr>
                      <p:grpSpPr bwMode="auto">
                        <a:xfrm>
                          <a:off x="4368" y="2080"/>
                          <a:ext cx="1262" cy="123"/>
                          <a:chOff x="4368" y="2080"/>
                          <a:chExt cx="1262" cy="123"/>
                        </a:xfrm>
                      </p:grpSpPr>
                      <p:sp>
                        <p:nvSpPr>
                          <p:cNvPr id="255150" name="Oval 174"/>
                          <p:cNvSpPr>
                            <a:spLocks noChangeArrowheads="1"/>
                          </p:cNvSpPr>
                          <p:nvPr/>
                        </p:nvSpPr>
                        <p:spPr bwMode="auto">
                          <a:xfrm>
                            <a:off x="4368" y="2124"/>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1" name="Oval 175"/>
                          <p:cNvSpPr>
                            <a:spLocks noChangeArrowheads="1"/>
                          </p:cNvSpPr>
                          <p:nvPr/>
                        </p:nvSpPr>
                        <p:spPr bwMode="auto">
                          <a:xfrm>
                            <a:off x="4418" y="2090"/>
                            <a:ext cx="131" cy="46"/>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2" name="Oval 176"/>
                          <p:cNvSpPr>
                            <a:spLocks noChangeArrowheads="1"/>
                          </p:cNvSpPr>
                          <p:nvPr/>
                        </p:nvSpPr>
                        <p:spPr bwMode="auto">
                          <a:xfrm>
                            <a:off x="4501" y="2094"/>
                            <a:ext cx="132" cy="4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3" name="Oval 177"/>
                          <p:cNvSpPr>
                            <a:spLocks noChangeArrowheads="1"/>
                          </p:cNvSpPr>
                          <p:nvPr/>
                        </p:nvSpPr>
                        <p:spPr bwMode="auto">
                          <a:xfrm>
                            <a:off x="4650" y="2122"/>
                            <a:ext cx="138" cy="6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4" name="Oval 178"/>
                          <p:cNvSpPr>
                            <a:spLocks noChangeArrowheads="1"/>
                          </p:cNvSpPr>
                          <p:nvPr/>
                        </p:nvSpPr>
                        <p:spPr bwMode="auto">
                          <a:xfrm>
                            <a:off x="4462" y="2130"/>
                            <a:ext cx="19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5" name="Oval 179"/>
                          <p:cNvSpPr>
                            <a:spLocks noChangeArrowheads="1"/>
                          </p:cNvSpPr>
                          <p:nvPr/>
                        </p:nvSpPr>
                        <p:spPr bwMode="auto">
                          <a:xfrm>
                            <a:off x="4770" y="2133"/>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6" name="Oval 180"/>
                          <p:cNvSpPr>
                            <a:spLocks noChangeArrowheads="1"/>
                          </p:cNvSpPr>
                          <p:nvPr/>
                        </p:nvSpPr>
                        <p:spPr bwMode="auto">
                          <a:xfrm>
                            <a:off x="4875" y="2128"/>
                            <a:ext cx="111" cy="59"/>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7" name="Oval 181"/>
                          <p:cNvSpPr>
                            <a:spLocks noChangeArrowheads="1"/>
                          </p:cNvSpPr>
                          <p:nvPr/>
                        </p:nvSpPr>
                        <p:spPr bwMode="auto">
                          <a:xfrm>
                            <a:off x="4973" y="2128"/>
                            <a:ext cx="107" cy="64"/>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8" name="Oval 182"/>
                          <p:cNvSpPr>
                            <a:spLocks noChangeArrowheads="1"/>
                          </p:cNvSpPr>
                          <p:nvPr/>
                        </p:nvSpPr>
                        <p:spPr bwMode="auto">
                          <a:xfrm>
                            <a:off x="5051" y="2146"/>
                            <a:ext cx="113" cy="50"/>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59" name="Oval 183"/>
                          <p:cNvSpPr>
                            <a:spLocks noChangeArrowheads="1"/>
                          </p:cNvSpPr>
                          <p:nvPr/>
                        </p:nvSpPr>
                        <p:spPr bwMode="auto">
                          <a:xfrm>
                            <a:off x="5158" y="2115"/>
                            <a:ext cx="73" cy="7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60" name="Oval 184"/>
                          <p:cNvSpPr>
                            <a:spLocks noChangeArrowheads="1"/>
                          </p:cNvSpPr>
                          <p:nvPr/>
                        </p:nvSpPr>
                        <p:spPr bwMode="auto">
                          <a:xfrm>
                            <a:off x="5217" y="2080"/>
                            <a:ext cx="109" cy="82"/>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61" name="Oval 185"/>
                          <p:cNvSpPr>
                            <a:spLocks noChangeArrowheads="1"/>
                          </p:cNvSpPr>
                          <p:nvPr/>
                        </p:nvSpPr>
                        <p:spPr bwMode="auto">
                          <a:xfrm>
                            <a:off x="5298" y="2091"/>
                            <a:ext cx="121" cy="8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62" name="Oval 186"/>
                          <p:cNvSpPr>
                            <a:spLocks noChangeArrowheads="1"/>
                          </p:cNvSpPr>
                          <p:nvPr/>
                        </p:nvSpPr>
                        <p:spPr bwMode="auto">
                          <a:xfrm>
                            <a:off x="5393" y="2105"/>
                            <a:ext cx="133" cy="6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63" name="Oval 187"/>
                          <p:cNvSpPr>
                            <a:spLocks noChangeArrowheads="1"/>
                          </p:cNvSpPr>
                          <p:nvPr/>
                        </p:nvSpPr>
                        <p:spPr bwMode="auto">
                          <a:xfrm>
                            <a:off x="5501" y="2091"/>
                            <a:ext cx="12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5164" name="Oval 188"/>
                        <p:cNvSpPr>
                          <a:spLocks noChangeArrowheads="1"/>
                        </p:cNvSpPr>
                        <p:nvPr/>
                      </p:nvSpPr>
                      <p:spPr bwMode="auto">
                        <a:xfrm>
                          <a:off x="5516" y="2071"/>
                          <a:ext cx="96"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5165" name="Group 189"/>
                      <p:cNvGrpSpPr>
                        <a:grpSpLocks/>
                      </p:cNvGrpSpPr>
                      <p:nvPr/>
                    </p:nvGrpSpPr>
                    <p:grpSpPr bwMode="auto">
                      <a:xfrm>
                        <a:off x="4714" y="1577"/>
                        <a:ext cx="974" cy="600"/>
                        <a:chOff x="4714" y="1577"/>
                        <a:chExt cx="974" cy="600"/>
                      </a:xfrm>
                    </p:grpSpPr>
                    <p:sp>
                      <p:nvSpPr>
                        <p:cNvPr id="255166" name="Oval 190"/>
                        <p:cNvSpPr>
                          <a:spLocks noChangeArrowheads="1"/>
                        </p:cNvSpPr>
                        <p:nvPr/>
                      </p:nvSpPr>
                      <p:spPr bwMode="auto">
                        <a:xfrm>
                          <a:off x="4889" y="1596"/>
                          <a:ext cx="136"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67" name="Oval 191"/>
                        <p:cNvSpPr>
                          <a:spLocks noChangeArrowheads="1"/>
                        </p:cNvSpPr>
                        <p:nvPr/>
                      </p:nvSpPr>
                      <p:spPr bwMode="auto">
                        <a:xfrm>
                          <a:off x="5042" y="1577"/>
                          <a:ext cx="133" cy="13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68" name="Oval 192"/>
                        <p:cNvSpPr>
                          <a:spLocks noChangeArrowheads="1"/>
                        </p:cNvSpPr>
                        <p:nvPr/>
                      </p:nvSpPr>
                      <p:spPr bwMode="auto">
                        <a:xfrm>
                          <a:off x="4781" y="1668"/>
                          <a:ext cx="133"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69" name="Oval 193"/>
                        <p:cNvSpPr>
                          <a:spLocks noChangeArrowheads="1"/>
                        </p:cNvSpPr>
                        <p:nvPr/>
                      </p:nvSpPr>
                      <p:spPr bwMode="auto">
                        <a:xfrm>
                          <a:off x="4714" y="1789"/>
                          <a:ext cx="135"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0" name="Oval 194"/>
                        <p:cNvSpPr>
                          <a:spLocks noChangeArrowheads="1"/>
                        </p:cNvSpPr>
                        <p:nvPr/>
                      </p:nvSpPr>
                      <p:spPr bwMode="auto">
                        <a:xfrm>
                          <a:off x="4761" y="2050"/>
                          <a:ext cx="103" cy="10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1" name="Oval 195"/>
                        <p:cNvSpPr>
                          <a:spLocks noChangeArrowheads="1"/>
                        </p:cNvSpPr>
                        <p:nvPr/>
                      </p:nvSpPr>
                      <p:spPr bwMode="auto">
                        <a:xfrm>
                          <a:off x="4750" y="1916"/>
                          <a:ext cx="76" cy="7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2" name="Oval 196"/>
                        <p:cNvSpPr>
                          <a:spLocks noChangeArrowheads="1"/>
                        </p:cNvSpPr>
                        <p:nvPr/>
                      </p:nvSpPr>
                      <p:spPr bwMode="auto">
                        <a:xfrm>
                          <a:off x="4740" y="1967"/>
                          <a:ext cx="86" cy="8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3" name="Oval 197"/>
                        <p:cNvSpPr>
                          <a:spLocks noChangeArrowheads="1"/>
                        </p:cNvSpPr>
                        <p:nvPr/>
                      </p:nvSpPr>
                      <p:spPr bwMode="auto">
                        <a:xfrm>
                          <a:off x="4941" y="2073"/>
                          <a:ext cx="228" cy="104"/>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4" name="Oval 198"/>
                        <p:cNvSpPr>
                          <a:spLocks noChangeArrowheads="1"/>
                        </p:cNvSpPr>
                        <p:nvPr/>
                      </p:nvSpPr>
                      <p:spPr bwMode="auto">
                        <a:xfrm>
                          <a:off x="5282" y="1606"/>
                          <a:ext cx="136"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5" name="Oval 199"/>
                        <p:cNvSpPr>
                          <a:spLocks noChangeArrowheads="1"/>
                        </p:cNvSpPr>
                        <p:nvPr/>
                      </p:nvSpPr>
                      <p:spPr bwMode="auto">
                        <a:xfrm>
                          <a:off x="5506" y="1589"/>
                          <a:ext cx="89" cy="9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6" name="Oval 200"/>
                        <p:cNvSpPr>
                          <a:spLocks noChangeArrowheads="1"/>
                        </p:cNvSpPr>
                        <p:nvPr/>
                      </p:nvSpPr>
                      <p:spPr bwMode="auto">
                        <a:xfrm>
                          <a:off x="5462" y="1627"/>
                          <a:ext cx="67" cy="6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7" name="Oval 201"/>
                        <p:cNvSpPr>
                          <a:spLocks noChangeArrowheads="1"/>
                        </p:cNvSpPr>
                        <p:nvPr/>
                      </p:nvSpPr>
                      <p:spPr bwMode="auto">
                        <a:xfrm>
                          <a:off x="5489" y="1630"/>
                          <a:ext cx="199" cy="203"/>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8" name="Oval 202"/>
                        <p:cNvSpPr>
                          <a:spLocks noChangeArrowheads="1"/>
                        </p:cNvSpPr>
                        <p:nvPr/>
                      </p:nvSpPr>
                      <p:spPr bwMode="auto">
                        <a:xfrm>
                          <a:off x="5549" y="1936"/>
                          <a:ext cx="113" cy="11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79" name="Oval 203"/>
                        <p:cNvSpPr>
                          <a:spLocks noChangeArrowheads="1"/>
                        </p:cNvSpPr>
                        <p:nvPr/>
                      </p:nvSpPr>
                      <p:spPr bwMode="auto">
                        <a:xfrm>
                          <a:off x="5457" y="1973"/>
                          <a:ext cx="153" cy="15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180" name="Group 204"/>
                    <p:cNvGrpSpPr>
                      <a:grpSpLocks/>
                    </p:cNvGrpSpPr>
                    <p:nvPr/>
                  </p:nvGrpSpPr>
                  <p:grpSpPr bwMode="auto">
                    <a:xfrm>
                      <a:off x="5464" y="1599"/>
                      <a:ext cx="121" cy="102"/>
                      <a:chOff x="5464" y="1599"/>
                      <a:chExt cx="121" cy="102"/>
                    </a:xfrm>
                  </p:grpSpPr>
                  <p:sp>
                    <p:nvSpPr>
                      <p:cNvPr id="255181" name="Oval 205"/>
                      <p:cNvSpPr>
                        <a:spLocks noChangeArrowheads="1"/>
                      </p:cNvSpPr>
                      <p:nvPr/>
                    </p:nvSpPr>
                    <p:spPr bwMode="auto">
                      <a:xfrm>
                        <a:off x="5507" y="1599"/>
                        <a:ext cx="78" cy="7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82" name="Oval 206"/>
                      <p:cNvSpPr>
                        <a:spLocks noChangeArrowheads="1"/>
                      </p:cNvSpPr>
                      <p:nvPr/>
                    </p:nvSpPr>
                    <p:spPr bwMode="auto">
                      <a:xfrm>
                        <a:off x="5464" y="1638"/>
                        <a:ext cx="60" cy="6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183" name="Group 207"/>
                  <p:cNvGrpSpPr>
                    <a:grpSpLocks/>
                  </p:cNvGrpSpPr>
                  <p:nvPr/>
                </p:nvGrpSpPr>
                <p:grpSpPr bwMode="auto">
                  <a:xfrm>
                    <a:off x="4726" y="1581"/>
                    <a:ext cx="947" cy="596"/>
                    <a:chOff x="4726" y="1581"/>
                    <a:chExt cx="947" cy="596"/>
                  </a:xfrm>
                </p:grpSpPr>
                <p:sp>
                  <p:nvSpPr>
                    <p:cNvPr id="255184" name="Oval 208"/>
                    <p:cNvSpPr>
                      <a:spLocks noChangeArrowheads="1"/>
                    </p:cNvSpPr>
                    <p:nvPr/>
                  </p:nvSpPr>
                  <p:spPr bwMode="auto">
                    <a:xfrm>
                      <a:off x="4904" y="1607"/>
                      <a:ext cx="115"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85" name="Oval 209"/>
                    <p:cNvSpPr>
                      <a:spLocks noChangeArrowheads="1"/>
                    </p:cNvSpPr>
                    <p:nvPr/>
                  </p:nvSpPr>
                  <p:spPr bwMode="auto">
                    <a:xfrm>
                      <a:off x="4749" y="1982"/>
                      <a:ext cx="81"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86" name="Oval 210"/>
                    <p:cNvSpPr>
                      <a:spLocks noChangeArrowheads="1"/>
                    </p:cNvSpPr>
                    <p:nvPr/>
                  </p:nvSpPr>
                  <p:spPr bwMode="auto">
                    <a:xfrm>
                      <a:off x="5542" y="1874"/>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87" name="Oval 211"/>
                    <p:cNvSpPr>
                      <a:spLocks noChangeArrowheads="1"/>
                    </p:cNvSpPr>
                    <p:nvPr/>
                  </p:nvSpPr>
                  <p:spPr bwMode="auto">
                    <a:xfrm>
                      <a:off x="5393" y="1639"/>
                      <a:ext cx="85" cy="8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88" name="Oval 212"/>
                    <p:cNvSpPr>
                      <a:spLocks noChangeArrowheads="1"/>
                    </p:cNvSpPr>
                    <p:nvPr/>
                  </p:nvSpPr>
                  <p:spPr bwMode="auto">
                    <a:xfrm>
                      <a:off x="5054" y="1606"/>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89" name="Oval 213"/>
                    <p:cNvSpPr>
                      <a:spLocks noChangeArrowheads="1"/>
                    </p:cNvSpPr>
                    <p:nvPr/>
                  </p:nvSpPr>
                  <p:spPr bwMode="auto">
                    <a:xfrm>
                      <a:off x="5005" y="1643"/>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0" name="Oval 214"/>
                    <p:cNvSpPr>
                      <a:spLocks noChangeArrowheads="1"/>
                    </p:cNvSpPr>
                    <p:nvPr/>
                  </p:nvSpPr>
                  <p:spPr bwMode="auto">
                    <a:xfrm>
                      <a:off x="5148" y="2074"/>
                      <a:ext cx="77"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1" name="Oval 215"/>
                    <p:cNvSpPr>
                      <a:spLocks noChangeArrowheads="1"/>
                    </p:cNvSpPr>
                    <p:nvPr/>
                  </p:nvSpPr>
                  <p:spPr bwMode="auto">
                    <a:xfrm>
                      <a:off x="5199" y="1624"/>
                      <a:ext cx="106" cy="9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2" name="Oval 216"/>
                    <p:cNvSpPr>
                      <a:spLocks noChangeArrowheads="1"/>
                    </p:cNvSpPr>
                    <p:nvPr/>
                  </p:nvSpPr>
                  <p:spPr bwMode="auto">
                    <a:xfrm>
                      <a:off x="5086" y="1581"/>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3" name="Oval 217"/>
                    <p:cNvSpPr>
                      <a:spLocks noChangeArrowheads="1"/>
                    </p:cNvSpPr>
                    <p:nvPr/>
                  </p:nvSpPr>
                  <p:spPr bwMode="auto">
                    <a:xfrm>
                      <a:off x="5282" y="1616"/>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4" name="Oval 218"/>
                    <p:cNvSpPr>
                      <a:spLocks noChangeArrowheads="1"/>
                    </p:cNvSpPr>
                    <p:nvPr/>
                  </p:nvSpPr>
                  <p:spPr bwMode="auto">
                    <a:xfrm>
                      <a:off x="4792" y="1681"/>
                      <a:ext cx="137"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5" name="Oval 219"/>
                    <p:cNvSpPr>
                      <a:spLocks noChangeArrowheads="1"/>
                    </p:cNvSpPr>
                    <p:nvPr/>
                  </p:nvSpPr>
                  <p:spPr bwMode="auto">
                    <a:xfrm>
                      <a:off x="4726" y="1801"/>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6" name="Oval 220"/>
                    <p:cNvSpPr>
                      <a:spLocks noChangeArrowheads="1"/>
                    </p:cNvSpPr>
                    <p:nvPr/>
                  </p:nvSpPr>
                  <p:spPr bwMode="auto">
                    <a:xfrm>
                      <a:off x="5525" y="1932"/>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7" name="Oval 221"/>
                    <p:cNvSpPr>
                      <a:spLocks noChangeArrowheads="1"/>
                    </p:cNvSpPr>
                    <p:nvPr/>
                  </p:nvSpPr>
                  <p:spPr bwMode="auto">
                    <a:xfrm>
                      <a:off x="5370" y="1994"/>
                      <a:ext cx="128" cy="125"/>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8" name="Oval 222"/>
                    <p:cNvSpPr>
                      <a:spLocks noChangeArrowheads="1"/>
                    </p:cNvSpPr>
                    <p:nvPr/>
                  </p:nvSpPr>
                  <p:spPr bwMode="auto">
                    <a:xfrm>
                      <a:off x="4862" y="2050"/>
                      <a:ext cx="133" cy="12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199" name="Oval 223"/>
                    <p:cNvSpPr>
                      <a:spLocks noChangeArrowheads="1"/>
                    </p:cNvSpPr>
                    <p:nvPr/>
                  </p:nvSpPr>
                  <p:spPr bwMode="auto">
                    <a:xfrm>
                      <a:off x="4773" y="2055"/>
                      <a:ext cx="107" cy="10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00" name="Oval 224"/>
                    <p:cNvSpPr>
                      <a:spLocks noChangeArrowheads="1"/>
                    </p:cNvSpPr>
                    <p:nvPr/>
                  </p:nvSpPr>
                  <p:spPr bwMode="auto">
                    <a:xfrm>
                      <a:off x="5462" y="1978"/>
                      <a:ext cx="130" cy="12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01" name="Oval 225"/>
                    <p:cNvSpPr>
                      <a:spLocks noChangeArrowheads="1"/>
                    </p:cNvSpPr>
                    <p:nvPr/>
                  </p:nvSpPr>
                  <p:spPr bwMode="auto">
                    <a:xfrm>
                      <a:off x="5213" y="1963"/>
                      <a:ext cx="181" cy="18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02" name="Oval 226"/>
                    <p:cNvSpPr>
                      <a:spLocks noChangeArrowheads="1"/>
                    </p:cNvSpPr>
                    <p:nvPr/>
                  </p:nvSpPr>
                  <p:spPr bwMode="auto">
                    <a:xfrm>
                      <a:off x="4945" y="1938"/>
                      <a:ext cx="234" cy="2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03" name="Oval 227"/>
                    <p:cNvSpPr>
                      <a:spLocks noChangeArrowheads="1"/>
                    </p:cNvSpPr>
                    <p:nvPr/>
                  </p:nvSpPr>
                  <p:spPr bwMode="auto">
                    <a:xfrm>
                      <a:off x="4761" y="1920"/>
                      <a:ext cx="64"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04" name="Oval 228"/>
                    <p:cNvSpPr>
                      <a:spLocks noChangeArrowheads="1"/>
                    </p:cNvSpPr>
                    <p:nvPr/>
                  </p:nvSpPr>
                  <p:spPr bwMode="auto">
                    <a:xfrm>
                      <a:off x="5558" y="1819"/>
                      <a:ext cx="65" cy="6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05" name="Oval 229"/>
                    <p:cNvSpPr>
                      <a:spLocks noChangeArrowheads="1"/>
                    </p:cNvSpPr>
                    <p:nvPr/>
                  </p:nvSpPr>
                  <p:spPr bwMode="auto">
                    <a:xfrm>
                      <a:off x="5469" y="1634"/>
                      <a:ext cx="204" cy="20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206" name="Freeform 230"/>
                <p:cNvSpPr>
                  <a:spLocks/>
                </p:cNvSpPr>
                <p:nvPr/>
              </p:nvSpPr>
              <p:spPr bwMode="auto">
                <a:xfrm>
                  <a:off x="4794" y="1664"/>
                  <a:ext cx="808" cy="437"/>
                </a:xfrm>
                <a:custGeom>
                  <a:avLst/>
                  <a:gdLst>
                    <a:gd name="T0" fmla="*/ 165 w 808"/>
                    <a:gd name="T1" fmla="*/ 21 h 437"/>
                    <a:gd name="T2" fmla="*/ 74 w 808"/>
                    <a:gd name="T3" fmla="*/ 32 h 437"/>
                    <a:gd name="T4" fmla="*/ 0 w 808"/>
                    <a:gd name="T5" fmla="*/ 311 h 437"/>
                    <a:gd name="T6" fmla="*/ 57 w 808"/>
                    <a:gd name="T7" fmla="*/ 394 h 437"/>
                    <a:gd name="T8" fmla="*/ 222 w 808"/>
                    <a:gd name="T9" fmla="*/ 390 h 437"/>
                    <a:gd name="T10" fmla="*/ 398 w 808"/>
                    <a:gd name="T11" fmla="*/ 436 h 437"/>
                    <a:gd name="T12" fmla="*/ 489 w 808"/>
                    <a:gd name="T13" fmla="*/ 406 h 437"/>
                    <a:gd name="T14" fmla="*/ 734 w 808"/>
                    <a:gd name="T15" fmla="*/ 355 h 437"/>
                    <a:gd name="T16" fmla="*/ 775 w 808"/>
                    <a:gd name="T17" fmla="*/ 319 h 437"/>
                    <a:gd name="T18" fmla="*/ 765 w 808"/>
                    <a:gd name="T19" fmla="*/ 242 h 437"/>
                    <a:gd name="T20" fmla="*/ 807 w 808"/>
                    <a:gd name="T21" fmla="*/ 169 h 437"/>
                    <a:gd name="T22" fmla="*/ 694 w 808"/>
                    <a:gd name="T23" fmla="*/ 75 h 437"/>
                    <a:gd name="T24" fmla="*/ 647 w 808"/>
                    <a:gd name="T25" fmla="*/ 37 h 437"/>
                    <a:gd name="T26" fmla="*/ 360 w 808"/>
                    <a:gd name="T27" fmla="*/ 0 h 437"/>
                    <a:gd name="T28" fmla="*/ 165 w 808"/>
                    <a:gd name="T29" fmla="*/ 2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8" h="437">
                      <a:moveTo>
                        <a:pt x="165" y="21"/>
                      </a:moveTo>
                      <a:lnTo>
                        <a:pt x="74" y="32"/>
                      </a:lnTo>
                      <a:lnTo>
                        <a:pt x="0" y="311"/>
                      </a:lnTo>
                      <a:lnTo>
                        <a:pt x="57" y="394"/>
                      </a:lnTo>
                      <a:lnTo>
                        <a:pt x="222" y="390"/>
                      </a:lnTo>
                      <a:lnTo>
                        <a:pt x="398" y="436"/>
                      </a:lnTo>
                      <a:lnTo>
                        <a:pt x="489" y="406"/>
                      </a:lnTo>
                      <a:lnTo>
                        <a:pt x="734" y="355"/>
                      </a:lnTo>
                      <a:lnTo>
                        <a:pt x="775" y="319"/>
                      </a:lnTo>
                      <a:lnTo>
                        <a:pt x="765" y="242"/>
                      </a:lnTo>
                      <a:lnTo>
                        <a:pt x="807" y="169"/>
                      </a:lnTo>
                      <a:lnTo>
                        <a:pt x="694" y="75"/>
                      </a:lnTo>
                      <a:lnTo>
                        <a:pt x="647" y="37"/>
                      </a:lnTo>
                      <a:lnTo>
                        <a:pt x="360" y="0"/>
                      </a:lnTo>
                      <a:lnTo>
                        <a:pt x="165" y="21"/>
                      </a:lnTo>
                    </a:path>
                  </a:pathLst>
                </a:custGeom>
                <a:solidFill>
                  <a:srgbClr val="FFBF7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55207" name="Group 231"/>
              <p:cNvGrpSpPr>
                <a:grpSpLocks/>
              </p:cNvGrpSpPr>
              <p:nvPr/>
            </p:nvGrpSpPr>
            <p:grpSpPr bwMode="auto">
              <a:xfrm>
                <a:off x="4767" y="1683"/>
                <a:ext cx="874" cy="441"/>
                <a:chOff x="4767" y="1683"/>
                <a:chExt cx="874" cy="441"/>
              </a:xfrm>
            </p:grpSpPr>
            <p:sp>
              <p:nvSpPr>
                <p:cNvPr id="255208" name="Oval 232"/>
                <p:cNvSpPr>
                  <a:spLocks noChangeArrowheads="1"/>
                </p:cNvSpPr>
                <p:nvPr/>
              </p:nvSpPr>
              <p:spPr bwMode="auto">
                <a:xfrm>
                  <a:off x="4799" y="1986"/>
                  <a:ext cx="126"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09" name="Oval 233"/>
                <p:cNvSpPr>
                  <a:spLocks noChangeArrowheads="1"/>
                </p:cNvSpPr>
                <p:nvPr/>
              </p:nvSpPr>
              <p:spPr bwMode="auto">
                <a:xfrm>
                  <a:off x="4767" y="1771"/>
                  <a:ext cx="125" cy="12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0" name="Oval 234"/>
                <p:cNvSpPr>
                  <a:spLocks noChangeArrowheads="1"/>
                </p:cNvSpPr>
                <p:nvPr/>
              </p:nvSpPr>
              <p:spPr bwMode="auto">
                <a:xfrm>
                  <a:off x="5514" y="1683"/>
                  <a:ext cx="127"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1" name="Oval 235"/>
                <p:cNvSpPr>
                  <a:spLocks noChangeArrowheads="1"/>
                </p:cNvSpPr>
                <p:nvPr/>
              </p:nvSpPr>
              <p:spPr bwMode="auto">
                <a:xfrm>
                  <a:off x="5510" y="1863"/>
                  <a:ext cx="103" cy="100"/>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2" name="Oval 236"/>
                <p:cNvSpPr>
                  <a:spLocks noChangeArrowheads="1"/>
                </p:cNvSpPr>
                <p:nvPr/>
              </p:nvSpPr>
              <p:spPr bwMode="auto">
                <a:xfrm>
                  <a:off x="4776" y="1787"/>
                  <a:ext cx="135" cy="13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3" name="Oval 237"/>
                <p:cNvSpPr>
                  <a:spLocks noChangeArrowheads="1"/>
                </p:cNvSpPr>
                <p:nvPr/>
              </p:nvSpPr>
              <p:spPr bwMode="auto">
                <a:xfrm>
                  <a:off x="4808" y="1993"/>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4" name="Oval 238"/>
                <p:cNvSpPr>
                  <a:spLocks noChangeArrowheads="1"/>
                </p:cNvSpPr>
                <p:nvPr/>
              </p:nvSpPr>
              <p:spPr bwMode="auto">
                <a:xfrm>
                  <a:off x="5500" y="1694"/>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5" name="Oval 239"/>
                <p:cNvSpPr>
                  <a:spLocks noChangeArrowheads="1"/>
                </p:cNvSpPr>
                <p:nvPr/>
              </p:nvSpPr>
              <p:spPr bwMode="auto">
                <a:xfrm>
                  <a:off x="5483" y="1856"/>
                  <a:ext cx="115" cy="11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6" name="Oval 240"/>
                <p:cNvSpPr>
                  <a:spLocks noChangeArrowheads="1"/>
                </p:cNvSpPr>
                <p:nvPr/>
              </p:nvSpPr>
              <p:spPr bwMode="auto">
                <a:xfrm>
                  <a:off x="4770" y="1838"/>
                  <a:ext cx="122" cy="11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7" name="Oval 241"/>
                <p:cNvSpPr>
                  <a:spLocks noChangeArrowheads="1"/>
                </p:cNvSpPr>
                <p:nvPr/>
              </p:nvSpPr>
              <p:spPr bwMode="auto">
                <a:xfrm>
                  <a:off x="4786" y="1839"/>
                  <a:ext cx="114" cy="11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8" name="Oval 242"/>
                <p:cNvSpPr>
                  <a:spLocks noChangeArrowheads="1"/>
                </p:cNvSpPr>
                <p:nvPr/>
              </p:nvSpPr>
              <p:spPr bwMode="auto">
                <a:xfrm>
                  <a:off x="5443" y="1696"/>
                  <a:ext cx="125"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19" name="Oval 243"/>
                <p:cNvSpPr>
                  <a:spLocks noChangeArrowheads="1"/>
                </p:cNvSpPr>
                <p:nvPr/>
              </p:nvSpPr>
              <p:spPr bwMode="auto">
                <a:xfrm>
                  <a:off x="5444" y="1707"/>
                  <a:ext cx="114"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20" name="Oval 244"/>
                <p:cNvSpPr>
                  <a:spLocks noChangeArrowheads="1"/>
                </p:cNvSpPr>
                <p:nvPr/>
              </p:nvSpPr>
              <p:spPr bwMode="auto">
                <a:xfrm>
                  <a:off x="5532" y="1942"/>
                  <a:ext cx="82" cy="8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21" name="Oval 245"/>
                <p:cNvSpPr>
                  <a:spLocks noChangeArrowheads="1"/>
                </p:cNvSpPr>
                <p:nvPr/>
              </p:nvSpPr>
              <p:spPr bwMode="auto">
                <a:xfrm>
                  <a:off x="5525" y="1947"/>
                  <a:ext cx="76" cy="7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222" name="Rectangle 246"/>
            <p:cNvSpPr>
              <a:spLocks noChangeArrowheads="1"/>
            </p:cNvSpPr>
            <p:nvPr/>
          </p:nvSpPr>
          <p:spPr bwMode="auto">
            <a:xfrm>
              <a:off x="4748" y="1676"/>
              <a:ext cx="903"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7625" rIns="96838" bIns="47625">
              <a:spAutoFit/>
            </a:bodyPr>
            <a:lstStyle>
              <a:lvl1pPr defTabSz="960438">
                <a:defRPr sz="2400">
                  <a:solidFill>
                    <a:schemeClr val="tx1"/>
                  </a:solidFill>
                  <a:latin typeface="Times New Roman" pitchFamily="18" charset="0"/>
                </a:defRPr>
              </a:lvl1pPr>
              <a:lvl2pPr marL="479425" defTabSz="960438">
                <a:defRPr sz="2400">
                  <a:solidFill>
                    <a:schemeClr val="tx1"/>
                  </a:solidFill>
                  <a:latin typeface="Times New Roman" pitchFamily="18" charset="0"/>
                </a:defRPr>
              </a:lvl2pPr>
              <a:lvl3pPr marL="960438" defTabSz="960438">
                <a:defRPr sz="2400">
                  <a:solidFill>
                    <a:schemeClr val="tx1"/>
                  </a:solidFill>
                  <a:latin typeface="Times New Roman" pitchFamily="18" charset="0"/>
                </a:defRPr>
              </a:lvl3pPr>
              <a:lvl4pPr marL="1439863" defTabSz="960438">
                <a:defRPr sz="2400">
                  <a:solidFill>
                    <a:schemeClr val="tx1"/>
                  </a:solidFill>
                  <a:latin typeface="Times New Roman" pitchFamily="18" charset="0"/>
                </a:defRPr>
              </a:lvl4pPr>
              <a:lvl5pPr marL="1920875" defTabSz="960438">
                <a:defRPr sz="2400">
                  <a:solidFill>
                    <a:schemeClr val="tx1"/>
                  </a:solidFill>
                  <a:latin typeface="Times New Roman" pitchFamily="18" charset="0"/>
                </a:defRPr>
              </a:lvl5pPr>
              <a:lvl6pPr marL="2378075" defTabSz="960438" eaLnBrk="0" fontAlgn="base" hangingPunct="0">
                <a:spcBef>
                  <a:spcPct val="0"/>
                </a:spcBef>
                <a:spcAft>
                  <a:spcPct val="0"/>
                </a:spcAft>
                <a:defRPr sz="2400">
                  <a:solidFill>
                    <a:schemeClr val="tx1"/>
                  </a:solidFill>
                  <a:latin typeface="Times New Roman" pitchFamily="18" charset="0"/>
                </a:defRPr>
              </a:lvl6pPr>
              <a:lvl7pPr marL="2835275" defTabSz="960438" eaLnBrk="0" fontAlgn="base" hangingPunct="0">
                <a:spcBef>
                  <a:spcPct val="0"/>
                </a:spcBef>
                <a:spcAft>
                  <a:spcPct val="0"/>
                </a:spcAft>
                <a:defRPr sz="2400">
                  <a:solidFill>
                    <a:schemeClr val="tx1"/>
                  </a:solidFill>
                  <a:latin typeface="Times New Roman" pitchFamily="18" charset="0"/>
                </a:defRPr>
              </a:lvl7pPr>
              <a:lvl8pPr marL="3292475" defTabSz="960438" eaLnBrk="0" fontAlgn="base" hangingPunct="0">
                <a:spcBef>
                  <a:spcPct val="0"/>
                </a:spcBef>
                <a:spcAft>
                  <a:spcPct val="0"/>
                </a:spcAft>
                <a:defRPr sz="2400">
                  <a:solidFill>
                    <a:schemeClr val="tx1"/>
                  </a:solidFill>
                  <a:latin typeface="Times New Roman" pitchFamily="18" charset="0"/>
                </a:defRPr>
              </a:lvl8pPr>
              <a:lvl9pPr marL="3749675" defTabSz="960438" eaLnBrk="0" fontAlgn="base" hangingPunct="0">
                <a:spcBef>
                  <a:spcPct val="0"/>
                </a:spcBef>
                <a:spcAft>
                  <a:spcPct val="0"/>
                </a:spcAft>
                <a:defRPr sz="2400">
                  <a:solidFill>
                    <a:schemeClr val="tx1"/>
                  </a:solidFill>
                  <a:latin typeface="Times New Roman" pitchFamily="18" charset="0"/>
                </a:defRPr>
              </a:lvl9pPr>
            </a:lstStyle>
            <a:p>
              <a:pPr algn="ctr">
                <a:lnSpc>
                  <a:spcPct val="90000"/>
                </a:lnSpc>
              </a:pPr>
              <a:r>
                <a:rPr lang="en-GB" altLang="en-US" sz="1900" b="1">
                  <a:latin typeface="Arial" pitchFamily="34" charset="0"/>
                </a:rPr>
                <a:t>OOSE </a:t>
              </a:r>
            </a:p>
            <a:p>
              <a:pPr algn="ctr">
                <a:lnSpc>
                  <a:spcPct val="90000"/>
                </a:lnSpc>
              </a:pPr>
              <a:r>
                <a:rPr lang="en-GB" altLang="en-US" sz="1900" b="1">
                  <a:latin typeface="Arial" pitchFamily="34" charset="0"/>
                </a:rPr>
                <a:t>Objectory</a:t>
              </a:r>
            </a:p>
          </p:txBody>
        </p:sp>
      </p:grpSp>
      <p:grpSp>
        <p:nvGrpSpPr>
          <p:cNvPr id="255223" name="Group 247"/>
          <p:cNvGrpSpPr>
            <a:grpSpLocks/>
          </p:cNvGrpSpPr>
          <p:nvPr/>
        </p:nvGrpSpPr>
        <p:grpSpPr bwMode="auto">
          <a:xfrm>
            <a:off x="2282825" y="3533963"/>
            <a:ext cx="4873625" cy="2728913"/>
            <a:chOff x="1558" y="2404"/>
            <a:chExt cx="3326" cy="1719"/>
          </a:xfrm>
        </p:grpSpPr>
        <p:grpSp>
          <p:nvGrpSpPr>
            <p:cNvPr id="255224" name="Group 248"/>
            <p:cNvGrpSpPr>
              <a:grpSpLocks/>
            </p:cNvGrpSpPr>
            <p:nvPr/>
          </p:nvGrpSpPr>
          <p:grpSpPr bwMode="auto">
            <a:xfrm>
              <a:off x="2529" y="3497"/>
              <a:ext cx="1319" cy="626"/>
              <a:chOff x="2529" y="3497"/>
              <a:chExt cx="1319" cy="626"/>
            </a:xfrm>
          </p:grpSpPr>
          <p:grpSp>
            <p:nvGrpSpPr>
              <p:cNvPr id="255225" name="Group 249"/>
              <p:cNvGrpSpPr>
                <a:grpSpLocks/>
              </p:cNvGrpSpPr>
              <p:nvPr/>
            </p:nvGrpSpPr>
            <p:grpSpPr bwMode="auto">
              <a:xfrm>
                <a:off x="2529" y="3497"/>
                <a:ext cx="1319" cy="626"/>
                <a:chOff x="2529" y="3497"/>
                <a:chExt cx="1319" cy="626"/>
              </a:xfrm>
            </p:grpSpPr>
            <p:grpSp>
              <p:nvGrpSpPr>
                <p:cNvPr id="255226" name="Group 250"/>
                <p:cNvGrpSpPr>
                  <a:grpSpLocks/>
                </p:cNvGrpSpPr>
                <p:nvPr/>
              </p:nvGrpSpPr>
              <p:grpSpPr bwMode="auto">
                <a:xfrm>
                  <a:off x="2529" y="3497"/>
                  <a:ext cx="1319" cy="626"/>
                  <a:chOff x="2529" y="3497"/>
                  <a:chExt cx="1319" cy="626"/>
                </a:xfrm>
              </p:grpSpPr>
              <p:grpSp>
                <p:nvGrpSpPr>
                  <p:cNvPr id="255227" name="Group 251"/>
                  <p:cNvGrpSpPr>
                    <a:grpSpLocks/>
                  </p:cNvGrpSpPr>
                  <p:nvPr/>
                </p:nvGrpSpPr>
                <p:grpSpPr bwMode="auto">
                  <a:xfrm>
                    <a:off x="2529" y="3497"/>
                    <a:ext cx="1319" cy="626"/>
                    <a:chOff x="2529" y="3497"/>
                    <a:chExt cx="1319" cy="626"/>
                  </a:xfrm>
                </p:grpSpPr>
                <p:grpSp>
                  <p:nvGrpSpPr>
                    <p:cNvPr id="255228" name="Group 252"/>
                    <p:cNvGrpSpPr>
                      <a:grpSpLocks/>
                    </p:cNvGrpSpPr>
                    <p:nvPr/>
                  </p:nvGrpSpPr>
                  <p:grpSpPr bwMode="auto">
                    <a:xfrm>
                      <a:off x="2529" y="3497"/>
                      <a:ext cx="1319" cy="626"/>
                      <a:chOff x="2529" y="3497"/>
                      <a:chExt cx="1319" cy="626"/>
                    </a:xfrm>
                  </p:grpSpPr>
                  <p:grpSp>
                    <p:nvGrpSpPr>
                      <p:cNvPr id="255229" name="Group 253"/>
                      <p:cNvGrpSpPr>
                        <a:grpSpLocks/>
                      </p:cNvGrpSpPr>
                      <p:nvPr/>
                    </p:nvGrpSpPr>
                    <p:grpSpPr bwMode="auto">
                      <a:xfrm>
                        <a:off x="2529" y="3497"/>
                        <a:ext cx="1319" cy="626"/>
                        <a:chOff x="2529" y="3497"/>
                        <a:chExt cx="1319" cy="626"/>
                      </a:xfrm>
                    </p:grpSpPr>
                    <p:grpSp>
                      <p:nvGrpSpPr>
                        <p:cNvPr id="255230" name="Group 254"/>
                        <p:cNvGrpSpPr>
                          <a:grpSpLocks/>
                        </p:cNvGrpSpPr>
                        <p:nvPr/>
                      </p:nvGrpSpPr>
                      <p:grpSpPr bwMode="auto">
                        <a:xfrm>
                          <a:off x="2529" y="3991"/>
                          <a:ext cx="1262" cy="132"/>
                          <a:chOff x="2529" y="3991"/>
                          <a:chExt cx="1262" cy="132"/>
                        </a:xfrm>
                      </p:grpSpPr>
                      <p:grpSp>
                        <p:nvGrpSpPr>
                          <p:cNvPr id="255231" name="Group 255"/>
                          <p:cNvGrpSpPr>
                            <a:grpSpLocks/>
                          </p:cNvGrpSpPr>
                          <p:nvPr/>
                        </p:nvGrpSpPr>
                        <p:grpSpPr bwMode="auto">
                          <a:xfrm>
                            <a:off x="2529" y="4000"/>
                            <a:ext cx="1262" cy="123"/>
                            <a:chOff x="2529" y="4000"/>
                            <a:chExt cx="1262" cy="123"/>
                          </a:xfrm>
                        </p:grpSpPr>
                        <p:sp>
                          <p:nvSpPr>
                            <p:cNvPr id="255232" name="Oval 256"/>
                            <p:cNvSpPr>
                              <a:spLocks noChangeArrowheads="1"/>
                            </p:cNvSpPr>
                            <p:nvPr/>
                          </p:nvSpPr>
                          <p:spPr bwMode="auto">
                            <a:xfrm>
                              <a:off x="2529" y="4044"/>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33" name="Oval 257"/>
                            <p:cNvSpPr>
                              <a:spLocks noChangeArrowheads="1"/>
                            </p:cNvSpPr>
                            <p:nvPr/>
                          </p:nvSpPr>
                          <p:spPr bwMode="auto">
                            <a:xfrm>
                              <a:off x="2578" y="4010"/>
                              <a:ext cx="131" cy="46"/>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34" name="Oval 258"/>
                            <p:cNvSpPr>
                              <a:spLocks noChangeArrowheads="1"/>
                            </p:cNvSpPr>
                            <p:nvPr/>
                          </p:nvSpPr>
                          <p:spPr bwMode="auto">
                            <a:xfrm>
                              <a:off x="2662" y="4014"/>
                              <a:ext cx="132" cy="4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35" name="Oval 259"/>
                            <p:cNvSpPr>
                              <a:spLocks noChangeArrowheads="1"/>
                            </p:cNvSpPr>
                            <p:nvPr/>
                          </p:nvSpPr>
                          <p:spPr bwMode="auto">
                            <a:xfrm>
                              <a:off x="2810" y="4042"/>
                              <a:ext cx="139" cy="6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36" name="Oval 260"/>
                            <p:cNvSpPr>
                              <a:spLocks noChangeArrowheads="1"/>
                            </p:cNvSpPr>
                            <p:nvPr/>
                          </p:nvSpPr>
                          <p:spPr bwMode="auto">
                            <a:xfrm>
                              <a:off x="2623" y="4050"/>
                              <a:ext cx="198"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37" name="Oval 261"/>
                            <p:cNvSpPr>
                              <a:spLocks noChangeArrowheads="1"/>
                            </p:cNvSpPr>
                            <p:nvPr/>
                          </p:nvSpPr>
                          <p:spPr bwMode="auto">
                            <a:xfrm>
                              <a:off x="2930" y="4053"/>
                              <a:ext cx="133"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38" name="Oval 262"/>
                            <p:cNvSpPr>
                              <a:spLocks noChangeArrowheads="1"/>
                            </p:cNvSpPr>
                            <p:nvPr/>
                          </p:nvSpPr>
                          <p:spPr bwMode="auto">
                            <a:xfrm>
                              <a:off x="3036" y="4048"/>
                              <a:ext cx="110" cy="59"/>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39" name="Oval 263"/>
                            <p:cNvSpPr>
                              <a:spLocks noChangeArrowheads="1"/>
                            </p:cNvSpPr>
                            <p:nvPr/>
                          </p:nvSpPr>
                          <p:spPr bwMode="auto">
                            <a:xfrm>
                              <a:off x="3133" y="4048"/>
                              <a:ext cx="107" cy="64"/>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40" name="Oval 264"/>
                            <p:cNvSpPr>
                              <a:spLocks noChangeArrowheads="1"/>
                            </p:cNvSpPr>
                            <p:nvPr/>
                          </p:nvSpPr>
                          <p:spPr bwMode="auto">
                            <a:xfrm>
                              <a:off x="3211" y="4066"/>
                              <a:ext cx="114" cy="50"/>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41" name="Oval 265"/>
                            <p:cNvSpPr>
                              <a:spLocks noChangeArrowheads="1"/>
                            </p:cNvSpPr>
                            <p:nvPr/>
                          </p:nvSpPr>
                          <p:spPr bwMode="auto">
                            <a:xfrm>
                              <a:off x="3318" y="4035"/>
                              <a:ext cx="74" cy="7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42" name="Oval 266"/>
                            <p:cNvSpPr>
                              <a:spLocks noChangeArrowheads="1"/>
                            </p:cNvSpPr>
                            <p:nvPr/>
                          </p:nvSpPr>
                          <p:spPr bwMode="auto">
                            <a:xfrm>
                              <a:off x="3378" y="4000"/>
                              <a:ext cx="108" cy="82"/>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43" name="Oval 267"/>
                            <p:cNvSpPr>
                              <a:spLocks noChangeArrowheads="1"/>
                            </p:cNvSpPr>
                            <p:nvPr/>
                          </p:nvSpPr>
                          <p:spPr bwMode="auto">
                            <a:xfrm>
                              <a:off x="3458" y="4011"/>
                              <a:ext cx="121" cy="8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44" name="Oval 268"/>
                            <p:cNvSpPr>
                              <a:spLocks noChangeArrowheads="1"/>
                            </p:cNvSpPr>
                            <p:nvPr/>
                          </p:nvSpPr>
                          <p:spPr bwMode="auto">
                            <a:xfrm>
                              <a:off x="3553" y="4025"/>
                              <a:ext cx="134" cy="6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45" name="Oval 269"/>
                            <p:cNvSpPr>
                              <a:spLocks noChangeArrowheads="1"/>
                            </p:cNvSpPr>
                            <p:nvPr/>
                          </p:nvSpPr>
                          <p:spPr bwMode="auto">
                            <a:xfrm>
                              <a:off x="3662" y="4011"/>
                              <a:ext cx="12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5246" name="Oval 270"/>
                          <p:cNvSpPr>
                            <a:spLocks noChangeArrowheads="1"/>
                          </p:cNvSpPr>
                          <p:nvPr/>
                        </p:nvSpPr>
                        <p:spPr bwMode="auto">
                          <a:xfrm>
                            <a:off x="3677" y="3991"/>
                            <a:ext cx="95"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5247" name="Group 271"/>
                        <p:cNvGrpSpPr>
                          <a:grpSpLocks/>
                        </p:cNvGrpSpPr>
                        <p:nvPr/>
                      </p:nvGrpSpPr>
                      <p:grpSpPr bwMode="auto">
                        <a:xfrm>
                          <a:off x="2874" y="3497"/>
                          <a:ext cx="974" cy="600"/>
                          <a:chOff x="2874" y="3497"/>
                          <a:chExt cx="974" cy="600"/>
                        </a:xfrm>
                      </p:grpSpPr>
                      <p:sp>
                        <p:nvSpPr>
                          <p:cNvPr id="255248" name="Oval 272"/>
                          <p:cNvSpPr>
                            <a:spLocks noChangeArrowheads="1"/>
                          </p:cNvSpPr>
                          <p:nvPr/>
                        </p:nvSpPr>
                        <p:spPr bwMode="auto">
                          <a:xfrm>
                            <a:off x="3050" y="3516"/>
                            <a:ext cx="135"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49" name="Oval 273"/>
                          <p:cNvSpPr>
                            <a:spLocks noChangeArrowheads="1"/>
                          </p:cNvSpPr>
                          <p:nvPr/>
                        </p:nvSpPr>
                        <p:spPr bwMode="auto">
                          <a:xfrm>
                            <a:off x="3202" y="3497"/>
                            <a:ext cx="134" cy="13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0" name="Oval 274"/>
                          <p:cNvSpPr>
                            <a:spLocks noChangeArrowheads="1"/>
                          </p:cNvSpPr>
                          <p:nvPr/>
                        </p:nvSpPr>
                        <p:spPr bwMode="auto">
                          <a:xfrm>
                            <a:off x="2941" y="3588"/>
                            <a:ext cx="134"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1" name="Oval 275"/>
                          <p:cNvSpPr>
                            <a:spLocks noChangeArrowheads="1"/>
                          </p:cNvSpPr>
                          <p:nvPr/>
                        </p:nvSpPr>
                        <p:spPr bwMode="auto">
                          <a:xfrm>
                            <a:off x="2874" y="3709"/>
                            <a:ext cx="136"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2" name="Oval 276"/>
                          <p:cNvSpPr>
                            <a:spLocks noChangeArrowheads="1"/>
                          </p:cNvSpPr>
                          <p:nvPr/>
                        </p:nvSpPr>
                        <p:spPr bwMode="auto">
                          <a:xfrm>
                            <a:off x="2922" y="3970"/>
                            <a:ext cx="103" cy="10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3" name="Oval 277"/>
                          <p:cNvSpPr>
                            <a:spLocks noChangeArrowheads="1"/>
                          </p:cNvSpPr>
                          <p:nvPr/>
                        </p:nvSpPr>
                        <p:spPr bwMode="auto">
                          <a:xfrm>
                            <a:off x="2911" y="3836"/>
                            <a:ext cx="76" cy="7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4" name="Oval 278"/>
                          <p:cNvSpPr>
                            <a:spLocks noChangeArrowheads="1"/>
                          </p:cNvSpPr>
                          <p:nvPr/>
                        </p:nvSpPr>
                        <p:spPr bwMode="auto">
                          <a:xfrm>
                            <a:off x="2900" y="3887"/>
                            <a:ext cx="87" cy="8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5" name="Oval 279"/>
                          <p:cNvSpPr>
                            <a:spLocks noChangeArrowheads="1"/>
                          </p:cNvSpPr>
                          <p:nvPr/>
                        </p:nvSpPr>
                        <p:spPr bwMode="auto">
                          <a:xfrm>
                            <a:off x="3102" y="3993"/>
                            <a:ext cx="227" cy="104"/>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6" name="Oval 280"/>
                          <p:cNvSpPr>
                            <a:spLocks noChangeArrowheads="1"/>
                          </p:cNvSpPr>
                          <p:nvPr/>
                        </p:nvSpPr>
                        <p:spPr bwMode="auto">
                          <a:xfrm>
                            <a:off x="3443" y="3526"/>
                            <a:ext cx="135"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7" name="Oval 281"/>
                          <p:cNvSpPr>
                            <a:spLocks noChangeArrowheads="1"/>
                          </p:cNvSpPr>
                          <p:nvPr/>
                        </p:nvSpPr>
                        <p:spPr bwMode="auto">
                          <a:xfrm>
                            <a:off x="3666" y="3509"/>
                            <a:ext cx="90" cy="9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8" name="Oval 282"/>
                          <p:cNvSpPr>
                            <a:spLocks noChangeArrowheads="1"/>
                          </p:cNvSpPr>
                          <p:nvPr/>
                        </p:nvSpPr>
                        <p:spPr bwMode="auto">
                          <a:xfrm>
                            <a:off x="3623" y="3547"/>
                            <a:ext cx="67" cy="6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59" name="Oval 283"/>
                          <p:cNvSpPr>
                            <a:spLocks noChangeArrowheads="1"/>
                          </p:cNvSpPr>
                          <p:nvPr/>
                        </p:nvSpPr>
                        <p:spPr bwMode="auto">
                          <a:xfrm>
                            <a:off x="3650" y="3550"/>
                            <a:ext cx="198" cy="203"/>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60" name="Oval 284"/>
                          <p:cNvSpPr>
                            <a:spLocks noChangeArrowheads="1"/>
                          </p:cNvSpPr>
                          <p:nvPr/>
                        </p:nvSpPr>
                        <p:spPr bwMode="auto">
                          <a:xfrm>
                            <a:off x="3709" y="3856"/>
                            <a:ext cx="113" cy="11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61" name="Oval 285"/>
                          <p:cNvSpPr>
                            <a:spLocks noChangeArrowheads="1"/>
                          </p:cNvSpPr>
                          <p:nvPr/>
                        </p:nvSpPr>
                        <p:spPr bwMode="auto">
                          <a:xfrm>
                            <a:off x="3617" y="3893"/>
                            <a:ext cx="153" cy="15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262" name="Group 286"/>
                      <p:cNvGrpSpPr>
                        <a:grpSpLocks/>
                      </p:cNvGrpSpPr>
                      <p:nvPr/>
                    </p:nvGrpSpPr>
                    <p:grpSpPr bwMode="auto">
                      <a:xfrm>
                        <a:off x="3625" y="3519"/>
                        <a:ext cx="120" cy="102"/>
                        <a:chOff x="3625" y="3519"/>
                        <a:chExt cx="120" cy="102"/>
                      </a:xfrm>
                    </p:grpSpPr>
                    <p:sp>
                      <p:nvSpPr>
                        <p:cNvPr id="255263" name="Oval 287"/>
                        <p:cNvSpPr>
                          <a:spLocks noChangeArrowheads="1"/>
                        </p:cNvSpPr>
                        <p:nvPr/>
                      </p:nvSpPr>
                      <p:spPr bwMode="auto">
                        <a:xfrm>
                          <a:off x="3667" y="3519"/>
                          <a:ext cx="78" cy="7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64" name="Oval 288"/>
                        <p:cNvSpPr>
                          <a:spLocks noChangeArrowheads="1"/>
                        </p:cNvSpPr>
                        <p:nvPr/>
                      </p:nvSpPr>
                      <p:spPr bwMode="auto">
                        <a:xfrm>
                          <a:off x="3625" y="3558"/>
                          <a:ext cx="59" cy="6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265" name="Group 289"/>
                    <p:cNvGrpSpPr>
                      <a:grpSpLocks/>
                    </p:cNvGrpSpPr>
                    <p:nvPr/>
                  </p:nvGrpSpPr>
                  <p:grpSpPr bwMode="auto">
                    <a:xfrm>
                      <a:off x="2886" y="3501"/>
                      <a:ext cx="948" cy="596"/>
                      <a:chOff x="2886" y="3501"/>
                      <a:chExt cx="948" cy="596"/>
                    </a:xfrm>
                  </p:grpSpPr>
                  <p:sp>
                    <p:nvSpPr>
                      <p:cNvPr id="255266" name="Oval 290"/>
                      <p:cNvSpPr>
                        <a:spLocks noChangeArrowheads="1"/>
                      </p:cNvSpPr>
                      <p:nvPr/>
                    </p:nvSpPr>
                    <p:spPr bwMode="auto">
                      <a:xfrm>
                        <a:off x="3065" y="3527"/>
                        <a:ext cx="115"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67" name="Oval 291"/>
                      <p:cNvSpPr>
                        <a:spLocks noChangeArrowheads="1"/>
                      </p:cNvSpPr>
                      <p:nvPr/>
                    </p:nvSpPr>
                    <p:spPr bwMode="auto">
                      <a:xfrm>
                        <a:off x="2910" y="3902"/>
                        <a:ext cx="80"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68" name="Oval 292"/>
                      <p:cNvSpPr>
                        <a:spLocks noChangeArrowheads="1"/>
                      </p:cNvSpPr>
                      <p:nvPr/>
                    </p:nvSpPr>
                    <p:spPr bwMode="auto">
                      <a:xfrm>
                        <a:off x="3703" y="3794"/>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69" name="Oval 293"/>
                      <p:cNvSpPr>
                        <a:spLocks noChangeArrowheads="1"/>
                      </p:cNvSpPr>
                      <p:nvPr/>
                    </p:nvSpPr>
                    <p:spPr bwMode="auto">
                      <a:xfrm>
                        <a:off x="3553" y="3559"/>
                        <a:ext cx="86" cy="8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0" name="Oval 294"/>
                      <p:cNvSpPr>
                        <a:spLocks noChangeArrowheads="1"/>
                      </p:cNvSpPr>
                      <p:nvPr/>
                    </p:nvSpPr>
                    <p:spPr bwMode="auto">
                      <a:xfrm>
                        <a:off x="3214" y="3526"/>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1" name="Oval 295"/>
                      <p:cNvSpPr>
                        <a:spLocks noChangeArrowheads="1"/>
                      </p:cNvSpPr>
                      <p:nvPr/>
                    </p:nvSpPr>
                    <p:spPr bwMode="auto">
                      <a:xfrm>
                        <a:off x="3166" y="3563"/>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2" name="Oval 296"/>
                      <p:cNvSpPr>
                        <a:spLocks noChangeArrowheads="1"/>
                      </p:cNvSpPr>
                      <p:nvPr/>
                    </p:nvSpPr>
                    <p:spPr bwMode="auto">
                      <a:xfrm>
                        <a:off x="3309" y="3994"/>
                        <a:ext cx="76"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3" name="Oval 297"/>
                      <p:cNvSpPr>
                        <a:spLocks noChangeArrowheads="1"/>
                      </p:cNvSpPr>
                      <p:nvPr/>
                    </p:nvSpPr>
                    <p:spPr bwMode="auto">
                      <a:xfrm>
                        <a:off x="3359" y="3544"/>
                        <a:ext cx="107" cy="9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4" name="Oval 298"/>
                      <p:cNvSpPr>
                        <a:spLocks noChangeArrowheads="1"/>
                      </p:cNvSpPr>
                      <p:nvPr/>
                    </p:nvSpPr>
                    <p:spPr bwMode="auto">
                      <a:xfrm>
                        <a:off x="3247" y="3501"/>
                        <a:ext cx="125"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5" name="Oval 299"/>
                      <p:cNvSpPr>
                        <a:spLocks noChangeArrowheads="1"/>
                      </p:cNvSpPr>
                      <p:nvPr/>
                    </p:nvSpPr>
                    <p:spPr bwMode="auto">
                      <a:xfrm>
                        <a:off x="3443" y="3536"/>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6" name="Oval 300"/>
                      <p:cNvSpPr>
                        <a:spLocks noChangeArrowheads="1"/>
                      </p:cNvSpPr>
                      <p:nvPr/>
                    </p:nvSpPr>
                    <p:spPr bwMode="auto">
                      <a:xfrm>
                        <a:off x="2952" y="3601"/>
                        <a:ext cx="138"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7" name="Oval 301"/>
                      <p:cNvSpPr>
                        <a:spLocks noChangeArrowheads="1"/>
                      </p:cNvSpPr>
                      <p:nvPr/>
                    </p:nvSpPr>
                    <p:spPr bwMode="auto">
                      <a:xfrm>
                        <a:off x="2886" y="3721"/>
                        <a:ext cx="126"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8" name="Oval 302"/>
                      <p:cNvSpPr>
                        <a:spLocks noChangeArrowheads="1"/>
                      </p:cNvSpPr>
                      <p:nvPr/>
                    </p:nvSpPr>
                    <p:spPr bwMode="auto">
                      <a:xfrm>
                        <a:off x="3686" y="3852"/>
                        <a:ext cx="124"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79" name="Oval 303"/>
                      <p:cNvSpPr>
                        <a:spLocks noChangeArrowheads="1"/>
                      </p:cNvSpPr>
                      <p:nvPr/>
                    </p:nvSpPr>
                    <p:spPr bwMode="auto">
                      <a:xfrm>
                        <a:off x="3531" y="3914"/>
                        <a:ext cx="127" cy="125"/>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0" name="Oval 304"/>
                      <p:cNvSpPr>
                        <a:spLocks noChangeArrowheads="1"/>
                      </p:cNvSpPr>
                      <p:nvPr/>
                    </p:nvSpPr>
                    <p:spPr bwMode="auto">
                      <a:xfrm>
                        <a:off x="3023" y="3970"/>
                        <a:ext cx="133" cy="12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1" name="Oval 305"/>
                      <p:cNvSpPr>
                        <a:spLocks noChangeArrowheads="1"/>
                      </p:cNvSpPr>
                      <p:nvPr/>
                    </p:nvSpPr>
                    <p:spPr bwMode="auto">
                      <a:xfrm>
                        <a:off x="2934" y="3975"/>
                        <a:ext cx="107" cy="10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2" name="Oval 306"/>
                      <p:cNvSpPr>
                        <a:spLocks noChangeArrowheads="1"/>
                      </p:cNvSpPr>
                      <p:nvPr/>
                    </p:nvSpPr>
                    <p:spPr bwMode="auto">
                      <a:xfrm>
                        <a:off x="3623" y="3898"/>
                        <a:ext cx="130" cy="12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3" name="Oval 307"/>
                      <p:cNvSpPr>
                        <a:spLocks noChangeArrowheads="1"/>
                      </p:cNvSpPr>
                      <p:nvPr/>
                    </p:nvSpPr>
                    <p:spPr bwMode="auto">
                      <a:xfrm>
                        <a:off x="3374" y="3883"/>
                        <a:ext cx="180" cy="18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4" name="Oval 308"/>
                      <p:cNvSpPr>
                        <a:spLocks noChangeArrowheads="1"/>
                      </p:cNvSpPr>
                      <p:nvPr/>
                    </p:nvSpPr>
                    <p:spPr bwMode="auto">
                      <a:xfrm>
                        <a:off x="3106" y="3858"/>
                        <a:ext cx="234" cy="2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5" name="Oval 309"/>
                      <p:cNvSpPr>
                        <a:spLocks noChangeArrowheads="1"/>
                      </p:cNvSpPr>
                      <p:nvPr/>
                    </p:nvSpPr>
                    <p:spPr bwMode="auto">
                      <a:xfrm>
                        <a:off x="2922" y="3840"/>
                        <a:ext cx="64"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6" name="Oval 310"/>
                      <p:cNvSpPr>
                        <a:spLocks noChangeArrowheads="1"/>
                      </p:cNvSpPr>
                      <p:nvPr/>
                    </p:nvSpPr>
                    <p:spPr bwMode="auto">
                      <a:xfrm>
                        <a:off x="3718" y="3739"/>
                        <a:ext cx="65" cy="6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87" name="Oval 311"/>
                      <p:cNvSpPr>
                        <a:spLocks noChangeArrowheads="1"/>
                      </p:cNvSpPr>
                      <p:nvPr/>
                    </p:nvSpPr>
                    <p:spPr bwMode="auto">
                      <a:xfrm>
                        <a:off x="3629" y="3554"/>
                        <a:ext cx="205" cy="20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288" name="Freeform 312"/>
                  <p:cNvSpPr>
                    <a:spLocks/>
                  </p:cNvSpPr>
                  <p:nvPr/>
                </p:nvSpPr>
                <p:spPr bwMode="auto">
                  <a:xfrm>
                    <a:off x="2954" y="3584"/>
                    <a:ext cx="808" cy="437"/>
                  </a:xfrm>
                  <a:custGeom>
                    <a:avLst/>
                    <a:gdLst>
                      <a:gd name="T0" fmla="*/ 165 w 808"/>
                      <a:gd name="T1" fmla="*/ 21 h 437"/>
                      <a:gd name="T2" fmla="*/ 74 w 808"/>
                      <a:gd name="T3" fmla="*/ 32 h 437"/>
                      <a:gd name="T4" fmla="*/ 0 w 808"/>
                      <a:gd name="T5" fmla="*/ 311 h 437"/>
                      <a:gd name="T6" fmla="*/ 57 w 808"/>
                      <a:gd name="T7" fmla="*/ 394 h 437"/>
                      <a:gd name="T8" fmla="*/ 222 w 808"/>
                      <a:gd name="T9" fmla="*/ 390 h 437"/>
                      <a:gd name="T10" fmla="*/ 398 w 808"/>
                      <a:gd name="T11" fmla="*/ 436 h 437"/>
                      <a:gd name="T12" fmla="*/ 489 w 808"/>
                      <a:gd name="T13" fmla="*/ 406 h 437"/>
                      <a:gd name="T14" fmla="*/ 734 w 808"/>
                      <a:gd name="T15" fmla="*/ 355 h 437"/>
                      <a:gd name="T16" fmla="*/ 775 w 808"/>
                      <a:gd name="T17" fmla="*/ 319 h 437"/>
                      <a:gd name="T18" fmla="*/ 765 w 808"/>
                      <a:gd name="T19" fmla="*/ 242 h 437"/>
                      <a:gd name="T20" fmla="*/ 807 w 808"/>
                      <a:gd name="T21" fmla="*/ 169 h 437"/>
                      <a:gd name="T22" fmla="*/ 694 w 808"/>
                      <a:gd name="T23" fmla="*/ 75 h 437"/>
                      <a:gd name="T24" fmla="*/ 647 w 808"/>
                      <a:gd name="T25" fmla="*/ 37 h 437"/>
                      <a:gd name="T26" fmla="*/ 360 w 808"/>
                      <a:gd name="T27" fmla="*/ 0 h 437"/>
                      <a:gd name="T28" fmla="*/ 165 w 808"/>
                      <a:gd name="T29" fmla="*/ 2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8" h="437">
                        <a:moveTo>
                          <a:pt x="165" y="21"/>
                        </a:moveTo>
                        <a:lnTo>
                          <a:pt x="74" y="32"/>
                        </a:lnTo>
                        <a:lnTo>
                          <a:pt x="0" y="311"/>
                        </a:lnTo>
                        <a:lnTo>
                          <a:pt x="57" y="394"/>
                        </a:lnTo>
                        <a:lnTo>
                          <a:pt x="222" y="390"/>
                        </a:lnTo>
                        <a:lnTo>
                          <a:pt x="398" y="436"/>
                        </a:lnTo>
                        <a:lnTo>
                          <a:pt x="489" y="406"/>
                        </a:lnTo>
                        <a:lnTo>
                          <a:pt x="734" y="355"/>
                        </a:lnTo>
                        <a:lnTo>
                          <a:pt x="775" y="319"/>
                        </a:lnTo>
                        <a:lnTo>
                          <a:pt x="765" y="242"/>
                        </a:lnTo>
                        <a:lnTo>
                          <a:pt x="807" y="169"/>
                        </a:lnTo>
                        <a:lnTo>
                          <a:pt x="694" y="75"/>
                        </a:lnTo>
                        <a:lnTo>
                          <a:pt x="647" y="37"/>
                        </a:lnTo>
                        <a:lnTo>
                          <a:pt x="360" y="0"/>
                        </a:lnTo>
                        <a:lnTo>
                          <a:pt x="165" y="21"/>
                        </a:lnTo>
                      </a:path>
                    </a:pathLst>
                  </a:custGeom>
                  <a:solidFill>
                    <a:srgbClr val="FFBF7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55289" name="Group 313"/>
                <p:cNvGrpSpPr>
                  <a:grpSpLocks/>
                </p:cNvGrpSpPr>
                <p:nvPr/>
              </p:nvGrpSpPr>
              <p:grpSpPr bwMode="auto">
                <a:xfrm>
                  <a:off x="2927" y="3603"/>
                  <a:ext cx="874" cy="441"/>
                  <a:chOff x="2927" y="3603"/>
                  <a:chExt cx="874" cy="441"/>
                </a:xfrm>
              </p:grpSpPr>
              <p:sp>
                <p:nvSpPr>
                  <p:cNvPr id="255290" name="Oval 314"/>
                  <p:cNvSpPr>
                    <a:spLocks noChangeArrowheads="1"/>
                  </p:cNvSpPr>
                  <p:nvPr/>
                </p:nvSpPr>
                <p:spPr bwMode="auto">
                  <a:xfrm>
                    <a:off x="2960" y="3906"/>
                    <a:ext cx="125"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1" name="Oval 315"/>
                  <p:cNvSpPr>
                    <a:spLocks noChangeArrowheads="1"/>
                  </p:cNvSpPr>
                  <p:nvPr/>
                </p:nvSpPr>
                <p:spPr bwMode="auto">
                  <a:xfrm>
                    <a:off x="2927" y="3691"/>
                    <a:ext cx="126" cy="12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2" name="Oval 316"/>
                  <p:cNvSpPr>
                    <a:spLocks noChangeArrowheads="1"/>
                  </p:cNvSpPr>
                  <p:nvPr/>
                </p:nvSpPr>
                <p:spPr bwMode="auto">
                  <a:xfrm>
                    <a:off x="3675" y="3603"/>
                    <a:ext cx="126"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3" name="Oval 317"/>
                  <p:cNvSpPr>
                    <a:spLocks noChangeArrowheads="1"/>
                  </p:cNvSpPr>
                  <p:nvPr/>
                </p:nvSpPr>
                <p:spPr bwMode="auto">
                  <a:xfrm>
                    <a:off x="3670" y="3783"/>
                    <a:ext cx="103" cy="100"/>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4" name="Oval 318"/>
                  <p:cNvSpPr>
                    <a:spLocks noChangeArrowheads="1"/>
                  </p:cNvSpPr>
                  <p:nvPr/>
                </p:nvSpPr>
                <p:spPr bwMode="auto">
                  <a:xfrm>
                    <a:off x="2937" y="3707"/>
                    <a:ext cx="134" cy="13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5" name="Oval 319"/>
                  <p:cNvSpPr>
                    <a:spLocks noChangeArrowheads="1"/>
                  </p:cNvSpPr>
                  <p:nvPr/>
                </p:nvSpPr>
                <p:spPr bwMode="auto">
                  <a:xfrm>
                    <a:off x="2968" y="3913"/>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6" name="Oval 320"/>
                  <p:cNvSpPr>
                    <a:spLocks noChangeArrowheads="1"/>
                  </p:cNvSpPr>
                  <p:nvPr/>
                </p:nvSpPr>
                <p:spPr bwMode="auto">
                  <a:xfrm>
                    <a:off x="3661" y="3614"/>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7" name="Oval 321"/>
                  <p:cNvSpPr>
                    <a:spLocks noChangeArrowheads="1"/>
                  </p:cNvSpPr>
                  <p:nvPr/>
                </p:nvSpPr>
                <p:spPr bwMode="auto">
                  <a:xfrm>
                    <a:off x="3643" y="3776"/>
                    <a:ext cx="115" cy="11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8" name="Oval 322"/>
                  <p:cNvSpPr>
                    <a:spLocks noChangeArrowheads="1"/>
                  </p:cNvSpPr>
                  <p:nvPr/>
                </p:nvSpPr>
                <p:spPr bwMode="auto">
                  <a:xfrm>
                    <a:off x="2930" y="3758"/>
                    <a:ext cx="123" cy="11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299" name="Oval 323"/>
                  <p:cNvSpPr>
                    <a:spLocks noChangeArrowheads="1"/>
                  </p:cNvSpPr>
                  <p:nvPr/>
                </p:nvSpPr>
                <p:spPr bwMode="auto">
                  <a:xfrm>
                    <a:off x="2947" y="3759"/>
                    <a:ext cx="113" cy="11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00" name="Oval 324"/>
                  <p:cNvSpPr>
                    <a:spLocks noChangeArrowheads="1"/>
                  </p:cNvSpPr>
                  <p:nvPr/>
                </p:nvSpPr>
                <p:spPr bwMode="auto">
                  <a:xfrm>
                    <a:off x="3603" y="3616"/>
                    <a:ext cx="126"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01" name="Oval 325"/>
                  <p:cNvSpPr>
                    <a:spLocks noChangeArrowheads="1"/>
                  </p:cNvSpPr>
                  <p:nvPr/>
                </p:nvSpPr>
                <p:spPr bwMode="auto">
                  <a:xfrm>
                    <a:off x="3604" y="3627"/>
                    <a:ext cx="114"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02" name="Oval 326"/>
                  <p:cNvSpPr>
                    <a:spLocks noChangeArrowheads="1"/>
                  </p:cNvSpPr>
                  <p:nvPr/>
                </p:nvSpPr>
                <p:spPr bwMode="auto">
                  <a:xfrm>
                    <a:off x="3692" y="3862"/>
                    <a:ext cx="82" cy="8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03" name="Oval 327"/>
                  <p:cNvSpPr>
                    <a:spLocks noChangeArrowheads="1"/>
                  </p:cNvSpPr>
                  <p:nvPr/>
                </p:nvSpPr>
                <p:spPr bwMode="auto">
                  <a:xfrm>
                    <a:off x="3686" y="3867"/>
                    <a:ext cx="75" cy="7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304" name="Rectangle 328"/>
              <p:cNvSpPr>
                <a:spLocks noChangeArrowheads="1"/>
              </p:cNvSpPr>
              <p:nvPr/>
            </p:nvSpPr>
            <p:spPr bwMode="auto">
              <a:xfrm>
                <a:off x="3129" y="3593"/>
                <a:ext cx="452"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7625" rIns="96838" bIns="47625">
                <a:spAutoFit/>
              </a:bodyPr>
              <a:lstStyle>
                <a:lvl1pPr defTabSz="960438">
                  <a:defRPr sz="2400">
                    <a:solidFill>
                      <a:schemeClr val="tx1"/>
                    </a:solidFill>
                    <a:latin typeface="Times New Roman" pitchFamily="18" charset="0"/>
                  </a:defRPr>
                </a:lvl1pPr>
                <a:lvl2pPr marL="479425" defTabSz="960438">
                  <a:defRPr sz="2400">
                    <a:solidFill>
                      <a:schemeClr val="tx1"/>
                    </a:solidFill>
                    <a:latin typeface="Times New Roman" pitchFamily="18" charset="0"/>
                  </a:defRPr>
                </a:lvl2pPr>
                <a:lvl3pPr marL="960438" defTabSz="960438">
                  <a:defRPr sz="2400">
                    <a:solidFill>
                      <a:schemeClr val="tx1"/>
                    </a:solidFill>
                    <a:latin typeface="Times New Roman" pitchFamily="18" charset="0"/>
                  </a:defRPr>
                </a:lvl3pPr>
                <a:lvl4pPr marL="1439863" defTabSz="960438">
                  <a:defRPr sz="2400">
                    <a:solidFill>
                      <a:schemeClr val="tx1"/>
                    </a:solidFill>
                    <a:latin typeface="Times New Roman" pitchFamily="18" charset="0"/>
                  </a:defRPr>
                </a:lvl4pPr>
                <a:lvl5pPr marL="1920875" defTabSz="960438">
                  <a:defRPr sz="2400">
                    <a:solidFill>
                      <a:schemeClr val="tx1"/>
                    </a:solidFill>
                    <a:latin typeface="Times New Roman" pitchFamily="18" charset="0"/>
                  </a:defRPr>
                </a:lvl5pPr>
                <a:lvl6pPr marL="2378075" defTabSz="960438" eaLnBrk="0" fontAlgn="base" hangingPunct="0">
                  <a:spcBef>
                    <a:spcPct val="0"/>
                  </a:spcBef>
                  <a:spcAft>
                    <a:spcPct val="0"/>
                  </a:spcAft>
                  <a:defRPr sz="2400">
                    <a:solidFill>
                      <a:schemeClr val="tx1"/>
                    </a:solidFill>
                    <a:latin typeface="Times New Roman" pitchFamily="18" charset="0"/>
                  </a:defRPr>
                </a:lvl6pPr>
                <a:lvl7pPr marL="2835275" defTabSz="960438" eaLnBrk="0" fontAlgn="base" hangingPunct="0">
                  <a:spcBef>
                    <a:spcPct val="0"/>
                  </a:spcBef>
                  <a:spcAft>
                    <a:spcPct val="0"/>
                  </a:spcAft>
                  <a:defRPr sz="2400">
                    <a:solidFill>
                      <a:schemeClr val="tx1"/>
                    </a:solidFill>
                    <a:latin typeface="Times New Roman" pitchFamily="18" charset="0"/>
                  </a:defRPr>
                </a:lvl7pPr>
                <a:lvl8pPr marL="3292475" defTabSz="960438" eaLnBrk="0" fontAlgn="base" hangingPunct="0">
                  <a:spcBef>
                    <a:spcPct val="0"/>
                  </a:spcBef>
                  <a:spcAft>
                    <a:spcPct val="0"/>
                  </a:spcAft>
                  <a:defRPr sz="2400">
                    <a:solidFill>
                      <a:schemeClr val="tx1"/>
                    </a:solidFill>
                    <a:latin typeface="Times New Roman" pitchFamily="18" charset="0"/>
                  </a:defRPr>
                </a:lvl8pPr>
                <a:lvl9pPr marL="3749675" defTabSz="960438" eaLnBrk="0" fontAlgn="base" hangingPunct="0">
                  <a:spcBef>
                    <a:spcPct val="0"/>
                  </a:spcBef>
                  <a:spcAft>
                    <a:spcPct val="0"/>
                  </a:spcAft>
                  <a:defRPr sz="2400">
                    <a:solidFill>
                      <a:schemeClr val="tx1"/>
                    </a:solidFill>
                    <a:latin typeface="Times New Roman" pitchFamily="18" charset="0"/>
                  </a:defRPr>
                </a:lvl9pPr>
              </a:lstStyle>
              <a:p>
                <a:pPr algn="ctr">
                  <a:lnSpc>
                    <a:spcPct val="90000"/>
                  </a:lnSpc>
                </a:pPr>
                <a:endParaRPr lang="en-GB" altLang="en-US" sz="1900" b="1">
                  <a:latin typeface="Arial" pitchFamily="34" charset="0"/>
                </a:endParaRPr>
              </a:p>
              <a:p>
                <a:pPr algn="ctr">
                  <a:lnSpc>
                    <a:spcPct val="90000"/>
                  </a:lnSpc>
                </a:pPr>
                <a:r>
                  <a:rPr lang="en-GB" altLang="en-US" sz="1900" b="1">
                    <a:latin typeface="Arial" pitchFamily="34" charset="0"/>
                  </a:rPr>
                  <a:t>UML</a:t>
                </a:r>
              </a:p>
            </p:txBody>
          </p:sp>
        </p:grpSp>
        <p:sp>
          <p:nvSpPr>
            <p:cNvPr id="255305" name="AutoShape 329"/>
            <p:cNvSpPr>
              <a:spLocks noChangeArrowheads="1"/>
            </p:cNvSpPr>
            <p:nvPr/>
          </p:nvSpPr>
          <p:spPr bwMode="auto">
            <a:xfrm rot="16200000" flipH="1">
              <a:off x="2876" y="2704"/>
              <a:ext cx="904" cy="304"/>
            </a:xfrm>
            <a:prstGeom prst="rightArrow">
              <a:avLst>
                <a:gd name="adj1" fmla="val 50000"/>
                <a:gd name="adj2" fmla="val 148698"/>
              </a:avLst>
            </a:prstGeom>
            <a:gradFill rotWithShape="0">
              <a:gsLst>
                <a:gs pos="0">
                  <a:schemeClr val="accent2"/>
                </a:gs>
                <a:gs pos="100000">
                  <a:srgbClr val="33CC33"/>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06" name="AutoShape 330"/>
            <p:cNvSpPr>
              <a:spLocks noChangeArrowheads="1"/>
            </p:cNvSpPr>
            <p:nvPr/>
          </p:nvSpPr>
          <p:spPr bwMode="auto">
            <a:xfrm rot="18180000" flipH="1">
              <a:off x="4280" y="2704"/>
              <a:ext cx="904" cy="304"/>
            </a:xfrm>
            <a:prstGeom prst="rightArrow">
              <a:avLst>
                <a:gd name="adj1" fmla="val 50000"/>
                <a:gd name="adj2" fmla="val 148698"/>
              </a:avLst>
            </a:prstGeom>
            <a:gradFill rotWithShape="0">
              <a:gsLst>
                <a:gs pos="0">
                  <a:srgbClr val="33CC33"/>
                </a:gs>
                <a:gs pos="100000">
                  <a:schemeClr val="accent2"/>
                </a:gs>
              </a:gsLst>
              <a:lin ang="189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07" name="AutoShape 331"/>
            <p:cNvSpPr>
              <a:spLocks noChangeArrowheads="1"/>
            </p:cNvSpPr>
            <p:nvPr/>
          </p:nvSpPr>
          <p:spPr bwMode="auto">
            <a:xfrm rot="14220000" flipH="1">
              <a:off x="1576" y="2704"/>
              <a:ext cx="904" cy="304"/>
            </a:xfrm>
            <a:prstGeom prst="rightArrow">
              <a:avLst>
                <a:gd name="adj1" fmla="val 50000"/>
                <a:gd name="adj2" fmla="val 148698"/>
              </a:avLst>
            </a:prstGeom>
            <a:gradFill rotWithShape="0">
              <a:gsLst>
                <a:gs pos="0">
                  <a:schemeClr val="accent2"/>
                </a:gs>
                <a:gs pos="100000">
                  <a:srgbClr val="33CC33"/>
                </a:gs>
              </a:gsLst>
              <a:lin ang="27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08" name="AutoShape 332"/>
            <p:cNvSpPr>
              <a:spLocks noChangeArrowheads="1"/>
            </p:cNvSpPr>
            <p:nvPr/>
          </p:nvSpPr>
          <p:spPr bwMode="auto">
            <a:xfrm rot="12840000" flipH="1">
              <a:off x="1558" y="3282"/>
              <a:ext cx="338" cy="304"/>
            </a:xfrm>
            <a:prstGeom prst="rightArrow">
              <a:avLst>
                <a:gd name="adj1" fmla="val 50000"/>
                <a:gd name="adj2" fmla="val 55597"/>
              </a:avLst>
            </a:prstGeom>
            <a:gradFill rotWithShape="0">
              <a:gsLst>
                <a:gs pos="0">
                  <a:schemeClr val="accent2"/>
                </a:gs>
                <a:gs pos="100000">
                  <a:srgbClr val="33CC33"/>
                </a:gs>
              </a:gsLst>
              <a:lin ang="27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5309" name="Group 333"/>
          <p:cNvGrpSpPr>
            <a:grpSpLocks/>
          </p:cNvGrpSpPr>
          <p:nvPr/>
        </p:nvGrpSpPr>
        <p:grpSpPr bwMode="auto">
          <a:xfrm>
            <a:off x="247650" y="3302188"/>
            <a:ext cx="3900488" cy="1665288"/>
            <a:chOff x="169" y="2258"/>
            <a:chExt cx="2662" cy="1049"/>
          </a:xfrm>
        </p:grpSpPr>
        <p:grpSp>
          <p:nvGrpSpPr>
            <p:cNvPr id="255310" name="Group 334"/>
            <p:cNvGrpSpPr>
              <a:grpSpLocks/>
            </p:cNvGrpSpPr>
            <p:nvPr/>
          </p:nvGrpSpPr>
          <p:grpSpPr bwMode="auto">
            <a:xfrm>
              <a:off x="169" y="2681"/>
              <a:ext cx="1320" cy="626"/>
              <a:chOff x="169" y="2681"/>
              <a:chExt cx="1320" cy="626"/>
            </a:xfrm>
          </p:grpSpPr>
          <p:grpSp>
            <p:nvGrpSpPr>
              <p:cNvPr id="255311" name="Group 335"/>
              <p:cNvGrpSpPr>
                <a:grpSpLocks/>
              </p:cNvGrpSpPr>
              <p:nvPr/>
            </p:nvGrpSpPr>
            <p:grpSpPr bwMode="auto">
              <a:xfrm>
                <a:off x="169" y="2681"/>
                <a:ext cx="1320" cy="626"/>
                <a:chOff x="169" y="2681"/>
                <a:chExt cx="1320" cy="626"/>
              </a:xfrm>
            </p:grpSpPr>
            <p:grpSp>
              <p:nvGrpSpPr>
                <p:cNvPr id="255312" name="Group 336"/>
                <p:cNvGrpSpPr>
                  <a:grpSpLocks/>
                </p:cNvGrpSpPr>
                <p:nvPr/>
              </p:nvGrpSpPr>
              <p:grpSpPr bwMode="auto">
                <a:xfrm>
                  <a:off x="169" y="2681"/>
                  <a:ext cx="1320" cy="626"/>
                  <a:chOff x="169" y="2681"/>
                  <a:chExt cx="1320" cy="626"/>
                </a:xfrm>
              </p:grpSpPr>
              <p:grpSp>
                <p:nvGrpSpPr>
                  <p:cNvPr id="255313" name="Group 337"/>
                  <p:cNvGrpSpPr>
                    <a:grpSpLocks/>
                  </p:cNvGrpSpPr>
                  <p:nvPr/>
                </p:nvGrpSpPr>
                <p:grpSpPr bwMode="auto">
                  <a:xfrm>
                    <a:off x="169" y="2681"/>
                    <a:ext cx="1320" cy="626"/>
                    <a:chOff x="169" y="2681"/>
                    <a:chExt cx="1320" cy="626"/>
                  </a:xfrm>
                </p:grpSpPr>
                <p:grpSp>
                  <p:nvGrpSpPr>
                    <p:cNvPr id="255314" name="Group 338"/>
                    <p:cNvGrpSpPr>
                      <a:grpSpLocks/>
                    </p:cNvGrpSpPr>
                    <p:nvPr/>
                  </p:nvGrpSpPr>
                  <p:grpSpPr bwMode="auto">
                    <a:xfrm>
                      <a:off x="169" y="2681"/>
                      <a:ext cx="1320" cy="626"/>
                      <a:chOff x="169" y="2681"/>
                      <a:chExt cx="1320" cy="626"/>
                    </a:xfrm>
                  </p:grpSpPr>
                  <p:grpSp>
                    <p:nvGrpSpPr>
                      <p:cNvPr id="255315" name="Group 339"/>
                      <p:cNvGrpSpPr>
                        <a:grpSpLocks/>
                      </p:cNvGrpSpPr>
                      <p:nvPr/>
                    </p:nvGrpSpPr>
                    <p:grpSpPr bwMode="auto">
                      <a:xfrm>
                        <a:off x="169" y="2681"/>
                        <a:ext cx="1320" cy="626"/>
                        <a:chOff x="169" y="2681"/>
                        <a:chExt cx="1320" cy="626"/>
                      </a:xfrm>
                    </p:grpSpPr>
                    <p:grpSp>
                      <p:nvGrpSpPr>
                        <p:cNvPr id="255316" name="Group 340"/>
                        <p:cNvGrpSpPr>
                          <a:grpSpLocks/>
                        </p:cNvGrpSpPr>
                        <p:nvPr/>
                      </p:nvGrpSpPr>
                      <p:grpSpPr bwMode="auto">
                        <a:xfrm>
                          <a:off x="169" y="3175"/>
                          <a:ext cx="1262" cy="132"/>
                          <a:chOff x="169" y="3175"/>
                          <a:chExt cx="1262" cy="132"/>
                        </a:xfrm>
                      </p:grpSpPr>
                      <p:grpSp>
                        <p:nvGrpSpPr>
                          <p:cNvPr id="255317" name="Group 341"/>
                          <p:cNvGrpSpPr>
                            <a:grpSpLocks/>
                          </p:cNvGrpSpPr>
                          <p:nvPr/>
                        </p:nvGrpSpPr>
                        <p:grpSpPr bwMode="auto">
                          <a:xfrm>
                            <a:off x="169" y="3184"/>
                            <a:ext cx="1262" cy="123"/>
                            <a:chOff x="169" y="3184"/>
                            <a:chExt cx="1262" cy="123"/>
                          </a:xfrm>
                        </p:grpSpPr>
                        <p:sp>
                          <p:nvSpPr>
                            <p:cNvPr id="255318" name="Oval 342"/>
                            <p:cNvSpPr>
                              <a:spLocks noChangeArrowheads="1"/>
                            </p:cNvSpPr>
                            <p:nvPr/>
                          </p:nvSpPr>
                          <p:spPr bwMode="auto">
                            <a:xfrm>
                              <a:off x="169" y="3228"/>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19" name="Oval 343"/>
                            <p:cNvSpPr>
                              <a:spLocks noChangeArrowheads="1"/>
                            </p:cNvSpPr>
                            <p:nvPr/>
                          </p:nvSpPr>
                          <p:spPr bwMode="auto">
                            <a:xfrm>
                              <a:off x="219" y="3194"/>
                              <a:ext cx="131" cy="46"/>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0" name="Oval 344"/>
                            <p:cNvSpPr>
                              <a:spLocks noChangeArrowheads="1"/>
                            </p:cNvSpPr>
                            <p:nvPr/>
                          </p:nvSpPr>
                          <p:spPr bwMode="auto">
                            <a:xfrm>
                              <a:off x="302" y="3198"/>
                              <a:ext cx="132" cy="4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1" name="Oval 345"/>
                            <p:cNvSpPr>
                              <a:spLocks noChangeArrowheads="1"/>
                            </p:cNvSpPr>
                            <p:nvPr/>
                          </p:nvSpPr>
                          <p:spPr bwMode="auto">
                            <a:xfrm>
                              <a:off x="451" y="3226"/>
                              <a:ext cx="138" cy="6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2" name="Oval 346"/>
                            <p:cNvSpPr>
                              <a:spLocks noChangeArrowheads="1"/>
                            </p:cNvSpPr>
                            <p:nvPr/>
                          </p:nvSpPr>
                          <p:spPr bwMode="auto">
                            <a:xfrm>
                              <a:off x="263" y="3234"/>
                              <a:ext cx="19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3" name="Oval 347"/>
                            <p:cNvSpPr>
                              <a:spLocks noChangeArrowheads="1"/>
                            </p:cNvSpPr>
                            <p:nvPr/>
                          </p:nvSpPr>
                          <p:spPr bwMode="auto">
                            <a:xfrm>
                              <a:off x="571" y="3237"/>
                              <a:ext cx="132" cy="48"/>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4" name="Oval 348"/>
                            <p:cNvSpPr>
                              <a:spLocks noChangeArrowheads="1"/>
                            </p:cNvSpPr>
                            <p:nvPr/>
                          </p:nvSpPr>
                          <p:spPr bwMode="auto">
                            <a:xfrm>
                              <a:off x="676" y="3232"/>
                              <a:ext cx="111" cy="59"/>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5" name="Oval 349"/>
                            <p:cNvSpPr>
                              <a:spLocks noChangeArrowheads="1"/>
                            </p:cNvSpPr>
                            <p:nvPr/>
                          </p:nvSpPr>
                          <p:spPr bwMode="auto">
                            <a:xfrm>
                              <a:off x="774" y="3232"/>
                              <a:ext cx="107" cy="64"/>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6" name="Oval 350"/>
                            <p:cNvSpPr>
                              <a:spLocks noChangeArrowheads="1"/>
                            </p:cNvSpPr>
                            <p:nvPr/>
                          </p:nvSpPr>
                          <p:spPr bwMode="auto">
                            <a:xfrm>
                              <a:off x="852" y="3250"/>
                              <a:ext cx="113" cy="50"/>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7" name="Oval 351"/>
                            <p:cNvSpPr>
                              <a:spLocks noChangeArrowheads="1"/>
                            </p:cNvSpPr>
                            <p:nvPr/>
                          </p:nvSpPr>
                          <p:spPr bwMode="auto">
                            <a:xfrm>
                              <a:off x="959" y="3219"/>
                              <a:ext cx="73" cy="7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8" name="Oval 352"/>
                            <p:cNvSpPr>
                              <a:spLocks noChangeArrowheads="1"/>
                            </p:cNvSpPr>
                            <p:nvPr/>
                          </p:nvSpPr>
                          <p:spPr bwMode="auto">
                            <a:xfrm>
                              <a:off x="1018" y="3184"/>
                              <a:ext cx="109" cy="82"/>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29" name="Oval 353"/>
                            <p:cNvSpPr>
                              <a:spLocks noChangeArrowheads="1"/>
                            </p:cNvSpPr>
                            <p:nvPr/>
                          </p:nvSpPr>
                          <p:spPr bwMode="auto">
                            <a:xfrm>
                              <a:off x="1099" y="3195"/>
                              <a:ext cx="121" cy="81"/>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30" name="Oval 354"/>
                            <p:cNvSpPr>
                              <a:spLocks noChangeArrowheads="1"/>
                            </p:cNvSpPr>
                            <p:nvPr/>
                          </p:nvSpPr>
                          <p:spPr bwMode="auto">
                            <a:xfrm>
                              <a:off x="1194" y="3209"/>
                              <a:ext cx="133" cy="6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31" name="Oval 355"/>
                            <p:cNvSpPr>
                              <a:spLocks noChangeArrowheads="1"/>
                            </p:cNvSpPr>
                            <p:nvPr/>
                          </p:nvSpPr>
                          <p:spPr bwMode="auto">
                            <a:xfrm>
                              <a:off x="1302" y="3195"/>
                              <a:ext cx="129" cy="7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5332" name="Oval 356"/>
                          <p:cNvSpPr>
                            <a:spLocks noChangeArrowheads="1"/>
                          </p:cNvSpPr>
                          <p:nvPr/>
                        </p:nvSpPr>
                        <p:spPr bwMode="auto">
                          <a:xfrm>
                            <a:off x="1317" y="3175"/>
                            <a:ext cx="96"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5333" name="Group 357"/>
                        <p:cNvGrpSpPr>
                          <a:grpSpLocks/>
                        </p:cNvGrpSpPr>
                        <p:nvPr/>
                      </p:nvGrpSpPr>
                      <p:grpSpPr bwMode="auto">
                        <a:xfrm>
                          <a:off x="515" y="2681"/>
                          <a:ext cx="974" cy="600"/>
                          <a:chOff x="515" y="2681"/>
                          <a:chExt cx="974" cy="600"/>
                        </a:xfrm>
                      </p:grpSpPr>
                      <p:sp>
                        <p:nvSpPr>
                          <p:cNvPr id="255334" name="Oval 358"/>
                          <p:cNvSpPr>
                            <a:spLocks noChangeArrowheads="1"/>
                          </p:cNvSpPr>
                          <p:nvPr/>
                        </p:nvSpPr>
                        <p:spPr bwMode="auto">
                          <a:xfrm>
                            <a:off x="690" y="2700"/>
                            <a:ext cx="136"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35" name="Oval 359"/>
                          <p:cNvSpPr>
                            <a:spLocks noChangeArrowheads="1"/>
                          </p:cNvSpPr>
                          <p:nvPr/>
                        </p:nvSpPr>
                        <p:spPr bwMode="auto">
                          <a:xfrm>
                            <a:off x="843" y="2681"/>
                            <a:ext cx="133" cy="13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36" name="Oval 360"/>
                          <p:cNvSpPr>
                            <a:spLocks noChangeArrowheads="1"/>
                          </p:cNvSpPr>
                          <p:nvPr/>
                        </p:nvSpPr>
                        <p:spPr bwMode="auto">
                          <a:xfrm>
                            <a:off x="582" y="2772"/>
                            <a:ext cx="133" cy="136"/>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37" name="Oval 361"/>
                          <p:cNvSpPr>
                            <a:spLocks noChangeArrowheads="1"/>
                          </p:cNvSpPr>
                          <p:nvPr/>
                        </p:nvSpPr>
                        <p:spPr bwMode="auto">
                          <a:xfrm>
                            <a:off x="515" y="2893"/>
                            <a:ext cx="135"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38" name="Oval 362"/>
                          <p:cNvSpPr>
                            <a:spLocks noChangeArrowheads="1"/>
                          </p:cNvSpPr>
                          <p:nvPr/>
                        </p:nvSpPr>
                        <p:spPr bwMode="auto">
                          <a:xfrm>
                            <a:off x="562" y="3154"/>
                            <a:ext cx="103" cy="10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39" name="Oval 363"/>
                          <p:cNvSpPr>
                            <a:spLocks noChangeArrowheads="1"/>
                          </p:cNvSpPr>
                          <p:nvPr/>
                        </p:nvSpPr>
                        <p:spPr bwMode="auto">
                          <a:xfrm>
                            <a:off x="551" y="3020"/>
                            <a:ext cx="76" cy="7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0" name="Oval 364"/>
                          <p:cNvSpPr>
                            <a:spLocks noChangeArrowheads="1"/>
                          </p:cNvSpPr>
                          <p:nvPr/>
                        </p:nvSpPr>
                        <p:spPr bwMode="auto">
                          <a:xfrm>
                            <a:off x="541" y="3071"/>
                            <a:ext cx="86" cy="88"/>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1" name="Oval 365"/>
                          <p:cNvSpPr>
                            <a:spLocks noChangeArrowheads="1"/>
                          </p:cNvSpPr>
                          <p:nvPr/>
                        </p:nvSpPr>
                        <p:spPr bwMode="auto">
                          <a:xfrm>
                            <a:off x="742" y="3177"/>
                            <a:ext cx="228" cy="104"/>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2" name="Oval 366"/>
                          <p:cNvSpPr>
                            <a:spLocks noChangeArrowheads="1"/>
                          </p:cNvSpPr>
                          <p:nvPr/>
                        </p:nvSpPr>
                        <p:spPr bwMode="auto">
                          <a:xfrm>
                            <a:off x="1083" y="2710"/>
                            <a:ext cx="136" cy="13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3" name="Oval 367"/>
                          <p:cNvSpPr>
                            <a:spLocks noChangeArrowheads="1"/>
                          </p:cNvSpPr>
                          <p:nvPr/>
                        </p:nvSpPr>
                        <p:spPr bwMode="auto">
                          <a:xfrm>
                            <a:off x="1307" y="2693"/>
                            <a:ext cx="89" cy="95"/>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4" name="Oval 368"/>
                          <p:cNvSpPr>
                            <a:spLocks noChangeArrowheads="1"/>
                          </p:cNvSpPr>
                          <p:nvPr/>
                        </p:nvSpPr>
                        <p:spPr bwMode="auto">
                          <a:xfrm>
                            <a:off x="1263" y="2731"/>
                            <a:ext cx="67" cy="6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5" name="Oval 369"/>
                          <p:cNvSpPr>
                            <a:spLocks noChangeArrowheads="1"/>
                          </p:cNvSpPr>
                          <p:nvPr/>
                        </p:nvSpPr>
                        <p:spPr bwMode="auto">
                          <a:xfrm>
                            <a:off x="1290" y="2734"/>
                            <a:ext cx="199" cy="203"/>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6" name="Oval 370"/>
                          <p:cNvSpPr>
                            <a:spLocks noChangeArrowheads="1"/>
                          </p:cNvSpPr>
                          <p:nvPr/>
                        </p:nvSpPr>
                        <p:spPr bwMode="auto">
                          <a:xfrm>
                            <a:off x="1350" y="3040"/>
                            <a:ext cx="113" cy="11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47" name="Oval 371"/>
                          <p:cNvSpPr>
                            <a:spLocks noChangeArrowheads="1"/>
                          </p:cNvSpPr>
                          <p:nvPr/>
                        </p:nvSpPr>
                        <p:spPr bwMode="auto">
                          <a:xfrm>
                            <a:off x="1258" y="3077"/>
                            <a:ext cx="153" cy="157"/>
                          </a:xfrm>
                          <a:prstGeom prst="ellipse">
                            <a:avLst/>
                          </a:prstGeom>
                          <a:solidFill>
                            <a:srgbClr val="FF9F1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348" name="Group 372"/>
                      <p:cNvGrpSpPr>
                        <a:grpSpLocks/>
                      </p:cNvGrpSpPr>
                      <p:nvPr/>
                    </p:nvGrpSpPr>
                    <p:grpSpPr bwMode="auto">
                      <a:xfrm>
                        <a:off x="1265" y="2703"/>
                        <a:ext cx="121" cy="102"/>
                        <a:chOff x="1265" y="2703"/>
                        <a:chExt cx="121" cy="102"/>
                      </a:xfrm>
                    </p:grpSpPr>
                    <p:sp>
                      <p:nvSpPr>
                        <p:cNvPr id="255349" name="Oval 373"/>
                        <p:cNvSpPr>
                          <a:spLocks noChangeArrowheads="1"/>
                        </p:cNvSpPr>
                        <p:nvPr/>
                      </p:nvSpPr>
                      <p:spPr bwMode="auto">
                        <a:xfrm>
                          <a:off x="1308" y="2703"/>
                          <a:ext cx="78" cy="77"/>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0" name="Oval 374"/>
                        <p:cNvSpPr>
                          <a:spLocks noChangeArrowheads="1"/>
                        </p:cNvSpPr>
                        <p:nvPr/>
                      </p:nvSpPr>
                      <p:spPr bwMode="auto">
                        <a:xfrm>
                          <a:off x="1265" y="2742"/>
                          <a:ext cx="60" cy="63"/>
                        </a:xfrm>
                        <a:prstGeom prst="ellipse">
                          <a:avLst/>
                        </a:prstGeom>
                        <a:solidFill>
                          <a:srgbClr val="FF5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255351" name="Group 375"/>
                    <p:cNvGrpSpPr>
                      <a:grpSpLocks/>
                    </p:cNvGrpSpPr>
                    <p:nvPr/>
                  </p:nvGrpSpPr>
                  <p:grpSpPr bwMode="auto">
                    <a:xfrm>
                      <a:off x="527" y="2685"/>
                      <a:ext cx="947" cy="596"/>
                      <a:chOff x="527" y="2685"/>
                      <a:chExt cx="947" cy="596"/>
                    </a:xfrm>
                  </p:grpSpPr>
                  <p:sp>
                    <p:nvSpPr>
                      <p:cNvPr id="255352" name="Oval 376"/>
                      <p:cNvSpPr>
                        <a:spLocks noChangeArrowheads="1"/>
                      </p:cNvSpPr>
                      <p:nvPr/>
                    </p:nvSpPr>
                    <p:spPr bwMode="auto">
                      <a:xfrm>
                        <a:off x="705" y="2711"/>
                        <a:ext cx="115"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3" name="Oval 377"/>
                      <p:cNvSpPr>
                        <a:spLocks noChangeArrowheads="1"/>
                      </p:cNvSpPr>
                      <p:nvPr/>
                    </p:nvSpPr>
                    <p:spPr bwMode="auto">
                      <a:xfrm>
                        <a:off x="550" y="3086"/>
                        <a:ext cx="81"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4" name="Oval 378"/>
                      <p:cNvSpPr>
                        <a:spLocks noChangeArrowheads="1"/>
                      </p:cNvSpPr>
                      <p:nvPr/>
                    </p:nvSpPr>
                    <p:spPr bwMode="auto">
                      <a:xfrm>
                        <a:off x="1343" y="2978"/>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5" name="Oval 379"/>
                      <p:cNvSpPr>
                        <a:spLocks noChangeArrowheads="1"/>
                      </p:cNvSpPr>
                      <p:nvPr/>
                    </p:nvSpPr>
                    <p:spPr bwMode="auto">
                      <a:xfrm>
                        <a:off x="1194" y="2743"/>
                        <a:ext cx="85" cy="8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6" name="Oval 380"/>
                      <p:cNvSpPr>
                        <a:spLocks noChangeArrowheads="1"/>
                      </p:cNvSpPr>
                      <p:nvPr/>
                    </p:nvSpPr>
                    <p:spPr bwMode="auto">
                      <a:xfrm>
                        <a:off x="855" y="2710"/>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7" name="Oval 381"/>
                      <p:cNvSpPr>
                        <a:spLocks noChangeArrowheads="1"/>
                      </p:cNvSpPr>
                      <p:nvPr/>
                    </p:nvSpPr>
                    <p:spPr bwMode="auto">
                      <a:xfrm>
                        <a:off x="806" y="2747"/>
                        <a:ext cx="78" cy="7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8" name="Oval 382"/>
                      <p:cNvSpPr>
                        <a:spLocks noChangeArrowheads="1"/>
                      </p:cNvSpPr>
                      <p:nvPr/>
                    </p:nvSpPr>
                    <p:spPr bwMode="auto">
                      <a:xfrm>
                        <a:off x="949" y="3178"/>
                        <a:ext cx="77" cy="7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59" name="Oval 383"/>
                      <p:cNvSpPr>
                        <a:spLocks noChangeArrowheads="1"/>
                      </p:cNvSpPr>
                      <p:nvPr/>
                    </p:nvSpPr>
                    <p:spPr bwMode="auto">
                      <a:xfrm>
                        <a:off x="1000" y="2728"/>
                        <a:ext cx="106" cy="9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0" name="Oval 384"/>
                      <p:cNvSpPr>
                        <a:spLocks noChangeArrowheads="1"/>
                      </p:cNvSpPr>
                      <p:nvPr/>
                    </p:nvSpPr>
                    <p:spPr bwMode="auto">
                      <a:xfrm>
                        <a:off x="887" y="2685"/>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1" name="Oval 385"/>
                      <p:cNvSpPr>
                        <a:spLocks noChangeArrowheads="1"/>
                      </p:cNvSpPr>
                      <p:nvPr/>
                    </p:nvSpPr>
                    <p:spPr bwMode="auto">
                      <a:xfrm>
                        <a:off x="1083" y="2720"/>
                        <a:ext cx="126" cy="12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2" name="Oval 386"/>
                      <p:cNvSpPr>
                        <a:spLocks noChangeArrowheads="1"/>
                      </p:cNvSpPr>
                      <p:nvPr/>
                    </p:nvSpPr>
                    <p:spPr bwMode="auto">
                      <a:xfrm>
                        <a:off x="593" y="2785"/>
                        <a:ext cx="137"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3" name="Oval 387"/>
                      <p:cNvSpPr>
                        <a:spLocks noChangeArrowheads="1"/>
                      </p:cNvSpPr>
                      <p:nvPr/>
                    </p:nvSpPr>
                    <p:spPr bwMode="auto">
                      <a:xfrm>
                        <a:off x="527" y="2905"/>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4" name="Oval 388"/>
                      <p:cNvSpPr>
                        <a:spLocks noChangeArrowheads="1"/>
                      </p:cNvSpPr>
                      <p:nvPr/>
                    </p:nvSpPr>
                    <p:spPr bwMode="auto">
                      <a:xfrm>
                        <a:off x="1326" y="3036"/>
                        <a:ext cx="125" cy="1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5" name="Oval 389"/>
                      <p:cNvSpPr>
                        <a:spLocks noChangeArrowheads="1"/>
                      </p:cNvSpPr>
                      <p:nvPr/>
                    </p:nvSpPr>
                    <p:spPr bwMode="auto">
                      <a:xfrm>
                        <a:off x="1171" y="3098"/>
                        <a:ext cx="128" cy="125"/>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6" name="Oval 390"/>
                      <p:cNvSpPr>
                        <a:spLocks noChangeArrowheads="1"/>
                      </p:cNvSpPr>
                      <p:nvPr/>
                    </p:nvSpPr>
                    <p:spPr bwMode="auto">
                      <a:xfrm>
                        <a:off x="663" y="3154"/>
                        <a:ext cx="133" cy="127"/>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7" name="Oval 391"/>
                      <p:cNvSpPr>
                        <a:spLocks noChangeArrowheads="1"/>
                      </p:cNvSpPr>
                      <p:nvPr/>
                    </p:nvSpPr>
                    <p:spPr bwMode="auto">
                      <a:xfrm>
                        <a:off x="574" y="3159"/>
                        <a:ext cx="107" cy="10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8" name="Oval 392"/>
                      <p:cNvSpPr>
                        <a:spLocks noChangeArrowheads="1"/>
                      </p:cNvSpPr>
                      <p:nvPr/>
                    </p:nvSpPr>
                    <p:spPr bwMode="auto">
                      <a:xfrm>
                        <a:off x="1263" y="3082"/>
                        <a:ext cx="130" cy="128"/>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69" name="Oval 393"/>
                      <p:cNvSpPr>
                        <a:spLocks noChangeArrowheads="1"/>
                      </p:cNvSpPr>
                      <p:nvPr/>
                    </p:nvSpPr>
                    <p:spPr bwMode="auto">
                      <a:xfrm>
                        <a:off x="1014" y="3067"/>
                        <a:ext cx="181" cy="18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70" name="Oval 394"/>
                      <p:cNvSpPr>
                        <a:spLocks noChangeArrowheads="1"/>
                      </p:cNvSpPr>
                      <p:nvPr/>
                    </p:nvSpPr>
                    <p:spPr bwMode="auto">
                      <a:xfrm>
                        <a:off x="746" y="3042"/>
                        <a:ext cx="234" cy="22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71" name="Oval 395"/>
                      <p:cNvSpPr>
                        <a:spLocks noChangeArrowheads="1"/>
                      </p:cNvSpPr>
                      <p:nvPr/>
                    </p:nvSpPr>
                    <p:spPr bwMode="auto">
                      <a:xfrm>
                        <a:off x="562" y="3024"/>
                        <a:ext cx="64" cy="6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72" name="Oval 396"/>
                      <p:cNvSpPr>
                        <a:spLocks noChangeArrowheads="1"/>
                      </p:cNvSpPr>
                      <p:nvPr/>
                    </p:nvSpPr>
                    <p:spPr bwMode="auto">
                      <a:xfrm>
                        <a:off x="1359" y="2923"/>
                        <a:ext cx="65" cy="6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73" name="Oval 397"/>
                      <p:cNvSpPr>
                        <a:spLocks noChangeArrowheads="1"/>
                      </p:cNvSpPr>
                      <p:nvPr/>
                    </p:nvSpPr>
                    <p:spPr bwMode="auto">
                      <a:xfrm>
                        <a:off x="1270" y="2738"/>
                        <a:ext cx="204" cy="20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374" name="Freeform 398"/>
                  <p:cNvSpPr>
                    <a:spLocks/>
                  </p:cNvSpPr>
                  <p:nvPr/>
                </p:nvSpPr>
                <p:spPr bwMode="auto">
                  <a:xfrm>
                    <a:off x="595" y="2768"/>
                    <a:ext cx="808" cy="437"/>
                  </a:xfrm>
                  <a:custGeom>
                    <a:avLst/>
                    <a:gdLst>
                      <a:gd name="T0" fmla="*/ 165 w 808"/>
                      <a:gd name="T1" fmla="*/ 21 h 437"/>
                      <a:gd name="T2" fmla="*/ 74 w 808"/>
                      <a:gd name="T3" fmla="*/ 32 h 437"/>
                      <a:gd name="T4" fmla="*/ 0 w 808"/>
                      <a:gd name="T5" fmla="*/ 311 h 437"/>
                      <a:gd name="T6" fmla="*/ 57 w 808"/>
                      <a:gd name="T7" fmla="*/ 394 h 437"/>
                      <a:gd name="T8" fmla="*/ 222 w 808"/>
                      <a:gd name="T9" fmla="*/ 390 h 437"/>
                      <a:gd name="T10" fmla="*/ 398 w 808"/>
                      <a:gd name="T11" fmla="*/ 436 h 437"/>
                      <a:gd name="T12" fmla="*/ 489 w 808"/>
                      <a:gd name="T13" fmla="*/ 406 h 437"/>
                      <a:gd name="T14" fmla="*/ 734 w 808"/>
                      <a:gd name="T15" fmla="*/ 355 h 437"/>
                      <a:gd name="T16" fmla="*/ 775 w 808"/>
                      <a:gd name="T17" fmla="*/ 319 h 437"/>
                      <a:gd name="T18" fmla="*/ 765 w 808"/>
                      <a:gd name="T19" fmla="*/ 242 h 437"/>
                      <a:gd name="T20" fmla="*/ 807 w 808"/>
                      <a:gd name="T21" fmla="*/ 169 h 437"/>
                      <a:gd name="T22" fmla="*/ 694 w 808"/>
                      <a:gd name="T23" fmla="*/ 75 h 437"/>
                      <a:gd name="T24" fmla="*/ 647 w 808"/>
                      <a:gd name="T25" fmla="*/ 37 h 437"/>
                      <a:gd name="T26" fmla="*/ 360 w 808"/>
                      <a:gd name="T27" fmla="*/ 0 h 437"/>
                      <a:gd name="T28" fmla="*/ 165 w 808"/>
                      <a:gd name="T29" fmla="*/ 2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8" h="437">
                        <a:moveTo>
                          <a:pt x="165" y="21"/>
                        </a:moveTo>
                        <a:lnTo>
                          <a:pt x="74" y="32"/>
                        </a:lnTo>
                        <a:lnTo>
                          <a:pt x="0" y="311"/>
                        </a:lnTo>
                        <a:lnTo>
                          <a:pt x="57" y="394"/>
                        </a:lnTo>
                        <a:lnTo>
                          <a:pt x="222" y="390"/>
                        </a:lnTo>
                        <a:lnTo>
                          <a:pt x="398" y="436"/>
                        </a:lnTo>
                        <a:lnTo>
                          <a:pt x="489" y="406"/>
                        </a:lnTo>
                        <a:lnTo>
                          <a:pt x="734" y="355"/>
                        </a:lnTo>
                        <a:lnTo>
                          <a:pt x="775" y="319"/>
                        </a:lnTo>
                        <a:lnTo>
                          <a:pt x="765" y="242"/>
                        </a:lnTo>
                        <a:lnTo>
                          <a:pt x="807" y="169"/>
                        </a:lnTo>
                        <a:lnTo>
                          <a:pt x="694" y="75"/>
                        </a:lnTo>
                        <a:lnTo>
                          <a:pt x="647" y="37"/>
                        </a:lnTo>
                        <a:lnTo>
                          <a:pt x="360" y="0"/>
                        </a:lnTo>
                        <a:lnTo>
                          <a:pt x="165" y="21"/>
                        </a:lnTo>
                      </a:path>
                    </a:pathLst>
                  </a:custGeom>
                  <a:solidFill>
                    <a:srgbClr val="FFBF7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55375" name="Group 399"/>
                <p:cNvGrpSpPr>
                  <a:grpSpLocks/>
                </p:cNvGrpSpPr>
                <p:nvPr/>
              </p:nvGrpSpPr>
              <p:grpSpPr bwMode="auto">
                <a:xfrm>
                  <a:off x="568" y="2787"/>
                  <a:ext cx="874" cy="441"/>
                  <a:chOff x="568" y="2787"/>
                  <a:chExt cx="874" cy="441"/>
                </a:xfrm>
              </p:grpSpPr>
              <p:sp>
                <p:nvSpPr>
                  <p:cNvPr id="255376" name="Oval 400"/>
                  <p:cNvSpPr>
                    <a:spLocks noChangeArrowheads="1"/>
                  </p:cNvSpPr>
                  <p:nvPr/>
                </p:nvSpPr>
                <p:spPr bwMode="auto">
                  <a:xfrm>
                    <a:off x="600" y="3090"/>
                    <a:ext cx="126"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77" name="Oval 401"/>
                  <p:cNvSpPr>
                    <a:spLocks noChangeArrowheads="1"/>
                  </p:cNvSpPr>
                  <p:nvPr/>
                </p:nvSpPr>
                <p:spPr bwMode="auto">
                  <a:xfrm>
                    <a:off x="568" y="2875"/>
                    <a:ext cx="125" cy="12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78" name="Oval 402"/>
                  <p:cNvSpPr>
                    <a:spLocks noChangeArrowheads="1"/>
                  </p:cNvSpPr>
                  <p:nvPr/>
                </p:nvSpPr>
                <p:spPr bwMode="auto">
                  <a:xfrm>
                    <a:off x="1315" y="2787"/>
                    <a:ext cx="127"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79" name="Oval 403"/>
                  <p:cNvSpPr>
                    <a:spLocks noChangeArrowheads="1"/>
                  </p:cNvSpPr>
                  <p:nvPr/>
                </p:nvSpPr>
                <p:spPr bwMode="auto">
                  <a:xfrm>
                    <a:off x="1311" y="2967"/>
                    <a:ext cx="103" cy="100"/>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0" name="Oval 404"/>
                  <p:cNvSpPr>
                    <a:spLocks noChangeArrowheads="1"/>
                  </p:cNvSpPr>
                  <p:nvPr/>
                </p:nvSpPr>
                <p:spPr bwMode="auto">
                  <a:xfrm>
                    <a:off x="577" y="2891"/>
                    <a:ext cx="135" cy="130"/>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1" name="Oval 405"/>
                  <p:cNvSpPr>
                    <a:spLocks noChangeArrowheads="1"/>
                  </p:cNvSpPr>
                  <p:nvPr/>
                </p:nvSpPr>
                <p:spPr bwMode="auto">
                  <a:xfrm>
                    <a:off x="609" y="3097"/>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2" name="Oval 406"/>
                  <p:cNvSpPr>
                    <a:spLocks noChangeArrowheads="1"/>
                  </p:cNvSpPr>
                  <p:nvPr/>
                </p:nvSpPr>
                <p:spPr bwMode="auto">
                  <a:xfrm>
                    <a:off x="1301" y="2798"/>
                    <a:ext cx="131" cy="131"/>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3" name="Oval 407"/>
                  <p:cNvSpPr>
                    <a:spLocks noChangeArrowheads="1"/>
                  </p:cNvSpPr>
                  <p:nvPr/>
                </p:nvSpPr>
                <p:spPr bwMode="auto">
                  <a:xfrm>
                    <a:off x="1284" y="2960"/>
                    <a:ext cx="115" cy="112"/>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4" name="Oval 408"/>
                  <p:cNvSpPr>
                    <a:spLocks noChangeArrowheads="1"/>
                  </p:cNvSpPr>
                  <p:nvPr/>
                </p:nvSpPr>
                <p:spPr bwMode="auto">
                  <a:xfrm>
                    <a:off x="571" y="2942"/>
                    <a:ext cx="122" cy="11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5" name="Oval 409"/>
                  <p:cNvSpPr>
                    <a:spLocks noChangeArrowheads="1"/>
                  </p:cNvSpPr>
                  <p:nvPr/>
                </p:nvSpPr>
                <p:spPr bwMode="auto">
                  <a:xfrm>
                    <a:off x="587" y="2943"/>
                    <a:ext cx="114" cy="114"/>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6" name="Oval 410"/>
                  <p:cNvSpPr>
                    <a:spLocks noChangeArrowheads="1"/>
                  </p:cNvSpPr>
                  <p:nvPr/>
                </p:nvSpPr>
                <p:spPr bwMode="auto">
                  <a:xfrm>
                    <a:off x="1244" y="2800"/>
                    <a:ext cx="125" cy="124"/>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7" name="Oval 411"/>
                  <p:cNvSpPr>
                    <a:spLocks noChangeArrowheads="1"/>
                  </p:cNvSpPr>
                  <p:nvPr/>
                </p:nvSpPr>
                <p:spPr bwMode="auto">
                  <a:xfrm>
                    <a:off x="1245" y="2811"/>
                    <a:ext cx="114" cy="113"/>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8" name="Oval 412"/>
                  <p:cNvSpPr>
                    <a:spLocks noChangeArrowheads="1"/>
                  </p:cNvSpPr>
                  <p:nvPr/>
                </p:nvSpPr>
                <p:spPr bwMode="auto">
                  <a:xfrm>
                    <a:off x="1333" y="3046"/>
                    <a:ext cx="82" cy="82"/>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89" name="Oval 413"/>
                  <p:cNvSpPr>
                    <a:spLocks noChangeArrowheads="1"/>
                  </p:cNvSpPr>
                  <p:nvPr/>
                </p:nvSpPr>
                <p:spPr bwMode="auto">
                  <a:xfrm>
                    <a:off x="1326" y="3051"/>
                    <a:ext cx="76" cy="76"/>
                  </a:xfrm>
                  <a:prstGeom prst="ellipse">
                    <a:avLst/>
                  </a:prstGeom>
                  <a:solidFill>
                    <a:srgbClr val="FFBF7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55390" name="Rectangle 414"/>
              <p:cNvSpPr>
                <a:spLocks noChangeArrowheads="1"/>
              </p:cNvSpPr>
              <p:nvPr/>
            </p:nvSpPr>
            <p:spPr bwMode="auto">
              <a:xfrm>
                <a:off x="692" y="2777"/>
                <a:ext cx="621"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7625" rIns="96838" bIns="47625">
                <a:spAutoFit/>
              </a:bodyPr>
              <a:lstStyle>
                <a:lvl1pPr defTabSz="960438">
                  <a:defRPr sz="2400">
                    <a:solidFill>
                      <a:schemeClr val="tx1"/>
                    </a:solidFill>
                    <a:latin typeface="Times New Roman" pitchFamily="18" charset="0"/>
                  </a:defRPr>
                </a:lvl1pPr>
                <a:lvl2pPr marL="479425" defTabSz="960438">
                  <a:defRPr sz="2400">
                    <a:solidFill>
                      <a:schemeClr val="tx1"/>
                    </a:solidFill>
                    <a:latin typeface="Times New Roman" pitchFamily="18" charset="0"/>
                  </a:defRPr>
                </a:lvl2pPr>
                <a:lvl3pPr marL="960438" defTabSz="960438">
                  <a:defRPr sz="2400">
                    <a:solidFill>
                      <a:schemeClr val="tx1"/>
                    </a:solidFill>
                    <a:latin typeface="Times New Roman" pitchFamily="18" charset="0"/>
                  </a:defRPr>
                </a:lvl3pPr>
                <a:lvl4pPr marL="1439863" defTabSz="960438">
                  <a:defRPr sz="2400">
                    <a:solidFill>
                      <a:schemeClr val="tx1"/>
                    </a:solidFill>
                    <a:latin typeface="Times New Roman" pitchFamily="18" charset="0"/>
                  </a:defRPr>
                </a:lvl4pPr>
                <a:lvl5pPr marL="1920875" defTabSz="960438">
                  <a:defRPr sz="2400">
                    <a:solidFill>
                      <a:schemeClr val="tx1"/>
                    </a:solidFill>
                    <a:latin typeface="Times New Roman" pitchFamily="18" charset="0"/>
                  </a:defRPr>
                </a:lvl5pPr>
                <a:lvl6pPr marL="2378075" defTabSz="960438" eaLnBrk="0" fontAlgn="base" hangingPunct="0">
                  <a:spcBef>
                    <a:spcPct val="0"/>
                  </a:spcBef>
                  <a:spcAft>
                    <a:spcPct val="0"/>
                  </a:spcAft>
                  <a:defRPr sz="2400">
                    <a:solidFill>
                      <a:schemeClr val="tx1"/>
                    </a:solidFill>
                    <a:latin typeface="Times New Roman" pitchFamily="18" charset="0"/>
                  </a:defRPr>
                </a:lvl6pPr>
                <a:lvl7pPr marL="2835275" defTabSz="960438" eaLnBrk="0" fontAlgn="base" hangingPunct="0">
                  <a:spcBef>
                    <a:spcPct val="0"/>
                  </a:spcBef>
                  <a:spcAft>
                    <a:spcPct val="0"/>
                  </a:spcAft>
                  <a:defRPr sz="2400">
                    <a:solidFill>
                      <a:schemeClr val="tx1"/>
                    </a:solidFill>
                    <a:latin typeface="Times New Roman" pitchFamily="18" charset="0"/>
                  </a:defRPr>
                </a:lvl7pPr>
                <a:lvl8pPr marL="3292475" defTabSz="960438" eaLnBrk="0" fontAlgn="base" hangingPunct="0">
                  <a:spcBef>
                    <a:spcPct val="0"/>
                  </a:spcBef>
                  <a:spcAft>
                    <a:spcPct val="0"/>
                  </a:spcAft>
                  <a:defRPr sz="2400">
                    <a:solidFill>
                      <a:schemeClr val="tx1"/>
                    </a:solidFill>
                    <a:latin typeface="Times New Roman" pitchFamily="18" charset="0"/>
                  </a:defRPr>
                </a:lvl8pPr>
                <a:lvl9pPr marL="3749675" defTabSz="960438" eaLnBrk="0" fontAlgn="base" hangingPunct="0">
                  <a:spcBef>
                    <a:spcPct val="0"/>
                  </a:spcBef>
                  <a:spcAft>
                    <a:spcPct val="0"/>
                  </a:spcAft>
                  <a:defRPr sz="2400">
                    <a:solidFill>
                      <a:schemeClr val="tx1"/>
                    </a:solidFill>
                    <a:latin typeface="Times New Roman" pitchFamily="18" charset="0"/>
                  </a:defRPr>
                </a:lvl9pPr>
              </a:lstStyle>
              <a:p>
                <a:pPr algn="ctr">
                  <a:lnSpc>
                    <a:spcPct val="90000"/>
                  </a:lnSpc>
                </a:pPr>
                <a:endParaRPr lang="en-GB" altLang="en-US" sz="1900" b="1">
                  <a:latin typeface="Arial" pitchFamily="34" charset="0"/>
                </a:endParaRPr>
              </a:p>
              <a:p>
                <a:pPr algn="ctr">
                  <a:lnSpc>
                    <a:spcPct val="90000"/>
                  </a:lnSpc>
                </a:pPr>
                <a:r>
                  <a:rPr lang="en-GB" altLang="en-US" sz="1900" b="1">
                    <a:latin typeface="Arial" pitchFamily="34" charset="0"/>
                  </a:rPr>
                  <a:t>Fusion</a:t>
                </a:r>
              </a:p>
            </p:txBody>
          </p:sp>
        </p:grpSp>
        <p:sp>
          <p:nvSpPr>
            <p:cNvPr id="255391" name="AutoShape 415"/>
            <p:cNvSpPr>
              <a:spLocks noChangeArrowheads="1"/>
            </p:cNvSpPr>
            <p:nvPr/>
          </p:nvSpPr>
          <p:spPr bwMode="auto">
            <a:xfrm rot="18180000" flipH="1">
              <a:off x="1143" y="2274"/>
              <a:ext cx="336" cy="304"/>
            </a:xfrm>
            <a:prstGeom prst="rightArrow">
              <a:avLst>
                <a:gd name="adj1" fmla="val 50000"/>
                <a:gd name="adj2" fmla="val 55268"/>
              </a:avLst>
            </a:prstGeom>
            <a:gradFill rotWithShape="0">
              <a:gsLst>
                <a:gs pos="0">
                  <a:srgbClr val="33CC33"/>
                </a:gs>
                <a:gs pos="100000">
                  <a:schemeClr val="accent2"/>
                </a:gs>
              </a:gsLst>
              <a:lin ang="189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5392" name="AutoShape 416"/>
            <p:cNvSpPr>
              <a:spLocks noChangeArrowheads="1"/>
            </p:cNvSpPr>
            <p:nvPr/>
          </p:nvSpPr>
          <p:spPr bwMode="auto">
            <a:xfrm rot="19320000" flipH="1">
              <a:off x="2495" y="2274"/>
              <a:ext cx="336" cy="304"/>
            </a:xfrm>
            <a:prstGeom prst="rightArrow">
              <a:avLst>
                <a:gd name="adj1" fmla="val 50000"/>
                <a:gd name="adj2" fmla="val 55268"/>
              </a:avLst>
            </a:prstGeom>
            <a:gradFill rotWithShape="0">
              <a:gsLst>
                <a:gs pos="0">
                  <a:srgbClr val="33CC33"/>
                </a:gs>
                <a:gs pos="100000">
                  <a:schemeClr val="accent2"/>
                </a:gs>
              </a:gsLst>
              <a:lin ang="189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5393" name="Text Box 417"/>
          <p:cNvSpPr txBox="1">
            <a:spLocks noChangeArrowheads="1"/>
          </p:cNvSpPr>
          <p:nvPr/>
        </p:nvSpPr>
        <p:spPr bwMode="auto">
          <a:xfrm>
            <a:off x="8694738" y="6362700"/>
            <a:ext cx="373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39775">
              <a:defRPr sz="2400">
                <a:solidFill>
                  <a:schemeClr val="tx1"/>
                </a:solidFill>
                <a:latin typeface="Times New Roman" pitchFamily="18" charset="0"/>
              </a:defRPr>
            </a:lvl1pPr>
            <a:lvl2pPr marL="571500" defTabSz="739775">
              <a:defRPr sz="2400">
                <a:solidFill>
                  <a:schemeClr val="tx1"/>
                </a:solidFill>
                <a:latin typeface="Times New Roman" pitchFamily="18" charset="0"/>
              </a:defRPr>
            </a:lvl2pPr>
            <a:lvl3pPr marL="1143000" defTabSz="739775">
              <a:defRPr sz="2400">
                <a:solidFill>
                  <a:schemeClr val="tx1"/>
                </a:solidFill>
                <a:latin typeface="Times New Roman" pitchFamily="18" charset="0"/>
              </a:defRPr>
            </a:lvl3pPr>
            <a:lvl4pPr marL="1714500" defTabSz="739775">
              <a:defRPr sz="2400">
                <a:solidFill>
                  <a:schemeClr val="tx1"/>
                </a:solidFill>
                <a:latin typeface="Times New Roman" pitchFamily="18" charset="0"/>
              </a:defRPr>
            </a:lvl4pPr>
            <a:lvl5pPr marL="2286000" defTabSz="739775">
              <a:defRPr sz="2400">
                <a:solidFill>
                  <a:schemeClr val="tx1"/>
                </a:solidFill>
                <a:latin typeface="Times New Roman" pitchFamily="18" charset="0"/>
              </a:defRPr>
            </a:lvl5pPr>
            <a:lvl6pPr marL="2743200" defTabSz="739775" eaLnBrk="0" fontAlgn="base" hangingPunct="0">
              <a:spcBef>
                <a:spcPct val="0"/>
              </a:spcBef>
              <a:spcAft>
                <a:spcPct val="0"/>
              </a:spcAft>
              <a:defRPr sz="2400">
                <a:solidFill>
                  <a:schemeClr val="tx1"/>
                </a:solidFill>
                <a:latin typeface="Times New Roman" pitchFamily="18" charset="0"/>
              </a:defRPr>
            </a:lvl6pPr>
            <a:lvl7pPr marL="3200400" defTabSz="739775" eaLnBrk="0" fontAlgn="base" hangingPunct="0">
              <a:spcBef>
                <a:spcPct val="0"/>
              </a:spcBef>
              <a:spcAft>
                <a:spcPct val="0"/>
              </a:spcAft>
              <a:defRPr sz="2400">
                <a:solidFill>
                  <a:schemeClr val="tx1"/>
                </a:solidFill>
                <a:latin typeface="Times New Roman" pitchFamily="18" charset="0"/>
              </a:defRPr>
            </a:lvl7pPr>
            <a:lvl8pPr marL="3657600" defTabSz="739775" eaLnBrk="0" fontAlgn="base" hangingPunct="0">
              <a:spcBef>
                <a:spcPct val="0"/>
              </a:spcBef>
              <a:spcAft>
                <a:spcPct val="0"/>
              </a:spcAft>
              <a:defRPr sz="2400">
                <a:solidFill>
                  <a:schemeClr val="tx1"/>
                </a:solidFill>
                <a:latin typeface="Times New Roman" pitchFamily="18" charset="0"/>
              </a:defRPr>
            </a:lvl8pPr>
            <a:lvl9pPr marL="4114800" defTabSz="739775" eaLnBrk="0" fontAlgn="base" hangingPunct="0">
              <a:spcBef>
                <a:spcPct val="0"/>
              </a:spcBef>
              <a:spcAft>
                <a:spcPct val="0"/>
              </a:spcAft>
              <a:defRPr sz="2400">
                <a:solidFill>
                  <a:schemeClr val="tx1"/>
                </a:solidFill>
                <a:latin typeface="Times New Roman" pitchFamily="18" charset="0"/>
              </a:defRPr>
            </a:lvl9pPr>
          </a:lstStyle>
          <a:p>
            <a:r>
              <a:rPr lang="en-GB" altLang="en-US">
                <a:latin typeface="Symbol" pitchFamily="18" charset="2"/>
              </a:rPr>
              <a:t>O</a:t>
            </a:r>
          </a:p>
        </p:txBody>
      </p:sp>
      <p:sp>
        <p:nvSpPr>
          <p:cNvPr id="255394" name="Text Box 418"/>
          <p:cNvSpPr txBox="1">
            <a:spLocks noChangeArrowheads="1"/>
          </p:cNvSpPr>
          <p:nvPr/>
        </p:nvSpPr>
        <p:spPr bwMode="auto">
          <a:xfrm>
            <a:off x="8688388" y="6362700"/>
            <a:ext cx="385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39775">
              <a:defRPr sz="2400">
                <a:solidFill>
                  <a:schemeClr val="tx1"/>
                </a:solidFill>
                <a:latin typeface="Times New Roman" pitchFamily="18" charset="0"/>
              </a:defRPr>
            </a:lvl1pPr>
            <a:lvl2pPr marL="571500" defTabSz="739775">
              <a:defRPr sz="2400">
                <a:solidFill>
                  <a:schemeClr val="tx1"/>
                </a:solidFill>
                <a:latin typeface="Times New Roman" pitchFamily="18" charset="0"/>
              </a:defRPr>
            </a:lvl2pPr>
            <a:lvl3pPr marL="1143000" defTabSz="739775">
              <a:defRPr sz="2400">
                <a:solidFill>
                  <a:schemeClr val="tx1"/>
                </a:solidFill>
                <a:latin typeface="Times New Roman" pitchFamily="18" charset="0"/>
              </a:defRPr>
            </a:lvl3pPr>
            <a:lvl4pPr marL="1714500" defTabSz="739775">
              <a:defRPr sz="2400">
                <a:solidFill>
                  <a:schemeClr val="tx1"/>
                </a:solidFill>
                <a:latin typeface="Times New Roman" pitchFamily="18" charset="0"/>
              </a:defRPr>
            </a:lvl4pPr>
            <a:lvl5pPr marL="2286000" defTabSz="739775">
              <a:defRPr sz="2400">
                <a:solidFill>
                  <a:schemeClr val="tx1"/>
                </a:solidFill>
                <a:latin typeface="Times New Roman" pitchFamily="18" charset="0"/>
              </a:defRPr>
            </a:lvl5pPr>
            <a:lvl6pPr marL="2743200" defTabSz="739775" eaLnBrk="0" fontAlgn="base" hangingPunct="0">
              <a:spcBef>
                <a:spcPct val="0"/>
              </a:spcBef>
              <a:spcAft>
                <a:spcPct val="0"/>
              </a:spcAft>
              <a:defRPr sz="2400">
                <a:solidFill>
                  <a:schemeClr val="tx1"/>
                </a:solidFill>
                <a:latin typeface="Times New Roman" pitchFamily="18" charset="0"/>
              </a:defRPr>
            </a:lvl6pPr>
            <a:lvl7pPr marL="3200400" defTabSz="739775" eaLnBrk="0" fontAlgn="base" hangingPunct="0">
              <a:spcBef>
                <a:spcPct val="0"/>
              </a:spcBef>
              <a:spcAft>
                <a:spcPct val="0"/>
              </a:spcAft>
              <a:defRPr sz="2400">
                <a:solidFill>
                  <a:schemeClr val="tx1"/>
                </a:solidFill>
                <a:latin typeface="Times New Roman" pitchFamily="18" charset="0"/>
              </a:defRPr>
            </a:lvl7pPr>
            <a:lvl8pPr marL="3657600" defTabSz="739775" eaLnBrk="0" fontAlgn="base" hangingPunct="0">
              <a:spcBef>
                <a:spcPct val="0"/>
              </a:spcBef>
              <a:spcAft>
                <a:spcPct val="0"/>
              </a:spcAft>
              <a:defRPr sz="2400">
                <a:solidFill>
                  <a:schemeClr val="tx1"/>
                </a:solidFill>
                <a:latin typeface="Times New Roman" pitchFamily="18" charset="0"/>
              </a:defRPr>
            </a:lvl8pPr>
            <a:lvl9pPr marL="4114800" defTabSz="739775" eaLnBrk="0" fontAlgn="base" hangingPunct="0">
              <a:spcBef>
                <a:spcPct val="0"/>
              </a:spcBef>
              <a:spcAft>
                <a:spcPct val="0"/>
              </a:spcAft>
              <a:defRPr sz="2400">
                <a:solidFill>
                  <a:schemeClr val="tx1"/>
                </a:solidFill>
                <a:latin typeface="Times New Roman" pitchFamily="18" charset="0"/>
              </a:defRPr>
            </a:lvl9pPr>
          </a:lstStyle>
          <a:p>
            <a:r>
              <a:rPr lang="en-GB" altLang="en-US">
                <a:latin typeface="Symbol" pitchFamily="18" charset="2"/>
              </a:rPr>
              <a:t>Ä</a:t>
            </a:r>
          </a:p>
        </p:txBody>
      </p:sp>
    </p:spTree>
    <p:extLst>
      <p:ext uri="{BB962C8B-B14F-4D97-AF65-F5344CB8AC3E}">
        <p14:creationId xmlns:p14="http://schemas.microsoft.com/office/powerpoint/2010/main" val="417093637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553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539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1" fill="hold" nodeType="clickEffect">
                                  <p:stCondLst>
                                    <p:cond delay="0"/>
                                  </p:stCondLst>
                                  <p:childTnLst>
                                    <p:set>
                                      <p:cBhvr>
                                        <p:cTn id="14" dur="1" fill="hold">
                                          <p:stCondLst>
                                            <p:cond delay="0"/>
                                          </p:stCondLst>
                                        </p:cTn>
                                        <p:tgtEl>
                                          <p:spTgt spid="255309"/>
                                        </p:tgtEl>
                                        <p:attrNameLst>
                                          <p:attrName>style.visibility</p:attrName>
                                        </p:attrNameLst>
                                      </p:cBhvr>
                                      <p:to>
                                        <p:strVal val="visible"/>
                                      </p:to>
                                    </p:set>
                                    <p:anim calcmode="lin" valueType="num">
                                      <p:cBhvr additive="base">
                                        <p:cTn id="15" dur="500" fill="hold"/>
                                        <p:tgtEl>
                                          <p:spTgt spid="255309"/>
                                        </p:tgtEl>
                                        <p:attrNameLst>
                                          <p:attrName>ppt_x</p:attrName>
                                        </p:attrNameLst>
                                      </p:cBhvr>
                                      <p:tavLst>
                                        <p:tav tm="0">
                                          <p:val>
                                            <p:strVal val="#ppt_x"/>
                                          </p:val>
                                        </p:tav>
                                        <p:tav tm="100000">
                                          <p:val>
                                            <p:strVal val="#ppt_x"/>
                                          </p:val>
                                        </p:tav>
                                      </p:tavLst>
                                    </p:anim>
                                    <p:anim calcmode="lin" valueType="num">
                                      <p:cBhvr additive="base">
                                        <p:cTn id="16" dur="500" fill="hold"/>
                                        <p:tgtEl>
                                          <p:spTgt spid="255309"/>
                                        </p:tgtEl>
                                        <p:attrNameLst>
                                          <p:attrName>ppt_y</p:attrName>
                                        </p:attrNameLst>
                                      </p:cBhvr>
                                      <p:tavLst>
                                        <p:tav tm="0">
                                          <p:val>
                                            <p:strVal val="0-#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1" fill="hold" nodeType="clickEffect">
                                  <p:stCondLst>
                                    <p:cond delay="0"/>
                                  </p:stCondLst>
                                  <p:childTnLst>
                                    <p:set>
                                      <p:cBhvr>
                                        <p:cTn id="20" dur="1" fill="hold">
                                          <p:stCondLst>
                                            <p:cond delay="0"/>
                                          </p:stCondLst>
                                        </p:cTn>
                                        <p:tgtEl>
                                          <p:spTgt spid="255223"/>
                                        </p:tgtEl>
                                        <p:attrNameLst>
                                          <p:attrName>style.visibility</p:attrName>
                                        </p:attrNameLst>
                                      </p:cBhvr>
                                      <p:to>
                                        <p:strVal val="visible"/>
                                      </p:to>
                                    </p:set>
                                    <p:anim calcmode="lin" valueType="num">
                                      <p:cBhvr additive="base">
                                        <p:cTn id="21" dur="500" fill="hold"/>
                                        <p:tgtEl>
                                          <p:spTgt spid="255223"/>
                                        </p:tgtEl>
                                        <p:attrNameLst>
                                          <p:attrName>ppt_x</p:attrName>
                                        </p:attrNameLst>
                                      </p:cBhvr>
                                      <p:tavLst>
                                        <p:tav tm="0">
                                          <p:val>
                                            <p:strVal val="#ppt_x"/>
                                          </p:val>
                                        </p:tav>
                                        <p:tav tm="100000">
                                          <p:val>
                                            <p:strVal val="#ppt_x"/>
                                          </p:val>
                                        </p:tav>
                                      </p:tavLst>
                                    </p:anim>
                                    <p:anim calcmode="lin" valueType="num">
                                      <p:cBhvr additive="base">
                                        <p:cTn id="22" dur="500" fill="hold"/>
                                        <p:tgtEl>
                                          <p:spTgt spid="2552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393" grpId="0" autoUpdateAnimBg="0"/>
      <p:bldP spid="25539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smtClean="0"/>
              <a:t>Requirements</a:t>
            </a:r>
          </a:p>
        </p:txBody>
      </p:sp>
      <p:sp>
        <p:nvSpPr>
          <p:cNvPr id="6147" name="Rectangle 3"/>
          <p:cNvSpPr>
            <a:spLocks noGrp="1" noChangeArrowheads="1"/>
          </p:cNvSpPr>
          <p:nvPr>
            <p:ph type="body" idx="1"/>
          </p:nvPr>
        </p:nvSpPr>
        <p:spPr>
          <a:xfrm>
            <a:off x="249238" y="1071564"/>
            <a:ext cx="8709025" cy="1429590"/>
          </a:xfrm>
        </p:spPr>
        <p:txBody>
          <a:bodyPr>
            <a:normAutofit/>
          </a:bodyPr>
          <a:lstStyle/>
          <a:p>
            <a:r>
              <a:rPr lang="en-GB" dirty="0" smtClean="0"/>
              <a:t>Functional requirements define </a:t>
            </a:r>
            <a:r>
              <a:rPr lang="en-GB" i="1" dirty="0" smtClean="0"/>
              <a:t>what </a:t>
            </a:r>
            <a:r>
              <a:rPr lang="en-GB" dirty="0" smtClean="0"/>
              <a:t>a system must do</a:t>
            </a:r>
          </a:p>
          <a:p>
            <a:r>
              <a:rPr lang="en-GB" dirty="0" smtClean="0"/>
              <a:t>Non-functional requirements capture other goals and constraints on </a:t>
            </a:r>
            <a:r>
              <a:rPr lang="en-GB" i="1" dirty="0" smtClean="0"/>
              <a:t>how </a:t>
            </a:r>
            <a:r>
              <a:rPr lang="en-GB" dirty="0" smtClean="0"/>
              <a:t>the systems is built</a:t>
            </a:r>
          </a:p>
        </p:txBody>
      </p:sp>
      <p:pic>
        <p:nvPicPr>
          <p:cNvPr id="6148"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088" y="2825750"/>
            <a:ext cx="1874837"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Freeform 5"/>
          <p:cNvSpPr>
            <a:spLocks/>
          </p:cNvSpPr>
          <p:nvPr/>
        </p:nvSpPr>
        <p:spPr bwMode="auto">
          <a:xfrm>
            <a:off x="3235325" y="2749550"/>
            <a:ext cx="915988" cy="3430588"/>
          </a:xfrm>
          <a:custGeom>
            <a:avLst/>
            <a:gdLst>
              <a:gd name="T0" fmla="*/ 0 w 625"/>
              <a:gd name="T1" fmla="*/ 384 h 2161"/>
              <a:gd name="T2" fmla="*/ 624 w 625"/>
              <a:gd name="T3" fmla="*/ 0 h 2161"/>
              <a:gd name="T4" fmla="*/ 624 w 625"/>
              <a:gd name="T5" fmla="*/ 2160 h 2161"/>
              <a:gd name="T6" fmla="*/ 0 w 625"/>
              <a:gd name="T7" fmla="*/ 1728 h 2161"/>
              <a:gd name="T8" fmla="*/ 0 w 625"/>
              <a:gd name="T9" fmla="*/ 384 h 2161"/>
              <a:gd name="T10" fmla="*/ 0 60000 65536"/>
              <a:gd name="T11" fmla="*/ 0 60000 65536"/>
              <a:gd name="T12" fmla="*/ 0 60000 65536"/>
              <a:gd name="T13" fmla="*/ 0 60000 65536"/>
              <a:gd name="T14" fmla="*/ 0 60000 65536"/>
              <a:gd name="T15" fmla="*/ 0 w 625"/>
              <a:gd name="T16" fmla="*/ 0 h 2161"/>
              <a:gd name="T17" fmla="*/ 625 w 625"/>
              <a:gd name="T18" fmla="*/ 2161 h 2161"/>
            </a:gdLst>
            <a:ahLst/>
            <a:cxnLst>
              <a:cxn ang="T10">
                <a:pos x="T0" y="T1"/>
              </a:cxn>
              <a:cxn ang="T11">
                <a:pos x="T2" y="T3"/>
              </a:cxn>
              <a:cxn ang="T12">
                <a:pos x="T4" y="T5"/>
              </a:cxn>
              <a:cxn ang="T13">
                <a:pos x="T6" y="T7"/>
              </a:cxn>
              <a:cxn ang="T14">
                <a:pos x="T8" y="T9"/>
              </a:cxn>
            </a:cxnLst>
            <a:rect l="T15" t="T16" r="T17" b="T18"/>
            <a:pathLst>
              <a:path w="625" h="2161">
                <a:moveTo>
                  <a:pt x="0" y="384"/>
                </a:moveTo>
                <a:lnTo>
                  <a:pt x="624" y="0"/>
                </a:lnTo>
                <a:lnTo>
                  <a:pt x="624" y="2160"/>
                </a:lnTo>
                <a:lnTo>
                  <a:pt x="0" y="1728"/>
                </a:lnTo>
                <a:lnTo>
                  <a:pt x="0" y="384"/>
                </a:lnTo>
              </a:path>
            </a:pathLst>
          </a:custGeom>
          <a:gradFill rotWithShape="0">
            <a:gsLst>
              <a:gs pos="0">
                <a:schemeClr val="bg1"/>
              </a:gs>
              <a:gs pos="100000">
                <a:srgbClr val="FFCC66"/>
              </a:gs>
            </a:gsLst>
            <a:lin ang="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GB"/>
          </a:p>
        </p:txBody>
      </p:sp>
      <p:sp>
        <p:nvSpPr>
          <p:cNvPr id="360454" name="Rectangle 6"/>
          <p:cNvSpPr>
            <a:spLocks noChangeArrowheads="1"/>
          </p:cNvSpPr>
          <p:nvPr/>
        </p:nvSpPr>
        <p:spPr bwMode="auto">
          <a:xfrm>
            <a:off x="4111625" y="2797175"/>
            <a:ext cx="3883025" cy="3609975"/>
          </a:xfrm>
          <a:prstGeom prst="rect">
            <a:avLst/>
          </a:prstGeom>
          <a:solidFill>
            <a:srgbClr val="FFFF66"/>
          </a:solidFill>
          <a:ln w="50800">
            <a:solidFill>
              <a:srgbClr val="FFCC66"/>
            </a:solidFill>
            <a:miter lim="800000"/>
            <a:headEnd/>
            <a:tailEnd/>
          </a:ln>
          <a:effectLst>
            <a:outerShdw dist="107763" dir="2700000" algn="ctr" rotWithShape="0">
              <a:schemeClr val="bg2"/>
            </a:outerShdw>
          </a:effectLst>
        </p:spPr>
        <p:txBody>
          <a:bodyPr lIns="92075" tIns="46038" rIns="92075" bIns="46038">
            <a:spAutoFit/>
          </a:bodyPr>
          <a:lstStyle/>
          <a:p>
            <a:pPr defTabSz="739775">
              <a:lnSpc>
                <a:spcPct val="90000"/>
              </a:lnSpc>
              <a:spcBef>
                <a:spcPct val="30000"/>
              </a:spcBef>
              <a:defRPr/>
            </a:pPr>
            <a:r>
              <a:rPr lang="en-GB" sz="1800" b="1">
                <a:latin typeface="Arial" charset="0"/>
              </a:rPr>
              <a:t>Performance and capacity</a:t>
            </a:r>
          </a:p>
          <a:p>
            <a:pPr defTabSz="739775">
              <a:lnSpc>
                <a:spcPct val="90000"/>
              </a:lnSpc>
              <a:spcBef>
                <a:spcPct val="30000"/>
              </a:spcBef>
              <a:defRPr/>
            </a:pPr>
            <a:r>
              <a:rPr lang="en-GB" sz="1800" b="1">
                <a:latin typeface="Arial" charset="0"/>
              </a:rPr>
              <a:t>Availability and fault tolerance</a:t>
            </a:r>
          </a:p>
          <a:p>
            <a:pPr defTabSz="739775">
              <a:lnSpc>
                <a:spcPct val="90000"/>
              </a:lnSpc>
              <a:spcBef>
                <a:spcPct val="30000"/>
              </a:spcBef>
              <a:defRPr/>
            </a:pPr>
            <a:r>
              <a:rPr lang="en-GB" sz="1800" b="1">
                <a:latin typeface="Arial" charset="0"/>
              </a:rPr>
              <a:t>Scaleability</a:t>
            </a:r>
          </a:p>
          <a:p>
            <a:pPr defTabSz="739775">
              <a:lnSpc>
                <a:spcPct val="90000"/>
              </a:lnSpc>
              <a:spcBef>
                <a:spcPct val="30000"/>
              </a:spcBef>
              <a:defRPr/>
            </a:pPr>
            <a:r>
              <a:rPr lang="en-GB" sz="1800" b="1">
                <a:latin typeface="Arial" charset="0"/>
              </a:rPr>
              <a:t>Time to market</a:t>
            </a:r>
          </a:p>
          <a:p>
            <a:pPr defTabSz="739775">
              <a:lnSpc>
                <a:spcPct val="90000"/>
              </a:lnSpc>
              <a:spcBef>
                <a:spcPct val="30000"/>
              </a:spcBef>
              <a:defRPr/>
            </a:pPr>
            <a:r>
              <a:rPr lang="en-GB" sz="1800" b="1">
                <a:latin typeface="Arial" charset="0"/>
              </a:rPr>
              <a:t>Cost of ownership and development</a:t>
            </a:r>
          </a:p>
          <a:p>
            <a:pPr defTabSz="739775">
              <a:lnSpc>
                <a:spcPct val="90000"/>
              </a:lnSpc>
              <a:spcBef>
                <a:spcPct val="30000"/>
              </a:spcBef>
              <a:defRPr/>
            </a:pPr>
            <a:r>
              <a:rPr lang="en-GB" sz="1800" b="1">
                <a:latin typeface="Arial" charset="0"/>
              </a:rPr>
              <a:t>Quality</a:t>
            </a:r>
          </a:p>
          <a:p>
            <a:pPr defTabSz="739775">
              <a:lnSpc>
                <a:spcPct val="90000"/>
              </a:lnSpc>
              <a:spcBef>
                <a:spcPct val="30000"/>
              </a:spcBef>
              <a:defRPr/>
            </a:pPr>
            <a:r>
              <a:rPr lang="en-GB" sz="1800" b="1">
                <a:latin typeface="Arial" charset="0"/>
              </a:rPr>
              <a:t>Portability</a:t>
            </a:r>
          </a:p>
          <a:p>
            <a:pPr defTabSz="739775">
              <a:lnSpc>
                <a:spcPct val="90000"/>
              </a:lnSpc>
              <a:spcBef>
                <a:spcPct val="30000"/>
              </a:spcBef>
              <a:defRPr/>
            </a:pPr>
            <a:r>
              <a:rPr lang="en-GB" sz="1800" b="1">
                <a:latin typeface="Arial" charset="0"/>
              </a:rPr>
              <a:t>Tools and platforms to be used</a:t>
            </a:r>
          </a:p>
          <a:p>
            <a:pPr defTabSz="739775">
              <a:lnSpc>
                <a:spcPct val="90000"/>
              </a:lnSpc>
              <a:spcBef>
                <a:spcPct val="30000"/>
              </a:spcBef>
              <a:defRPr/>
            </a:pPr>
            <a:r>
              <a:rPr lang="en-GB" sz="1800" b="1">
                <a:latin typeface="Arial" charset="0"/>
              </a:rPr>
              <a:t>Reuse of existing resources</a:t>
            </a:r>
          </a:p>
          <a:p>
            <a:pPr defTabSz="739775">
              <a:lnSpc>
                <a:spcPct val="90000"/>
              </a:lnSpc>
              <a:spcBef>
                <a:spcPct val="30000"/>
              </a:spcBef>
              <a:defRPr/>
            </a:pPr>
            <a:r>
              <a:rPr lang="en-GB" sz="1800" b="1">
                <a:latin typeface="Arial" charset="0"/>
              </a:rPr>
              <a:t>Produce reusable components</a:t>
            </a:r>
          </a:p>
        </p:txBody>
      </p:sp>
      <p:sp>
        <p:nvSpPr>
          <p:cNvPr id="6151" name="Text Box 7"/>
          <p:cNvSpPr txBox="1">
            <a:spLocks noChangeArrowheads="1"/>
          </p:cNvSpPr>
          <p:nvPr/>
        </p:nvSpPr>
        <p:spPr bwMode="auto">
          <a:xfrm>
            <a:off x="1687513" y="5645150"/>
            <a:ext cx="14081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39775">
              <a:defRPr sz="2400">
                <a:solidFill>
                  <a:schemeClr val="tx1"/>
                </a:solidFill>
                <a:latin typeface="Times New Roman" pitchFamily="18" charset="0"/>
              </a:defRPr>
            </a:lvl1pPr>
            <a:lvl2pPr marL="742950" indent="-285750" defTabSz="739775">
              <a:defRPr sz="2400">
                <a:solidFill>
                  <a:schemeClr val="tx1"/>
                </a:solidFill>
                <a:latin typeface="Times New Roman" pitchFamily="18" charset="0"/>
              </a:defRPr>
            </a:lvl2pPr>
            <a:lvl3pPr marL="1143000" indent="-228600" defTabSz="739775">
              <a:defRPr sz="2400">
                <a:solidFill>
                  <a:schemeClr val="tx1"/>
                </a:solidFill>
                <a:latin typeface="Times New Roman" pitchFamily="18" charset="0"/>
              </a:defRPr>
            </a:lvl3pPr>
            <a:lvl4pPr marL="1600200" indent="-228600" defTabSz="739775">
              <a:defRPr sz="2400">
                <a:solidFill>
                  <a:schemeClr val="tx1"/>
                </a:solidFill>
                <a:latin typeface="Times New Roman" pitchFamily="18" charset="0"/>
              </a:defRPr>
            </a:lvl4pPr>
            <a:lvl5pPr marL="2057400" indent="-228600" defTabSz="739775">
              <a:defRPr sz="2400">
                <a:solidFill>
                  <a:schemeClr val="tx1"/>
                </a:solidFill>
                <a:latin typeface="Times New Roman" pitchFamily="18" charset="0"/>
              </a:defRPr>
            </a:lvl5pPr>
            <a:lvl6pPr marL="2514600" indent="-228600" defTabSz="739775" eaLnBrk="0" fontAlgn="base" hangingPunct="0">
              <a:spcBef>
                <a:spcPct val="0"/>
              </a:spcBef>
              <a:spcAft>
                <a:spcPct val="0"/>
              </a:spcAft>
              <a:defRPr sz="2400">
                <a:solidFill>
                  <a:schemeClr val="tx1"/>
                </a:solidFill>
                <a:latin typeface="Times New Roman" pitchFamily="18" charset="0"/>
              </a:defRPr>
            </a:lvl6pPr>
            <a:lvl7pPr marL="2971800" indent="-228600" defTabSz="739775" eaLnBrk="0" fontAlgn="base" hangingPunct="0">
              <a:spcBef>
                <a:spcPct val="0"/>
              </a:spcBef>
              <a:spcAft>
                <a:spcPct val="0"/>
              </a:spcAft>
              <a:defRPr sz="2400">
                <a:solidFill>
                  <a:schemeClr val="tx1"/>
                </a:solidFill>
                <a:latin typeface="Times New Roman" pitchFamily="18" charset="0"/>
              </a:defRPr>
            </a:lvl7pPr>
            <a:lvl8pPr marL="3429000" indent="-228600" defTabSz="739775" eaLnBrk="0" fontAlgn="base" hangingPunct="0">
              <a:spcBef>
                <a:spcPct val="0"/>
              </a:spcBef>
              <a:spcAft>
                <a:spcPct val="0"/>
              </a:spcAft>
              <a:defRPr sz="2400">
                <a:solidFill>
                  <a:schemeClr val="tx1"/>
                </a:solidFill>
                <a:latin typeface="Times New Roman" pitchFamily="18" charset="0"/>
              </a:defRPr>
            </a:lvl8pPr>
            <a:lvl9pPr marL="3886200" indent="-228600" defTabSz="739775"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1400" b="1" i="1">
                <a:solidFill>
                  <a:srgbClr val="000066"/>
                </a:solidFill>
                <a:latin typeface="Arial" pitchFamily="34" charset="0"/>
              </a:rPr>
              <a:t>Non-functional requirements</a:t>
            </a:r>
          </a:p>
        </p:txBody>
      </p:sp>
    </p:spTree>
    <p:extLst>
      <p:ext uri="{BB962C8B-B14F-4D97-AF65-F5344CB8AC3E}">
        <p14:creationId xmlns:p14="http://schemas.microsoft.com/office/powerpoint/2010/main" val="5141915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87" name="Rectangle 19"/>
          <p:cNvSpPr>
            <a:spLocks noGrp="1" noChangeArrowheads="1"/>
          </p:cNvSpPr>
          <p:nvPr>
            <p:ph type="title"/>
          </p:nvPr>
        </p:nvSpPr>
        <p:spPr/>
        <p:txBody>
          <a:bodyPr/>
          <a:lstStyle/>
          <a:p>
            <a:r>
              <a:rPr lang="en-GB" altLang="en-US"/>
              <a:t>Requirements Analysis</a:t>
            </a:r>
          </a:p>
        </p:txBody>
      </p:sp>
      <p:sp>
        <p:nvSpPr>
          <p:cNvPr id="263188" name="Rectangle 20"/>
          <p:cNvSpPr>
            <a:spLocks noGrp="1" noChangeArrowheads="1"/>
          </p:cNvSpPr>
          <p:nvPr>
            <p:ph type="body" idx="1"/>
          </p:nvPr>
        </p:nvSpPr>
        <p:spPr/>
        <p:txBody>
          <a:bodyPr/>
          <a:lstStyle/>
          <a:p>
            <a:r>
              <a:rPr lang="en-GB" altLang="en-US"/>
              <a:t>The Use Case model provides a high-level view of system functionality</a:t>
            </a:r>
          </a:p>
          <a:p>
            <a:pPr lvl="1"/>
            <a:r>
              <a:rPr lang="en-GB" altLang="en-US"/>
              <a:t>Defines the range of a system; what’s inside, what’s outside, what it does and what it doesn’t do</a:t>
            </a:r>
          </a:p>
          <a:p>
            <a:r>
              <a:rPr lang="en-GB" altLang="en-US"/>
              <a:t>Actors are external</a:t>
            </a:r>
          </a:p>
          <a:p>
            <a:r>
              <a:rPr lang="en-GB" altLang="en-US"/>
              <a:t>Use Cases are internal</a:t>
            </a:r>
          </a:p>
        </p:txBody>
      </p:sp>
      <p:grpSp>
        <p:nvGrpSpPr>
          <p:cNvPr id="2" name="Group 1"/>
          <p:cNvGrpSpPr/>
          <p:nvPr/>
        </p:nvGrpSpPr>
        <p:grpSpPr>
          <a:xfrm>
            <a:off x="2052638" y="3743325"/>
            <a:ext cx="4994275" cy="2133600"/>
            <a:chOff x="2052638" y="4378325"/>
            <a:chExt cx="4994275" cy="2133600"/>
          </a:xfrm>
        </p:grpSpPr>
        <p:sp>
          <p:nvSpPr>
            <p:cNvPr id="263170" name="Rectangle 2"/>
            <p:cNvSpPr>
              <a:spLocks noChangeArrowheads="1"/>
            </p:cNvSpPr>
            <p:nvPr/>
          </p:nvSpPr>
          <p:spPr bwMode="auto">
            <a:xfrm>
              <a:off x="2052638" y="4378325"/>
              <a:ext cx="4994275" cy="2133600"/>
            </a:xfrm>
            <a:prstGeom prst="rect">
              <a:avLst/>
            </a:prstGeom>
            <a:solidFill>
              <a:srgbClr val="FCFEB9"/>
            </a:solidFill>
            <a:ln w="25400">
              <a:solidFill>
                <a:schemeClr val="accent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263171" name="Rectangle 3"/>
            <p:cNvSpPr>
              <a:spLocks noChangeArrowheads="1"/>
            </p:cNvSpPr>
            <p:nvPr/>
          </p:nvSpPr>
          <p:spPr bwMode="auto">
            <a:xfrm>
              <a:off x="4162425" y="4530725"/>
              <a:ext cx="2251075" cy="15240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pPr algn="ctr"/>
              <a:endParaRPr lang="en-GB" altLang="en-US"/>
            </a:p>
          </p:txBody>
        </p:sp>
        <p:sp>
          <p:nvSpPr>
            <p:cNvPr id="263174" name="Line 6"/>
            <p:cNvSpPr>
              <a:spLocks noChangeShapeType="1"/>
            </p:cNvSpPr>
            <p:nvPr/>
          </p:nvSpPr>
          <p:spPr bwMode="auto">
            <a:xfrm>
              <a:off x="3452813" y="5019675"/>
              <a:ext cx="1284287" cy="311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263175" name="Group 7"/>
            <p:cNvGrpSpPr>
              <a:grpSpLocks/>
            </p:cNvGrpSpPr>
            <p:nvPr/>
          </p:nvGrpSpPr>
          <p:grpSpPr bwMode="auto">
            <a:xfrm>
              <a:off x="2370138" y="4606925"/>
              <a:ext cx="866775" cy="1166813"/>
              <a:chOff x="2032" y="2840"/>
              <a:chExt cx="592" cy="735"/>
            </a:xfrm>
          </p:grpSpPr>
          <p:grpSp>
            <p:nvGrpSpPr>
              <p:cNvPr id="263176" name="Group 8"/>
              <p:cNvGrpSpPr>
                <a:grpSpLocks/>
              </p:cNvGrpSpPr>
              <p:nvPr/>
            </p:nvGrpSpPr>
            <p:grpSpPr bwMode="auto">
              <a:xfrm>
                <a:off x="2161" y="2840"/>
                <a:ext cx="312" cy="512"/>
                <a:chOff x="2161" y="2840"/>
                <a:chExt cx="312" cy="512"/>
              </a:xfrm>
            </p:grpSpPr>
            <p:sp>
              <p:nvSpPr>
                <p:cNvPr id="263177" name="Oval 9"/>
                <p:cNvSpPr>
                  <a:spLocks noChangeArrowheads="1"/>
                </p:cNvSpPr>
                <p:nvPr/>
              </p:nvSpPr>
              <p:spPr bwMode="auto">
                <a:xfrm>
                  <a:off x="2255" y="2840"/>
                  <a:ext cx="140" cy="12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263178" name="Group 10"/>
                <p:cNvGrpSpPr>
                  <a:grpSpLocks/>
                </p:cNvGrpSpPr>
                <p:nvPr/>
              </p:nvGrpSpPr>
              <p:grpSpPr bwMode="auto">
                <a:xfrm>
                  <a:off x="2161" y="2984"/>
                  <a:ext cx="312" cy="368"/>
                  <a:chOff x="2161" y="2984"/>
                  <a:chExt cx="312" cy="368"/>
                </a:xfrm>
              </p:grpSpPr>
              <p:sp>
                <p:nvSpPr>
                  <p:cNvPr id="263179" name="Line 11"/>
                  <p:cNvSpPr>
                    <a:spLocks noChangeShapeType="1"/>
                  </p:cNvSpPr>
                  <p:nvPr/>
                </p:nvSpPr>
                <p:spPr bwMode="auto">
                  <a:xfrm>
                    <a:off x="2325" y="2984"/>
                    <a:ext cx="0" cy="2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3180" name="Line 12"/>
                  <p:cNvSpPr>
                    <a:spLocks noChangeShapeType="1"/>
                  </p:cNvSpPr>
                  <p:nvPr/>
                </p:nvSpPr>
                <p:spPr bwMode="auto">
                  <a:xfrm flipH="1">
                    <a:off x="2213" y="3224"/>
                    <a:ext cx="12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3181" name="Line 13"/>
                  <p:cNvSpPr>
                    <a:spLocks noChangeShapeType="1"/>
                  </p:cNvSpPr>
                  <p:nvPr/>
                </p:nvSpPr>
                <p:spPr bwMode="auto">
                  <a:xfrm>
                    <a:off x="2333" y="3224"/>
                    <a:ext cx="88"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3182" name="Line 14"/>
                  <p:cNvSpPr>
                    <a:spLocks noChangeShapeType="1"/>
                  </p:cNvSpPr>
                  <p:nvPr/>
                </p:nvSpPr>
                <p:spPr bwMode="auto">
                  <a:xfrm flipH="1">
                    <a:off x="2161" y="3032"/>
                    <a:ext cx="172" cy="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3183" name="Line 15"/>
                  <p:cNvSpPr>
                    <a:spLocks noChangeShapeType="1"/>
                  </p:cNvSpPr>
                  <p:nvPr/>
                </p:nvSpPr>
                <p:spPr bwMode="auto">
                  <a:xfrm>
                    <a:off x="2333" y="3032"/>
                    <a:ext cx="140" cy="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63184" name="Rectangle 16"/>
              <p:cNvSpPr>
                <a:spLocks noChangeArrowheads="1"/>
              </p:cNvSpPr>
              <p:nvPr/>
            </p:nvSpPr>
            <p:spPr bwMode="auto">
              <a:xfrm>
                <a:off x="2032" y="3346"/>
                <a:ext cx="59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39775">
                  <a:defRPr sz="2400">
                    <a:solidFill>
                      <a:schemeClr val="tx1"/>
                    </a:solidFill>
                    <a:latin typeface="Times New Roman" pitchFamily="18" charset="0"/>
                  </a:defRPr>
                </a:lvl1pPr>
                <a:lvl2pPr defTabSz="739775">
                  <a:defRPr sz="2400">
                    <a:solidFill>
                      <a:schemeClr val="tx1"/>
                    </a:solidFill>
                    <a:latin typeface="Times New Roman" pitchFamily="18" charset="0"/>
                  </a:defRPr>
                </a:lvl2pPr>
                <a:lvl3pPr defTabSz="739775">
                  <a:defRPr sz="2400">
                    <a:solidFill>
                      <a:schemeClr val="tx1"/>
                    </a:solidFill>
                    <a:latin typeface="Times New Roman" pitchFamily="18" charset="0"/>
                  </a:defRPr>
                </a:lvl3pPr>
                <a:lvl4pPr defTabSz="739775">
                  <a:defRPr sz="2400">
                    <a:solidFill>
                      <a:schemeClr val="tx1"/>
                    </a:solidFill>
                    <a:latin typeface="Times New Roman" pitchFamily="18" charset="0"/>
                  </a:defRPr>
                </a:lvl4pPr>
                <a:lvl5pPr defTabSz="739775">
                  <a:defRPr sz="2400">
                    <a:solidFill>
                      <a:schemeClr val="tx1"/>
                    </a:solidFill>
                    <a:latin typeface="Times New Roman" pitchFamily="18" charset="0"/>
                  </a:defRPr>
                </a:lvl5pPr>
                <a:lvl6pPr defTabSz="739775" eaLnBrk="0" fontAlgn="base" hangingPunct="0">
                  <a:spcBef>
                    <a:spcPct val="0"/>
                  </a:spcBef>
                  <a:spcAft>
                    <a:spcPct val="0"/>
                  </a:spcAft>
                  <a:defRPr sz="2400">
                    <a:solidFill>
                      <a:schemeClr val="tx1"/>
                    </a:solidFill>
                    <a:latin typeface="Times New Roman" pitchFamily="18" charset="0"/>
                  </a:defRPr>
                </a:lvl6pPr>
                <a:lvl7pPr defTabSz="739775" eaLnBrk="0" fontAlgn="base" hangingPunct="0">
                  <a:spcBef>
                    <a:spcPct val="0"/>
                  </a:spcBef>
                  <a:spcAft>
                    <a:spcPct val="0"/>
                  </a:spcAft>
                  <a:defRPr sz="2400">
                    <a:solidFill>
                      <a:schemeClr val="tx1"/>
                    </a:solidFill>
                    <a:latin typeface="Times New Roman" pitchFamily="18" charset="0"/>
                  </a:defRPr>
                </a:lvl7pPr>
                <a:lvl8pPr defTabSz="739775" eaLnBrk="0" fontAlgn="base" hangingPunct="0">
                  <a:spcBef>
                    <a:spcPct val="0"/>
                  </a:spcBef>
                  <a:spcAft>
                    <a:spcPct val="0"/>
                  </a:spcAft>
                  <a:defRPr sz="2400">
                    <a:solidFill>
                      <a:schemeClr val="tx1"/>
                    </a:solidFill>
                    <a:latin typeface="Times New Roman" pitchFamily="18" charset="0"/>
                  </a:defRPr>
                </a:lvl8pPr>
                <a:lvl9pPr defTabSz="739775" eaLnBrk="0" fontAlgn="base" hangingPunct="0">
                  <a:spcBef>
                    <a:spcPct val="0"/>
                  </a:spcBef>
                  <a:spcAft>
                    <a:spcPct val="0"/>
                  </a:spcAft>
                  <a:defRPr sz="2400">
                    <a:solidFill>
                      <a:schemeClr val="tx1"/>
                    </a:solidFill>
                    <a:latin typeface="Times New Roman" pitchFamily="18" charset="0"/>
                  </a:defRPr>
                </a:lvl9pPr>
              </a:lstStyle>
              <a:p>
                <a:pPr algn="ctr"/>
                <a:r>
                  <a:rPr lang="en-GB" altLang="en-US" sz="1800" b="1">
                    <a:latin typeface="Arial" pitchFamily="34" charset="0"/>
                  </a:rPr>
                  <a:t>Player</a:t>
                </a:r>
              </a:p>
            </p:txBody>
          </p:sp>
        </p:grpSp>
        <p:sp>
          <p:nvSpPr>
            <p:cNvPr id="263185" name="Oval 17"/>
            <p:cNvSpPr>
              <a:spLocks noChangeArrowheads="1"/>
            </p:cNvSpPr>
            <p:nvPr/>
          </p:nvSpPr>
          <p:spPr bwMode="auto">
            <a:xfrm>
              <a:off x="4514850" y="4911725"/>
              <a:ext cx="1476375" cy="6858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263186" name="Rectangle 18"/>
            <p:cNvSpPr>
              <a:spLocks noChangeArrowheads="1"/>
            </p:cNvSpPr>
            <p:nvPr/>
          </p:nvSpPr>
          <p:spPr bwMode="auto">
            <a:xfrm>
              <a:off x="4373563" y="5064125"/>
              <a:ext cx="1687512"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r>
                <a:rPr lang="en-GB" altLang="en-US" sz="1600">
                  <a:latin typeface="Arial" pitchFamily="34" charset="0"/>
                </a:rPr>
                <a:t>Win Hand</a:t>
              </a:r>
            </a:p>
          </p:txBody>
        </p:sp>
      </p:grpSp>
    </p:spTree>
    <p:extLst>
      <p:ext uri="{BB962C8B-B14F-4D97-AF65-F5344CB8AC3E}">
        <p14:creationId xmlns:p14="http://schemas.microsoft.com/office/powerpoint/2010/main" val="1739482596"/>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GB" dirty="0" smtClean="0"/>
              <a:t>Delving into Problem Space - Processes</a:t>
            </a:r>
          </a:p>
        </p:txBody>
      </p:sp>
      <p:sp>
        <p:nvSpPr>
          <p:cNvPr id="14339" name="Content Placeholder 2"/>
          <p:cNvSpPr>
            <a:spLocks noGrp="1"/>
          </p:cNvSpPr>
          <p:nvPr>
            <p:ph idx="1"/>
          </p:nvPr>
        </p:nvSpPr>
        <p:spPr>
          <a:xfrm>
            <a:off x="179388" y="935038"/>
            <a:ext cx="8709025" cy="2259012"/>
          </a:xfrm>
        </p:spPr>
        <p:txBody>
          <a:bodyPr/>
          <a:lstStyle/>
          <a:p>
            <a:pPr eaLnBrk="1" hangingPunct="1"/>
            <a:r>
              <a:rPr lang="en-GB" smtClean="0"/>
              <a:t>Business Process Modelling with Activity Diagrams helps us to understand:</a:t>
            </a:r>
          </a:p>
          <a:p>
            <a:pPr lvl="1" eaLnBrk="1" hangingPunct="1"/>
            <a:r>
              <a:rPr lang="en-GB" smtClean="0"/>
              <a:t>What we are doing now</a:t>
            </a:r>
          </a:p>
          <a:p>
            <a:pPr lvl="1" eaLnBrk="1" hangingPunct="1"/>
            <a:r>
              <a:rPr lang="en-GB" smtClean="0"/>
              <a:t>Where the problem lies</a:t>
            </a:r>
          </a:p>
          <a:p>
            <a:pPr lvl="1" eaLnBrk="1" hangingPunct="1"/>
            <a:r>
              <a:rPr lang="en-GB" smtClean="0"/>
              <a:t>Which business processes need attention</a:t>
            </a:r>
          </a:p>
        </p:txBody>
      </p:sp>
      <p:grpSp>
        <p:nvGrpSpPr>
          <p:cNvPr id="14340" name="Group 43"/>
          <p:cNvGrpSpPr>
            <a:grpSpLocks/>
          </p:cNvGrpSpPr>
          <p:nvPr/>
        </p:nvGrpSpPr>
        <p:grpSpPr bwMode="auto">
          <a:xfrm>
            <a:off x="1036986" y="3006325"/>
            <a:ext cx="6721475" cy="3525838"/>
            <a:chOff x="142875" y="1214438"/>
            <a:chExt cx="8786813" cy="4714875"/>
          </a:xfrm>
        </p:grpSpPr>
        <p:sp>
          <p:nvSpPr>
            <p:cNvPr id="45" name="Rounded Rectangle 44"/>
            <p:cNvSpPr/>
            <p:nvPr/>
          </p:nvSpPr>
          <p:spPr bwMode="auto">
            <a:xfrm>
              <a:off x="142875" y="1214438"/>
              <a:ext cx="8786813" cy="4714875"/>
            </a:xfrm>
            <a:prstGeom prst="roundRect">
              <a:avLst/>
            </a:prstGeom>
            <a:ln>
              <a:prstDash val="dash"/>
              <a:headEnd type="none" w="med" len="med"/>
              <a:tailEnd type="triangle" w="med" len="med"/>
            </a:ln>
          </p:spPr>
          <p:style>
            <a:lnRef idx="2">
              <a:schemeClr val="dk1"/>
            </a:lnRef>
            <a:fillRef idx="1">
              <a:schemeClr val="lt1"/>
            </a:fillRef>
            <a:effectRef idx="0">
              <a:schemeClr val="dk1"/>
            </a:effectRef>
            <a:fontRef idx="minor">
              <a:schemeClr val="dk1"/>
            </a:fontRef>
          </p:style>
          <p:txBody>
            <a:bodyPr lIns="90000" tIns="0" rIns="90000" bIns="0"/>
            <a:lstStyle/>
            <a:p>
              <a:pPr>
                <a:defRPr/>
              </a:pPr>
              <a:endParaRPr lang="en-GB" sz="1050" dirty="0">
                <a:solidFill>
                  <a:schemeClr val="tx1"/>
                </a:solidFill>
                <a:latin typeface="+mj-lt"/>
              </a:endParaRPr>
            </a:p>
          </p:txBody>
        </p:sp>
        <p:grpSp>
          <p:nvGrpSpPr>
            <p:cNvPr id="14342" name="Group 5"/>
            <p:cNvGrpSpPr>
              <a:grpSpLocks/>
            </p:cNvGrpSpPr>
            <p:nvPr/>
          </p:nvGrpSpPr>
          <p:grpSpPr bwMode="auto">
            <a:xfrm>
              <a:off x="357188" y="1928813"/>
              <a:ext cx="7858125" cy="1071562"/>
              <a:chOff x="642910" y="1857364"/>
              <a:chExt cx="7858180" cy="3429026"/>
            </a:xfrm>
          </p:grpSpPr>
          <p:sp>
            <p:nvSpPr>
              <p:cNvPr id="81" name="Rectangle 80"/>
              <p:cNvSpPr/>
              <p:nvPr/>
            </p:nvSpPr>
            <p:spPr bwMode="auto">
              <a:xfrm>
                <a:off x="642910" y="1857364"/>
                <a:ext cx="285752" cy="3429024"/>
              </a:xfrm>
              <a:prstGeom prst="rect">
                <a:avLst/>
              </a:prstGeom>
              <a:noFill/>
              <a:ln w="9525" cap="flat" cmpd="sng" algn="ctr">
                <a:solidFill>
                  <a:schemeClr val="tx1"/>
                </a:solidFill>
                <a:prstDash val="solid"/>
                <a:round/>
                <a:headEnd type="none" w="med" len="med"/>
                <a:tailEnd type="triangle" w="med" len="med"/>
              </a:ln>
              <a:effectLst/>
            </p:spPr>
            <p:txBody>
              <a:bodyPr vert="vert270" lIns="0" tIns="0" rIns="0" bIns="0"/>
              <a:lstStyle/>
              <a:p>
                <a:pPr>
                  <a:defRPr/>
                </a:pPr>
                <a:r>
                  <a:rPr lang="en-GB" sz="1100" dirty="0">
                    <a:latin typeface="+mj-lt"/>
                  </a:rPr>
                  <a:t>Sales</a:t>
                </a:r>
              </a:p>
            </p:txBody>
          </p:sp>
          <p:cxnSp>
            <p:nvCxnSpPr>
              <p:cNvPr id="14378" name="Straight Connector 6"/>
              <p:cNvCxnSpPr>
                <a:cxnSpLocks noChangeShapeType="1"/>
                <a:stCxn id="81" idx="0"/>
              </p:cNvCxnSpPr>
              <p:nvPr/>
            </p:nvCxnSpPr>
            <p:spPr bwMode="auto">
              <a:xfrm rot="16200000" flipH="1">
                <a:off x="4643437" y="-2000288"/>
                <a:ext cx="1" cy="771530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79" name="Straight Connector 7"/>
              <p:cNvCxnSpPr>
                <a:cxnSpLocks noChangeShapeType="1"/>
              </p:cNvCxnSpPr>
              <p:nvPr/>
            </p:nvCxnSpPr>
            <p:spPr bwMode="auto">
              <a:xfrm rot="5400000" flipH="1" flipV="1">
                <a:off x="4661297" y="1482314"/>
                <a:ext cx="2" cy="760814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47" name="Oval 46"/>
            <p:cNvSpPr/>
            <p:nvPr/>
          </p:nvSpPr>
          <p:spPr bwMode="auto">
            <a:xfrm>
              <a:off x="1356924" y="1428848"/>
              <a:ext cx="213756" cy="214408"/>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vert="vert270" lIns="0" tIns="0" rIns="0" bIns="0"/>
            <a:lstStyle/>
            <a:p>
              <a:pPr>
                <a:defRPr/>
              </a:pPr>
              <a:endParaRPr lang="en-GB" sz="1100" dirty="0">
                <a:latin typeface="+mj-lt"/>
              </a:endParaRPr>
            </a:p>
          </p:txBody>
        </p:sp>
        <p:sp>
          <p:nvSpPr>
            <p:cNvPr id="48" name="Rounded Rectangle 47"/>
            <p:cNvSpPr/>
            <p:nvPr/>
          </p:nvSpPr>
          <p:spPr bwMode="auto">
            <a:xfrm>
              <a:off x="786217" y="2142129"/>
              <a:ext cx="1357245" cy="500995"/>
            </a:xfrm>
            <a:prstGeom prst="roundRect">
              <a:avLst/>
            </a:prstGeom>
            <a:noFill/>
            <a:ln w="9525" cap="flat" cmpd="sng" algn="ctr">
              <a:solidFill>
                <a:schemeClr val="tx1"/>
              </a:solidFill>
              <a:prstDash val="solid"/>
              <a:round/>
              <a:headEnd type="none" w="med" len="med"/>
              <a:tailEnd type="triangle" w="med" len="med"/>
            </a:ln>
            <a:effectLst/>
          </p:spPr>
          <p:txBody>
            <a:bodyPr lIns="0" tIns="0" rIns="0" bIns="0"/>
            <a:lstStyle/>
            <a:p>
              <a:pPr>
                <a:defRPr/>
              </a:pPr>
              <a:r>
                <a:rPr lang="en-GB" sz="800" dirty="0">
                  <a:latin typeface="+mj-lt"/>
                </a:rPr>
                <a:t>&lt;&lt;ebp&gt;&gt;</a:t>
              </a:r>
            </a:p>
            <a:p>
              <a:pPr>
                <a:defRPr/>
              </a:pPr>
              <a:r>
                <a:rPr lang="en-GB" dirty="0">
                  <a:latin typeface="+mj-lt"/>
                </a:rPr>
                <a:t>Receive Order</a:t>
              </a:r>
            </a:p>
          </p:txBody>
        </p:sp>
        <p:sp>
          <p:nvSpPr>
            <p:cNvPr id="49" name="Flowchart: Decision 48"/>
            <p:cNvSpPr/>
            <p:nvPr/>
          </p:nvSpPr>
          <p:spPr bwMode="auto">
            <a:xfrm>
              <a:off x="2714169" y="2142129"/>
              <a:ext cx="429587" cy="500995"/>
            </a:xfrm>
            <a:prstGeom prst="flowChartDecision">
              <a:avLst/>
            </a:prstGeom>
            <a:noFill/>
            <a:ln w="9525" cap="flat" cmpd="sng" algn="ctr">
              <a:solidFill>
                <a:schemeClr val="tx1"/>
              </a:solidFill>
              <a:prstDash val="solid"/>
              <a:round/>
              <a:headEnd type="none" w="med" len="med"/>
              <a:tailEnd type="triangle" w="med" len="med"/>
            </a:ln>
            <a:effectLst/>
          </p:spPr>
          <p:txBody>
            <a:bodyPr vert="vert270" lIns="0" tIns="0" rIns="0" bIns="0"/>
            <a:lstStyle/>
            <a:p>
              <a:pPr>
                <a:defRPr/>
              </a:pPr>
              <a:endParaRPr lang="en-GB" sz="1100" dirty="0">
                <a:latin typeface="+mj-lt"/>
              </a:endParaRPr>
            </a:p>
          </p:txBody>
        </p:sp>
        <p:sp>
          <p:nvSpPr>
            <p:cNvPr id="50" name="Rounded Rectangle 49"/>
            <p:cNvSpPr/>
            <p:nvPr/>
          </p:nvSpPr>
          <p:spPr bwMode="auto">
            <a:xfrm>
              <a:off x="6642709" y="2142129"/>
              <a:ext cx="1286685" cy="500995"/>
            </a:xfrm>
            <a:prstGeom prst="roundRect">
              <a:avLst/>
            </a:prstGeom>
            <a:noFill/>
            <a:ln w="9525" cap="flat" cmpd="sng" algn="ctr">
              <a:solidFill>
                <a:schemeClr val="tx1"/>
              </a:solidFill>
              <a:prstDash val="solid"/>
              <a:round/>
              <a:headEnd type="none" w="med" len="med"/>
              <a:tailEnd type="triangle" w="med" len="med"/>
            </a:ln>
            <a:effectLst/>
          </p:spPr>
          <p:txBody>
            <a:bodyPr lIns="0" tIns="0" rIns="0" bIns="0"/>
            <a:lstStyle/>
            <a:p>
              <a:pPr>
                <a:defRPr/>
              </a:pPr>
              <a:r>
                <a:rPr lang="en-GB" sz="800" dirty="0">
                  <a:latin typeface="+mj-lt"/>
                </a:rPr>
                <a:t>&lt;&lt;ebp&gt;&gt;</a:t>
              </a:r>
            </a:p>
            <a:p>
              <a:pPr>
                <a:defRPr/>
              </a:pPr>
              <a:r>
                <a:rPr lang="en-GB" dirty="0">
                  <a:latin typeface="+mj-lt"/>
                </a:rPr>
                <a:t>Close Order</a:t>
              </a:r>
            </a:p>
          </p:txBody>
        </p:sp>
        <p:cxnSp>
          <p:nvCxnSpPr>
            <p:cNvPr id="14347" name="Straight Arrow Connector 23"/>
            <p:cNvCxnSpPr>
              <a:cxnSpLocks noChangeShapeType="1"/>
              <a:stCxn id="49" idx="3"/>
              <a:endCxn id="50" idx="1"/>
            </p:cNvCxnSpPr>
            <p:nvPr/>
          </p:nvCxnSpPr>
          <p:spPr bwMode="auto">
            <a:xfrm>
              <a:off x="3143250" y="2393950"/>
              <a:ext cx="3500438" cy="1588"/>
            </a:xfrm>
            <a:prstGeom prst="bentConnector3">
              <a:avLst>
                <a:gd name="adj1" fmla="val 50000"/>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52" name="TextBox 51"/>
            <p:cNvSpPr txBox="1"/>
            <p:nvPr/>
          </p:nvSpPr>
          <p:spPr>
            <a:xfrm>
              <a:off x="3714463" y="1214438"/>
              <a:ext cx="840496" cy="261113"/>
            </a:xfrm>
            <a:prstGeom prst="rect">
              <a:avLst/>
            </a:prstGeom>
            <a:noFill/>
          </p:spPr>
          <p:txBody>
            <a:bodyPr wrap="none">
              <a:spAutoFit/>
            </a:bodyPr>
            <a:lstStyle/>
            <a:p>
              <a:pPr>
                <a:defRPr/>
              </a:pPr>
              <a:r>
                <a:rPr lang="en-GB" sz="1050" b="1" dirty="0">
                  <a:latin typeface="+mj-lt"/>
                </a:rPr>
                <a:t>Sell Items</a:t>
              </a:r>
            </a:p>
          </p:txBody>
        </p:sp>
        <p:sp>
          <p:nvSpPr>
            <p:cNvPr id="53" name="TextBox 52"/>
            <p:cNvSpPr txBox="1"/>
            <p:nvPr/>
          </p:nvSpPr>
          <p:spPr>
            <a:xfrm>
              <a:off x="3928219" y="2072074"/>
              <a:ext cx="2000588" cy="246252"/>
            </a:xfrm>
            <a:prstGeom prst="rect">
              <a:avLst/>
            </a:prstGeom>
            <a:noFill/>
          </p:spPr>
          <p:txBody>
            <a:bodyPr>
              <a:spAutoFit/>
            </a:bodyPr>
            <a:lstStyle/>
            <a:p>
              <a:pPr>
                <a:defRPr/>
              </a:pPr>
              <a:r>
                <a:rPr lang="en-GB" b="1" dirty="0">
                  <a:latin typeface="+mj-lt"/>
                </a:rPr>
                <a:t>[Order Rejected]</a:t>
              </a:r>
            </a:p>
          </p:txBody>
        </p:sp>
        <p:cxnSp>
          <p:nvCxnSpPr>
            <p:cNvPr id="14350" name="Straight Arrow Connector 28"/>
            <p:cNvCxnSpPr>
              <a:cxnSpLocks noChangeShapeType="1"/>
              <a:stCxn id="47" idx="4"/>
              <a:endCxn id="48" idx="0"/>
            </p:cNvCxnSpPr>
            <p:nvPr/>
          </p:nvCxnSpPr>
          <p:spPr bwMode="auto">
            <a:xfrm rot="5400000">
              <a:off x="1214438" y="1892300"/>
              <a:ext cx="500062"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351" name="Straight Arrow Connector 31"/>
            <p:cNvCxnSpPr>
              <a:cxnSpLocks noChangeShapeType="1"/>
              <a:stCxn id="48" idx="3"/>
              <a:endCxn id="49" idx="1"/>
            </p:cNvCxnSpPr>
            <p:nvPr/>
          </p:nvCxnSpPr>
          <p:spPr bwMode="auto">
            <a:xfrm>
              <a:off x="2143125" y="2392363"/>
              <a:ext cx="5715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14352" name="Group 32"/>
            <p:cNvGrpSpPr>
              <a:grpSpLocks/>
            </p:cNvGrpSpPr>
            <p:nvPr/>
          </p:nvGrpSpPr>
          <p:grpSpPr bwMode="auto">
            <a:xfrm>
              <a:off x="357188" y="3000375"/>
              <a:ext cx="7858125" cy="1285875"/>
              <a:chOff x="642910" y="1857364"/>
              <a:chExt cx="7858180" cy="3429026"/>
            </a:xfrm>
          </p:grpSpPr>
          <p:sp>
            <p:nvSpPr>
              <p:cNvPr id="78" name="Rectangle 77"/>
              <p:cNvSpPr/>
              <p:nvPr/>
            </p:nvSpPr>
            <p:spPr bwMode="auto">
              <a:xfrm>
                <a:off x="642910" y="1857364"/>
                <a:ext cx="285752" cy="3429024"/>
              </a:xfrm>
              <a:prstGeom prst="rect">
                <a:avLst/>
              </a:prstGeom>
              <a:noFill/>
              <a:ln w="9525" cap="flat" cmpd="sng" algn="ctr">
                <a:solidFill>
                  <a:schemeClr val="tx1"/>
                </a:solidFill>
                <a:prstDash val="solid"/>
                <a:round/>
                <a:headEnd type="none" w="med" len="med"/>
                <a:tailEnd type="triangle" w="med" len="med"/>
              </a:ln>
              <a:effectLst/>
            </p:spPr>
            <p:txBody>
              <a:bodyPr vert="vert270" lIns="0" tIns="0" rIns="0" bIns="0"/>
              <a:lstStyle/>
              <a:p>
                <a:pPr>
                  <a:defRPr/>
                </a:pPr>
                <a:r>
                  <a:rPr lang="en-GB" sz="1100" dirty="0">
                    <a:latin typeface="+mj-lt"/>
                  </a:rPr>
                  <a:t>Warehouse</a:t>
                </a:r>
              </a:p>
            </p:txBody>
          </p:sp>
          <p:cxnSp>
            <p:nvCxnSpPr>
              <p:cNvPr id="14375" name="Straight Connector 34"/>
              <p:cNvCxnSpPr>
                <a:cxnSpLocks noChangeShapeType="1"/>
                <a:stCxn id="78" idx="0"/>
              </p:cNvCxnSpPr>
              <p:nvPr/>
            </p:nvCxnSpPr>
            <p:spPr bwMode="auto">
              <a:xfrm rot="16200000" flipH="1">
                <a:off x="4643437" y="-2000288"/>
                <a:ext cx="1" cy="771530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76" name="Straight Connector 35"/>
              <p:cNvCxnSpPr>
                <a:cxnSpLocks noChangeShapeType="1"/>
              </p:cNvCxnSpPr>
              <p:nvPr/>
            </p:nvCxnSpPr>
            <p:spPr bwMode="auto">
              <a:xfrm rot="5400000" flipH="1" flipV="1">
                <a:off x="4661297" y="1482314"/>
                <a:ext cx="2" cy="760814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57" name="Rounded Rectangle 56"/>
            <p:cNvSpPr/>
            <p:nvPr/>
          </p:nvSpPr>
          <p:spPr bwMode="auto">
            <a:xfrm>
              <a:off x="2357218" y="3322440"/>
              <a:ext cx="1143490" cy="643226"/>
            </a:xfrm>
            <a:prstGeom prst="roundRect">
              <a:avLst/>
            </a:prstGeom>
            <a:noFill/>
            <a:ln w="9525" cap="flat" cmpd="sng" algn="ctr">
              <a:solidFill>
                <a:schemeClr val="tx1"/>
              </a:solidFill>
              <a:prstDash val="dash"/>
              <a:round/>
              <a:headEnd type="none" w="med" len="med"/>
              <a:tailEnd type="triangle" w="med" len="med"/>
            </a:ln>
            <a:effectLst/>
          </p:spPr>
          <p:txBody>
            <a:bodyPr lIns="0" tIns="0" rIns="0" bIns="0"/>
            <a:lstStyle/>
            <a:p>
              <a:pPr>
                <a:defRPr/>
              </a:pPr>
              <a:r>
                <a:rPr lang="en-GB" sz="900" dirty="0">
                  <a:latin typeface="+mj-lt"/>
                </a:rPr>
                <a:t>&lt;&lt;bpg&gt;&gt;</a:t>
              </a:r>
            </a:p>
            <a:p>
              <a:pPr>
                <a:defRPr/>
              </a:pPr>
              <a:r>
                <a:rPr lang="en-GB" dirty="0">
                  <a:latin typeface="+mj-lt"/>
                </a:rPr>
                <a:t>Fill Order</a:t>
              </a:r>
            </a:p>
          </p:txBody>
        </p:sp>
        <p:cxnSp>
          <p:nvCxnSpPr>
            <p:cNvPr id="14354" name="Straight Arrow Connector 38"/>
            <p:cNvCxnSpPr>
              <a:cxnSpLocks noChangeShapeType="1"/>
              <a:stCxn id="49" idx="2"/>
              <a:endCxn id="57" idx="0"/>
            </p:cNvCxnSpPr>
            <p:nvPr/>
          </p:nvCxnSpPr>
          <p:spPr bwMode="auto">
            <a:xfrm rot="5400000">
              <a:off x="2588419" y="2982119"/>
              <a:ext cx="67945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355" name="Straight Connector 40"/>
            <p:cNvCxnSpPr>
              <a:cxnSpLocks noChangeShapeType="1"/>
            </p:cNvCxnSpPr>
            <p:nvPr/>
          </p:nvCxnSpPr>
          <p:spPr bwMode="auto">
            <a:xfrm rot="5400000">
              <a:off x="3643312" y="3643313"/>
              <a:ext cx="1001713"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4356" name="Straight Arrow Connector 42"/>
            <p:cNvCxnSpPr>
              <a:cxnSpLocks noChangeShapeType="1"/>
              <a:stCxn id="57" idx="3"/>
            </p:cNvCxnSpPr>
            <p:nvPr/>
          </p:nvCxnSpPr>
          <p:spPr bwMode="auto">
            <a:xfrm flipV="1">
              <a:off x="3500438" y="3643313"/>
              <a:ext cx="642937"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14357" name="Group 45"/>
            <p:cNvGrpSpPr>
              <a:grpSpLocks/>
            </p:cNvGrpSpPr>
            <p:nvPr/>
          </p:nvGrpSpPr>
          <p:grpSpPr bwMode="auto">
            <a:xfrm>
              <a:off x="357188" y="4286250"/>
              <a:ext cx="7858125" cy="1285875"/>
              <a:chOff x="642910" y="1857364"/>
              <a:chExt cx="7858180" cy="3429026"/>
            </a:xfrm>
          </p:grpSpPr>
          <p:sp>
            <p:nvSpPr>
              <p:cNvPr id="75" name="Rectangle 74"/>
              <p:cNvSpPr/>
              <p:nvPr/>
            </p:nvSpPr>
            <p:spPr bwMode="auto">
              <a:xfrm>
                <a:off x="642910" y="1857364"/>
                <a:ext cx="285752" cy="3429024"/>
              </a:xfrm>
              <a:prstGeom prst="rect">
                <a:avLst/>
              </a:prstGeom>
              <a:noFill/>
              <a:ln w="9525" cap="flat" cmpd="sng" algn="ctr">
                <a:solidFill>
                  <a:schemeClr val="tx1"/>
                </a:solidFill>
                <a:prstDash val="solid"/>
                <a:round/>
                <a:headEnd type="none" w="med" len="med"/>
                <a:tailEnd type="triangle" w="med" len="med"/>
              </a:ln>
              <a:effectLst/>
            </p:spPr>
            <p:txBody>
              <a:bodyPr vert="vert270" lIns="0" tIns="0" rIns="0" bIns="0"/>
              <a:lstStyle/>
              <a:p>
                <a:pPr>
                  <a:defRPr/>
                </a:pPr>
                <a:r>
                  <a:rPr lang="en-GB" sz="1100" dirty="0">
                    <a:latin typeface="+mj-lt"/>
                  </a:rPr>
                  <a:t>Finance</a:t>
                </a:r>
              </a:p>
            </p:txBody>
          </p:sp>
          <p:cxnSp>
            <p:nvCxnSpPr>
              <p:cNvPr id="14372" name="Straight Connector 47"/>
              <p:cNvCxnSpPr>
                <a:cxnSpLocks noChangeShapeType="1"/>
                <a:stCxn id="75" idx="0"/>
              </p:cNvCxnSpPr>
              <p:nvPr/>
            </p:nvCxnSpPr>
            <p:spPr bwMode="auto">
              <a:xfrm rot="16200000" flipH="1">
                <a:off x="4643437" y="-2000288"/>
                <a:ext cx="1" cy="771530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73" name="Straight Connector 48"/>
              <p:cNvCxnSpPr>
                <a:cxnSpLocks noChangeShapeType="1"/>
              </p:cNvCxnSpPr>
              <p:nvPr/>
            </p:nvCxnSpPr>
            <p:spPr bwMode="auto">
              <a:xfrm rot="5400000" flipH="1" flipV="1">
                <a:off x="4661297" y="1482314"/>
                <a:ext cx="2" cy="760814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14358" name="Straight Arrow Connector 63"/>
            <p:cNvCxnSpPr>
              <a:cxnSpLocks noChangeShapeType="1"/>
            </p:cNvCxnSpPr>
            <p:nvPr/>
          </p:nvCxnSpPr>
          <p:spPr bwMode="auto">
            <a:xfrm flipV="1">
              <a:off x="6000750" y="3929063"/>
              <a:ext cx="1071563" cy="1000125"/>
            </a:xfrm>
            <a:prstGeom prst="bentConnector3">
              <a:avLst>
                <a:gd name="adj1" fmla="val 7167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359" name="Straight Arrow Connector 51"/>
            <p:cNvCxnSpPr>
              <a:cxnSpLocks noChangeShapeType="1"/>
              <a:endCxn id="69" idx="0"/>
            </p:cNvCxnSpPr>
            <p:nvPr/>
          </p:nvCxnSpPr>
          <p:spPr bwMode="auto">
            <a:xfrm>
              <a:off x="4143375" y="3929063"/>
              <a:ext cx="1608138" cy="714375"/>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64" name="Rounded Rectangle 63"/>
            <p:cNvSpPr/>
            <p:nvPr/>
          </p:nvSpPr>
          <p:spPr bwMode="auto">
            <a:xfrm>
              <a:off x="5001148" y="3071942"/>
              <a:ext cx="1214050" cy="643226"/>
            </a:xfrm>
            <a:prstGeom prst="roundRect">
              <a:avLst/>
            </a:prstGeom>
            <a:noFill/>
            <a:ln w="9525" cap="flat" cmpd="sng" algn="ctr">
              <a:solidFill>
                <a:schemeClr val="tx1"/>
              </a:solidFill>
              <a:prstDash val="dash"/>
              <a:round/>
              <a:headEnd type="none" w="med" len="med"/>
              <a:tailEnd type="triangle" w="med" len="med"/>
            </a:ln>
            <a:effectLst/>
          </p:spPr>
          <p:txBody>
            <a:bodyPr lIns="0" tIns="0" rIns="0" bIns="0"/>
            <a:lstStyle/>
            <a:p>
              <a:pPr>
                <a:defRPr/>
              </a:pPr>
              <a:r>
                <a:rPr lang="en-GB" sz="900" dirty="0">
                  <a:latin typeface="+mj-lt"/>
                </a:rPr>
                <a:t>&lt;&lt;bpg&gt;&gt;</a:t>
              </a:r>
            </a:p>
            <a:p>
              <a:pPr>
                <a:defRPr/>
              </a:pPr>
              <a:r>
                <a:rPr lang="en-GB" dirty="0">
                  <a:latin typeface="+mj-lt"/>
                </a:rPr>
                <a:t>Ship Order</a:t>
              </a:r>
            </a:p>
          </p:txBody>
        </p:sp>
        <p:cxnSp>
          <p:nvCxnSpPr>
            <p:cNvPr id="14361" name="Straight Arrow Connector 54"/>
            <p:cNvCxnSpPr>
              <a:cxnSpLocks noChangeShapeType="1"/>
              <a:endCxn id="64" idx="1"/>
            </p:cNvCxnSpPr>
            <p:nvPr/>
          </p:nvCxnSpPr>
          <p:spPr bwMode="auto">
            <a:xfrm flipV="1">
              <a:off x="4151313" y="3392488"/>
              <a:ext cx="849312" cy="31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362" name="Straight Connector 59"/>
            <p:cNvCxnSpPr>
              <a:cxnSpLocks noChangeShapeType="1"/>
            </p:cNvCxnSpPr>
            <p:nvPr/>
          </p:nvCxnSpPr>
          <p:spPr bwMode="auto">
            <a:xfrm rot="5400000">
              <a:off x="6573044" y="3642519"/>
              <a:ext cx="1000125" cy="1587"/>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4363" name="Straight Arrow Connector 61"/>
            <p:cNvCxnSpPr>
              <a:cxnSpLocks noChangeShapeType="1"/>
              <a:stCxn id="64" idx="3"/>
            </p:cNvCxnSpPr>
            <p:nvPr/>
          </p:nvCxnSpPr>
          <p:spPr bwMode="auto">
            <a:xfrm flipV="1">
              <a:off x="6215063" y="3392488"/>
              <a:ext cx="868362"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364" name="Straight Arrow Connector 66"/>
            <p:cNvCxnSpPr>
              <a:cxnSpLocks noChangeShapeType="1"/>
              <a:endCxn id="50" idx="2"/>
            </p:cNvCxnSpPr>
            <p:nvPr/>
          </p:nvCxnSpPr>
          <p:spPr bwMode="auto">
            <a:xfrm rot="5400000" flipH="1" flipV="1">
              <a:off x="6643688" y="3071813"/>
              <a:ext cx="1071562" cy="214312"/>
            </a:xfrm>
            <a:prstGeom prst="bentConnector3">
              <a:avLst>
                <a:gd name="adj1" fmla="val 530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69" name="Rounded Rectangle 68"/>
            <p:cNvSpPr/>
            <p:nvPr/>
          </p:nvSpPr>
          <p:spPr bwMode="auto">
            <a:xfrm>
              <a:off x="4857953" y="4642859"/>
              <a:ext cx="1784757" cy="643226"/>
            </a:xfrm>
            <a:prstGeom prst="roundRect">
              <a:avLst/>
            </a:prstGeom>
            <a:solidFill>
              <a:schemeClr val="lt1"/>
            </a:solidFill>
            <a:ln w="9525" cap="flat" cmpd="sng" algn="ctr">
              <a:solidFill>
                <a:schemeClr val="tx1"/>
              </a:solidFill>
              <a:prstDash val="dash"/>
              <a:round/>
              <a:headEnd type="none" w="med" len="med"/>
              <a:tailEnd type="triangle" w="med" len="med"/>
            </a:ln>
            <a:effectLst/>
          </p:spPr>
          <p:txBody>
            <a:bodyPr lIns="0" tIns="0" rIns="0" bIns="0"/>
            <a:lstStyle/>
            <a:p>
              <a:pPr>
                <a:defRPr/>
              </a:pPr>
              <a:r>
                <a:rPr lang="en-GB" sz="900" dirty="0">
                  <a:latin typeface="+mj-lt"/>
                </a:rPr>
                <a:t>&lt;&lt;bpg&gt;&gt;</a:t>
              </a:r>
            </a:p>
            <a:p>
              <a:pPr>
                <a:defRPr/>
              </a:pPr>
              <a:r>
                <a:rPr lang="en-GB" dirty="0">
                  <a:latin typeface="+mj-lt"/>
                </a:rPr>
                <a:t>Get Order Payment</a:t>
              </a:r>
            </a:p>
          </p:txBody>
        </p:sp>
        <p:grpSp>
          <p:nvGrpSpPr>
            <p:cNvPr id="14366" name="Group 63"/>
            <p:cNvGrpSpPr>
              <a:grpSpLocks/>
            </p:cNvGrpSpPr>
            <p:nvPr/>
          </p:nvGrpSpPr>
          <p:grpSpPr bwMode="auto">
            <a:xfrm>
              <a:off x="8501063" y="2249488"/>
              <a:ext cx="285750" cy="285750"/>
              <a:chOff x="7858148" y="3429000"/>
              <a:chExt cx="285752" cy="285752"/>
            </a:xfrm>
          </p:grpSpPr>
          <p:sp>
            <p:nvSpPr>
              <p:cNvPr id="73" name="Oval 72"/>
              <p:cNvSpPr/>
              <p:nvPr/>
            </p:nvSpPr>
            <p:spPr bwMode="auto">
              <a:xfrm>
                <a:off x="7927746" y="3499962"/>
                <a:ext cx="143197" cy="142232"/>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lIns="0" tIns="0" rIns="0" bIns="0"/>
              <a:lstStyle/>
              <a:p>
                <a:pPr>
                  <a:defRPr/>
                </a:pPr>
                <a:endParaRPr lang="en-GB" dirty="0">
                  <a:latin typeface="+mj-lt"/>
                </a:endParaRPr>
              </a:p>
            </p:txBody>
          </p:sp>
          <p:sp>
            <p:nvSpPr>
              <p:cNvPr id="74" name="Oval 73"/>
              <p:cNvSpPr/>
              <p:nvPr/>
            </p:nvSpPr>
            <p:spPr bwMode="auto">
              <a:xfrm>
                <a:off x="7857186" y="3429907"/>
                <a:ext cx="286393" cy="284466"/>
              </a:xfrm>
              <a:prstGeom prst="ellipse">
                <a:avLst/>
              </a:prstGeom>
              <a:noFill/>
              <a:ln w="9525" cap="flat" cmpd="sng" algn="ctr">
                <a:solidFill>
                  <a:schemeClr val="tx1"/>
                </a:solidFill>
                <a:prstDash val="solid"/>
                <a:round/>
                <a:headEnd type="none" w="med" len="med"/>
                <a:tailEnd type="triangle" w="med" len="med"/>
              </a:ln>
              <a:effectLst/>
            </p:spPr>
            <p:txBody>
              <a:bodyPr lIns="0" tIns="0" rIns="0" bIns="0"/>
              <a:lstStyle/>
              <a:p>
                <a:pPr>
                  <a:defRPr/>
                </a:pPr>
                <a:endParaRPr lang="en-GB" dirty="0">
                  <a:latin typeface="+mj-lt"/>
                </a:endParaRPr>
              </a:p>
            </p:txBody>
          </p:sp>
        </p:grpSp>
        <p:cxnSp>
          <p:nvCxnSpPr>
            <p:cNvPr id="14367" name="Straight Arrow Connector 84"/>
            <p:cNvCxnSpPr>
              <a:cxnSpLocks noChangeShapeType="1"/>
              <a:stCxn id="50" idx="3"/>
              <a:endCxn id="74" idx="2"/>
            </p:cNvCxnSpPr>
            <p:nvPr/>
          </p:nvCxnSpPr>
          <p:spPr bwMode="auto">
            <a:xfrm>
              <a:off x="7929563" y="2392363"/>
              <a:ext cx="5715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2" name="TextBox 71"/>
            <p:cNvSpPr txBox="1"/>
            <p:nvPr/>
          </p:nvSpPr>
          <p:spPr>
            <a:xfrm>
              <a:off x="1929706" y="2762004"/>
              <a:ext cx="1070854" cy="477643"/>
            </a:xfrm>
            <a:prstGeom prst="rect">
              <a:avLst/>
            </a:prstGeom>
            <a:noFill/>
          </p:spPr>
          <p:txBody>
            <a:bodyPr>
              <a:spAutoFit/>
            </a:bodyPr>
            <a:lstStyle/>
            <a:p>
              <a:pPr>
                <a:defRPr/>
              </a:pPr>
              <a:r>
                <a:rPr lang="en-GB" b="1" dirty="0">
                  <a:latin typeface="+mj-lt"/>
                </a:rPr>
                <a:t>[Order</a:t>
              </a:r>
            </a:p>
            <a:p>
              <a:pPr>
                <a:defRPr/>
              </a:pPr>
              <a:r>
                <a:rPr lang="en-GB" b="1" dirty="0">
                  <a:latin typeface="+mj-lt"/>
                </a:rPr>
                <a:t>Accepted]</a:t>
              </a:r>
            </a:p>
          </p:txBody>
        </p:sp>
      </p:grpSp>
    </p:spTree>
    <p:extLst>
      <p:ext uri="{BB962C8B-B14F-4D97-AF65-F5344CB8AC3E}">
        <p14:creationId xmlns:p14="http://schemas.microsoft.com/office/powerpoint/2010/main" val="4061455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1026"/>
          <p:cNvSpPr>
            <a:spLocks noChangeArrowheads="1"/>
          </p:cNvSpPr>
          <p:nvPr/>
        </p:nvSpPr>
        <p:spPr bwMode="auto">
          <a:xfrm>
            <a:off x="769844" y="2860675"/>
            <a:ext cx="7596188" cy="3505200"/>
          </a:xfrm>
          <a:prstGeom prst="rect">
            <a:avLst/>
          </a:prstGeom>
          <a:solidFill>
            <a:schemeClr val="accent6"/>
          </a:solidFill>
          <a:ln w="25400">
            <a:solidFill>
              <a:srgbClr val="339966"/>
            </a:solidFill>
            <a:miter lim="800000"/>
            <a:headEnd/>
            <a:tailEnd/>
          </a:ln>
          <a:effectLst/>
        </p:spPr>
        <p:txBody>
          <a:bodyPr wrap="none" anchor="ctr"/>
          <a:lstStyle/>
          <a:p>
            <a:pPr algn="ctr"/>
            <a:endParaRPr lang="en-GB" altLang="en-US"/>
          </a:p>
        </p:txBody>
      </p:sp>
      <p:sp>
        <p:nvSpPr>
          <p:cNvPr id="265223" name="Rectangle 1031"/>
          <p:cNvSpPr>
            <a:spLocks noGrp="1" noChangeArrowheads="1"/>
          </p:cNvSpPr>
          <p:nvPr>
            <p:ph type="title"/>
          </p:nvPr>
        </p:nvSpPr>
        <p:spPr/>
        <p:txBody>
          <a:bodyPr/>
          <a:lstStyle/>
          <a:p>
            <a:r>
              <a:rPr lang="en-GB" altLang="en-US"/>
              <a:t>Static Modelling</a:t>
            </a:r>
          </a:p>
        </p:txBody>
      </p:sp>
      <p:sp>
        <p:nvSpPr>
          <p:cNvPr id="265224" name="Rectangle 1032"/>
          <p:cNvSpPr>
            <a:spLocks noGrp="1" noChangeArrowheads="1"/>
          </p:cNvSpPr>
          <p:nvPr>
            <p:ph type="body" idx="1"/>
          </p:nvPr>
        </p:nvSpPr>
        <p:spPr/>
        <p:txBody>
          <a:bodyPr/>
          <a:lstStyle/>
          <a:p>
            <a:r>
              <a:rPr lang="en-GB" altLang="en-US"/>
              <a:t>The class diagram provides more detail</a:t>
            </a:r>
          </a:p>
          <a:p>
            <a:pPr lvl="1"/>
            <a:r>
              <a:rPr lang="en-GB" altLang="en-US"/>
              <a:t>A static view of the internals of the problem</a:t>
            </a:r>
          </a:p>
          <a:p>
            <a:r>
              <a:rPr lang="en-GB" altLang="en-US"/>
              <a:t>The class diagram provides the framework</a:t>
            </a:r>
          </a:p>
          <a:p>
            <a:pPr lvl="1"/>
            <a:r>
              <a:rPr lang="en-GB" altLang="en-US"/>
              <a:t>Elaborated in business entities, definitions and relationships</a:t>
            </a:r>
          </a:p>
        </p:txBody>
      </p:sp>
      <p:sp>
        <p:nvSpPr>
          <p:cNvPr id="265221" name="Rectangle 1029"/>
          <p:cNvSpPr>
            <a:spLocks noChangeArrowheads="1"/>
          </p:cNvSpPr>
          <p:nvPr/>
        </p:nvSpPr>
        <p:spPr bwMode="auto">
          <a:xfrm>
            <a:off x="833344" y="5603875"/>
            <a:ext cx="4972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39775">
              <a:defRPr sz="2400">
                <a:solidFill>
                  <a:schemeClr val="tx1"/>
                </a:solidFill>
                <a:latin typeface="Times New Roman" pitchFamily="18" charset="0"/>
              </a:defRPr>
            </a:lvl1pPr>
            <a:lvl2pPr marL="571500" defTabSz="739775">
              <a:defRPr sz="2400">
                <a:solidFill>
                  <a:schemeClr val="tx1"/>
                </a:solidFill>
                <a:latin typeface="Times New Roman" pitchFamily="18" charset="0"/>
              </a:defRPr>
            </a:lvl2pPr>
            <a:lvl3pPr marL="1143000" defTabSz="739775">
              <a:defRPr sz="2400">
                <a:solidFill>
                  <a:schemeClr val="tx1"/>
                </a:solidFill>
                <a:latin typeface="Times New Roman" pitchFamily="18" charset="0"/>
              </a:defRPr>
            </a:lvl3pPr>
            <a:lvl4pPr marL="1714500" defTabSz="739775">
              <a:defRPr sz="2400">
                <a:solidFill>
                  <a:schemeClr val="tx1"/>
                </a:solidFill>
                <a:latin typeface="Times New Roman" pitchFamily="18" charset="0"/>
              </a:defRPr>
            </a:lvl4pPr>
            <a:lvl5pPr marL="2286000" defTabSz="739775">
              <a:defRPr sz="2400">
                <a:solidFill>
                  <a:schemeClr val="tx1"/>
                </a:solidFill>
                <a:latin typeface="Times New Roman" pitchFamily="18" charset="0"/>
              </a:defRPr>
            </a:lvl5pPr>
            <a:lvl6pPr marL="2743200" defTabSz="739775" eaLnBrk="0" fontAlgn="base" hangingPunct="0">
              <a:spcBef>
                <a:spcPct val="0"/>
              </a:spcBef>
              <a:spcAft>
                <a:spcPct val="0"/>
              </a:spcAft>
              <a:defRPr sz="2400">
                <a:solidFill>
                  <a:schemeClr val="tx1"/>
                </a:solidFill>
                <a:latin typeface="Times New Roman" pitchFamily="18" charset="0"/>
              </a:defRPr>
            </a:lvl6pPr>
            <a:lvl7pPr marL="3200400" defTabSz="739775" eaLnBrk="0" fontAlgn="base" hangingPunct="0">
              <a:spcBef>
                <a:spcPct val="0"/>
              </a:spcBef>
              <a:spcAft>
                <a:spcPct val="0"/>
              </a:spcAft>
              <a:defRPr sz="2400">
                <a:solidFill>
                  <a:schemeClr val="tx1"/>
                </a:solidFill>
                <a:latin typeface="Times New Roman" pitchFamily="18" charset="0"/>
              </a:defRPr>
            </a:lvl7pPr>
            <a:lvl8pPr marL="3657600" defTabSz="739775" eaLnBrk="0" fontAlgn="base" hangingPunct="0">
              <a:spcBef>
                <a:spcPct val="0"/>
              </a:spcBef>
              <a:spcAft>
                <a:spcPct val="0"/>
              </a:spcAft>
              <a:defRPr sz="2400">
                <a:solidFill>
                  <a:schemeClr val="tx1"/>
                </a:solidFill>
                <a:latin typeface="Times New Roman" pitchFamily="18" charset="0"/>
              </a:defRPr>
            </a:lvl8pPr>
            <a:lvl9pPr marL="4114800" defTabSz="739775" eaLnBrk="0" fontAlgn="base" hangingPunct="0">
              <a:spcBef>
                <a:spcPct val="0"/>
              </a:spcBef>
              <a:spcAft>
                <a:spcPct val="0"/>
              </a:spcAft>
              <a:defRPr sz="2400">
                <a:solidFill>
                  <a:schemeClr val="tx1"/>
                </a:solidFill>
                <a:latin typeface="Times New Roman" pitchFamily="18" charset="0"/>
              </a:defRPr>
            </a:lvl9pPr>
          </a:lstStyle>
          <a:p>
            <a:r>
              <a:rPr lang="en-GB" altLang="en-US" sz="1800" b="1" dirty="0">
                <a:solidFill>
                  <a:schemeClr val="accent5">
                    <a:lumMod val="10000"/>
                  </a:schemeClr>
                </a:solidFill>
                <a:latin typeface="Arial" pitchFamily="34" charset="0"/>
              </a:rPr>
              <a:t> Partial static model for card playing system</a:t>
            </a:r>
            <a:endParaRPr lang="en-GB" altLang="en-US" sz="1800" b="1" i="1" dirty="0">
              <a:solidFill>
                <a:schemeClr val="accent5">
                  <a:lumMod val="10000"/>
                </a:schemeClr>
              </a:solidFill>
              <a:latin typeface="Arial" pitchFamily="34" charset="0"/>
            </a:endParaRPr>
          </a:p>
        </p:txBody>
      </p:sp>
      <p:sp>
        <p:nvSpPr>
          <p:cNvPr id="265225" name="Rectangle 1033"/>
          <p:cNvSpPr>
            <a:spLocks noChangeArrowheads="1"/>
          </p:cNvSpPr>
          <p:nvPr/>
        </p:nvSpPr>
        <p:spPr bwMode="auto">
          <a:xfrm>
            <a:off x="1123857" y="3627437"/>
            <a:ext cx="2078037" cy="1417638"/>
          </a:xfrm>
          <a:prstGeom prst="rect">
            <a:avLst/>
          </a:prstGeom>
          <a:solidFill>
            <a:srgbClr val="FFFFFF"/>
          </a:solidFill>
          <a:ln w="0">
            <a:solidFill>
              <a:srgbClr val="000000"/>
            </a:solidFill>
            <a:miter lim="800000"/>
            <a:headEnd/>
            <a:tailEnd/>
          </a:ln>
        </p:spPr>
        <p:txBody>
          <a:bodyPr/>
          <a:lstStyle/>
          <a:p>
            <a:endParaRPr lang="en-GB"/>
          </a:p>
        </p:txBody>
      </p:sp>
      <p:sp>
        <p:nvSpPr>
          <p:cNvPr id="265226" name="Rectangle 1034"/>
          <p:cNvSpPr>
            <a:spLocks noChangeArrowheads="1"/>
          </p:cNvSpPr>
          <p:nvPr/>
        </p:nvSpPr>
        <p:spPr bwMode="auto">
          <a:xfrm>
            <a:off x="1958882" y="3673475"/>
            <a:ext cx="4921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Card</a:t>
            </a:r>
            <a:endParaRPr lang="en-GB" altLang="en-US"/>
          </a:p>
        </p:txBody>
      </p:sp>
      <p:sp>
        <p:nvSpPr>
          <p:cNvPr id="265227" name="Rectangle 1035"/>
          <p:cNvSpPr>
            <a:spLocks noChangeArrowheads="1"/>
          </p:cNvSpPr>
          <p:nvPr/>
        </p:nvSpPr>
        <p:spPr bwMode="auto">
          <a:xfrm>
            <a:off x="1123857" y="3908425"/>
            <a:ext cx="2078037" cy="11366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28" name="Rectangle 1036"/>
          <p:cNvSpPr>
            <a:spLocks noChangeArrowheads="1"/>
          </p:cNvSpPr>
          <p:nvPr/>
        </p:nvSpPr>
        <p:spPr bwMode="auto">
          <a:xfrm>
            <a:off x="1123857" y="4448175"/>
            <a:ext cx="2078037" cy="59690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29" name="Rectangle 1037"/>
          <p:cNvSpPr>
            <a:spLocks noChangeArrowheads="1"/>
          </p:cNvSpPr>
          <p:nvPr/>
        </p:nvSpPr>
        <p:spPr bwMode="auto">
          <a:xfrm>
            <a:off x="1155607" y="3930650"/>
            <a:ext cx="3968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suit</a:t>
            </a:r>
            <a:endParaRPr lang="en-GB" altLang="en-US"/>
          </a:p>
        </p:txBody>
      </p:sp>
      <p:sp>
        <p:nvSpPr>
          <p:cNvPr id="265230" name="Rectangle 1038"/>
          <p:cNvSpPr>
            <a:spLocks noChangeArrowheads="1"/>
          </p:cNvSpPr>
          <p:nvPr/>
        </p:nvSpPr>
        <p:spPr bwMode="auto">
          <a:xfrm>
            <a:off x="1155607" y="4144962"/>
            <a:ext cx="4603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rank</a:t>
            </a:r>
            <a:endParaRPr lang="en-GB" altLang="en-US"/>
          </a:p>
        </p:txBody>
      </p:sp>
      <p:sp>
        <p:nvSpPr>
          <p:cNvPr id="265231" name="Rectangle 1039"/>
          <p:cNvSpPr>
            <a:spLocks noChangeArrowheads="1"/>
          </p:cNvSpPr>
          <p:nvPr/>
        </p:nvSpPr>
        <p:spPr bwMode="auto">
          <a:xfrm>
            <a:off x="1155607" y="4572000"/>
            <a:ext cx="20939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display(location, faceUp)</a:t>
            </a:r>
            <a:endParaRPr lang="en-GB" altLang="en-US"/>
          </a:p>
        </p:txBody>
      </p:sp>
      <p:sp>
        <p:nvSpPr>
          <p:cNvPr id="265232" name="Rectangle 1040"/>
          <p:cNvSpPr>
            <a:spLocks noChangeArrowheads="1"/>
          </p:cNvSpPr>
          <p:nvPr/>
        </p:nvSpPr>
        <p:spPr bwMode="auto">
          <a:xfrm>
            <a:off x="1155607" y="4786312"/>
            <a:ext cx="8350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discard()</a:t>
            </a:r>
            <a:endParaRPr lang="en-GB" altLang="en-US"/>
          </a:p>
        </p:txBody>
      </p:sp>
      <p:sp>
        <p:nvSpPr>
          <p:cNvPr id="265233" name="Rectangle 1041"/>
          <p:cNvSpPr>
            <a:spLocks noChangeArrowheads="1"/>
          </p:cNvSpPr>
          <p:nvPr/>
        </p:nvSpPr>
        <p:spPr bwMode="auto">
          <a:xfrm>
            <a:off x="3576544" y="3313112"/>
            <a:ext cx="1638300" cy="2046288"/>
          </a:xfrm>
          <a:prstGeom prst="rect">
            <a:avLst/>
          </a:prstGeom>
          <a:solidFill>
            <a:srgbClr val="FFFFFF"/>
          </a:solidFill>
          <a:ln w="0">
            <a:solidFill>
              <a:srgbClr val="000000"/>
            </a:solidFill>
            <a:miter lim="800000"/>
            <a:headEnd/>
            <a:tailEnd/>
          </a:ln>
        </p:spPr>
        <p:txBody>
          <a:bodyPr/>
          <a:lstStyle/>
          <a:p>
            <a:endParaRPr lang="en-GB"/>
          </a:p>
        </p:txBody>
      </p:sp>
      <p:sp>
        <p:nvSpPr>
          <p:cNvPr id="265234" name="Rectangle 1042"/>
          <p:cNvSpPr>
            <a:spLocks noChangeArrowheads="1"/>
          </p:cNvSpPr>
          <p:nvPr/>
        </p:nvSpPr>
        <p:spPr bwMode="auto">
          <a:xfrm>
            <a:off x="3651157" y="3357562"/>
            <a:ext cx="15255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CollectionofCards</a:t>
            </a:r>
            <a:endParaRPr lang="en-GB" altLang="en-US"/>
          </a:p>
        </p:txBody>
      </p:sp>
      <p:sp>
        <p:nvSpPr>
          <p:cNvPr id="265235" name="Rectangle 1043"/>
          <p:cNvSpPr>
            <a:spLocks noChangeArrowheads="1"/>
          </p:cNvSpPr>
          <p:nvPr/>
        </p:nvSpPr>
        <p:spPr bwMode="auto">
          <a:xfrm>
            <a:off x="3576544" y="3594100"/>
            <a:ext cx="1638300" cy="176530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36" name="Rectangle 1044"/>
          <p:cNvSpPr>
            <a:spLocks noChangeArrowheads="1"/>
          </p:cNvSpPr>
          <p:nvPr/>
        </p:nvSpPr>
        <p:spPr bwMode="auto">
          <a:xfrm>
            <a:off x="3576544" y="4133850"/>
            <a:ext cx="1638300" cy="12255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37" name="Rectangle 1045"/>
          <p:cNvSpPr>
            <a:spLocks noChangeArrowheads="1"/>
          </p:cNvSpPr>
          <p:nvPr/>
        </p:nvSpPr>
        <p:spPr bwMode="auto">
          <a:xfrm>
            <a:off x="3608294" y="3616325"/>
            <a:ext cx="7080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visibility</a:t>
            </a:r>
            <a:endParaRPr lang="en-GB" altLang="en-US"/>
          </a:p>
        </p:txBody>
      </p:sp>
      <p:sp>
        <p:nvSpPr>
          <p:cNvPr id="265238" name="Rectangle 1046"/>
          <p:cNvSpPr>
            <a:spLocks noChangeArrowheads="1"/>
          </p:cNvSpPr>
          <p:nvPr/>
        </p:nvSpPr>
        <p:spPr bwMode="auto">
          <a:xfrm>
            <a:off x="3608294" y="3830637"/>
            <a:ext cx="7493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location</a:t>
            </a:r>
            <a:endParaRPr lang="en-GB" altLang="en-US"/>
          </a:p>
        </p:txBody>
      </p:sp>
      <p:sp>
        <p:nvSpPr>
          <p:cNvPr id="265239" name="Rectangle 1047"/>
          <p:cNvSpPr>
            <a:spLocks noChangeArrowheads="1"/>
          </p:cNvSpPr>
          <p:nvPr/>
        </p:nvSpPr>
        <p:spPr bwMode="auto">
          <a:xfrm>
            <a:off x="3608294" y="4257675"/>
            <a:ext cx="8890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initialise()</a:t>
            </a:r>
            <a:endParaRPr lang="en-GB" altLang="en-US"/>
          </a:p>
        </p:txBody>
      </p:sp>
      <p:sp>
        <p:nvSpPr>
          <p:cNvPr id="265240" name="Rectangle 1048"/>
          <p:cNvSpPr>
            <a:spLocks noChangeArrowheads="1"/>
          </p:cNvSpPr>
          <p:nvPr/>
        </p:nvSpPr>
        <p:spPr bwMode="auto">
          <a:xfrm>
            <a:off x="3608294" y="4470400"/>
            <a:ext cx="10922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delete(card)</a:t>
            </a:r>
            <a:endParaRPr lang="en-GB" altLang="en-US"/>
          </a:p>
        </p:txBody>
      </p:sp>
      <p:sp>
        <p:nvSpPr>
          <p:cNvPr id="265241" name="Rectangle 1049"/>
          <p:cNvSpPr>
            <a:spLocks noChangeArrowheads="1"/>
          </p:cNvSpPr>
          <p:nvPr/>
        </p:nvSpPr>
        <p:spPr bwMode="auto">
          <a:xfrm>
            <a:off x="3608294" y="4695825"/>
            <a:ext cx="10715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insert(card)</a:t>
            </a:r>
            <a:endParaRPr lang="en-GB" altLang="en-US"/>
          </a:p>
        </p:txBody>
      </p:sp>
      <p:sp>
        <p:nvSpPr>
          <p:cNvPr id="265242" name="Rectangle 1050"/>
          <p:cNvSpPr>
            <a:spLocks noChangeArrowheads="1"/>
          </p:cNvSpPr>
          <p:nvPr/>
        </p:nvSpPr>
        <p:spPr bwMode="auto">
          <a:xfrm>
            <a:off x="3608294" y="4910137"/>
            <a:ext cx="15160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getBottomOfPile()</a:t>
            </a:r>
            <a:endParaRPr lang="en-GB" altLang="en-US"/>
          </a:p>
        </p:txBody>
      </p:sp>
      <p:sp>
        <p:nvSpPr>
          <p:cNvPr id="265243" name="Rectangle 1051"/>
          <p:cNvSpPr>
            <a:spLocks noChangeArrowheads="1"/>
          </p:cNvSpPr>
          <p:nvPr/>
        </p:nvSpPr>
        <p:spPr bwMode="auto">
          <a:xfrm>
            <a:off x="3608294" y="5122862"/>
            <a:ext cx="12192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getTopOfPile()</a:t>
            </a:r>
            <a:endParaRPr lang="en-GB" altLang="en-US"/>
          </a:p>
        </p:txBody>
      </p:sp>
      <p:sp>
        <p:nvSpPr>
          <p:cNvPr id="265244" name="Line 1052"/>
          <p:cNvSpPr>
            <a:spLocks noChangeShapeType="1"/>
          </p:cNvSpPr>
          <p:nvPr/>
        </p:nvSpPr>
        <p:spPr bwMode="auto">
          <a:xfrm flipH="1">
            <a:off x="3201894" y="4335462"/>
            <a:ext cx="180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5245" name="Rectangle 1053"/>
          <p:cNvSpPr>
            <a:spLocks noChangeArrowheads="1"/>
          </p:cNvSpPr>
          <p:nvPr/>
        </p:nvSpPr>
        <p:spPr bwMode="auto">
          <a:xfrm>
            <a:off x="3190782" y="4156075"/>
            <a:ext cx="1603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a:t>
            </a:r>
            <a:endParaRPr lang="en-GB" altLang="en-US"/>
          </a:p>
        </p:txBody>
      </p:sp>
      <p:sp>
        <p:nvSpPr>
          <p:cNvPr id="265246" name="Line 1054"/>
          <p:cNvSpPr>
            <a:spLocks noChangeShapeType="1"/>
          </p:cNvSpPr>
          <p:nvPr/>
        </p:nvSpPr>
        <p:spPr bwMode="auto">
          <a:xfrm>
            <a:off x="3382869" y="4335462"/>
            <a:ext cx="1825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5247" name="Freeform 1055"/>
          <p:cNvSpPr>
            <a:spLocks/>
          </p:cNvSpPr>
          <p:nvPr/>
        </p:nvSpPr>
        <p:spPr bwMode="auto">
          <a:xfrm>
            <a:off x="3382869" y="4279900"/>
            <a:ext cx="182563" cy="112712"/>
          </a:xfrm>
          <a:custGeom>
            <a:avLst/>
            <a:gdLst>
              <a:gd name="T0" fmla="*/ 115 w 115"/>
              <a:gd name="T1" fmla="*/ 35 h 71"/>
              <a:gd name="T2" fmla="*/ 61 w 115"/>
              <a:gd name="T3" fmla="*/ 71 h 71"/>
              <a:gd name="T4" fmla="*/ 0 w 115"/>
              <a:gd name="T5" fmla="*/ 35 h 71"/>
              <a:gd name="T6" fmla="*/ 61 w 115"/>
              <a:gd name="T7" fmla="*/ 0 h 71"/>
              <a:gd name="T8" fmla="*/ 115 w 115"/>
              <a:gd name="T9" fmla="*/ 35 h 71"/>
            </a:gdLst>
            <a:ahLst/>
            <a:cxnLst>
              <a:cxn ang="0">
                <a:pos x="T0" y="T1"/>
              </a:cxn>
              <a:cxn ang="0">
                <a:pos x="T2" y="T3"/>
              </a:cxn>
              <a:cxn ang="0">
                <a:pos x="T4" y="T5"/>
              </a:cxn>
              <a:cxn ang="0">
                <a:pos x="T6" y="T7"/>
              </a:cxn>
              <a:cxn ang="0">
                <a:pos x="T8" y="T9"/>
              </a:cxn>
            </a:cxnLst>
            <a:rect l="0" t="0" r="r" b="b"/>
            <a:pathLst>
              <a:path w="115" h="71">
                <a:moveTo>
                  <a:pt x="115" y="35"/>
                </a:moveTo>
                <a:lnTo>
                  <a:pt x="61" y="71"/>
                </a:lnTo>
                <a:lnTo>
                  <a:pt x="0" y="35"/>
                </a:lnTo>
                <a:lnTo>
                  <a:pt x="61" y="0"/>
                </a:lnTo>
                <a:lnTo>
                  <a:pt x="115" y="35"/>
                </a:lnTo>
                <a:close/>
              </a:path>
            </a:pathLst>
          </a:custGeom>
          <a:solidFill>
            <a:srgbClr val="FFFFFF"/>
          </a:solidFill>
          <a:ln w="0">
            <a:solidFill>
              <a:srgbClr val="000000"/>
            </a:solidFill>
            <a:prstDash val="solid"/>
            <a:round/>
            <a:headEnd/>
            <a:tailEnd/>
          </a:ln>
        </p:spPr>
        <p:txBody>
          <a:bodyPr/>
          <a:lstStyle/>
          <a:p>
            <a:endParaRPr lang="en-GB"/>
          </a:p>
        </p:txBody>
      </p:sp>
      <p:sp>
        <p:nvSpPr>
          <p:cNvPr id="265248" name="Rectangle 1056"/>
          <p:cNvSpPr>
            <a:spLocks noChangeArrowheads="1"/>
          </p:cNvSpPr>
          <p:nvPr/>
        </p:nvSpPr>
        <p:spPr bwMode="auto">
          <a:xfrm>
            <a:off x="3190782" y="4156075"/>
            <a:ext cx="1603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a:t>
            </a:r>
            <a:endParaRPr lang="en-GB" altLang="en-US"/>
          </a:p>
        </p:txBody>
      </p:sp>
      <p:sp>
        <p:nvSpPr>
          <p:cNvPr id="265249" name="Rectangle 1057"/>
          <p:cNvSpPr>
            <a:spLocks noChangeArrowheads="1"/>
          </p:cNvSpPr>
          <p:nvPr/>
        </p:nvSpPr>
        <p:spPr bwMode="auto">
          <a:xfrm>
            <a:off x="5889532" y="3503612"/>
            <a:ext cx="1039812" cy="1214438"/>
          </a:xfrm>
          <a:prstGeom prst="rect">
            <a:avLst/>
          </a:prstGeom>
          <a:solidFill>
            <a:srgbClr val="FFFFFF"/>
          </a:solidFill>
          <a:ln w="0">
            <a:solidFill>
              <a:srgbClr val="000000"/>
            </a:solidFill>
            <a:miter lim="800000"/>
            <a:headEnd/>
            <a:tailEnd/>
          </a:ln>
        </p:spPr>
        <p:txBody>
          <a:bodyPr/>
          <a:lstStyle/>
          <a:p>
            <a:endParaRPr lang="en-GB"/>
          </a:p>
        </p:txBody>
      </p:sp>
      <p:sp>
        <p:nvSpPr>
          <p:cNvPr id="265250" name="Rectangle 1058"/>
          <p:cNvSpPr>
            <a:spLocks noChangeArrowheads="1"/>
          </p:cNvSpPr>
          <p:nvPr/>
        </p:nvSpPr>
        <p:spPr bwMode="auto">
          <a:xfrm>
            <a:off x="6200682" y="3560762"/>
            <a:ext cx="50323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Deck</a:t>
            </a:r>
            <a:endParaRPr lang="en-GB" altLang="en-US"/>
          </a:p>
        </p:txBody>
      </p:sp>
      <p:sp>
        <p:nvSpPr>
          <p:cNvPr id="265251" name="Rectangle 1059"/>
          <p:cNvSpPr>
            <a:spLocks noChangeArrowheads="1"/>
          </p:cNvSpPr>
          <p:nvPr/>
        </p:nvSpPr>
        <p:spPr bwMode="auto">
          <a:xfrm>
            <a:off x="5889532" y="3784600"/>
            <a:ext cx="1039812" cy="9334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52" name="Rectangle 1060"/>
          <p:cNvSpPr>
            <a:spLocks noChangeArrowheads="1"/>
          </p:cNvSpPr>
          <p:nvPr/>
        </p:nvSpPr>
        <p:spPr bwMode="auto">
          <a:xfrm>
            <a:off x="5889532" y="3897312"/>
            <a:ext cx="1039812" cy="82073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53" name="Rectangle 1061"/>
          <p:cNvSpPr>
            <a:spLocks noChangeArrowheads="1"/>
          </p:cNvSpPr>
          <p:nvPr/>
        </p:nvSpPr>
        <p:spPr bwMode="auto">
          <a:xfrm>
            <a:off x="5922869" y="4021137"/>
            <a:ext cx="771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shuffle()</a:t>
            </a:r>
            <a:endParaRPr lang="en-GB" altLang="en-US"/>
          </a:p>
        </p:txBody>
      </p:sp>
      <p:sp>
        <p:nvSpPr>
          <p:cNvPr id="265254" name="Rectangle 1062"/>
          <p:cNvSpPr>
            <a:spLocks noChangeArrowheads="1"/>
          </p:cNvSpPr>
          <p:nvPr/>
        </p:nvSpPr>
        <p:spPr bwMode="auto">
          <a:xfrm>
            <a:off x="5922869" y="4246562"/>
            <a:ext cx="10715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deal(hands)</a:t>
            </a:r>
            <a:endParaRPr lang="en-GB" altLang="en-US"/>
          </a:p>
        </p:txBody>
      </p:sp>
      <p:sp>
        <p:nvSpPr>
          <p:cNvPr id="265255" name="Rectangle 1063"/>
          <p:cNvSpPr>
            <a:spLocks noChangeArrowheads="1"/>
          </p:cNvSpPr>
          <p:nvPr/>
        </p:nvSpPr>
        <p:spPr bwMode="auto">
          <a:xfrm>
            <a:off x="5922869" y="4459287"/>
            <a:ext cx="8890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initialise()</a:t>
            </a:r>
            <a:endParaRPr lang="en-GB" altLang="en-US"/>
          </a:p>
        </p:txBody>
      </p:sp>
      <p:sp>
        <p:nvSpPr>
          <p:cNvPr id="265256" name="Rectangle 1064"/>
          <p:cNvSpPr>
            <a:spLocks noChangeArrowheads="1"/>
          </p:cNvSpPr>
          <p:nvPr/>
        </p:nvSpPr>
        <p:spPr bwMode="auto">
          <a:xfrm>
            <a:off x="5772057" y="5067300"/>
            <a:ext cx="857250" cy="1203325"/>
          </a:xfrm>
          <a:prstGeom prst="rect">
            <a:avLst/>
          </a:prstGeom>
          <a:solidFill>
            <a:srgbClr val="FFFFFF"/>
          </a:solidFill>
          <a:ln w="0">
            <a:solidFill>
              <a:srgbClr val="000000"/>
            </a:solidFill>
            <a:miter lim="800000"/>
            <a:headEnd/>
            <a:tailEnd/>
          </a:ln>
        </p:spPr>
        <p:txBody>
          <a:bodyPr/>
          <a:lstStyle/>
          <a:p>
            <a:endParaRPr lang="en-GB"/>
          </a:p>
        </p:txBody>
      </p:sp>
      <p:sp>
        <p:nvSpPr>
          <p:cNvPr id="265257" name="Rectangle 1065"/>
          <p:cNvSpPr>
            <a:spLocks noChangeArrowheads="1"/>
          </p:cNvSpPr>
          <p:nvPr/>
        </p:nvSpPr>
        <p:spPr bwMode="auto">
          <a:xfrm>
            <a:off x="5975257" y="5122862"/>
            <a:ext cx="52546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Hand</a:t>
            </a:r>
            <a:endParaRPr lang="en-GB" altLang="en-US"/>
          </a:p>
        </p:txBody>
      </p:sp>
      <p:sp>
        <p:nvSpPr>
          <p:cNvPr id="265258" name="Rectangle 1066"/>
          <p:cNvSpPr>
            <a:spLocks noChangeArrowheads="1"/>
          </p:cNvSpPr>
          <p:nvPr/>
        </p:nvSpPr>
        <p:spPr bwMode="auto">
          <a:xfrm>
            <a:off x="5772057" y="5348287"/>
            <a:ext cx="857250" cy="92233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59" name="Rectangle 1067"/>
          <p:cNvSpPr>
            <a:spLocks noChangeArrowheads="1"/>
          </p:cNvSpPr>
          <p:nvPr/>
        </p:nvSpPr>
        <p:spPr bwMode="auto">
          <a:xfrm>
            <a:off x="5772057" y="5673725"/>
            <a:ext cx="857250" cy="59690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60" name="Rectangle 1068"/>
          <p:cNvSpPr>
            <a:spLocks noChangeArrowheads="1"/>
          </p:cNvSpPr>
          <p:nvPr/>
        </p:nvSpPr>
        <p:spPr bwMode="auto">
          <a:xfrm>
            <a:off x="5803807" y="5370512"/>
            <a:ext cx="8175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initialSize</a:t>
            </a:r>
            <a:endParaRPr lang="en-GB" altLang="en-US"/>
          </a:p>
        </p:txBody>
      </p:sp>
      <p:sp>
        <p:nvSpPr>
          <p:cNvPr id="265261" name="Rectangle 1069"/>
          <p:cNvSpPr>
            <a:spLocks noChangeArrowheads="1"/>
          </p:cNvSpPr>
          <p:nvPr/>
        </p:nvSpPr>
        <p:spPr bwMode="auto">
          <a:xfrm>
            <a:off x="5803807" y="5797550"/>
            <a:ext cx="55721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sort()</a:t>
            </a:r>
            <a:endParaRPr lang="en-GB" altLang="en-US"/>
          </a:p>
        </p:txBody>
      </p:sp>
      <p:sp>
        <p:nvSpPr>
          <p:cNvPr id="265262" name="Rectangle 1070"/>
          <p:cNvSpPr>
            <a:spLocks noChangeArrowheads="1"/>
          </p:cNvSpPr>
          <p:nvPr/>
        </p:nvSpPr>
        <p:spPr bwMode="auto">
          <a:xfrm>
            <a:off x="5803807" y="6011862"/>
            <a:ext cx="8890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initialise()</a:t>
            </a:r>
            <a:endParaRPr lang="en-GB" altLang="en-US"/>
          </a:p>
        </p:txBody>
      </p:sp>
      <p:sp>
        <p:nvSpPr>
          <p:cNvPr id="265263" name="Rectangle 1071"/>
          <p:cNvSpPr>
            <a:spLocks noChangeArrowheads="1"/>
          </p:cNvSpPr>
          <p:nvPr/>
        </p:nvSpPr>
        <p:spPr bwMode="auto">
          <a:xfrm>
            <a:off x="7015069" y="4392612"/>
            <a:ext cx="1123950" cy="1000125"/>
          </a:xfrm>
          <a:prstGeom prst="rect">
            <a:avLst/>
          </a:prstGeom>
          <a:solidFill>
            <a:srgbClr val="FFFFFF"/>
          </a:solidFill>
          <a:ln w="0">
            <a:solidFill>
              <a:srgbClr val="000000"/>
            </a:solidFill>
            <a:miter lim="800000"/>
            <a:headEnd/>
            <a:tailEnd/>
          </a:ln>
        </p:spPr>
        <p:txBody>
          <a:bodyPr/>
          <a:lstStyle/>
          <a:p>
            <a:endParaRPr lang="en-GB"/>
          </a:p>
        </p:txBody>
      </p:sp>
      <p:sp>
        <p:nvSpPr>
          <p:cNvPr id="265264" name="Rectangle 1072"/>
          <p:cNvSpPr>
            <a:spLocks noChangeArrowheads="1"/>
          </p:cNvSpPr>
          <p:nvPr/>
        </p:nvSpPr>
        <p:spPr bwMode="auto">
          <a:xfrm>
            <a:off x="7111907" y="4448175"/>
            <a:ext cx="9667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DiscardPile</a:t>
            </a:r>
            <a:endParaRPr lang="en-GB" altLang="en-US"/>
          </a:p>
        </p:txBody>
      </p:sp>
      <p:sp>
        <p:nvSpPr>
          <p:cNvPr id="265265" name="Rectangle 1073"/>
          <p:cNvSpPr>
            <a:spLocks noChangeArrowheads="1"/>
          </p:cNvSpPr>
          <p:nvPr/>
        </p:nvSpPr>
        <p:spPr bwMode="auto">
          <a:xfrm>
            <a:off x="7015069" y="4673600"/>
            <a:ext cx="1123950" cy="719137"/>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66" name="Rectangle 1074"/>
          <p:cNvSpPr>
            <a:spLocks noChangeArrowheads="1"/>
          </p:cNvSpPr>
          <p:nvPr/>
        </p:nvSpPr>
        <p:spPr bwMode="auto">
          <a:xfrm>
            <a:off x="7015069" y="4786312"/>
            <a:ext cx="1123950" cy="60642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67" name="Rectangle 1075"/>
          <p:cNvSpPr>
            <a:spLocks noChangeArrowheads="1"/>
          </p:cNvSpPr>
          <p:nvPr/>
        </p:nvSpPr>
        <p:spPr bwMode="auto">
          <a:xfrm>
            <a:off x="7046819" y="4910137"/>
            <a:ext cx="771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pickup()</a:t>
            </a:r>
            <a:endParaRPr lang="en-GB" altLang="en-US"/>
          </a:p>
        </p:txBody>
      </p:sp>
      <p:sp>
        <p:nvSpPr>
          <p:cNvPr id="265268" name="Rectangle 1076"/>
          <p:cNvSpPr>
            <a:spLocks noChangeArrowheads="1"/>
          </p:cNvSpPr>
          <p:nvPr/>
        </p:nvSpPr>
        <p:spPr bwMode="auto">
          <a:xfrm>
            <a:off x="7046819" y="5122862"/>
            <a:ext cx="8890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initialise()</a:t>
            </a:r>
            <a:endParaRPr lang="en-GB" altLang="en-US"/>
          </a:p>
        </p:txBody>
      </p:sp>
      <p:sp>
        <p:nvSpPr>
          <p:cNvPr id="265269" name="Rectangle 1077"/>
          <p:cNvSpPr>
            <a:spLocks noChangeArrowheads="1"/>
          </p:cNvSpPr>
          <p:nvPr/>
        </p:nvSpPr>
        <p:spPr bwMode="auto">
          <a:xfrm>
            <a:off x="7015069" y="2952750"/>
            <a:ext cx="920750" cy="990600"/>
          </a:xfrm>
          <a:prstGeom prst="rect">
            <a:avLst/>
          </a:prstGeom>
          <a:solidFill>
            <a:srgbClr val="FFFFFF"/>
          </a:solidFill>
          <a:ln w="0">
            <a:solidFill>
              <a:srgbClr val="000000"/>
            </a:solidFill>
            <a:miter lim="800000"/>
            <a:headEnd/>
            <a:tailEnd/>
          </a:ln>
        </p:spPr>
        <p:txBody>
          <a:bodyPr/>
          <a:lstStyle/>
          <a:p>
            <a:endParaRPr lang="en-GB"/>
          </a:p>
        </p:txBody>
      </p:sp>
      <p:sp>
        <p:nvSpPr>
          <p:cNvPr id="265270" name="Rectangle 1078"/>
          <p:cNvSpPr>
            <a:spLocks noChangeArrowheads="1"/>
          </p:cNvSpPr>
          <p:nvPr/>
        </p:nvSpPr>
        <p:spPr bwMode="auto">
          <a:xfrm>
            <a:off x="7100794" y="2998787"/>
            <a:ext cx="7508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DrawPile</a:t>
            </a:r>
            <a:endParaRPr lang="en-GB" altLang="en-US"/>
          </a:p>
        </p:txBody>
      </p:sp>
      <p:sp>
        <p:nvSpPr>
          <p:cNvPr id="265271" name="Rectangle 1079"/>
          <p:cNvSpPr>
            <a:spLocks noChangeArrowheads="1"/>
          </p:cNvSpPr>
          <p:nvPr/>
        </p:nvSpPr>
        <p:spPr bwMode="auto">
          <a:xfrm>
            <a:off x="7015069" y="3233737"/>
            <a:ext cx="920750" cy="709613"/>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72" name="Rectangle 1080"/>
          <p:cNvSpPr>
            <a:spLocks noChangeArrowheads="1"/>
          </p:cNvSpPr>
          <p:nvPr/>
        </p:nvSpPr>
        <p:spPr bwMode="auto">
          <a:xfrm>
            <a:off x="7015069" y="3335337"/>
            <a:ext cx="920750" cy="608013"/>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65273" name="Rectangle 1081"/>
          <p:cNvSpPr>
            <a:spLocks noChangeArrowheads="1"/>
          </p:cNvSpPr>
          <p:nvPr/>
        </p:nvSpPr>
        <p:spPr bwMode="auto">
          <a:xfrm>
            <a:off x="7046819" y="3470275"/>
            <a:ext cx="771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pickup()</a:t>
            </a:r>
            <a:endParaRPr lang="en-GB" altLang="en-US"/>
          </a:p>
        </p:txBody>
      </p:sp>
      <p:sp>
        <p:nvSpPr>
          <p:cNvPr id="265274" name="Rectangle 1082"/>
          <p:cNvSpPr>
            <a:spLocks noChangeArrowheads="1"/>
          </p:cNvSpPr>
          <p:nvPr/>
        </p:nvSpPr>
        <p:spPr bwMode="auto">
          <a:xfrm>
            <a:off x="7046819" y="3684587"/>
            <a:ext cx="8890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400" b="1">
                <a:solidFill>
                  <a:srgbClr val="000000"/>
                </a:solidFill>
                <a:latin typeface="Arial" pitchFamily="34" charset="0"/>
              </a:rPr>
              <a:t>initialise()</a:t>
            </a:r>
            <a:endParaRPr lang="en-GB" altLang="en-US"/>
          </a:p>
        </p:txBody>
      </p:sp>
      <p:sp>
        <p:nvSpPr>
          <p:cNvPr id="265275" name="Line 1083"/>
          <p:cNvSpPr>
            <a:spLocks noChangeShapeType="1"/>
          </p:cNvSpPr>
          <p:nvPr/>
        </p:nvSpPr>
        <p:spPr bwMode="auto">
          <a:xfrm flipH="1">
            <a:off x="5214844" y="4335462"/>
            <a:ext cx="3000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5276" name="Line 1084"/>
          <p:cNvSpPr>
            <a:spLocks noChangeShapeType="1"/>
          </p:cNvSpPr>
          <p:nvPr/>
        </p:nvSpPr>
        <p:spPr bwMode="auto">
          <a:xfrm>
            <a:off x="5514882" y="3379787"/>
            <a:ext cx="1587" cy="17653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5277" name="Freeform 1085"/>
          <p:cNvSpPr>
            <a:spLocks/>
          </p:cNvSpPr>
          <p:nvPr/>
        </p:nvSpPr>
        <p:spPr bwMode="auto">
          <a:xfrm>
            <a:off x="5214844" y="4257675"/>
            <a:ext cx="203200" cy="157162"/>
          </a:xfrm>
          <a:custGeom>
            <a:avLst/>
            <a:gdLst>
              <a:gd name="T0" fmla="*/ 0 w 128"/>
              <a:gd name="T1" fmla="*/ 49 h 99"/>
              <a:gd name="T2" fmla="*/ 128 w 128"/>
              <a:gd name="T3" fmla="*/ 99 h 99"/>
              <a:gd name="T4" fmla="*/ 128 w 128"/>
              <a:gd name="T5" fmla="*/ 0 h 99"/>
              <a:gd name="T6" fmla="*/ 0 w 128"/>
              <a:gd name="T7" fmla="*/ 49 h 99"/>
            </a:gdLst>
            <a:ahLst/>
            <a:cxnLst>
              <a:cxn ang="0">
                <a:pos x="T0" y="T1"/>
              </a:cxn>
              <a:cxn ang="0">
                <a:pos x="T2" y="T3"/>
              </a:cxn>
              <a:cxn ang="0">
                <a:pos x="T4" y="T5"/>
              </a:cxn>
              <a:cxn ang="0">
                <a:pos x="T6" y="T7"/>
              </a:cxn>
            </a:cxnLst>
            <a:rect l="0" t="0" r="r" b="b"/>
            <a:pathLst>
              <a:path w="128" h="99">
                <a:moveTo>
                  <a:pt x="0" y="49"/>
                </a:moveTo>
                <a:lnTo>
                  <a:pt x="128" y="99"/>
                </a:lnTo>
                <a:lnTo>
                  <a:pt x="128" y="0"/>
                </a:lnTo>
                <a:lnTo>
                  <a:pt x="0" y="49"/>
                </a:lnTo>
                <a:close/>
              </a:path>
            </a:pathLst>
          </a:custGeom>
          <a:solidFill>
            <a:srgbClr val="FFFFFF"/>
          </a:solidFill>
          <a:ln w="0">
            <a:solidFill>
              <a:srgbClr val="000000"/>
            </a:solidFill>
            <a:prstDash val="solid"/>
            <a:round/>
            <a:headEnd/>
            <a:tailEnd/>
          </a:ln>
        </p:spPr>
        <p:txBody>
          <a:bodyPr/>
          <a:lstStyle/>
          <a:p>
            <a:endParaRPr lang="en-GB"/>
          </a:p>
        </p:txBody>
      </p:sp>
      <p:sp>
        <p:nvSpPr>
          <p:cNvPr id="265278" name="Line 1086"/>
          <p:cNvSpPr>
            <a:spLocks noChangeShapeType="1"/>
          </p:cNvSpPr>
          <p:nvPr/>
        </p:nvSpPr>
        <p:spPr bwMode="auto">
          <a:xfrm flipH="1">
            <a:off x="5514882" y="4133850"/>
            <a:ext cx="3746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5279" name="Line 1087"/>
          <p:cNvSpPr>
            <a:spLocks noChangeShapeType="1"/>
          </p:cNvSpPr>
          <p:nvPr/>
        </p:nvSpPr>
        <p:spPr bwMode="auto">
          <a:xfrm flipH="1">
            <a:off x="5514882" y="4921250"/>
            <a:ext cx="15001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5280" name="Line 1088"/>
          <p:cNvSpPr>
            <a:spLocks noChangeShapeType="1"/>
          </p:cNvSpPr>
          <p:nvPr/>
        </p:nvSpPr>
        <p:spPr bwMode="auto">
          <a:xfrm flipH="1">
            <a:off x="5514882" y="5145087"/>
            <a:ext cx="2571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5281" name="Line 1089"/>
          <p:cNvSpPr>
            <a:spLocks noChangeShapeType="1"/>
          </p:cNvSpPr>
          <p:nvPr/>
        </p:nvSpPr>
        <p:spPr bwMode="auto">
          <a:xfrm flipH="1">
            <a:off x="5514882" y="3379787"/>
            <a:ext cx="15001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1085504337"/>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ChangeArrowheads="1"/>
          </p:cNvSpPr>
          <p:nvPr/>
        </p:nvSpPr>
        <p:spPr bwMode="auto">
          <a:xfrm>
            <a:off x="579437" y="2995613"/>
            <a:ext cx="7877175" cy="3276600"/>
          </a:xfrm>
          <a:prstGeom prst="rect">
            <a:avLst/>
          </a:prstGeom>
          <a:solidFill>
            <a:schemeClr val="accent6">
              <a:alpha val="50000"/>
            </a:schemeClr>
          </a:solidFill>
          <a:ln w="25400">
            <a:solidFill>
              <a:schemeClr val="accent4"/>
            </a:solidFill>
            <a:miter lim="800000"/>
            <a:headEnd/>
            <a:tailEnd/>
          </a:ln>
          <a:effectLst/>
        </p:spPr>
        <p:txBody>
          <a:bodyPr wrap="none" anchor="ctr"/>
          <a:lstStyle/>
          <a:p>
            <a:pPr algn="ctr"/>
            <a:endParaRPr lang="en-GB" altLang="en-US"/>
          </a:p>
        </p:txBody>
      </p:sp>
      <p:sp>
        <p:nvSpPr>
          <p:cNvPr id="267300" name="Rectangle 36"/>
          <p:cNvSpPr>
            <a:spLocks noGrp="1" noChangeArrowheads="1"/>
          </p:cNvSpPr>
          <p:nvPr>
            <p:ph type="title"/>
          </p:nvPr>
        </p:nvSpPr>
        <p:spPr/>
        <p:txBody>
          <a:bodyPr/>
          <a:lstStyle/>
          <a:p>
            <a:r>
              <a:rPr lang="en-GB" altLang="en-US"/>
              <a:t>Dynamic Modelling - interaction</a:t>
            </a:r>
          </a:p>
        </p:txBody>
      </p:sp>
      <p:sp>
        <p:nvSpPr>
          <p:cNvPr id="267301" name="Rectangle 37"/>
          <p:cNvSpPr>
            <a:spLocks noGrp="1" noChangeArrowheads="1"/>
          </p:cNvSpPr>
          <p:nvPr>
            <p:ph type="body" idx="1"/>
          </p:nvPr>
        </p:nvSpPr>
        <p:spPr/>
        <p:txBody>
          <a:bodyPr/>
          <a:lstStyle/>
          <a:p>
            <a:r>
              <a:rPr lang="en-GB" altLang="en-US"/>
              <a:t>Scenarios and sequence diagrams provide more detail</a:t>
            </a:r>
          </a:p>
          <a:p>
            <a:pPr lvl="1"/>
            <a:r>
              <a:rPr lang="en-GB" altLang="en-US"/>
              <a:t>A dynamic view of the internals of the problem</a:t>
            </a:r>
          </a:p>
          <a:p>
            <a:r>
              <a:rPr lang="en-GB" altLang="en-US"/>
              <a:t>They provide feedback to the class diagram</a:t>
            </a:r>
          </a:p>
          <a:p>
            <a:pPr lvl="1"/>
            <a:r>
              <a:rPr lang="en-GB" altLang="en-US"/>
              <a:t>Identifies relationships, operations and new classes</a:t>
            </a:r>
          </a:p>
        </p:txBody>
      </p:sp>
      <p:sp>
        <p:nvSpPr>
          <p:cNvPr id="267269" name="Rectangle 5"/>
          <p:cNvSpPr>
            <a:spLocks noChangeArrowheads="1"/>
          </p:cNvSpPr>
          <p:nvPr/>
        </p:nvSpPr>
        <p:spPr bwMode="auto">
          <a:xfrm>
            <a:off x="579437" y="5281613"/>
            <a:ext cx="274637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sz="1800" b="1" i="1">
                <a:solidFill>
                  <a:srgbClr val="000066"/>
                </a:solidFill>
                <a:latin typeface="Arial" pitchFamily="34" charset="0"/>
              </a:rPr>
              <a:t>Partial scenario and </a:t>
            </a:r>
            <a:br>
              <a:rPr lang="en-GB" altLang="en-US" sz="1800" b="1" i="1">
                <a:solidFill>
                  <a:srgbClr val="000066"/>
                </a:solidFill>
                <a:latin typeface="Arial" pitchFamily="34" charset="0"/>
              </a:rPr>
            </a:br>
            <a:r>
              <a:rPr lang="en-GB" altLang="en-US" sz="1800" b="1" i="1">
                <a:solidFill>
                  <a:srgbClr val="000066"/>
                </a:solidFill>
                <a:latin typeface="Arial" pitchFamily="34" charset="0"/>
              </a:rPr>
              <a:t>sequence diagram</a:t>
            </a:r>
            <a:br>
              <a:rPr lang="en-GB" altLang="en-US" sz="1800" b="1" i="1">
                <a:solidFill>
                  <a:srgbClr val="000066"/>
                </a:solidFill>
                <a:latin typeface="Arial" pitchFamily="34" charset="0"/>
              </a:rPr>
            </a:br>
            <a:r>
              <a:rPr lang="en-GB" altLang="en-US" sz="1800" b="1" i="1">
                <a:solidFill>
                  <a:srgbClr val="000066"/>
                </a:solidFill>
                <a:latin typeface="Arial" pitchFamily="34" charset="0"/>
              </a:rPr>
              <a:t>for card playing system</a:t>
            </a:r>
            <a:endParaRPr lang="en-GB" altLang="en-US" sz="1800" b="1">
              <a:latin typeface="Arial" pitchFamily="34" charset="0"/>
            </a:endParaRPr>
          </a:p>
        </p:txBody>
      </p:sp>
      <p:sp>
        <p:nvSpPr>
          <p:cNvPr id="267270" name="Line 6"/>
          <p:cNvSpPr>
            <a:spLocks noChangeShapeType="1"/>
          </p:cNvSpPr>
          <p:nvPr/>
        </p:nvSpPr>
        <p:spPr bwMode="auto">
          <a:xfrm>
            <a:off x="6751637" y="3376613"/>
            <a:ext cx="0" cy="274320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1" name="Line 7"/>
          <p:cNvSpPr>
            <a:spLocks noChangeShapeType="1"/>
          </p:cNvSpPr>
          <p:nvPr/>
        </p:nvSpPr>
        <p:spPr bwMode="auto">
          <a:xfrm>
            <a:off x="4940299" y="4062413"/>
            <a:ext cx="942975" cy="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2" name="Rectangle 8"/>
          <p:cNvSpPr>
            <a:spLocks noChangeArrowheads="1"/>
          </p:cNvSpPr>
          <p:nvPr/>
        </p:nvSpPr>
        <p:spPr bwMode="auto">
          <a:xfrm>
            <a:off x="4940299" y="3757613"/>
            <a:ext cx="8778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sz="1400" b="1">
                <a:latin typeface="Arial" pitchFamily="34" charset="0"/>
              </a:rPr>
              <a:t>shuffle()</a:t>
            </a:r>
          </a:p>
        </p:txBody>
      </p:sp>
      <p:sp>
        <p:nvSpPr>
          <p:cNvPr id="267273" name="Line 9"/>
          <p:cNvSpPr>
            <a:spLocks noChangeShapeType="1"/>
          </p:cNvSpPr>
          <p:nvPr/>
        </p:nvSpPr>
        <p:spPr bwMode="auto">
          <a:xfrm>
            <a:off x="3859212" y="3592513"/>
            <a:ext cx="0" cy="267970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4" name="Line 10"/>
          <p:cNvSpPr>
            <a:spLocks noChangeShapeType="1"/>
          </p:cNvSpPr>
          <p:nvPr/>
        </p:nvSpPr>
        <p:spPr bwMode="auto">
          <a:xfrm>
            <a:off x="5878512" y="3597275"/>
            <a:ext cx="0" cy="2522538"/>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5" name="Line 11"/>
          <p:cNvSpPr>
            <a:spLocks noChangeShapeType="1"/>
          </p:cNvSpPr>
          <p:nvPr/>
        </p:nvSpPr>
        <p:spPr bwMode="auto">
          <a:xfrm>
            <a:off x="4940299" y="4291013"/>
            <a:ext cx="984250" cy="0"/>
          </a:xfrm>
          <a:prstGeom prst="line">
            <a:avLst/>
          </a:prstGeom>
          <a:noFill/>
          <a:ln w="12700">
            <a:solidFill>
              <a:schemeClr val="tx1"/>
            </a:solidFill>
            <a:prstDash val="dash"/>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6" name="Line 12"/>
          <p:cNvSpPr>
            <a:spLocks noChangeShapeType="1"/>
          </p:cNvSpPr>
          <p:nvPr/>
        </p:nvSpPr>
        <p:spPr bwMode="auto">
          <a:xfrm>
            <a:off x="5907087" y="5053013"/>
            <a:ext cx="914400" cy="0"/>
          </a:xfrm>
          <a:prstGeom prst="line">
            <a:avLst/>
          </a:prstGeom>
          <a:noFill/>
          <a:ln w="12700">
            <a:solidFill>
              <a:schemeClr val="tx1"/>
            </a:solidFill>
            <a:prstDash val="dash"/>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7" name="Rectangle 13"/>
          <p:cNvSpPr>
            <a:spLocks noChangeArrowheads="1"/>
          </p:cNvSpPr>
          <p:nvPr/>
        </p:nvSpPr>
        <p:spPr bwMode="auto">
          <a:xfrm flipH="1">
            <a:off x="5856287" y="4010025"/>
            <a:ext cx="69850" cy="14239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267278" name="Rectangle 14"/>
          <p:cNvSpPr>
            <a:spLocks noChangeArrowheads="1"/>
          </p:cNvSpPr>
          <p:nvPr/>
        </p:nvSpPr>
        <p:spPr bwMode="auto">
          <a:xfrm>
            <a:off x="6751637" y="4748213"/>
            <a:ext cx="6985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267279" name="Rectangle 15"/>
          <p:cNvSpPr>
            <a:spLocks noChangeArrowheads="1"/>
          </p:cNvSpPr>
          <p:nvPr/>
        </p:nvSpPr>
        <p:spPr bwMode="auto">
          <a:xfrm>
            <a:off x="5943599" y="4443413"/>
            <a:ext cx="10556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sz="1400" b="1">
                <a:latin typeface="Arial" pitchFamily="34" charset="0"/>
              </a:rPr>
              <a:t>Initialise ()</a:t>
            </a:r>
            <a:endParaRPr lang="en-GB" altLang="en-US" sz="1600" b="1">
              <a:latin typeface="Arial" pitchFamily="34" charset="0"/>
            </a:endParaRPr>
          </a:p>
        </p:txBody>
      </p:sp>
      <p:sp>
        <p:nvSpPr>
          <p:cNvPr id="267280" name="Rectangle 16"/>
          <p:cNvSpPr>
            <a:spLocks noChangeArrowheads="1"/>
          </p:cNvSpPr>
          <p:nvPr/>
        </p:nvSpPr>
        <p:spPr bwMode="auto">
          <a:xfrm>
            <a:off x="5548312" y="3224213"/>
            <a:ext cx="676275" cy="31432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GB" altLang="en-US" sz="1400" b="1" u="sng">
                <a:latin typeface="Arial" pitchFamily="34" charset="0"/>
              </a:rPr>
              <a:t>:Deck</a:t>
            </a:r>
            <a:endParaRPr lang="en-GB" altLang="en-US" sz="1800" b="1" u="sng">
              <a:latin typeface="Arial" pitchFamily="34" charset="0"/>
            </a:endParaRPr>
          </a:p>
        </p:txBody>
      </p:sp>
      <p:sp>
        <p:nvSpPr>
          <p:cNvPr id="267281" name="Rectangle 17"/>
          <p:cNvSpPr>
            <a:spLocks noChangeArrowheads="1"/>
          </p:cNvSpPr>
          <p:nvPr/>
        </p:nvSpPr>
        <p:spPr bwMode="auto">
          <a:xfrm>
            <a:off x="6443662" y="3224213"/>
            <a:ext cx="695325" cy="31432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GB" altLang="en-US" sz="1400" b="1" u="sng">
                <a:latin typeface="Arial" pitchFamily="34" charset="0"/>
              </a:rPr>
              <a:t>:Hand</a:t>
            </a:r>
            <a:endParaRPr lang="en-GB" altLang="en-US" sz="1800" b="1" u="sng">
              <a:latin typeface="Arial" pitchFamily="34" charset="0"/>
            </a:endParaRPr>
          </a:p>
        </p:txBody>
      </p:sp>
      <p:sp>
        <p:nvSpPr>
          <p:cNvPr id="267282" name="Line 18"/>
          <p:cNvSpPr>
            <a:spLocks noChangeShapeType="1"/>
          </p:cNvSpPr>
          <p:nvPr/>
        </p:nvSpPr>
        <p:spPr bwMode="auto">
          <a:xfrm>
            <a:off x="5907087" y="4748213"/>
            <a:ext cx="844550" cy="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83" name="Rectangle 19"/>
          <p:cNvSpPr>
            <a:spLocks noChangeArrowheads="1"/>
          </p:cNvSpPr>
          <p:nvPr/>
        </p:nvSpPr>
        <p:spPr bwMode="auto">
          <a:xfrm>
            <a:off x="3251199" y="3246438"/>
            <a:ext cx="1196975" cy="739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spAutoFit/>
          </a:bodyPr>
          <a:lstStyle/>
          <a:p>
            <a:pPr algn="ctr"/>
            <a:r>
              <a:rPr lang="en-GB" altLang="en-US" sz="1400" b="1" u="sng">
                <a:latin typeface="Arial" pitchFamily="34" charset="0"/>
              </a:rPr>
              <a:t>DocHoliday:Player</a:t>
            </a:r>
          </a:p>
          <a:p>
            <a:pPr algn="ctr"/>
            <a:r>
              <a:rPr lang="en-GB" altLang="en-US" sz="1400" b="1">
                <a:latin typeface="Arial" pitchFamily="34" charset="0"/>
              </a:rPr>
              <a:t>&lt;&lt;actor&gt;&gt;</a:t>
            </a:r>
            <a:endParaRPr lang="en-GB" altLang="en-US" sz="1800" b="1" u="sng">
              <a:latin typeface="Arial" pitchFamily="34" charset="0"/>
            </a:endParaRPr>
          </a:p>
        </p:txBody>
      </p:sp>
      <p:sp>
        <p:nvSpPr>
          <p:cNvPr id="267284" name="Rectangle 20"/>
          <p:cNvSpPr>
            <a:spLocks noChangeArrowheads="1"/>
          </p:cNvSpPr>
          <p:nvPr/>
        </p:nvSpPr>
        <p:spPr bwMode="auto">
          <a:xfrm>
            <a:off x="4767262" y="4329113"/>
            <a:ext cx="1173162"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sz="1400" b="1">
                <a:latin typeface="Arial" pitchFamily="34" charset="0"/>
              </a:rPr>
              <a:t>deal(hands)</a:t>
            </a:r>
          </a:p>
        </p:txBody>
      </p:sp>
      <p:grpSp>
        <p:nvGrpSpPr>
          <p:cNvPr id="267285" name="Group 21"/>
          <p:cNvGrpSpPr>
            <a:grpSpLocks/>
          </p:cNvGrpSpPr>
          <p:nvPr/>
        </p:nvGrpSpPr>
        <p:grpSpPr bwMode="auto">
          <a:xfrm>
            <a:off x="6821487" y="4748213"/>
            <a:ext cx="492125" cy="319087"/>
            <a:chOff x="3685" y="2595"/>
            <a:chExt cx="126" cy="201"/>
          </a:xfrm>
        </p:grpSpPr>
        <p:sp>
          <p:nvSpPr>
            <p:cNvPr id="267286" name="Arc 22"/>
            <p:cNvSpPr>
              <a:spLocks/>
            </p:cNvSpPr>
            <p:nvPr/>
          </p:nvSpPr>
          <p:spPr bwMode="auto">
            <a:xfrm>
              <a:off x="3686" y="2595"/>
              <a:ext cx="124" cy="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87" name="Arc 23"/>
            <p:cNvSpPr>
              <a:spLocks/>
            </p:cNvSpPr>
            <p:nvPr/>
          </p:nvSpPr>
          <p:spPr bwMode="auto">
            <a:xfrm>
              <a:off x="3685" y="2689"/>
              <a:ext cx="126" cy="107"/>
            </a:xfrm>
            <a:custGeom>
              <a:avLst/>
              <a:gdLst>
                <a:gd name="G0" fmla="+- 174 0 0"/>
                <a:gd name="G1" fmla="+- 206 0 0"/>
                <a:gd name="G2" fmla="+- 21600 0 0"/>
                <a:gd name="T0" fmla="*/ 21773 w 21774"/>
                <a:gd name="T1" fmla="*/ 0 h 21806"/>
                <a:gd name="T2" fmla="*/ 0 w 21774"/>
                <a:gd name="T3" fmla="*/ 21805 h 21806"/>
                <a:gd name="T4" fmla="*/ 174 w 21774"/>
                <a:gd name="T5" fmla="*/ 206 h 21806"/>
              </a:gdLst>
              <a:ahLst/>
              <a:cxnLst>
                <a:cxn ang="0">
                  <a:pos x="T0" y="T1"/>
                </a:cxn>
                <a:cxn ang="0">
                  <a:pos x="T2" y="T3"/>
                </a:cxn>
                <a:cxn ang="0">
                  <a:pos x="T4" y="T5"/>
                </a:cxn>
              </a:cxnLst>
              <a:rect l="0" t="0" r="r" b="b"/>
              <a:pathLst>
                <a:path w="21774" h="21806" fill="none" extrusionOk="0">
                  <a:moveTo>
                    <a:pt x="21773" y="-1"/>
                  </a:moveTo>
                  <a:cubicBezTo>
                    <a:pt x="21773" y="68"/>
                    <a:pt x="21774" y="137"/>
                    <a:pt x="21774" y="206"/>
                  </a:cubicBezTo>
                  <a:cubicBezTo>
                    <a:pt x="21774" y="12135"/>
                    <a:pt x="12103" y="21806"/>
                    <a:pt x="174" y="21806"/>
                  </a:cubicBezTo>
                  <a:cubicBezTo>
                    <a:pt x="115" y="21806"/>
                    <a:pt x="57" y="21805"/>
                    <a:pt x="-1" y="21805"/>
                  </a:cubicBezTo>
                </a:path>
                <a:path w="21774" h="21806" stroke="0" extrusionOk="0">
                  <a:moveTo>
                    <a:pt x="21773" y="-1"/>
                  </a:moveTo>
                  <a:cubicBezTo>
                    <a:pt x="21773" y="68"/>
                    <a:pt x="21774" y="137"/>
                    <a:pt x="21774" y="206"/>
                  </a:cubicBezTo>
                  <a:cubicBezTo>
                    <a:pt x="21774" y="12135"/>
                    <a:pt x="12103" y="21806"/>
                    <a:pt x="174" y="21806"/>
                  </a:cubicBezTo>
                  <a:cubicBezTo>
                    <a:pt x="115" y="21806"/>
                    <a:pt x="57" y="21805"/>
                    <a:pt x="-1" y="21805"/>
                  </a:cubicBezTo>
                  <a:lnTo>
                    <a:pt x="174" y="206"/>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67288" name="Rectangle 24"/>
          <p:cNvSpPr>
            <a:spLocks noChangeArrowheads="1"/>
          </p:cNvSpPr>
          <p:nvPr/>
        </p:nvSpPr>
        <p:spPr bwMode="auto">
          <a:xfrm>
            <a:off x="7102474" y="4519613"/>
            <a:ext cx="6334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sz="1400" b="1">
                <a:latin typeface="Arial" pitchFamily="34" charset="0"/>
              </a:rPr>
              <a:t>sort()</a:t>
            </a:r>
            <a:endParaRPr lang="en-GB" altLang="en-US" sz="1600" b="1">
              <a:latin typeface="Arial" pitchFamily="34" charset="0"/>
            </a:endParaRPr>
          </a:p>
        </p:txBody>
      </p:sp>
      <p:sp>
        <p:nvSpPr>
          <p:cNvPr id="267289" name="Line 25"/>
          <p:cNvSpPr>
            <a:spLocks noChangeShapeType="1"/>
          </p:cNvSpPr>
          <p:nvPr/>
        </p:nvSpPr>
        <p:spPr bwMode="auto">
          <a:xfrm>
            <a:off x="7805737" y="3376613"/>
            <a:ext cx="0" cy="274320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90" name="Rectangle 26"/>
          <p:cNvSpPr>
            <a:spLocks noChangeArrowheads="1"/>
          </p:cNvSpPr>
          <p:nvPr/>
        </p:nvSpPr>
        <p:spPr bwMode="auto">
          <a:xfrm>
            <a:off x="7292974" y="3224213"/>
            <a:ext cx="1003300" cy="31432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GB" altLang="en-US" sz="1400" b="1" u="sng">
                <a:latin typeface="Arial" pitchFamily="34" charset="0"/>
              </a:rPr>
              <a:t>:DrawPile</a:t>
            </a:r>
            <a:endParaRPr lang="en-GB" altLang="en-US" sz="1800" b="1" u="sng">
              <a:latin typeface="Arial" pitchFamily="34" charset="0"/>
            </a:endParaRPr>
          </a:p>
        </p:txBody>
      </p:sp>
      <p:sp>
        <p:nvSpPr>
          <p:cNvPr id="267291" name="Line 27"/>
          <p:cNvSpPr>
            <a:spLocks noChangeShapeType="1"/>
          </p:cNvSpPr>
          <p:nvPr/>
        </p:nvSpPr>
        <p:spPr bwMode="auto">
          <a:xfrm>
            <a:off x="3884612" y="5738813"/>
            <a:ext cx="3868737" cy="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92" name="Rectangle 28"/>
          <p:cNvSpPr>
            <a:spLocks noChangeArrowheads="1"/>
          </p:cNvSpPr>
          <p:nvPr/>
        </p:nvSpPr>
        <p:spPr bwMode="auto">
          <a:xfrm>
            <a:off x="5010149" y="5434013"/>
            <a:ext cx="9175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GB" altLang="en-US" sz="1400" b="1">
                <a:latin typeface="Arial" pitchFamily="34" charset="0"/>
              </a:rPr>
              <a:t>pickup ()</a:t>
            </a:r>
            <a:endParaRPr lang="en-GB" altLang="en-US" sz="1600" b="1">
              <a:latin typeface="Arial" pitchFamily="34" charset="0"/>
            </a:endParaRPr>
          </a:p>
        </p:txBody>
      </p:sp>
      <p:sp>
        <p:nvSpPr>
          <p:cNvPr id="267293" name="Line 29"/>
          <p:cNvSpPr>
            <a:spLocks noChangeShapeType="1"/>
          </p:cNvSpPr>
          <p:nvPr/>
        </p:nvSpPr>
        <p:spPr bwMode="auto">
          <a:xfrm>
            <a:off x="3884612" y="5891213"/>
            <a:ext cx="3868737" cy="0"/>
          </a:xfrm>
          <a:prstGeom prst="line">
            <a:avLst/>
          </a:prstGeom>
          <a:noFill/>
          <a:ln w="12700">
            <a:solidFill>
              <a:schemeClr val="tx1"/>
            </a:solidFill>
            <a:prstDash val="dash"/>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94" name="Rectangle 30"/>
          <p:cNvSpPr>
            <a:spLocks noChangeArrowheads="1"/>
          </p:cNvSpPr>
          <p:nvPr/>
        </p:nvSpPr>
        <p:spPr bwMode="auto">
          <a:xfrm>
            <a:off x="7753349" y="5662613"/>
            <a:ext cx="6985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267295" name="Rectangle 31"/>
          <p:cNvSpPr>
            <a:spLocks noChangeArrowheads="1"/>
          </p:cNvSpPr>
          <p:nvPr/>
        </p:nvSpPr>
        <p:spPr bwMode="auto">
          <a:xfrm>
            <a:off x="649287" y="3605213"/>
            <a:ext cx="2181225"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GB" altLang="en-US" sz="1800" b="1" i="1">
                <a:latin typeface="Arial" pitchFamily="34" charset="0"/>
              </a:rPr>
              <a:t>1. System shuffles and deals cards. </a:t>
            </a:r>
          </a:p>
          <a:p>
            <a:r>
              <a:rPr lang="en-GB" altLang="en-US" sz="1800" b="1" i="1">
                <a:latin typeface="Arial" pitchFamily="34" charset="0"/>
              </a:rPr>
              <a:t>2. Doc Holiday pickups from the drawpile …. etc</a:t>
            </a:r>
          </a:p>
        </p:txBody>
      </p:sp>
      <p:sp>
        <p:nvSpPr>
          <p:cNvPr id="267296" name="Line 32"/>
          <p:cNvSpPr>
            <a:spLocks noChangeShapeType="1"/>
          </p:cNvSpPr>
          <p:nvPr/>
        </p:nvSpPr>
        <p:spPr bwMode="auto">
          <a:xfrm>
            <a:off x="4940299" y="4595813"/>
            <a:ext cx="942975" cy="0"/>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97" name="Line 33"/>
          <p:cNvSpPr>
            <a:spLocks noChangeShapeType="1"/>
          </p:cNvSpPr>
          <p:nvPr/>
        </p:nvSpPr>
        <p:spPr bwMode="auto">
          <a:xfrm>
            <a:off x="4940299" y="4824413"/>
            <a:ext cx="984250" cy="0"/>
          </a:xfrm>
          <a:prstGeom prst="line">
            <a:avLst/>
          </a:prstGeom>
          <a:noFill/>
          <a:ln w="12700">
            <a:solidFill>
              <a:schemeClr val="tx1"/>
            </a:solidFill>
            <a:prstDash val="dash"/>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98" name="Line 34"/>
          <p:cNvSpPr>
            <a:spLocks noChangeShapeType="1"/>
          </p:cNvSpPr>
          <p:nvPr/>
        </p:nvSpPr>
        <p:spPr bwMode="auto">
          <a:xfrm>
            <a:off x="4938712" y="3376613"/>
            <a:ext cx="0" cy="2743200"/>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99" name="Rectangle 35"/>
          <p:cNvSpPr>
            <a:spLocks noChangeArrowheads="1"/>
          </p:cNvSpPr>
          <p:nvPr/>
        </p:nvSpPr>
        <p:spPr bwMode="auto">
          <a:xfrm>
            <a:off x="4608512" y="3224213"/>
            <a:ext cx="746125" cy="31432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GB" altLang="en-US" sz="1400" b="1" u="sng">
                <a:latin typeface="Arial" pitchFamily="34" charset="0"/>
              </a:rPr>
              <a:t>:Game</a:t>
            </a:r>
            <a:endParaRPr lang="en-GB" altLang="en-US" sz="1800" b="1" u="sng">
              <a:latin typeface="Arial" pitchFamily="34" charset="0"/>
            </a:endParaRPr>
          </a:p>
        </p:txBody>
      </p:sp>
    </p:spTree>
    <p:extLst>
      <p:ext uri="{BB962C8B-B14F-4D97-AF65-F5344CB8AC3E}">
        <p14:creationId xmlns:p14="http://schemas.microsoft.com/office/powerpoint/2010/main" val="1474316392"/>
      </p:ext>
    </p:extLst>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UML Association</a:t>
            </a:r>
            <a:endParaRPr lang="en-GB" dirty="0"/>
          </a:p>
        </p:txBody>
      </p:sp>
      <p:sp>
        <p:nvSpPr>
          <p:cNvPr id="3" name="Content Placeholder 2"/>
          <p:cNvSpPr>
            <a:spLocks noGrp="1"/>
          </p:cNvSpPr>
          <p:nvPr>
            <p:ph idx="1"/>
          </p:nvPr>
        </p:nvSpPr>
        <p:spPr/>
        <p:txBody>
          <a:bodyPr/>
          <a:lstStyle/>
          <a:p>
            <a:r>
              <a:rPr lang="en-GB" b="0" dirty="0" smtClean="0"/>
              <a:t>Association example: Customer has a reference to Account</a:t>
            </a:r>
          </a:p>
          <a:p>
            <a:endParaRPr lang="en-GB" b="0" dirty="0"/>
          </a:p>
          <a:p>
            <a:endParaRPr lang="en-GB" b="0" dirty="0" smtClean="0"/>
          </a:p>
          <a:p>
            <a:endParaRPr lang="en-GB" b="0" dirty="0"/>
          </a:p>
          <a:p>
            <a:endParaRPr lang="en-GB" b="0" dirty="0" smtClean="0"/>
          </a:p>
          <a:p>
            <a:endParaRPr lang="en-GB" b="0" dirty="0"/>
          </a:p>
          <a:p>
            <a:endParaRPr lang="en-GB" b="0" dirty="0" smtClean="0"/>
          </a:p>
          <a:p>
            <a:endParaRPr lang="en-GB" b="0" dirty="0"/>
          </a:p>
        </p:txBody>
      </p:sp>
      <p:sp>
        <p:nvSpPr>
          <p:cNvPr id="8" name="Rectangle 7"/>
          <p:cNvSpPr/>
          <p:nvPr/>
        </p:nvSpPr>
        <p:spPr>
          <a:xfrm>
            <a:off x="1687481" y="3378173"/>
            <a:ext cx="5079079" cy="264687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dirty="0">
                <a:solidFill>
                  <a:srgbClr val="0000FF"/>
                </a:solidFill>
                <a:highlight>
                  <a:srgbClr val="FFFFFF"/>
                </a:highlight>
                <a:latin typeface="Consolas" panose="020B0609020204030204" pitchFamily="49" charset="0"/>
              </a:rPr>
              <a:t>class</a:t>
            </a:r>
            <a:r>
              <a:rPr lang="en-GB" sz="1800" dirty="0">
                <a:solidFill>
                  <a:srgbClr val="000000"/>
                </a:solidFill>
                <a:highlight>
                  <a:srgbClr val="FFFFFF"/>
                </a:highlight>
                <a:latin typeface="Consolas" panose="020B0609020204030204" pitchFamily="49" charset="0"/>
              </a:rPr>
              <a:t> </a:t>
            </a:r>
            <a:r>
              <a:rPr lang="en-GB" sz="1800" dirty="0">
                <a:solidFill>
                  <a:srgbClr val="2B91AF"/>
                </a:solidFill>
                <a:highlight>
                  <a:srgbClr val="FFFFFF"/>
                </a:highlight>
                <a:latin typeface="Consolas" panose="020B0609020204030204" pitchFamily="49" charset="0"/>
              </a:rPr>
              <a:t>Customer</a:t>
            </a:r>
            <a:r>
              <a:rPr lang="en-GB" sz="1800" dirty="0">
                <a:solidFill>
                  <a:srgbClr val="000000"/>
                </a:solidFill>
                <a:highlight>
                  <a:srgbClr val="FFFFFF"/>
                </a:highlight>
                <a:latin typeface="Consolas" panose="020B0609020204030204" pitchFamily="49" charset="0"/>
              </a:rPr>
              <a:t> </a:t>
            </a:r>
            <a:endParaRPr lang="en-GB" sz="1800" dirty="0" smtClean="0">
              <a:solidFill>
                <a:srgbClr val="000000"/>
              </a:solidFill>
              <a:highlight>
                <a:srgbClr val="FFFFFF"/>
              </a:highlight>
              <a:latin typeface="Consolas" panose="020B0609020204030204" pitchFamily="49" charset="0"/>
            </a:endParaRPr>
          </a:p>
          <a:p>
            <a:r>
              <a:rPr lang="en-GB" sz="1800" dirty="0" smtClean="0">
                <a:solidFill>
                  <a:srgbClr val="000000"/>
                </a:solidFill>
                <a:highlight>
                  <a:srgbClr val="FFFFFF"/>
                </a:highlight>
                <a:latin typeface="Consolas" panose="020B0609020204030204" pitchFamily="49" charset="0"/>
              </a:rPr>
              <a:t>{</a:t>
            </a:r>
            <a:endParaRPr lang="en-GB" sz="1800" dirty="0">
              <a:solidFill>
                <a:srgbClr val="000000"/>
              </a:solidFill>
              <a:highlight>
                <a:srgbClr val="FFFFFF"/>
              </a:highlight>
              <a:latin typeface="Consolas" panose="020B0609020204030204" pitchFamily="49" charset="0"/>
            </a:endParaRPr>
          </a:p>
          <a:p>
            <a:r>
              <a:rPr lang="en-GB" sz="1800" dirty="0">
                <a:solidFill>
                  <a:srgbClr val="000000"/>
                </a:solidFill>
                <a:highlight>
                  <a:srgbClr val="FFFFFF"/>
                </a:highlight>
                <a:latin typeface="Consolas" panose="020B0609020204030204" pitchFamily="49" charset="0"/>
              </a:rPr>
              <a:t>    </a:t>
            </a:r>
            <a:r>
              <a:rPr lang="en-GB" sz="2000" b="1" dirty="0">
                <a:solidFill>
                  <a:srgbClr val="2B91AF"/>
                </a:solidFill>
                <a:highlight>
                  <a:srgbClr val="FFFFFF"/>
                </a:highlight>
                <a:latin typeface="Consolas" panose="020B0609020204030204" pitchFamily="49" charset="0"/>
              </a:rPr>
              <a:t>Account</a:t>
            </a:r>
            <a:r>
              <a:rPr lang="en-GB" sz="2000" b="1" dirty="0">
                <a:solidFill>
                  <a:srgbClr val="000000"/>
                </a:solidFill>
                <a:highlight>
                  <a:srgbClr val="FFFFFF"/>
                </a:highlight>
                <a:latin typeface="Consolas" panose="020B0609020204030204" pitchFamily="49" charset="0"/>
              </a:rPr>
              <a:t> </a:t>
            </a:r>
            <a:r>
              <a:rPr lang="en-GB" sz="2000" b="1" dirty="0" err="1">
                <a:solidFill>
                  <a:srgbClr val="000000"/>
                </a:solidFill>
                <a:highlight>
                  <a:srgbClr val="FFFFFF"/>
                </a:highlight>
                <a:latin typeface="Consolas" panose="020B0609020204030204" pitchFamily="49" charset="0"/>
              </a:rPr>
              <a:t>account</a:t>
            </a:r>
            <a:r>
              <a:rPr lang="en-GB" sz="2000" b="1" dirty="0" smtClean="0">
                <a:solidFill>
                  <a:srgbClr val="000000"/>
                </a:solidFill>
                <a:highlight>
                  <a:srgbClr val="FFFFFF"/>
                </a:highlight>
                <a:latin typeface="Consolas" panose="020B0609020204030204" pitchFamily="49" charset="0"/>
              </a:rPr>
              <a:t>;</a:t>
            </a:r>
          </a:p>
          <a:p>
            <a:endParaRPr lang="en-GB" sz="1800" b="1" dirty="0">
              <a:solidFill>
                <a:srgbClr val="000000"/>
              </a:solidFill>
              <a:highlight>
                <a:srgbClr val="FFFFFF"/>
              </a:highlight>
              <a:latin typeface="Consolas" panose="020B0609020204030204" pitchFamily="49" charset="0"/>
            </a:endParaRPr>
          </a:p>
          <a:p>
            <a:r>
              <a:rPr lang="en-GB" sz="1800" dirty="0">
                <a:solidFill>
                  <a:srgbClr val="000000"/>
                </a:solidFill>
                <a:highlight>
                  <a:srgbClr val="FFFFFF"/>
                </a:highlight>
                <a:latin typeface="Consolas" panose="020B0609020204030204" pitchFamily="49" charset="0"/>
              </a:rPr>
              <a:t>    </a:t>
            </a:r>
            <a:r>
              <a:rPr lang="en-GB" sz="1800" dirty="0">
                <a:solidFill>
                  <a:srgbClr val="0000FF"/>
                </a:solidFill>
                <a:highlight>
                  <a:srgbClr val="FFFFFF"/>
                </a:highlight>
                <a:latin typeface="Consolas" panose="020B0609020204030204" pitchFamily="49" charset="0"/>
              </a:rPr>
              <a:t>public</a:t>
            </a:r>
            <a:r>
              <a:rPr lang="en-GB" sz="1800" dirty="0">
                <a:solidFill>
                  <a:srgbClr val="000000"/>
                </a:solidFill>
                <a:highlight>
                  <a:srgbClr val="FFFFFF"/>
                </a:highlight>
                <a:latin typeface="Consolas" panose="020B0609020204030204" pitchFamily="49" charset="0"/>
              </a:rPr>
              <a:t> Customer() </a:t>
            </a:r>
            <a:endParaRPr lang="en-GB" sz="1800" dirty="0" smtClean="0">
              <a:solidFill>
                <a:srgbClr val="000000"/>
              </a:solidFill>
              <a:highlight>
                <a:srgbClr val="FFFFFF"/>
              </a:highlight>
              <a:latin typeface="Consolas" panose="020B0609020204030204" pitchFamily="49" charset="0"/>
            </a:endParaRPr>
          </a:p>
          <a:p>
            <a:r>
              <a:rPr lang="en-GB" sz="1800" dirty="0">
                <a:solidFill>
                  <a:srgbClr val="000000"/>
                </a:solidFill>
                <a:highlight>
                  <a:srgbClr val="FFFFFF"/>
                </a:highlight>
                <a:latin typeface="Consolas" panose="020B0609020204030204" pitchFamily="49" charset="0"/>
              </a:rPr>
              <a:t> </a:t>
            </a:r>
            <a:r>
              <a:rPr lang="en-GB" sz="1800" dirty="0" smtClean="0">
                <a:solidFill>
                  <a:srgbClr val="000000"/>
                </a:solidFill>
                <a:highlight>
                  <a:srgbClr val="FFFFFF"/>
                </a:highlight>
                <a:latin typeface="Consolas" panose="020B0609020204030204" pitchFamily="49" charset="0"/>
              </a:rPr>
              <a:t>   {</a:t>
            </a:r>
            <a:endParaRPr lang="en-GB" sz="1800" dirty="0">
              <a:solidFill>
                <a:srgbClr val="000000"/>
              </a:solidFill>
              <a:highlight>
                <a:srgbClr val="FFFFFF"/>
              </a:highlight>
              <a:latin typeface="Consolas" panose="020B0609020204030204" pitchFamily="49" charset="0"/>
            </a:endParaRPr>
          </a:p>
          <a:p>
            <a:r>
              <a:rPr lang="en-GB" sz="1800" dirty="0">
                <a:solidFill>
                  <a:srgbClr val="000000"/>
                </a:solidFill>
                <a:highlight>
                  <a:srgbClr val="FFFFFF"/>
                </a:highlight>
                <a:latin typeface="Consolas" panose="020B0609020204030204" pitchFamily="49" charset="0"/>
              </a:rPr>
              <a:t>        </a:t>
            </a:r>
            <a:r>
              <a:rPr lang="en-GB" sz="2000" b="1" dirty="0">
                <a:solidFill>
                  <a:srgbClr val="000000"/>
                </a:solidFill>
                <a:highlight>
                  <a:srgbClr val="FFFFFF"/>
                </a:highlight>
                <a:latin typeface="Consolas" panose="020B0609020204030204" pitchFamily="49" charset="0"/>
              </a:rPr>
              <a:t>account = </a:t>
            </a:r>
            <a:r>
              <a:rPr lang="en-GB" sz="2000" b="1" dirty="0">
                <a:solidFill>
                  <a:srgbClr val="0000FF"/>
                </a:solidFill>
                <a:highlight>
                  <a:srgbClr val="FFFFFF"/>
                </a:highlight>
                <a:latin typeface="Consolas" panose="020B0609020204030204" pitchFamily="49" charset="0"/>
              </a:rPr>
              <a:t>new</a:t>
            </a:r>
            <a:r>
              <a:rPr lang="en-GB" sz="2000" b="1" dirty="0">
                <a:solidFill>
                  <a:srgbClr val="000000"/>
                </a:solidFill>
                <a:highlight>
                  <a:srgbClr val="FFFFFF"/>
                </a:highlight>
                <a:latin typeface="Consolas" panose="020B0609020204030204" pitchFamily="49" charset="0"/>
              </a:rPr>
              <a:t> </a:t>
            </a:r>
            <a:r>
              <a:rPr lang="en-GB" sz="2000" b="1" dirty="0">
                <a:solidFill>
                  <a:srgbClr val="2B91AF"/>
                </a:solidFill>
                <a:highlight>
                  <a:srgbClr val="FFFFFF"/>
                </a:highlight>
                <a:latin typeface="Consolas" panose="020B0609020204030204" pitchFamily="49" charset="0"/>
              </a:rPr>
              <a:t>Account</a:t>
            </a:r>
            <a:r>
              <a:rPr lang="en-GB" sz="2000" b="1" dirty="0">
                <a:solidFill>
                  <a:srgbClr val="000000"/>
                </a:solidFill>
                <a:highlight>
                  <a:srgbClr val="FFFFFF"/>
                </a:highlight>
                <a:latin typeface="Consolas" panose="020B0609020204030204" pitchFamily="49" charset="0"/>
              </a:rPr>
              <a:t>();</a:t>
            </a:r>
            <a:endParaRPr lang="en-GB" sz="1800" b="1" dirty="0">
              <a:solidFill>
                <a:srgbClr val="000000"/>
              </a:solidFill>
              <a:highlight>
                <a:srgbClr val="FFFFFF"/>
              </a:highlight>
              <a:latin typeface="Consolas" panose="020B0609020204030204" pitchFamily="49" charset="0"/>
            </a:endParaRPr>
          </a:p>
          <a:p>
            <a:r>
              <a:rPr lang="en-GB" sz="1800" dirty="0">
                <a:solidFill>
                  <a:srgbClr val="000000"/>
                </a:solidFill>
                <a:highlight>
                  <a:srgbClr val="FFFFFF"/>
                </a:highlight>
                <a:latin typeface="Consolas" panose="020B0609020204030204" pitchFamily="49" charset="0"/>
              </a:rPr>
              <a:t>    }</a:t>
            </a:r>
          </a:p>
          <a:p>
            <a:r>
              <a:rPr lang="en-GB" sz="1800" dirty="0" smtClean="0">
                <a:solidFill>
                  <a:srgbClr val="000000"/>
                </a:solidFill>
                <a:highlight>
                  <a:srgbClr val="FFFFFF"/>
                </a:highlight>
                <a:latin typeface="Consolas" panose="020B0609020204030204" pitchFamily="49" charset="0"/>
              </a:rPr>
              <a:t>}</a:t>
            </a:r>
            <a:endParaRPr lang="en-GB" sz="1800" dirty="0">
              <a:solidFill>
                <a:srgbClr val="000000"/>
              </a:solidFill>
              <a:highlight>
                <a:srgbClr val="FFFFFF"/>
              </a:highlight>
              <a:latin typeface="Consolas" panose="020B0609020204030204" pitchFamily="49" charset="0"/>
            </a:endParaRPr>
          </a:p>
        </p:txBody>
      </p:sp>
      <p:pic>
        <p:nvPicPr>
          <p:cNvPr id="6" name="Picture 5"/>
          <p:cNvPicPr>
            <a:picLocks noChangeAspect="1"/>
          </p:cNvPicPr>
          <p:nvPr/>
        </p:nvPicPr>
        <p:blipFill>
          <a:blip r:embed="rId2"/>
          <a:stretch>
            <a:fillRect/>
          </a:stretch>
        </p:blipFill>
        <p:spPr>
          <a:xfrm>
            <a:off x="938221" y="1767935"/>
            <a:ext cx="6185465" cy="1191396"/>
          </a:xfrm>
          <a:prstGeom prst="rect">
            <a:avLst/>
          </a:prstGeom>
        </p:spPr>
      </p:pic>
    </p:spTree>
    <p:extLst>
      <p:ext uri="{BB962C8B-B14F-4D97-AF65-F5344CB8AC3E}">
        <p14:creationId xmlns:p14="http://schemas.microsoft.com/office/powerpoint/2010/main" val="13807169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UML Dependency</a:t>
            </a:r>
            <a:endParaRPr lang="en-GB" dirty="0"/>
          </a:p>
        </p:txBody>
      </p:sp>
      <p:sp>
        <p:nvSpPr>
          <p:cNvPr id="3" name="Content Placeholder 2"/>
          <p:cNvSpPr>
            <a:spLocks noGrp="1"/>
          </p:cNvSpPr>
          <p:nvPr>
            <p:ph idx="1"/>
          </p:nvPr>
        </p:nvSpPr>
        <p:spPr/>
        <p:txBody>
          <a:bodyPr/>
          <a:lstStyle/>
          <a:p>
            <a:r>
              <a:rPr lang="en-GB" b="0" dirty="0" smtClean="0"/>
              <a:t>Dependency </a:t>
            </a:r>
            <a:r>
              <a:rPr lang="en-GB" b="0" dirty="0"/>
              <a:t>(looser association</a:t>
            </a:r>
            <a:r>
              <a:rPr lang="en-GB" b="0" dirty="0" smtClean="0"/>
              <a:t>)  example 1</a:t>
            </a:r>
            <a:endParaRPr lang="en-GB" b="0" dirty="0"/>
          </a:p>
        </p:txBody>
      </p:sp>
      <p:sp>
        <p:nvSpPr>
          <p:cNvPr id="14" name="Rectangle 13"/>
          <p:cNvSpPr/>
          <p:nvPr/>
        </p:nvSpPr>
        <p:spPr>
          <a:xfrm>
            <a:off x="1005838" y="3313572"/>
            <a:ext cx="5910351"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smtClean="0">
                <a:solidFill>
                  <a:srgbClr val="0000FF"/>
                </a:solidFill>
                <a:highlight>
                  <a:srgbClr val="FFFFFF"/>
                </a:highlight>
                <a:latin typeface="Consolas" panose="020B0609020204030204" pitchFamily="49" charset="0"/>
              </a:rPr>
              <a:t>class</a:t>
            </a:r>
            <a:r>
              <a:rPr lang="en-GB" sz="1800" b="1" dirty="0" smtClean="0">
                <a:solidFill>
                  <a:srgbClr val="000000"/>
                </a:solidFill>
                <a:highlight>
                  <a:srgbClr val="FFFFFF"/>
                </a:highlight>
                <a:latin typeface="Consolas" panose="020B0609020204030204" pitchFamily="49" charset="0"/>
              </a:rPr>
              <a:t> </a:t>
            </a:r>
            <a:r>
              <a:rPr lang="en-GB" sz="1800" b="1" dirty="0">
                <a:solidFill>
                  <a:srgbClr val="2B91AF"/>
                </a:solidFill>
                <a:highlight>
                  <a:srgbClr val="FFFFFF"/>
                </a:highlight>
                <a:latin typeface="Consolas" panose="020B0609020204030204" pitchFamily="49" charset="0"/>
              </a:rPr>
              <a:t>Bank</a:t>
            </a:r>
            <a:r>
              <a:rPr lang="en-GB" sz="1800" b="1" dirty="0">
                <a:solidFill>
                  <a:srgbClr val="000000"/>
                </a:solidFill>
                <a:highlight>
                  <a:srgbClr val="FFFFFF"/>
                </a:highlight>
                <a:latin typeface="Consolas" panose="020B0609020204030204" pitchFamily="49" charset="0"/>
              </a:rPr>
              <a:t> </a:t>
            </a:r>
            <a:endParaRPr lang="en-GB" sz="1800" b="1" dirty="0" smtClean="0">
              <a:solidFill>
                <a:srgbClr val="000000"/>
              </a:solidFill>
              <a:highlight>
                <a:srgbClr val="FFFFFF"/>
              </a:highlight>
              <a:latin typeface="Consolas" panose="020B0609020204030204" pitchFamily="49" charset="0"/>
            </a:endParaRPr>
          </a:p>
          <a:p>
            <a:r>
              <a:rPr lang="en-GB" sz="1800" b="1" dirty="0" smtClean="0">
                <a:solidFill>
                  <a:srgbClr val="000000"/>
                </a:solidFill>
                <a:highlight>
                  <a:srgbClr val="FFFFFF"/>
                </a:highlight>
                <a:latin typeface="Consolas" panose="020B0609020204030204" pitchFamily="49" charset="0"/>
              </a:rPr>
              <a:t>{</a:t>
            </a:r>
            <a:endParaRPr lang="en-GB" sz="1800" b="1" dirty="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public</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void</a:t>
            </a:r>
            <a:r>
              <a:rPr lang="en-GB" sz="1800" b="1" dirty="0">
                <a:solidFill>
                  <a:srgbClr val="000000"/>
                </a:solidFill>
                <a:highlight>
                  <a:srgbClr val="FFFFFF"/>
                </a:highlight>
                <a:latin typeface="Consolas" panose="020B0609020204030204" pitchFamily="49" charset="0"/>
              </a:rPr>
              <a:t> Register(</a:t>
            </a:r>
            <a:r>
              <a:rPr lang="en-GB" sz="1800" b="1" dirty="0">
                <a:solidFill>
                  <a:srgbClr val="2B91AF"/>
                </a:solidFill>
                <a:highlight>
                  <a:srgbClr val="FFFFFF"/>
                </a:highlight>
                <a:latin typeface="Consolas" panose="020B0609020204030204" pitchFamily="49" charset="0"/>
              </a:rPr>
              <a:t>Account</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acc</a:t>
            </a:r>
            <a:r>
              <a:rPr lang="en-GB" sz="1800" b="1" dirty="0">
                <a:solidFill>
                  <a:srgbClr val="000000"/>
                </a:solidFill>
                <a:highlight>
                  <a:srgbClr val="FFFFFF"/>
                </a:highlight>
                <a:latin typeface="Consolas" panose="020B0609020204030204" pitchFamily="49" charset="0"/>
              </a:rPr>
              <a:t>) </a:t>
            </a:r>
            <a:endParaRPr lang="en-GB" sz="1800" b="1" dirty="0" smtClean="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smtClean="0">
                <a:solidFill>
                  <a:srgbClr val="000000"/>
                </a:solidFill>
                <a:highlight>
                  <a:srgbClr val="FFFFFF"/>
                </a:highlight>
                <a:latin typeface="Consolas" panose="020B0609020204030204" pitchFamily="49" charset="0"/>
              </a:rPr>
              <a:t>   {</a:t>
            </a:r>
            <a:endParaRPr lang="en-GB" sz="1800" b="1" dirty="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acc.Open</a:t>
            </a:r>
            <a:r>
              <a:rPr lang="en-GB" sz="1800" b="1" dirty="0">
                <a:solidFill>
                  <a:srgbClr val="000000"/>
                </a:solidFill>
                <a:highlight>
                  <a:srgbClr val="FFFFFF"/>
                </a:highlight>
                <a:latin typeface="Consolas" panose="020B0609020204030204" pitchFamily="49" charset="0"/>
              </a:rPr>
              <a:t>();  </a:t>
            </a:r>
          </a:p>
          <a:p>
            <a:r>
              <a:rPr lang="en-GB" sz="1800" b="1" dirty="0">
                <a:solidFill>
                  <a:srgbClr val="000000"/>
                </a:solidFill>
                <a:highlight>
                  <a:srgbClr val="FFFFFF"/>
                </a:highlight>
                <a:latin typeface="Consolas" panose="020B0609020204030204" pitchFamily="49" charset="0"/>
              </a:rPr>
              <a:t>    }</a:t>
            </a:r>
          </a:p>
          <a:p>
            <a:r>
              <a:rPr lang="en-GB" sz="1800" b="1" dirty="0">
                <a:solidFill>
                  <a:srgbClr val="000000"/>
                </a:solidFill>
                <a:highlight>
                  <a:srgbClr val="FFFFFF"/>
                </a:highlight>
                <a:latin typeface="Consolas" panose="020B0609020204030204" pitchFamily="49" charset="0"/>
              </a:rPr>
              <a:t>}</a:t>
            </a:r>
          </a:p>
        </p:txBody>
      </p:sp>
      <p:sp>
        <p:nvSpPr>
          <p:cNvPr id="8" name="Oval Callout 7"/>
          <p:cNvSpPr/>
          <p:nvPr/>
        </p:nvSpPr>
        <p:spPr>
          <a:xfrm>
            <a:off x="4156366" y="4887882"/>
            <a:ext cx="4089862" cy="947651"/>
          </a:xfrm>
          <a:prstGeom prst="wedgeEllipseCallout">
            <a:avLst>
              <a:gd name="adj1" fmla="val -24492"/>
              <a:gd name="adj2" fmla="val -70833"/>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smtClean="0">
                <a:solidFill>
                  <a:schemeClr val="tx1"/>
                </a:solidFill>
                <a:latin typeface="Arial" pitchFamily="34" charset="0"/>
                <a:cs typeface="Arial" pitchFamily="34" charset="0"/>
              </a:rPr>
              <a:t>Passed in as a parameter and used only in the method</a:t>
            </a:r>
          </a:p>
        </p:txBody>
      </p:sp>
      <p:pic>
        <p:nvPicPr>
          <p:cNvPr id="4" name="Picture 3"/>
          <p:cNvPicPr>
            <a:picLocks noChangeAspect="1"/>
          </p:cNvPicPr>
          <p:nvPr/>
        </p:nvPicPr>
        <p:blipFill>
          <a:blip r:embed="rId2"/>
          <a:stretch>
            <a:fillRect/>
          </a:stretch>
        </p:blipFill>
        <p:spPr>
          <a:xfrm>
            <a:off x="990434" y="1760829"/>
            <a:ext cx="5576626" cy="1036493"/>
          </a:xfrm>
          <a:prstGeom prst="rect">
            <a:avLst/>
          </a:prstGeom>
        </p:spPr>
      </p:pic>
    </p:spTree>
    <p:extLst>
      <p:ext uri="{BB962C8B-B14F-4D97-AF65-F5344CB8AC3E}">
        <p14:creationId xmlns:p14="http://schemas.microsoft.com/office/powerpoint/2010/main" val="5466846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UML Dependency another example</a:t>
            </a:r>
            <a:endParaRPr lang="en-GB" dirty="0"/>
          </a:p>
        </p:txBody>
      </p:sp>
      <p:sp>
        <p:nvSpPr>
          <p:cNvPr id="3" name="Content Placeholder 2"/>
          <p:cNvSpPr>
            <a:spLocks noGrp="1"/>
          </p:cNvSpPr>
          <p:nvPr>
            <p:ph idx="1"/>
          </p:nvPr>
        </p:nvSpPr>
        <p:spPr>
          <a:xfrm>
            <a:off x="180000" y="883375"/>
            <a:ext cx="8820000" cy="5220000"/>
          </a:xfrm>
        </p:spPr>
        <p:txBody>
          <a:bodyPr/>
          <a:lstStyle/>
          <a:p>
            <a:endParaRPr lang="en-GB" b="0" dirty="0"/>
          </a:p>
        </p:txBody>
      </p:sp>
      <p:sp>
        <p:nvSpPr>
          <p:cNvPr id="14" name="Rectangle 13"/>
          <p:cNvSpPr/>
          <p:nvPr/>
        </p:nvSpPr>
        <p:spPr>
          <a:xfrm>
            <a:off x="1022463" y="2897941"/>
            <a:ext cx="5910351" cy="21236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smtClean="0">
                <a:solidFill>
                  <a:srgbClr val="0000FF"/>
                </a:solidFill>
                <a:highlight>
                  <a:srgbClr val="FFFFFF"/>
                </a:highlight>
                <a:latin typeface="Consolas" panose="020B0609020204030204" pitchFamily="49" charset="0"/>
              </a:rPr>
              <a:t>class</a:t>
            </a:r>
            <a:r>
              <a:rPr lang="en-GB" sz="1600" dirty="0" smtClean="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Bank</a:t>
            </a:r>
            <a:r>
              <a:rPr lang="en-GB" sz="1600" dirty="0">
                <a:solidFill>
                  <a:srgbClr val="000000"/>
                </a:solidFill>
                <a:highlight>
                  <a:srgbClr val="FFFFFF"/>
                </a:highlight>
                <a:latin typeface="Consolas" panose="020B0609020204030204" pitchFamily="49" charset="0"/>
              </a:rPr>
              <a:t> </a:t>
            </a:r>
            <a:endParaRPr lang="en-GB" sz="1600" dirty="0" smtClean="0">
              <a:solidFill>
                <a:srgbClr val="000000"/>
              </a:solidFill>
              <a:highlight>
                <a:srgbClr val="FFFFFF"/>
              </a:highlight>
              <a:latin typeface="Consolas" panose="020B0609020204030204" pitchFamily="49" charset="0"/>
            </a:endParaRPr>
          </a:p>
          <a:p>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a:t>
            </a:r>
            <a:r>
              <a:rPr lang="en-GB" sz="1800" b="1" dirty="0" err="1" smtClean="0">
                <a:solidFill>
                  <a:srgbClr val="000000"/>
                </a:solidFill>
                <a:highlight>
                  <a:srgbClr val="FFFFFF"/>
                </a:highlight>
                <a:latin typeface="Consolas" panose="020B0609020204030204" pitchFamily="49" charset="0"/>
              </a:rPr>
              <a:t>CreateAccount</a:t>
            </a:r>
            <a:r>
              <a:rPr lang="en-GB" sz="1800" b="1" dirty="0" smtClean="0">
                <a:solidFill>
                  <a:srgbClr val="000000"/>
                </a:solidFill>
                <a:highlight>
                  <a:srgbClr val="FFFFFF"/>
                </a:highlight>
                <a:latin typeface="Consolas" panose="020B0609020204030204" pitchFamily="49" charset="0"/>
              </a:rPr>
              <a:t>(</a:t>
            </a:r>
            <a:r>
              <a:rPr lang="en-GB" sz="1800" b="1" dirty="0" err="1" smtClean="0">
                <a:solidFill>
                  <a:srgbClr val="000000"/>
                </a:solidFill>
                <a:highlight>
                  <a:srgbClr val="FFFFFF"/>
                </a:highlight>
                <a:latin typeface="Consolas" panose="020B0609020204030204" pitchFamily="49" charset="0"/>
              </a:rPr>
              <a:t>int</a:t>
            </a:r>
            <a:r>
              <a:rPr lang="en-GB" sz="1800" b="1" dirty="0" smtClean="0">
                <a:solidFill>
                  <a:srgbClr val="000000"/>
                </a:solidFill>
                <a:highlight>
                  <a:srgbClr val="FFFFFF"/>
                </a:highlight>
                <a:latin typeface="Consolas" panose="020B0609020204030204" pitchFamily="49" charset="0"/>
              </a:rPr>
              <a:t> id)</a:t>
            </a:r>
            <a:r>
              <a:rPr lang="en-GB" sz="1600" dirty="0" smtClean="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800" b="1" dirty="0" smtClean="0">
                <a:solidFill>
                  <a:srgbClr val="000000"/>
                </a:solidFill>
                <a:highlight>
                  <a:srgbClr val="FFFFFF"/>
                </a:highlight>
                <a:latin typeface="Consolas" panose="020B0609020204030204" pitchFamily="49" charset="0"/>
              </a:rPr>
              <a:t>	</a:t>
            </a:r>
            <a:r>
              <a:rPr lang="en-GB" sz="1800" b="1" dirty="0" smtClean="0">
                <a:solidFill>
                  <a:srgbClr val="2B91AF"/>
                </a:solidFill>
                <a:highlight>
                  <a:srgbClr val="FFFFFF"/>
                </a:highlight>
                <a:latin typeface="Consolas" panose="020B0609020204030204" pitchFamily="49" charset="0"/>
              </a:rPr>
              <a:t>Account</a:t>
            </a:r>
            <a:r>
              <a:rPr lang="en-GB" sz="1800" b="1" dirty="0" smtClean="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account</a:t>
            </a:r>
            <a:r>
              <a:rPr lang="en-GB" sz="1800" b="1" dirty="0">
                <a:solidFill>
                  <a:srgbClr val="000000"/>
                </a:solidFill>
                <a:highlight>
                  <a:srgbClr val="FFFFFF"/>
                </a:highlight>
                <a:latin typeface="Consolas" panose="020B0609020204030204" pitchFamily="49" charset="0"/>
              </a:rPr>
              <a:t> = </a:t>
            </a:r>
            <a:r>
              <a:rPr lang="en-GB" sz="1800" b="1" dirty="0">
                <a:solidFill>
                  <a:srgbClr val="0000FF"/>
                </a:solidFill>
                <a:highlight>
                  <a:srgbClr val="FFFFFF"/>
                </a:highlight>
                <a:latin typeface="Consolas" panose="020B0609020204030204" pitchFamily="49" charset="0"/>
              </a:rPr>
              <a:t>new</a:t>
            </a:r>
            <a:r>
              <a:rPr lang="en-GB" sz="1800" b="1" dirty="0">
                <a:solidFill>
                  <a:srgbClr val="000000"/>
                </a:solidFill>
                <a:highlight>
                  <a:srgbClr val="FFFFFF"/>
                </a:highlight>
                <a:latin typeface="Consolas" panose="020B0609020204030204" pitchFamily="49" charset="0"/>
              </a:rPr>
              <a:t> </a:t>
            </a:r>
            <a:r>
              <a:rPr lang="en-GB" sz="1800" b="1" dirty="0" smtClean="0">
                <a:solidFill>
                  <a:srgbClr val="2B91AF"/>
                </a:solidFill>
                <a:highlight>
                  <a:srgbClr val="FFFFFF"/>
                </a:highlight>
                <a:latin typeface="Consolas" panose="020B0609020204030204" pitchFamily="49" charset="0"/>
              </a:rPr>
              <a:t>Account</a:t>
            </a:r>
            <a:r>
              <a:rPr lang="en-GB" sz="1800" b="1" dirty="0" smtClean="0">
                <a:solidFill>
                  <a:srgbClr val="000000"/>
                </a:solidFill>
                <a:highlight>
                  <a:srgbClr val="FFFFFF"/>
                </a:highlight>
                <a:latin typeface="Consolas" panose="020B0609020204030204" pitchFamily="49" charset="0"/>
              </a:rPr>
              <a:t>(id);</a:t>
            </a:r>
          </a:p>
          <a:p>
            <a:r>
              <a:rPr lang="en-GB" sz="1600" dirty="0">
                <a:solidFill>
                  <a:srgbClr val="000000"/>
                </a:solidFill>
                <a:highlight>
                  <a:srgbClr val="FFFFFF"/>
                </a:highlight>
                <a:latin typeface="Consolas" panose="020B0609020204030204" pitchFamily="49" charset="0"/>
              </a:rPr>
              <a:t>	</a:t>
            </a:r>
            <a:r>
              <a:rPr lang="en-GB" sz="1600" dirty="0" err="1" smtClean="0">
                <a:solidFill>
                  <a:srgbClr val="000000"/>
                </a:solidFill>
                <a:highlight>
                  <a:srgbClr val="FFFFFF"/>
                </a:highlight>
                <a:latin typeface="Consolas" panose="020B0609020204030204" pitchFamily="49" charset="0"/>
              </a:rPr>
              <a:t>accounts.Add</a:t>
            </a:r>
            <a:r>
              <a:rPr lang="en-GB" sz="1600" dirty="0" smtClean="0">
                <a:solidFill>
                  <a:srgbClr val="000000"/>
                </a:solidFill>
                <a:highlight>
                  <a:srgbClr val="FFFFFF"/>
                </a:highlight>
                <a:latin typeface="Consolas" panose="020B0609020204030204" pitchFamily="49" charset="0"/>
              </a:rPr>
              <a:t>(account);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p:txBody>
      </p:sp>
      <p:sp>
        <p:nvSpPr>
          <p:cNvPr id="4" name="Oval Callout 3"/>
          <p:cNvSpPr/>
          <p:nvPr/>
        </p:nvSpPr>
        <p:spPr>
          <a:xfrm>
            <a:off x="4671753" y="4754880"/>
            <a:ext cx="2726574" cy="947651"/>
          </a:xfrm>
          <a:prstGeom prst="wedgeEllipseCallout">
            <a:avLst>
              <a:gd name="adj1" fmla="val -24492"/>
              <a:gd name="adj2" fmla="val -70833"/>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smtClean="0">
                <a:solidFill>
                  <a:schemeClr val="tx1"/>
                </a:solidFill>
                <a:latin typeface="Arial" pitchFamily="34" charset="0"/>
                <a:cs typeface="Arial" pitchFamily="34" charset="0"/>
              </a:rPr>
              <a:t>Created and used within the method</a:t>
            </a:r>
          </a:p>
        </p:txBody>
      </p:sp>
      <p:pic>
        <p:nvPicPr>
          <p:cNvPr id="5" name="Picture 4"/>
          <p:cNvPicPr>
            <a:picLocks noChangeAspect="1"/>
          </p:cNvPicPr>
          <p:nvPr/>
        </p:nvPicPr>
        <p:blipFill>
          <a:blip r:embed="rId2"/>
          <a:stretch>
            <a:fillRect/>
          </a:stretch>
        </p:blipFill>
        <p:spPr>
          <a:xfrm>
            <a:off x="1223184" y="1577946"/>
            <a:ext cx="5393745" cy="1002502"/>
          </a:xfrm>
          <a:prstGeom prst="rect">
            <a:avLst/>
          </a:prstGeom>
        </p:spPr>
      </p:pic>
    </p:spTree>
    <p:extLst>
      <p:ext uri="{BB962C8B-B14F-4D97-AF65-F5344CB8AC3E}">
        <p14:creationId xmlns:p14="http://schemas.microsoft.com/office/powerpoint/2010/main" val="23526119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UML Dependency – reducing hard coupling</a:t>
            </a:r>
            <a:endParaRPr lang="en-GB" dirty="0"/>
          </a:p>
        </p:txBody>
      </p:sp>
      <p:pic>
        <p:nvPicPr>
          <p:cNvPr id="6" name="Picture 5"/>
          <p:cNvPicPr>
            <a:picLocks noChangeAspect="1"/>
          </p:cNvPicPr>
          <p:nvPr/>
        </p:nvPicPr>
        <p:blipFill>
          <a:blip r:embed="rId2"/>
          <a:stretch>
            <a:fillRect/>
          </a:stretch>
        </p:blipFill>
        <p:spPr>
          <a:xfrm>
            <a:off x="3305548" y="1084639"/>
            <a:ext cx="5667335" cy="3104976"/>
          </a:xfrm>
          <a:prstGeom prst="rect">
            <a:avLst/>
          </a:prstGeom>
        </p:spPr>
      </p:pic>
      <p:grpSp>
        <p:nvGrpSpPr>
          <p:cNvPr id="7" name="Group 6"/>
          <p:cNvGrpSpPr/>
          <p:nvPr/>
        </p:nvGrpSpPr>
        <p:grpSpPr>
          <a:xfrm>
            <a:off x="241072" y="2914564"/>
            <a:ext cx="7240390" cy="2521961"/>
            <a:chOff x="324197" y="3546330"/>
            <a:chExt cx="7240390" cy="2521961"/>
          </a:xfrm>
        </p:grpSpPr>
        <p:sp>
          <p:nvSpPr>
            <p:cNvPr id="15" name="Rectangle 14"/>
            <p:cNvSpPr/>
            <p:nvPr/>
          </p:nvSpPr>
          <p:spPr>
            <a:xfrm>
              <a:off x="324197" y="3546330"/>
              <a:ext cx="5910351"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smtClean="0">
                  <a:solidFill>
                    <a:srgbClr val="0000FF"/>
                  </a:solidFill>
                  <a:highlight>
                    <a:srgbClr val="FFFFFF"/>
                  </a:highlight>
                  <a:latin typeface="Consolas" panose="020B0609020204030204" pitchFamily="49" charset="0"/>
                </a:rPr>
                <a:t>class</a:t>
              </a:r>
              <a:r>
                <a:rPr lang="en-GB" sz="1800" b="1" dirty="0" smtClean="0">
                  <a:solidFill>
                    <a:srgbClr val="000000"/>
                  </a:solidFill>
                  <a:highlight>
                    <a:srgbClr val="FFFFFF"/>
                  </a:highlight>
                  <a:latin typeface="Consolas" panose="020B0609020204030204" pitchFamily="49" charset="0"/>
                </a:rPr>
                <a:t> </a:t>
              </a:r>
              <a:r>
                <a:rPr lang="en-GB" sz="1800" b="1" dirty="0">
                  <a:solidFill>
                    <a:srgbClr val="2B91AF"/>
                  </a:solidFill>
                  <a:highlight>
                    <a:srgbClr val="FFFFFF"/>
                  </a:highlight>
                  <a:latin typeface="Consolas" panose="020B0609020204030204" pitchFamily="49" charset="0"/>
                </a:rPr>
                <a:t>Bank</a:t>
              </a:r>
              <a:r>
                <a:rPr lang="en-GB" sz="1800" b="1" dirty="0">
                  <a:solidFill>
                    <a:srgbClr val="000000"/>
                  </a:solidFill>
                  <a:highlight>
                    <a:srgbClr val="FFFFFF"/>
                  </a:highlight>
                  <a:latin typeface="Consolas" panose="020B0609020204030204" pitchFamily="49" charset="0"/>
                </a:rPr>
                <a:t> </a:t>
              </a:r>
              <a:endParaRPr lang="en-GB" sz="1800" b="1" dirty="0" smtClean="0">
                <a:solidFill>
                  <a:srgbClr val="000000"/>
                </a:solidFill>
                <a:highlight>
                  <a:srgbClr val="FFFFFF"/>
                </a:highlight>
                <a:latin typeface="Consolas" panose="020B0609020204030204" pitchFamily="49" charset="0"/>
              </a:endParaRPr>
            </a:p>
            <a:p>
              <a:r>
                <a:rPr lang="en-GB" sz="1800" b="1" dirty="0" smtClean="0">
                  <a:solidFill>
                    <a:srgbClr val="000000"/>
                  </a:solidFill>
                  <a:highlight>
                    <a:srgbClr val="FFFFFF"/>
                  </a:highlight>
                  <a:latin typeface="Consolas" panose="020B0609020204030204" pitchFamily="49" charset="0"/>
                </a:rPr>
                <a:t>{</a:t>
              </a:r>
              <a:endParaRPr lang="en-GB" sz="1800" b="1" dirty="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public</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void</a:t>
              </a:r>
              <a:r>
                <a:rPr lang="en-GB" sz="1800" b="1" dirty="0">
                  <a:solidFill>
                    <a:srgbClr val="000000"/>
                  </a:solidFill>
                  <a:highlight>
                    <a:srgbClr val="FFFFFF"/>
                  </a:highlight>
                  <a:latin typeface="Consolas" panose="020B0609020204030204" pitchFamily="49" charset="0"/>
                </a:rPr>
                <a:t> </a:t>
              </a:r>
              <a:r>
                <a:rPr lang="en-GB" sz="1800" b="1" dirty="0" smtClean="0">
                  <a:solidFill>
                    <a:srgbClr val="000000"/>
                  </a:solidFill>
                  <a:highlight>
                    <a:srgbClr val="FFFFFF"/>
                  </a:highlight>
                  <a:latin typeface="Consolas" panose="020B0609020204030204" pitchFamily="49" charset="0"/>
                </a:rPr>
                <a:t>Register(</a:t>
              </a:r>
              <a:r>
                <a:rPr lang="en-GB" sz="1800" b="1" dirty="0" err="1" smtClean="0">
                  <a:solidFill>
                    <a:srgbClr val="2B91AF"/>
                  </a:solidFill>
                  <a:highlight>
                    <a:srgbClr val="FFFFFF"/>
                  </a:highlight>
                  <a:latin typeface="Consolas" panose="020B0609020204030204" pitchFamily="49" charset="0"/>
                </a:rPr>
                <a:t>IAccount</a:t>
              </a:r>
              <a:r>
                <a:rPr lang="en-GB" sz="1800" b="1" dirty="0" smtClean="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acc</a:t>
              </a:r>
              <a:r>
                <a:rPr lang="en-GB" sz="1800" b="1" dirty="0">
                  <a:solidFill>
                    <a:srgbClr val="000000"/>
                  </a:solidFill>
                  <a:highlight>
                    <a:srgbClr val="FFFFFF"/>
                  </a:highlight>
                  <a:latin typeface="Consolas" panose="020B0609020204030204" pitchFamily="49" charset="0"/>
                </a:rPr>
                <a:t>) </a:t>
              </a:r>
              <a:endParaRPr lang="en-GB" sz="1800" b="1" dirty="0" smtClean="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smtClean="0">
                  <a:solidFill>
                    <a:srgbClr val="000000"/>
                  </a:solidFill>
                  <a:highlight>
                    <a:srgbClr val="FFFFFF"/>
                  </a:highlight>
                  <a:latin typeface="Consolas" panose="020B0609020204030204" pitchFamily="49" charset="0"/>
                </a:rPr>
                <a:t>   {</a:t>
              </a:r>
              <a:endParaRPr lang="en-GB" sz="1800" b="1" dirty="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acc.Open</a:t>
              </a:r>
              <a:r>
                <a:rPr lang="en-GB" sz="1800" b="1" dirty="0">
                  <a:solidFill>
                    <a:srgbClr val="000000"/>
                  </a:solidFill>
                  <a:highlight>
                    <a:srgbClr val="FFFFFF"/>
                  </a:highlight>
                  <a:latin typeface="Consolas" panose="020B0609020204030204" pitchFamily="49" charset="0"/>
                </a:rPr>
                <a:t>();  </a:t>
              </a:r>
            </a:p>
            <a:p>
              <a:r>
                <a:rPr lang="en-GB" sz="1800" b="1" dirty="0">
                  <a:solidFill>
                    <a:srgbClr val="000000"/>
                  </a:solidFill>
                  <a:highlight>
                    <a:srgbClr val="FFFFFF"/>
                  </a:highlight>
                  <a:latin typeface="Consolas" panose="020B0609020204030204" pitchFamily="49" charset="0"/>
                </a:rPr>
                <a:t>    }</a:t>
              </a:r>
            </a:p>
            <a:p>
              <a:r>
                <a:rPr lang="en-GB" sz="1800" b="1" dirty="0">
                  <a:solidFill>
                    <a:srgbClr val="000000"/>
                  </a:solidFill>
                  <a:highlight>
                    <a:srgbClr val="FFFFFF"/>
                  </a:highlight>
                  <a:latin typeface="Consolas" panose="020B0609020204030204" pitchFamily="49" charset="0"/>
                </a:rPr>
                <a:t>}</a:t>
              </a:r>
            </a:p>
          </p:txBody>
        </p:sp>
        <p:sp>
          <p:nvSpPr>
            <p:cNvPr id="16" name="Oval Callout 15"/>
            <p:cNvSpPr/>
            <p:nvPr/>
          </p:nvSpPr>
          <p:spPr>
            <a:xfrm>
              <a:off x="3474725" y="5120640"/>
              <a:ext cx="4089862" cy="947651"/>
            </a:xfrm>
            <a:prstGeom prst="wedgeEllipseCallout">
              <a:avLst>
                <a:gd name="adj1" fmla="val -24492"/>
                <a:gd name="adj2" fmla="val -70833"/>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u="sng" dirty="0" smtClean="0">
                  <a:solidFill>
                    <a:schemeClr val="tx1"/>
                  </a:solidFill>
                  <a:latin typeface="Arial" pitchFamily="34" charset="0"/>
                  <a:cs typeface="Arial" pitchFamily="34" charset="0"/>
                </a:rPr>
                <a:t>A kind of</a:t>
              </a:r>
              <a:r>
                <a:rPr lang="en-GB" sz="1600" dirty="0" smtClean="0">
                  <a:solidFill>
                    <a:schemeClr val="tx1"/>
                  </a:solidFill>
                  <a:latin typeface="Arial" pitchFamily="34" charset="0"/>
                  <a:cs typeface="Arial" pitchFamily="34" charset="0"/>
                </a:rPr>
                <a:t> account is passed in as a parameter and used only within the method</a:t>
              </a:r>
            </a:p>
          </p:txBody>
        </p:sp>
      </p:grpSp>
    </p:spTree>
    <p:extLst>
      <p:ext uri="{BB962C8B-B14F-4D97-AF65-F5344CB8AC3E}">
        <p14:creationId xmlns:p14="http://schemas.microsoft.com/office/powerpoint/2010/main" val="39193094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4" name="Rectangle 4"/>
          <p:cNvSpPr>
            <a:spLocks noChangeArrowheads="1"/>
          </p:cNvSpPr>
          <p:nvPr/>
        </p:nvSpPr>
        <p:spPr bwMode="auto">
          <a:xfrm>
            <a:off x="703263" y="6248400"/>
            <a:ext cx="1898650" cy="45720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4485" name="Rectangle 5"/>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4486" name="Rectangle 6"/>
          <p:cNvSpPr>
            <a:spLocks noChangeArrowheads="1"/>
          </p:cNvSpPr>
          <p:nvPr/>
        </p:nvSpPr>
        <p:spPr bwMode="auto">
          <a:xfrm>
            <a:off x="674688" y="6267450"/>
            <a:ext cx="1912937" cy="43815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4487" name="Rectangle 7"/>
          <p:cNvSpPr>
            <a:spLocks noChangeArrowheads="1"/>
          </p:cNvSpPr>
          <p:nvPr/>
        </p:nvSpPr>
        <p:spPr bwMode="auto">
          <a:xfrm>
            <a:off x="3154363" y="6267450"/>
            <a:ext cx="2835275" cy="438150"/>
          </a:xfrm>
          <a:prstGeom prst="rect">
            <a:avLst/>
          </a:prstGeom>
          <a:noFill/>
          <a:ln w="9525">
            <a:noFill/>
            <a:miter lim="800000"/>
            <a:headEnd/>
            <a:tailEnd/>
          </a:ln>
          <a:effectLst/>
        </p:spPr>
        <p:txBody>
          <a:bodyPr wrap="none" anchor="ctr"/>
          <a:lstStyle/>
          <a:p>
            <a:pPr algn="ctr" defTabSz="739775">
              <a:spcBef>
                <a:spcPct val="0"/>
              </a:spcBef>
            </a:pPr>
            <a:endParaRPr lang="en-US" sz="1800"/>
          </a:p>
        </p:txBody>
      </p:sp>
      <p:sp>
        <p:nvSpPr>
          <p:cNvPr id="404488" name="Rectangle 8"/>
          <p:cNvSpPr>
            <a:spLocks noGrp="1" noChangeArrowheads="1"/>
          </p:cNvSpPr>
          <p:nvPr>
            <p:ph type="ctrTitle"/>
          </p:nvPr>
        </p:nvSpPr>
        <p:spPr/>
        <p:txBody>
          <a:bodyPr>
            <a:normAutofit/>
          </a:bodyPr>
          <a:lstStyle/>
          <a:p>
            <a:pPr algn="ctr"/>
            <a:r>
              <a:rPr lang="en-GB" dirty="0"/>
              <a:t>Interfaces</a:t>
            </a:r>
            <a:r>
              <a:rPr lang="en-GB" dirty="0" smtClean="0"/>
              <a:t>, Inheritance</a:t>
            </a:r>
            <a:r>
              <a:rPr lang="en-GB" dirty="0"/>
              <a:t/>
            </a:r>
            <a:br>
              <a:rPr lang="en-GB" dirty="0"/>
            </a:br>
            <a:r>
              <a:rPr lang="en-GB" dirty="0"/>
              <a:t>And</a:t>
            </a:r>
            <a:br>
              <a:rPr lang="en-GB" dirty="0"/>
            </a:br>
            <a:r>
              <a:rPr lang="en-GB" dirty="0"/>
              <a:t>Polymorphism</a:t>
            </a:r>
          </a:p>
        </p:txBody>
      </p:sp>
    </p:spTree>
    <p:extLst>
      <p:ext uri="{BB962C8B-B14F-4D97-AF65-F5344CB8AC3E}">
        <p14:creationId xmlns:p14="http://schemas.microsoft.com/office/powerpoint/2010/main" val="322719133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1" name="Rectangle 3"/>
          <p:cNvSpPr>
            <a:spLocks noGrp="1" noChangeArrowheads="1"/>
          </p:cNvSpPr>
          <p:nvPr>
            <p:ph type="body" sz="quarter" idx="15"/>
          </p:nvPr>
        </p:nvSpPr>
        <p:spPr/>
        <p:txBody>
          <a:bodyPr/>
          <a:lstStyle/>
          <a:p>
            <a:r>
              <a:rPr lang="en-GB" dirty="0"/>
              <a:t>Suppose we have a car, a capital asset and an employee, </a:t>
            </a:r>
            <a:r>
              <a:rPr lang="en-GB" dirty="0" smtClean="0"/>
              <a:t/>
            </a:r>
            <a:br>
              <a:rPr lang="en-GB" dirty="0" smtClean="0"/>
            </a:br>
            <a:r>
              <a:rPr lang="en-GB" dirty="0" smtClean="0"/>
              <a:t>all </a:t>
            </a:r>
            <a:r>
              <a:rPr lang="en-GB" dirty="0"/>
              <a:t>of which are taxable :-</a:t>
            </a:r>
          </a:p>
        </p:txBody>
      </p:sp>
      <p:sp>
        <p:nvSpPr>
          <p:cNvPr id="406530" name="Rectangle 2"/>
          <p:cNvSpPr>
            <a:spLocks noGrp="1" noChangeArrowheads="1"/>
          </p:cNvSpPr>
          <p:nvPr>
            <p:ph type="title"/>
          </p:nvPr>
        </p:nvSpPr>
        <p:spPr/>
        <p:txBody>
          <a:bodyPr/>
          <a:lstStyle/>
          <a:p>
            <a:r>
              <a:rPr lang="en-GB" dirty="0"/>
              <a:t>Interfaces </a:t>
            </a:r>
            <a:r>
              <a:rPr lang="en-GB" dirty="0" smtClean="0"/>
              <a:t>– a reminder</a:t>
            </a:r>
            <a:endParaRPr lang="en-GB" dirty="0"/>
          </a:p>
        </p:txBody>
      </p:sp>
      <p:sp>
        <p:nvSpPr>
          <p:cNvPr id="406532" name="Rectangle 4"/>
          <p:cNvSpPr>
            <a:spLocks noChangeArrowheads="1"/>
          </p:cNvSpPr>
          <p:nvPr/>
        </p:nvSpPr>
        <p:spPr bwMode="auto">
          <a:xfrm>
            <a:off x="6476999" y="2133600"/>
            <a:ext cx="2447925" cy="1066800"/>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GB" sz="1800"/>
          </a:p>
        </p:txBody>
      </p:sp>
      <p:sp>
        <p:nvSpPr>
          <p:cNvPr id="406533" name="Line 5"/>
          <p:cNvSpPr>
            <a:spLocks noChangeShapeType="1"/>
          </p:cNvSpPr>
          <p:nvPr/>
        </p:nvSpPr>
        <p:spPr bwMode="auto">
          <a:xfrm>
            <a:off x="6477000" y="2514600"/>
            <a:ext cx="1828800" cy="0"/>
          </a:xfrm>
          <a:prstGeom prst="line">
            <a:avLst/>
          </a:prstGeom>
          <a:noFill/>
          <a:ln w="12700">
            <a:solidFill>
              <a:schemeClr val="tx1"/>
            </a:solidFill>
            <a:round/>
            <a:headEnd type="none" w="sm" len="sm"/>
            <a:tailEnd type="none" w="sm" len="sm"/>
          </a:ln>
          <a:effectLst/>
        </p:spPr>
        <p:txBody>
          <a:bodyPr/>
          <a:lstStyle/>
          <a:p>
            <a:endParaRPr lang="en-GB"/>
          </a:p>
        </p:txBody>
      </p:sp>
      <p:sp>
        <p:nvSpPr>
          <p:cNvPr id="406534" name="Text Box 6"/>
          <p:cNvSpPr txBox="1">
            <a:spLocks noChangeArrowheads="1"/>
          </p:cNvSpPr>
          <p:nvPr/>
        </p:nvSpPr>
        <p:spPr bwMode="auto">
          <a:xfrm>
            <a:off x="6532563" y="2208025"/>
            <a:ext cx="2209800" cy="369332"/>
          </a:xfrm>
          <a:prstGeom prst="rect">
            <a:avLst/>
          </a:prstGeom>
          <a:noFill/>
          <a:ln w="12700">
            <a:noFill/>
            <a:miter lim="800000"/>
            <a:headEnd type="none" w="sm" len="sm"/>
            <a:tailEnd type="none" w="sm" len="sm"/>
          </a:ln>
          <a:effectLst/>
        </p:spPr>
        <p:txBody>
          <a:bodyPr wrap="square">
            <a:spAutoFit/>
          </a:bodyPr>
          <a:lstStyle/>
          <a:p>
            <a:pPr defTabSz="739775">
              <a:spcBef>
                <a:spcPct val="0"/>
              </a:spcBef>
            </a:pPr>
            <a:r>
              <a:rPr lang="en-GB" sz="1800" b="1" u="sng" dirty="0"/>
              <a:t>Genevieve : Car</a:t>
            </a:r>
            <a:endParaRPr lang="en-US" sz="1800" b="1" u="sng" dirty="0"/>
          </a:p>
        </p:txBody>
      </p:sp>
      <p:sp>
        <p:nvSpPr>
          <p:cNvPr id="406535" name="Text Box 7"/>
          <p:cNvSpPr txBox="1">
            <a:spLocks noChangeArrowheads="1"/>
          </p:cNvSpPr>
          <p:nvPr/>
        </p:nvSpPr>
        <p:spPr bwMode="auto">
          <a:xfrm>
            <a:off x="6462713" y="2779713"/>
            <a:ext cx="1539717"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err="1"/>
              <a:t>G</a:t>
            </a:r>
            <a:r>
              <a:rPr lang="en-GB" sz="1800" dirty="0" err="1" smtClean="0"/>
              <a:t>etTaxDue</a:t>
            </a:r>
            <a:r>
              <a:rPr lang="en-GB" sz="1800" dirty="0"/>
              <a:t>()</a:t>
            </a:r>
            <a:endParaRPr lang="en-US" sz="1800" dirty="0"/>
          </a:p>
        </p:txBody>
      </p:sp>
      <p:sp>
        <p:nvSpPr>
          <p:cNvPr id="406536" name="Rectangle 8"/>
          <p:cNvSpPr>
            <a:spLocks noChangeArrowheads="1"/>
          </p:cNvSpPr>
          <p:nvPr/>
        </p:nvSpPr>
        <p:spPr bwMode="auto">
          <a:xfrm>
            <a:off x="6462713" y="3465512"/>
            <a:ext cx="2462212" cy="1069975"/>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GB" sz="1800"/>
          </a:p>
        </p:txBody>
      </p:sp>
      <p:sp>
        <p:nvSpPr>
          <p:cNvPr id="406537" name="Line 9"/>
          <p:cNvSpPr>
            <a:spLocks noChangeShapeType="1"/>
          </p:cNvSpPr>
          <p:nvPr/>
        </p:nvSpPr>
        <p:spPr bwMode="auto">
          <a:xfrm>
            <a:off x="6462713" y="3922713"/>
            <a:ext cx="2251075" cy="0"/>
          </a:xfrm>
          <a:prstGeom prst="line">
            <a:avLst/>
          </a:prstGeom>
          <a:noFill/>
          <a:ln w="12700">
            <a:solidFill>
              <a:schemeClr val="tx1"/>
            </a:solidFill>
            <a:round/>
            <a:headEnd type="none" w="sm" len="sm"/>
            <a:tailEnd type="none" w="sm" len="sm"/>
          </a:ln>
          <a:effectLst/>
        </p:spPr>
        <p:txBody>
          <a:bodyPr/>
          <a:lstStyle/>
          <a:p>
            <a:endParaRPr lang="en-GB"/>
          </a:p>
        </p:txBody>
      </p:sp>
      <p:sp>
        <p:nvSpPr>
          <p:cNvPr id="406538" name="Text Box 10"/>
          <p:cNvSpPr txBox="1">
            <a:spLocks noChangeArrowheads="1"/>
          </p:cNvSpPr>
          <p:nvPr/>
        </p:nvSpPr>
        <p:spPr bwMode="auto">
          <a:xfrm>
            <a:off x="6462713" y="3505200"/>
            <a:ext cx="2279650"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u="sng" dirty="0"/>
              <a:t>my : </a:t>
            </a:r>
            <a:r>
              <a:rPr lang="en-GB" sz="1800" b="1" u="sng" dirty="0" err="1"/>
              <a:t>DepositAccount</a:t>
            </a:r>
            <a:endParaRPr lang="en-US" sz="1800" b="1" u="sng" dirty="0"/>
          </a:p>
        </p:txBody>
      </p:sp>
      <p:sp>
        <p:nvSpPr>
          <p:cNvPr id="406539" name="Text Box 11"/>
          <p:cNvSpPr txBox="1">
            <a:spLocks noChangeArrowheads="1"/>
          </p:cNvSpPr>
          <p:nvPr/>
        </p:nvSpPr>
        <p:spPr bwMode="auto">
          <a:xfrm>
            <a:off x="6573838" y="4151313"/>
            <a:ext cx="1749261"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err="1"/>
              <a:t>F</a:t>
            </a:r>
            <a:r>
              <a:rPr lang="en-GB" sz="1800" dirty="0" err="1" smtClean="0"/>
              <a:t>indGainsTax</a:t>
            </a:r>
            <a:r>
              <a:rPr lang="en-GB" sz="1800" dirty="0"/>
              <a:t>()</a:t>
            </a:r>
            <a:endParaRPr lang="en-US" sz="1800" dirty="0"/>
          </a:p>
        </p:txBody>
      </p:sp>
      <p:sp>
        <p:nvSpPr>
          <p:cNvPr id="406540" name="Rectangle 12"/>
          <p:cNvSpPr>
            <a:spLocks noChangeArrowheads="1"/>
          </p:cNvSpPr>
          <p:nvPr/>
        </p:nvSpPr>
        <p:spPr bwMode="auto">
          <a:xfrm>
            <a:off x="6400800" y="4800600"/>
            <a:ext cx="2536723" cy="1066800"/>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GB" sz="1800"/>
          </a:p>
        </p:txBody>
      </p:sp>
      <p:sp>
        <p:nvSpPr>
          <p:cNvPr id="406541" name="Line 13"/>
          <p:cNvSpPr>
            <a:spLocks noChangeShapeType="1"/>
          </p:cNvSpPr>
          <p:nvPr/>
        </p:nvSpPr>
        <p:spPr bwMode="auto">
          <a:xfrm>
            <a:off x="6400800" y="5181600"/>
            <a:ext cx="2532063" cy="0"/>
          </a:xfrm>
          <a:prstGeom prst="line">
            <a:avLst/>
          </a:prstGeom>
          <a:noFill/>
          <a:ln w="12700">
            <a:solidFill>
              <a:schemeClr val="tx1"/>
            </a:solidFill>
            <a:round/>
            <a:headEnd type="none" w="sm" len="sm"/>
            <a:tailEnd type="none" w="sm" len="sm"/>
          </a:ln>
          <a:effectLst/>
        </p:spPr>
        <p:txBody>
          <a:bodyPr/>
          <a:lstStyle/>
          <a:p>
            <a:endParaRPr lang="en-GB"/>
          </a:p>
        </p:txBody>
      </p:sp>
      <p:sp>
        <p:nvSpPr>
          <p:cNvPr id="406542" name="Text Box 14"/>
          <p:cNvSpPr txBox="1">
            <a:spLocks noChangeArrowheads="1"/>
          </p:cNvSpPr>
          <p:nvPr/>
        </p:nvSpPr>
        <p:spPr bwMode="auto">
          <a:xfrm>
            <a:off x="6899275" y="4800600"/>
            <a:ext cx="1646238"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u="sng"/>
              <a:t>Me : Employee</a:t>
            </a:r>
            <a:endParaRPr lang="en-US" sz="1800" b="1" u="sng"/>
          </a:p>
        </p:txBody>
      </p:sp>
      <p:sp>
        <p:nvSpPr>
          <p:cNvPr id="406543" name="Text Box 15"/>
          <p:cNvSpPr txBox="1">
            <a:spLocks noChangeArrowheads="1"/>
          </p:cNvSpPr>
          <p:nvPr/>
        </p:nvSpPr>
        <p:spPr bwMode="auto">
          <a:xfrm>
            <a:off x="6386513" y="5446713"/>
            <a:ext cx="253841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err="1"/>
              <a:t>returnYearTaxAmount</a:t>
            </a:r>
            <a:r>
              <a:rPr lang="en-GB" sz="1800" dirty="0"/>
              <a:t>()</a:t>
            </a:r>
            <a:endParaRPr lang="en-US" sz="1800" dirty="0"/>
          </a:p>
        </p:txBody>
      </p:sp>
      <p:sp>
        <p:nvSpPr>
          <p:cNvPr id="406544" name="Rectangle 16"/>
          <p:cNvSpPr>
            <a:spLocks noChangeArrowheads="1"/>
          </p:cNvSpPr>
          <p:nvPr/>
        </p:nvSpPr>
        <p:spPr bwMode="auto">
          <a:xfrm>
            <a:off x="438904" y="1981200"/>
            <a:ext cx="5133975" cy="4495800"/>
          </a:xfrm>
          <a:prstGeom prst="rect">
            <a:avLst/>
          </a:prstGeom>
          <a:noFill/>
          <a:ln w="57150">
            <a:solidFill>
              <a:srgbClr val="C80000"/>
            </a:solidFill>
            <a:miter lim="800000"/>
            <a:headEnd type="none" w="sm" len="sm"/>
            <a:tailEnd type="none" w="sm" len="sm"/>
          </a:ln>
          <a:effectLst/>
        </p:spPr>
        <p:txBody>
          <a:bodyPr wrap="none" anchor="ctr"/>
          <a:lstStyle/>
          <a:p>
            <a:pPr algn="ctr" defTabSz="739775">
              <a:spcBef>
                <a:spcPct val="0"/>
              </a:spcBef>
            </a:pPr>
            <a:endParaRPr lang="en-GB" sz="1800"/>
          </a:p>
        </p:txBody>
      </p:sp>
      <p:sp>
        <p:nvSpPr>
          <p:cNvPr id="406545" name="Text Box 17"/>
          <p:cNvSpPr txBox="1">
            <a:spLocks noChangeArrowheads="1"/>
          </p:cNvSpPr>
          <p:nvPr/>
        </p:nvSpPr>
        <p:spPr bwMode="auto">
          <a:xfrm>
            <a:off x="1190625" y="1981200"/>
            <a:ext cx="2364750"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u="sng" dirty="0"/>
              <a:t>The Inland </a:t>
            </a:r>
            <a:r>
              <a:rPr lang="en-GB" sz="1800" b="1" u="sng" dirty="0" smtClean="0"/>
              <a:t>Revenue</a:t>
            </a:r>
            <a:endParaRPr lang="en-US" sz="1800" b="1" u="sng" dirty="0"/>
          </a:p>
        </p:txBody>
      </p:sp>
      <p:sp>
        <p:nvSpPr>
          <p:cNvPr id="406546" name="Line 18"/>
          <p:cNvSpPr>
            <a:spLocks noChangeShapeType="1"/>
          </p:cNvSpPr>
          <p:nvPr/>
        </p:nvSpPr>
        <p:spPr bwMode="auto">
          <a:xfrm>
            <a:off x="422275" y="2438400"/>
            <a:ext cx="5133975" cy="0"/>
          </a:xfrm>
          <a:prstGeom prst="line">
            <a:avLst/>
          </a:prstGeom>
          <a:noFill/>
          <a:ln w="12700">
            <a:solidFill>
              <a:schemeClr val="tx1"/>
            </a:solidFill>
            <a:round/>
            <a:headEnd type="none" w="sm" len="sm"/>
            <a:tailEnd type="none" w="sm" len="sm"/>
          </a:ln>
          <a:effectLst/>
        </p:spPr>
        <p:txBody>
          <a:bodyPr/>
          <a:lstStyle/>
          <a:p>
            <a:endParaRPr lang="en-GB"/>
          </a:p>
        </p:txBody>
      </p:sp>
      <p:sp>
        <p:nvSpPr>
          <p:cNvPr id="406547" name="Text Box 19"/>
          <p:cNvSpPr txBox="1">
            <a:spLocks noChangeArrowheads="1"/>
          </p:cNvSpPr>
          <p:nvPr/>
        </p:nvSpPr>
        <p:spPr bwMode="auto">
          <a:xfrm>
            <a:off x="597572" y="2438400"/>
            <a:ext cx="4584700" cy="366236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err="1"/>
              <a:t>C</a:t>
            </a:r>
            <a:r>
              <a:rPr lang="en-GB" sz="1800" b="1" dirty="0" err="1" smtClean="0"/>
              <a:t>alcTax</a:t>
            </a:r>
            <a:r>
              <a:rPr lang="en-GB" sz="1800" b="1" dirty="0"/>
              <a:t>( </a:t>
            </a:r>
            <a:r>
              <a:rPr lang="en-GB" sz="1800" b="1" dirty="0" err="1"/>
              <a:t>taxableItem</a:t>
            </a:r>
            <a:r>
              <a:rPr lang="en-GB" sz="1800" b="1" dirty="0"/>
              <a:t> )</a:t>
            </a:r>
          </a:p>
          <a:p>
            <a:pPr defTabSz="739775">
              <a:spcBef>
                <a:spcPct val="0"/>
              </a:spcBef>
            </a:pPr>
            <a:r>
              <a:rPr lang="en-GB" sz="1800" dirty="0">
                <a:solidFill>
                  <a:srgbClr val="FA3200"/>
                </a:solidFill>
              </a:rPr>
              <a:t>If </a:t>
            </a:r>
            <a:r>
              <a:rPr lang="en-GB" sz="1800" dirty="0" err="1">
                <a:solidFill>
                  <a:srgbClr val="FA3200"/>
                </a:solidFill>
              </a:rPr>
              <a:t>taxableItem</a:t>
            </a:r>
            <a:r>
              <a:rPr lang="en-GB" sz="1800" dirty="0">
                <a:solidFill>
                  <a:srgbClr val="FA3200"/>
                </a:solidFill>
              </a:rPr>
              <a:t> = Car</a:t>
            </a:r>
            <a:r>
              <a:rPr lang="en-GB" sz="1800" dirty="0"/>
              <a:t> Then</a:t>
            </a:r>
          </a:p>
          <a:p>
            <a:pPr defTabSz="739775">
              <a:spcBef>
                <a:spcPct val="0"/>
              </a:spcBef>
            </a:pPr>
            <a:r>
              <a:rPr lang="en-GB" sz="1800" dirty="0"/>
              <a:t>    </a:t>
            </a:r>
            <a:r>
              <a:rPr lang="en-GB" sz="1800" dirty="0" err="1"/>
              <a:t>calcTax</a:t>
            </a:r>
            <a:r>
              <a:rPr lang="en-GB" sz="1800" dirty="0"/>
              <a:t> = 	call </a:t>
            </a:r>
            <a:r>
              <a:rPr lang="en-GB" sz="1800" dirty="0" err="1"/>
              <a:t>getTaxDue</a:t>
            </a:r>
            <a:r>
              <a:rPr lang="en-GB" sz="1800" dirty="0"/>
              <a:t> operation on </a:t>
            </a:r>
            <a:br>
              <a:rPr lang="en-GB" sz="1800" dirty="0"/>
            </a:br>
            <a:r>
              <a:rPr lang="en-GB" sz="1800" dirty="0"/>
              <a:t>    		</a:t>
            </a:r>
            <a:r>
              <a:rPr lang="en-GB" sz="1800" dirty="0" err="1"/>
              <a:t>taxableItem</a:t>
            </a:r>
            <a:r>
              <a:rPr lang="en-GB" sz="1800" dirty="0"/>
              <a:t> object</a:t>
            </a:r>
          </a:p>
          <a:p>
            <a:pPr defTabSz="739775">
              <a:spcBef>
                <a:spcPct val="0"/>
              </a:spcBef>
            </a:pPr>
            <a:r>
              <a:rPr lang="en-GB" sz="1800" dirty="0"/>
              <a:t>End if</a:t>
            </a:r>
          </a:p>
          <a:p>
            <a:pPr defTabSz="739775">
              <a:spcBef>
                <a:spcPct val="0"/>
              </a:spcBef>
            </a:pPr>
            <a:r>
              <a:rPr lang="en-GB" sz="1800" dirty="0">
                <a:solidFill>
                  <a:srgbClr val="FA3200"/>
                </a:solidFill>
              </a:rPr>
              <a:t>If </a:t>
            </a:r>
            <a:r>
              <a:rPr lang="en-GB" sz="1800" dirty="0" err="1">
                <a:solidFill>
                  <a:srgbClr val="FA3200"/>
                </a:solidFill>
              </a:rPr>
              <a:t>taxableItem</a:t>
            </a:r>
            <a:r>
              <a:rPr lang="en-GB" sz="1800" dirty="0">
                <a:solidFill>
                  <a:srgbClr val="FA3200"/>
                </a:solidFill>
              </a:rPr>
              <a:t> = </a:t>
            </a:r>
            <a:r>
              <a:rPr lang="en-GB" sz="1800" dirty="0" err="1">
                <a:solidFill>
                  <a:srgbClr val="FA3200"/>
                </a:solidFill>
              </a:rPr>
              <a:t>CapitalAsset</a:t>
            </a:r>
            <a:r>
              <a:rPr lang="en-GB" sz="1800" dirty="0"/>
              <a:t> Then</a:t>
            </a:r>
          </a:p>
          <a:p>
            <a:pPr defTabSz="739775">
              <a:spcBef>
                <a:spcPct val="0"/>
              </a:spcBef>
            </a:pPr>
            <a:r>
              <a:rPr lang="en-GB" sz="1800" dirty="0"/>
              <a:t>   </a:t>
            </a:r>
            <a:r>
              <a:rPr lang="en-GB" sz="1800" dirty="0" err="1"/>
              <a:t>calcTax</a:t>
            </a:r>
            <a:r>
              <a:rPr lang="en-GB" sz="1800" dirty="0"/>
              <a:t> = 	call </a:t>
            </a:r>
            <a:r>
              <a:rPr lang="en-GB" sz="1800" dirty="0" err="1"/>
              <a:t>findGainsTax</a:t>
            </a:r>
            <a:r>
              <a:rPr lang="en-GB" sz="1800" dirty="0"/>
              <a:t> operation</a:t>
            </a:r>
          </a:p>
          <a:p>
            <a:pPr defTabSz="739775">
              <a:spcBef>
                <a:spcPct val="0"/>
              </a:spcBef>
            </a:pPr>
            <a:r>
              <a:rPr lang="en-GB" sz="1800" dirty="0"/>
              <a:t>		on </a:t>
            </a:r>
            <a:r>
              <a:rPr lang="en-GB" sz="1800" dirty="0" err="1"/>
              <a:t>taxableItem</a:t>
            </a:r>
            <a:r>
              <a:rPr lang="en-GB" sz="1800" dirty="0"/>
              <a:t> object</a:t>
            </a:r>
          </a:p>
          <a:p>
            <a:pPr defTabSz="739775">
              <a:spcBef>
                <a:spcPct val="0"/>
              </a:spcBef>
            </a:pPr>
            <a:r>
              <a:rPr lang="en-GB" sz="1800" dirty="0"/>
              <a:t>End if</a:t>
            </a:r>
          </a:p>
          <a:p>
            <a:pPr defTabSz="739775">
              <a:spcBef>
                <a:spcPct val="0"/>
              </a:spcBef>
            </a:pPr>
            <a:r>
              <a:rPr lang="en-GB" sz="1800" dirty="0">
                <a:solidFill>
                  <a:srgbClr val="FA3200"/>
                </a:solidFill>
              </a:rPr>
              <a:t>If </a:t>
            </a:r>
            <a:r>
              <a:rPr lang="en-GB" sz="1800" dirty="0" err="1">
                <a:solidFill>
                  <a:srgbClr val="FA3200"/>
                </a:solidFill>
              </a:rPr>
              <a:t>taxableItem</a:t>
            </a:r>
            <a:r>
              <a:rPr lang="en-GB" sz="1800" dirty="0">
                <a:solidFill>
                  <a:srgbClr val="FA3200"/>
                </a:solidFill>
              </a:rPr>
              <a:t> = Employee</a:t>
            </a:r>
            <a:r>
              <a:rPr lang="en-GB" sz="1800" dirty="0"/>
              <a:t> Then</a:t>
            </a:r>
          </a:p>
          <a:p>
            <a:pPr defTabSz="739775">
              <a:spcBef>
                <a:spcPct val="0"/>
              </a:spcBef>
            </a:pPr>
            <a:r>
              <a:rPr lang="en-GB" sz="1800" dirty="0"/>
              <a:t>   </a:t>
            </a:r>
            <a:r>
              <a:rPr lang="en-GB" sz="1800" dirty="0" err="1"/>
              <a:t>calcTax</a:t>
            </a:r>
            <a:r>
              <a:rPr lang="en-GB" sz="1800" dirty="0"/>
              <a:t> = 	call  </a:t>
            </a:r>
            <a:r>
              <a:rPr lang="en-GB" sz="1800" dirty="0" err="1"/>
              <a:t>returnYearTaxAmount</a:t>
            </a:r>
            <a:endParaRPr lang="en-GB" sz="1800" dirty="0"/>
          </a:p>
          <a:p>
            <a:pPr defTabSz="739775">
              <a:spcBef>
                <a:spcPct val="0"/>
              </a:spcBef>
            </a:pPr>
            <a:r>
              <a:rPr lang="en-GB" sz="1800" dirty="0"/>
              <a:t>	 	on </a:t>
            </a:r>
            <a:r>
              <a:rPr lang="en-GB" sz="1800" dirty="0" err="1"/>
              <a:t>taxableItem</a:t>
            </a:r>
            <a:r>
              <a:rPr lang="en-GB" sz="1800" dirty="0"/>
              <a:t> object</a:t>
            </a:r>
          </a:p>
          <a:p>
            <a:pPr defTabSz="739775">
              <a:spcBef>
                <a:spcPct val="0"/>
              </a:spcBef>
            </a:pPr>
            <a:r>
              <a:rPr lang="en-GB" sz="1800" dirty="0"/>
              <a:t>End if</a:t>
            </a:r>
            <a:endParaRPr lang="en-US" sz="1800" b="1" dirty="0"/>
          </a:p>
        </p:txBody>
      </p:sp>
      <p:sp>
        <p:nvSpPr>
          <p:cNvPr id="406548" name="Line 20"/>
          <p:cNvSpPr>
            <a:spLocks noChangeShapeType="1"/>
          </p:cNvSpPr>
          <p:nvPr/>
        </p:nvSpPr>
        <p:spPr bwMode="auto">
          <a:xfrm flipV="1">
            <a:off x="5556250" y="2667000"/>
            <a:ext cx="914400" cy="1371600"/>
          </a:xfrm>
          <a:prstGeom prst="line">
            <a:avLst/>
          </a:prstGeom>
          <a:noFill/>
          <a:ln w="12700">
            <a:solidFill>
              <a:schemeClr val="tx1"/>
            </a:solidFill>
            <a:round/>
            <a:headEnd type="none" w="sm" len="sm"/>
            <a:tailEnd type="none" w="sm" len="sm"/>
          </a:ln>
          <a:effectLst/>
        </p:spPr>
        <p:txBody>
          <a:bodyPr/>
          <a:lstStyle/>
          <a:p>
            <a:endParaRPr lang="en-GB"/>
          </a:p>
        </p:txBody>
      </p:sp>
      <p:sp>
        <p:nvSpPr>
          <p:cNvPr id="406549" name="Line 21"/>
          <p:cNvSpPr>
            <a:spLocks noChangeShapeType="1"/>
          </p:cNvSpPr>
          <p:nvPr/>
        </p:nvSpPr>
        <p:spPr bwMode="auto">
          <a:xfrm>
            <a:off x="5556250" y="4038600"/>
            <a:ext cx="914400" cy="0"/>
          </a:xfrm>
          <a:prstGeom prst="line">
            <a:avLst/>
          </a:prstGeom>
          <a:noFill/>
          <a:ln w="12700">
            <a:solidFill>
              <a:schemeClr val="tx1"/>
            </a:solidFill>
            <a:round/>
            <a:headEnd type="none" w="sm" len="sm"/>
            <a:tailEnd type="none" w="sm" len="sm"/>
          </a:ln>
          <a:effectLst/>
        </p:spPr>
        <p:txBody>
          <a:bodyPr/>
          <a:lstStyle/>
          <a:p>
            <a:endParaRPr lang="en-GB"/>
          </a:p>
        </p:txBody>
      </p:sp>
      <p:sp>
        <p:nvSpPr>
          <p:cNvPr id="406550" name="Line 22"/>
          <p:cNvSpPr>
            <a:spLocks noChangeShapeType="1"/>
          </p:cNvSpPr>
          <p:nvPr/>
        </p:nvSpPr>
        <p:spPr bwMode="auto">
          <a:xfrm>
            <a:off x="5556250" y="4038600"/>
            <a:ext cx="844550" cy="1219200"/>
          </a:xfrm>
          <a:prstGeom prst="line">
            <a:avLst/>
          </a:prstGeom>
          <a:noFill/>
          <a:ln w="12700">
            <a:solidFill>
              <a:schemeClr val="tx1"/>
            </a:solidFill>
            <a:round/>
            <a:headEnd type="none" w="sm" len="sm"/>
            <a:tailEnd type="none" w="sm" len="sm"/>
          </a:ln>
          <a:effectLst/>
        </p:spPr>
        <p:txBody>
          <a:bodyPr/>
          <a:lstStyle/>
          <a:p>
            <a:endParaRPr lang="en-GB"/>
          </a:p>
        </p:txBody>
      </p:sp>
      <p:sp>
        <p:nvSpPr>
          <p:cNvPr id="406552" name="Text Box 24"/>
          <p:cNvSpPr txBox="1">
            <a:spLocks noChangeArrowheads="1"/>
          </p:cNvSpPr>
          <p:nvPr/>
        </p:nvSpPr>
        <p:spPr bwMode="auto">
          <a:xfrm>
            <a:off x="9047163" y="7116763"/>
            <a:ext cx="311150"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X</a:t>
            </a:r>
            <a:endParaRPr lang="en-US" sz="1800"/>
          </a:p>
        </p:txBody>
      </p:sp>
      <p:grpSp>
        <p:nvGrpSpPr>
          <p:cNvPr id="2" name="Group 25"/>
          <p:cNvGrpSpPr>
            <a:grpSpLocks/>
          </p:cNvGrpSpPr>
          <p:nvPr/>
        </p:nvGrpSpPr>
        <p:grpSpPr bwMode="auto">
          <a:xfrm>
            <a:off x="479425" y="2781300"/>
            <a:ext cx="4965700" cy="3662363"/>
            <a:chOff x="336" y="1752"/>
            <a:chExt cx="3388" cy="2307"/>
          </a:xfrm>
        </p:grpSpPr>
        <p:sp>
          <p:nvSpPr>
            <p:cNvPr id="406554" name="Text Box 26"/>
            <p:cNvSpPr txBox="1">
              <a:spLocks noChangeArrowheads="1"/>
            </p:cNvSpPr>
            <p:nvPr/>
          </p:nvSpPr>
          <p:spPr bwMode="auto">
            <a:xfrm>
              <a:off x="336" y="1752"/>
              <a:ext cx="3380" cy="2307"/>
            </a:xfrm>
            <a:prstGeom prst="rect">
              <a:avLst/>
            </a:prstGeom>
            <a:solidFill>
              <a:schemeClr val="bg1"/>
            </a:solidFill>
            <a:ln w="12700">
              <a:noFill/>
              <a:miter lim="800000"/>
              <a:headEnd type="none" w="sm" len="sm"/>
              <a:tailEnd type="none" w="sm" len="sm"/>
            </a:ln>
            <a:effectLst/>
          </p:spPr>
          <p:txBody>
            <a:bodyPr>
              <a:spAutoFit/>
            </a:bodyPr>
            <a:lstStyle/>
            <a:p>
              <a:pPr defTabSz="739775">
                <a:spcBef>
                  <a:spcPct val="0"/>
                </a:spcBef>
              </a:pPr>
              <a:endParaRPr lang="en-GB" sz="1800" dirty="0"/>
            </a:p>
            <a:p>
              <a:pPr defTabSz="739775">
                <a:spcBef>
                  <a:spcPct val="0"/>
                </a:spcBef>
              </a:pPr>
              <a:r>
                <a:rPr lang="en-GB" sz="1800" dirty="0" err="1"/>
                <a:t>C</a:t>
              </a:r>
              <a:r>
                <a:rPr lang="en-GB" sz="1800" dirty="0" err="1" smtClean="0"/>
                <a:t>alcTax</a:t>
              </a:r>
              <a:r>
                <a:rPr lang="en-GB" sz="1800" dirty="0" smtClean="0"/>
                <a:t> </a:t>
              </a:r>
              <a:r>
                <a:rPr lang="en-GB" sz="1800" dirty="0"/>
                <a:t>= call </a:t>
              </a:r>
              <a:r>
                <a:rPr lang="en-GB" sz="1800" dirty="0" err="1" smtClean="0"/>
                <a:t>GetTax</a:t>
              </a:r>
              <a:r>
                <a:rPr lang="en-GB" sz="1800" dirty="0" smtClean="0"/>
                <a:t> </a:t>
              </a:r>
              <a:r>
                <a:rPr lang="en-GB" sz="1800" dirty="0"/>
                <a:t>on </a:t>
              </a:r>
              <a:r>
                <a:rPr lang="en-GB" sz="1800" dirty="0" err="1"/>
                <a:t>taxableItem</a:t>
              </a:r>
              <a:r>
                <a:rPr lang="en-GB" sz="1800" dirty="0"/>
                <a:t> object</a:t>
              </a:r>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GB" sz="1800" dirty="0"/>
            </a:p>
            <a:p>
              <a:pPr defTabSz="739775">
                <a:spcBef>
                  <a:spcPct val="0"/>
                </a:spcBef>
              </a:pPr>
              <a:endParaRPr lang="en-US" sz="1800" dirty="0"/>
            </a:p>
          </p:txBody>
        </p:sp>
        <p:sp>
          <p:nvSpPr>
            <p:cNvPr id="406555" name="AutoShape 27"/>
            <p:cNvSpPr>
              <a:spLocks noChangeArrowheads="1"/>
            </p:cNvSpPr>
            <p:nvPr/>
          </p:nvSpPr>
          <p:spPr bwMode="auto">
            <a:xfrm>
              <a:off x="1574" y="2344"/>
              <a:ext cx="2150" cy="1337"/>
            </a:xfrm>
            <a:prstGeom prst="wedgeEllipseCallout">
              <a:avLst>
                <a:gd name="adj1" fmla="val -54931"/>
                <a:gd name="adj2" fmla="val -52319"/>
              </a:avLst>
            </a:prstGeom>
            <a:noFill/>
            <a:ln w="12700">
              <a:solidFill>
                <a:srgbClr val="3366FF"/>
              </a:solidFill>
              <a:miter lim="800000"/>
              <a:headEnd type="none" w="sm" len="sm"/>
              <a:tailEnd type="none" w="sm" len="sm"/>
            </a:ln>
            <a:effectLst/>
          </p:spPr>
          <p:txBody>
            <a:bodyPr/>
            <a:lstStyle/>
            <a:p>
              <a:pPr algn="ctr" defTabSz="739775">
                <a:spcBef>
                  <a:spcPct val="0"/>
                </a:spcBef>
              </a:pPr>
              <a:r>
                <a:rPr lang="en-GB" sz="1800" b="1"/>
                <a:t>Wouldn’t it be just great to help the tax office achieve this level of simplicity ?</a:t>
              </a:r>
              <a:endParaRPr lang="en-US" sz="1800" b="1"/>
            </a:p>
          </p:txBody>
        </p:sp>
      </p:grpSp>
      <p:pic>
        <p:nvPicPr>
          <p:cNvPr id="406556" name="Picture 28"/>
          <p:cNvPicPr>
            <a:picLocks noChangeAspect="1" noChangeArrowheads="1"/>
          </p:cNvPicPr>
          <p:nvPr/>
        </p:nvPicPr>
        <p:blipFill>
          <a:blip r:embed="rId3" cstate="print"/>
          <a:srcRect/>
          <a:stretch>
            <a:fillRect/>
          </a:stretch>
        </p:blipFill>
        <p:spPr bwMode="auto">
          <a:xfrm>
            <a:off x="7085789" y="5801563"/>
            <a:ext cx="876300" cy="1039812"/>
          </a:xfrm>
          <a:prstGeom prst="rect">
            <a:avLst/>
          </a:prstGeom>
          <a:noFill/>
          <a:ln w="12700">
            <a:noFill/>
            <a:miter lim="800000"/>
            <a:headEnd type="none" w="sm" len="sm"/>
            <a:tailEnd type="none" w="sm" len="sm"/>
          </a:ln>
          <a:effectLst/>
        </p:spPr>
      </p:pic>
      <p:pic>
        <p:nvPicPr>
          <p:cNvPr id="406557" name="Picture 29"/>
          <p:cNvPicPr>
            <a:picLocks noChangeAspect="1" noChangeArrowheads="1"/>
          </p:cNvPicPr>
          <p:nvPr/>
        </p:nvPicPr>
        <p:blipFill>
          <a:blip r:embed="rId4" cstate="print"/>
          <a:srcRect/>
          <a:stretch>
            <a:fillRect/>
          </a:stretch>
        </p:blipFill>
        <p:spPr bwMode="auto">
          <a:xfrm>
            <a:off x="7747461" y="1596116"/>
            <a:ext cx="1213313" cy="652276"/>
          </a:xfrm>
          <a:prstGeom prst="rect">
            <a:avLst/>
          </a:prstGeom>
          <a:noFill/>
          <a:ln w="12700">
            <a:noFill/>
            <a:miter lim="800000"/>
            <a:headEnd type="none" w="sm" len="sm"/>
            <a:tailEnd type="none" w="sm" len="sm"/>
          </a:ln>
          <a:effec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41837" y="3940236"/>
            <a:ext cx="694876" cy="694876"/>
          </a:xfrm>
          <a:prstGeom prst="rect">
            <a:avLst/>
          </a:prstGeom>
        </p:spPr>
      </p:pic>
    </p:spTree>
    <p:extLst>
      <p:ext uri="{BB962C8B-B14F-4D97-AF65-F5344CB8AC3E}">
        <p14:creationId xmlns:p14="http://schemas.microsoft.com/office/powerpoint/2010/main" val="35902432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9" name="Rectangle 3"/>
          <p:cNvSpPr>
            <a:spLocks noGrp="1" noChangeArrowheads="1"/>
          </p:cNvSpPr>
          <p:nvPr>
            <p:ph type="body" sz="quarter" idx="15"/>
          </p:nvPr>
        </p:nvSpPr>
        <p:spPr/>
        <p:txBody>
          <a:bodyPr/>
          <a:lstStyle/>
          <a:p>
            <a:r>
              <a:rPr lang="en-GB" dirty="0"/>
              <a:t>Step </a:t>
            </a:r>
            <a:r>
              <a:rPr lang="en-GB" dirty="0" smtClean="0"/>
              <a:t>1 – Adapt what you got</a:t>
            </a:r>
            <a:endParaRPr lang="en-GB" dirty="0"/>
          </a:p>
          <a:p>
            <a:pPr lvl="1"/>
            <a:r>
              <a:rPr lang="en-GB" dirty="0"/>
              <a:t>Either rename the differently named procedures, or put in another procedure that then just calls the original.</a:t>
            </a:r>
          </a:p>
        </p:txBody>
      </p:sp>
      <p:sp>
        <p:nvSpPr>
          <p:cNvPr id="408578" name="Rectangle 2"/>
          <p:cNvSpPr>
            <a:spLocks noGrp="1" noChangeArrowheads="1"/>
          </p:cNvSpPr>
          <p:nvPr>
            <p:ph type="title"/>
          </p:nvPr>
        </p:nvSpPr>
        <p:spPr/>
        <p:txBody>
          <a:bodyPr/>
          <a:lstStyle/>
          <a:p>
            <a:r>
              <a:rPr lang="en-GB"/>
              <a:t>Interfaces - 2</a:t>
            </a:r>
          </a:p>
        </p:txBody>
      </p:sp>
      <p:sp>
        <p:nvSpPr>
          <p:cNvPr id="408580" name="Rectangle 4"/>
          <p:cNvSpPr>
            <a:spLocks noChangeArrowheads="1"/>
          </p:cNvSpPr>
          <p:nvPr/>
        </p:nvSpPr>
        <p:spPr bwMode="auto">
          <a:xfrm>
            <a:off x="1000125" y="2895600"/>
            <a:ext cx="1828800" cy="1066800"/>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GB" sz="1800"/>
          </a:p>
        </p:txBody>
      </p:sp>
      <p:sp>
        <p:nvSpPr>
          <p:cNvPr id="408581" name="Line 5"/>
          <p:cNvSpPr>
            <a:spLocks noChangeShapeType="1"/>
          </p:cNvSpPr>
          <p:nvPr/>
        </p:nvSpPr>
        <p:spPr bwMode="auto">
          <a:xfrm>
            <a:off x="1000125" y="3276600"/>
            <a:ext cx="1828800" cy="0"/>
          </a:xfrm>
          <a:prstGeom prst="line">
            <a:avLst/>
          </a:prstGeom>
          <a:noFill/>
          <a:ln w="12700">
            <a:solidFill>
              <a:schemeClr val="tx1"/>
            </a:solidFill>
            <a:round/>
            <a:headEnd type="none" w="sm" len="sm"/>
            <a:tailEnd type="none" w="sm" len="sm"/>
          </a:ln>
          <a:effectLst/>
        </p:spPr>
        <p:txBody>
          <a:bodyPr/>
          <a:lstStyle/>
          <a:p>
            <a:endParaRPr lang="en-GB"/>
          </a:p>
        </p:txBody>
      </p:sp>
      <p:sp>
        <p:nvSpPr>
          <p:cNvPr id="408582" name="Text Box 6"/>
          <p:cNvSpPr txBox="1">
            <a:spLocks noChangeArrowheads="1"/>
          </p:cNvSpPr>
          <p:nvPr/>
        </p:nvSpPr>
        <p:spPr bwMode="auto">
          <a:xfrm>
            <a:off x="954088" y="2895600"/>
            <a:ext cx="1911350"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u="sng"/>
              <a:t>Genevieve : Car</a:t>
            </a:r>
            <a:endParaRPr lang="en-US" sz="1800" b="1" u="sng"/>
          </a:p>
        </p:txBody>
      </p:sp>
      <p:sp>
        <p:nvSpPr>
          <p:cNvPr id="408583" name="Text Box 7"/>
          <p:cNvSpPr txBox="1">
            <a:spLocks noChangeArrowheads="1"/>
          </p:cNvSpPr>
          <p:nvPr/>
        </p:nvSpPr>
        <p:spPr bwMode="auto">
          <a:xfrm>
            <a:off x="984250" y="3541713"/>
            <a:ext cx="1103700"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err="1"/>
              <a:t>G</a:t>
            </a:r>
            <a:r>
              <a:rPr lang="en-GB" sz="1800" b="1" dirty="0" err="1" smtClean="0"/>
              <a:t>etTax</a:t>
            </a:r>
            <a:r>
              <a:rPr lang="en-GB" sz="1800" b="1" dirty="0"/>
              <a:t>()</a:t>
            </a:r>
            <a:endParaRPr lang="en-US" sz="1800" b="1" dirty="0"/>
          </a:p>
        </p:txBody>
      </p:sp>
      <p:sp>
        <p:nvSpPr>
          <p:cNvPr id="408584" name="Rectangle 8"/>
          <p:cNvSpPr>
            <a:spLocks noChangeArrowheads="1"/>
          </p:cNvSpPr>
          <p:nvPr/>
        </p:nvSpPr>
        <p:spPr bwMode="auto">
          <a:xfrm>
            <a:off x="3235325" y="2932113"/>
            <a:ext cx="2884488" cy="2325687"/>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GB" sz="1800"/>
          </a:p>
        </p:txBody>
      </p:sp>
      <p:sp>
        <p:nvSpPr>
          <p:cNvPr id="408585" name="Line 9"/>
          <p:cNvSpPr>
            <a:spLocks noChangeShapeType="1"/>
          </p:cNvSpPr>
          <p:nvPr/>
        </p:nvSpPr>
        <p:spPr bwMode="auto">
          <a:xfrm>
            <a:off x="3235325" y="3389313"/>
            <a:ext cx="2886075" cy="0"/>
          </a:xfrm>
          <a:prstGeom prst="line">
            <a:avLst/>
          </a:prstGeom>
          <a:noFill/>
          <a:ln w="12700">
            <a:solidFill>
              <a:schemeClr val="tx1"/>
            </a:solidFill>
            <a:round/>
            <a:headEnd type="none" w="sm" len="sm"/>
            <a:tailEnd type="none" w="sm" len="sm"/>
          </a:ln>
          <a:effectLst/>
        </p:spPr>
        <p:txBody>
          <a:bodyPr/>
          <a:lstStyle/>
          <a:p>
            <a:endParaRPr lang="en-GB"/>
          </a:p>
        </p:txBody>
      </p:sp>
      <p:sp>
        <p:nvSpPr>
          <p:cNvPr id="408586" name="Text Box 10"/>
          <p:cNvSpPr txBox="1">
            <a:spLocks noChangeArrowheads="1"/>
          </p:cNvSpPr>
          <p:nvPr/>
        </p:nvSpPr>
        <p:spPr bwMode="auto">
          <a:xfrm>
            <a:off x="3413125" y="2971800"/>
            <a:ext cx="2457450"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u="sng"/>
              <a:t>My : DepositAccount</a:t>
            </a:r>
            <a:endParaRPr lang="en-US" sz="1800" b="1" u="sng"/>
          </a:p>
        </p:txBody>
      </p:sp>
      <p:sp>
        <p:nvSpPr>
          <p:cNvPr id="408587" name="Text Box 11"/>
          <p:cNvSpPr txBox="1">
            <a:spLocks noChangeArrowheads="1"/>
          </p:cNvSpPr>
          <p:nvPr/>
        </p:nvSpPr>
        <p:spPr bwMode="auto">
          <a:xfrm>
            <a:off x="3305175" y="3505200"/>
            <a:ext cx="2608471" cy="1754326"/>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err="1"/>
              <a:t>G</a:t>
            </a:r>
            <a:r>
              <a:rPr lang="en-GB" sz="1800" b="1" dirty="0" err="1" smtClean="0"/>
              <a:t>etTax</a:t>
            </a:r>
            <a:r>
              <a:rPr lang="en-GB" sz="1800" b="1" dirty="0"/>
              <a:t>()</a:t>
            </a:r>
          </a:p>
          <a:p>
            <a:pPr defTabSz="739775">
              <a:spcBef>
                <a:spcPct val="0"/>
              </a:spcBef>
            </a:pPr>
            <a:r>
              <a:rPr lang="en-GB" sz="1800" dirty="0"/>
              <a:t>{</a:t>
            </a:r>
          </a:p>
          <a:p>
            <a:pPr defTabSz="739775">
              <a:spcBef>
                <a:spcPct val="0"/>
              </a:spcBef>
            </a:pPr>
            <a:r>
              <a:rPr lang="en-GB" sz="1800" dirty="0"/>
              <a:t>  </a:t>
            </a:r>
            <a:r>
              <a:rPr lang="en-GB" sz="1800" dirty="0" smtClean="0"/>
              <a:t>return </a:t>
            </a:r>
            <a:r>
              <a:rPr lang="en-GB" sz="1800" dirty="0" err="1" smtClean="0"/>
              <a:t>FindGainsTax</a:t>
            </a:r>
            <a:r>
              <a:rPr lang="en-GB" sz="1800" dirty="0" smtClean="0"/>
              <a:t>();</a:t>
            </a:r>
            <a:endParaRPr lang="en-GB" sz="1800" dirty="0"/>
          </a:p>
          <a:p>
            <a:pPr defTabSz="739775">
              <a:spcBef>
                <a:spcPct val="0"/>
              </a:spcBef>
            </a:pPr>
            <a:r>
              <a:rPr lang="en-GB" sz="1800" dirty="0"/>
              <a:t>}</a:t>
            </a:r>
          </a:p>
          <a:p>
            <a:pPr defTabSz="739775">
              <a:spcBef>
                <a:spcPct val="0"/>
              </a:spcBef>
            </a:pPr>
            <a:endParaRPr lang="en-GB" sz="1800" dirty="0"/>
          </a:p>
          <a:p>
            <a:pPr defTabSz="739775">
              <a:spcBef>
                <a:spcPct val="0"/>
              </a:spcBef>
            </a:pPr>
            <a:r>
              <a:rPr lang="en-GB" sz="1800" b="1" dirty="0" err="1"/>
              <a:t>F</a:t>
            </a:r>
            <a:r>
              <a:rPr lang="en-GB" sz="1800" b="1" dirty="0" err="1" smtClean="0"/>
              <a:t>indGainsTax</a:t>
            </a:r>
            <a:r>
              <a:rPr lang="en-GB" sz="1800" b="1" dirty="0"/>
              <a:t>()</a:t>
            </a:r>
            <a:endParaRPr lang="en-US" sz="1800" b="1" dirty="0"/>
          </a:p>
        </p:txBody>
      </p:sp>
      <p:sp>
        <p:nvSpPr>
          <p:cNvPr id="408588" name="Rectangle 12"/>
          <p:cNvSpPr>
            <a:spLocks noChangeArrowheads="1"/>
          </p:cNvSpPr>
          <p:nvPr/>
        </p:nvSpPr>
        <p:spPr bwMode="auto">
          <a:xfrm>
            <a:off x="6324600" y="2971800"/>
            <a:ext cx="2532063" cy="1066800"/>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GB" sz="1800"/>
          </a:p>
        </p:txBody>
      </p:sp>
      <p:sp>
        <p:nvSpPr>
          <p:cNvPr id="408589" name="Line 13"/>
          <p:cNvSpPr>
            <a:spLocks noChangeShapeType="1"/>
          </p:cNvSpPr>
          <p:nvPr/>
        </p:nvSpPr>
        <p:spPr bwMode="auto">
          <a:xfrm>
            <a:off x="6324600" y="3352800"/>
            <a:ext cx="2532063" cy="0"/>
          </a:xfrm>
          <a:prstGeom prst="line">
            <a:avLst/>
          </a:prstGeom>
          <a:noFill/>
          <a:ln w="12700">
            <a:solidFill>
              <a:schemeClr val="tx1"/>
            </a:solidFill>
            <a:round/>
            <a:headEnd type="none" w="sm" len="sm"/>
            <a:tailEnd type="none" w="sm" len="sm"/>
          </a:ln>
          <a:effectLst/>
        </p:spPr>
        <p:txBody>
          <a:bodyPr/>
          <a:lstStyle/>
          <a:p>
            <a:endParaRPr lang="en-GB"/>
          </a:p>
        </p:txBody>
      </p:sp>
      <p:sp>
        <p:nvSpPr>
          <p:cNvPr id="408590" name="Text Box 14"/>
          <p:cNvSpPr txBox="1">
            <a:spLocks noChangeArrowheads="1"/>
          </p:cNvSpPr>
          <p:nvPr/>
        </p:nvSpPr>
        <p:spPr bwMode="auto">
          <a:xfrm>
            <a:off x="6823075" y="2971800"/>
            <a:ext cx="1646238"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u="sng"/>
              <a:t>Me : Employee</a:t>
            </a:r>
            <a:endParaRPr lang="en-US" sz="1800" b="1" u="sng"/>
          </a:p>
        </p:txBody>
      </p:sp>
      <p:sp>
        <p:nvSpPr>
          <p:cNvPr id="408591" name="Text Box 15"/>
          <p:cNvSpPr txBox="1">
            <a:spLocks noChangeArrowheads="1"/>
          </p:cNvSpPr>
          <p:nvPr/>
        </p:nvSpPr>
        <p:spPr bwMode="auto">
          <a:xfrm>
            <a:off x="6310313" y="3617913"/>
            <a:ext cx="1103700"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err="1"/>
              <a:t>G</a:t>
            </a:r>
            <a:r>
              <a:rPr lang="en-GB" sz="1800" b="1" dirty="0" err="1" smtClean="0"/>
              <a:t>etTax</a:t>
            </a:r>
            <a:r>
              <a:rPr lang="en-GB" sz="1800" b="1" dirty="0"/>
              <a:t>()</a:t>
            </a:r>
            <a:endParaRPr lang="en-US" sz="1800" b="1" dirty="0"/>
          </a:p>
        </p:txBody>
      </p:sp>
      <p:pic>
        <p:nvPicPr>
          <p:cNvPr id="408592" name="Picture 16"/>
          <p:cNvPicPr>
            <a:picLocks noChangeAspect="1" noChangeArrowheads="1"/>
          </p:cNvPicPr>
          <p:nvPr/>
        </p:nvPicPr>
        <p:blipFill>
          <a:blip r:embed="rId3" cstate="print"/>
          <a:srcRect/>
          <a:stretch>
            <a:fillRect/>
          </a:stretch>
        </p:blipFill>
        <p:spPr bwMode="auto">
          <a:xfrm>
            <a:off x="3248025" y="5370513"/>
            <a:ext cx="969963" cy="1131887"/>
          </a:xfrm>
          <a:prstGeom prst="rect">
            <a:avLst/>
          </a:prstGeom>
          <a:noFill/>
          <a:ln w="12700">
            <a:noFill/>
            <a:miter lim="800000"/>
            <a:headEnd type="none" w="sm" len="sm"/>
            <a:tailEnd type="none" w="sm" len="sm"/>
          </a:ln>
          <a:effectLst/>
        </p:spPr>
      </p:pic>
      <p:pic>
        <p:nvPicPr>
          <p:cNvPr id="408593" name="Picture 17"/>
          <p:cNvPicPr>
            <a:picLocks noChangeAspect="1" noChangeArrowheads="1"/>
          </p:cNvPicPr>
          <p:nvPr/>
        </p:nvPicPr>
        <p:blipFill>
          <a:blip r:embed="rId4" cstate="print"/>
          <a:srcRect/>
          <a:stretch>
            <a:fillRect/>
          </a:stretch>
        </p:blipFill>
        <p:spPr bwMode="auto">
          <a:xfrm>
            <a:off x="703263" y="4665663"/>
            <a:ext cx="1184275" cy="1357312"/>
          </a:xfrm>
          <a:prstGeom prst="rect">
            <a:avLst/>
          </a:prstGeom>
          <a:noFill/>
          <a:ln w="12700">
            <a:noFill/>
            <a:miter lim="800000"/>
            <a:headEnd type="none" w="sm" len="sm"/>
            <a:tailEnd type="none" w="sm" len="sm"/>
          </a:ln>
          <a:effectLst/>
        </p:spPr>
      </p:pic>
      <p:pic>
        <p:nvPicPr>
          <p:cNvPr id="408594" name="Picture 18"/>
          <p:cNvPicPr>
            <a:picLocks noChangeAspect="1" noChangeArrowheads="1"/>
          </p:cNvPicPr>
          <p:nvPr/>
        </p:nvPicPr>
        <p:blipFill>
          <a:blip r:embed="rId5" cstate="print"/>
          <a:srcRect/>
          <a:stretch>
            <a:fillRect/>
          </a:stretch>
        </p:blipFill>
        <p:spPr bwMode="auto">
          <a:xfrm>
            <a:off x="5213350" y="5345113"/>
            <a:ext cx="833438" cy="1042987"/>
          </a:xfrm>
          <a:prstGeom prst="rect">
            <a:avLst/>
          </a:prstGeom>
          <a:noFill/>
          <a:ln w="12700">
            <a:noFill/>
            <a:miter lim="800000"/>
            <a:headEnd type="none" w="sm" len="sm"/>
            <a:tailEnd type="none" w="sm" len="sm"/>
          </a:ln>
          <a:effectLst/>
        </p:spPr>
      </p:pic>
      <p:pic>
        <p:nvPicPr>
          <p:cNvPr id="408595" name="Picture 19"/>
          <p:cNvPicPr>
            <a:picLocks noChangeAspect="1" noChangeArrowheads="1"/>
          </p:cNvPicPr>
          <p:nvPr/>
        </p:nvPicPr>
        <p:blipFill>
          <a:blip r:embed="rId6" cstate="print"/>
          <a:srcRect/>
          <a:stretch>
            <a:fillRect/>
          </a:stretch>
        </p:blipFill>
        <p:spPr bwMode="auto">
          <a:xfrm>
            <a:off x="6972300" y="4429125"/>
            <a:ext cx="1831975" cy="850900"/>
          </a:xfrm>
          <a:prstGeom prst="rect">
            <a:avLst/>
          </a:prstGeom>
          <a:noFill/>
          <a:ln w="12700">
            <a:noFill/>
            <a:miter lim="800000"/>
            <a:headEnd type="none" w="sm" len="sm"/>
            <a:tailEnd type="none" w="sm" len="sm"/>
          </a:ln>
          <a:effectLst/>
        </p:spPr>
      </p:pic>
    </p:spTree>
    <p:extLst>
      <p:ext uri="{BB962C8B-B14F-4D97-AF65-F5344CB8AC3E}">
        <p14:creationId xmlns:p14="http://schemas.microsoft.com/office/powerpoint/2010/main" val="36162358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p:cNvSpPr>
            <a:spLocks noGrp="1" noChangeArrowheads="1"/>
          </p:cNvSpPr>
          <p:nvPr>
            <p:ph type="body" sz="quarter" idx="15"/>
          </p:nvPr>
        </p:nvSpPr>
        <p:spPr/>
        <p:txBody>
          <a:bodyPr/>
          <a:lstStyle/>
          <a:p>
            <a:r>
              <a:rPr lang="en-GB" sz="2000" dirty="0"/>
              <a:t>So far so good. But now, how does the Tax Office know that Car, Deposit Account and Employee all now have the same named procedure : </a:t>
            </a:r>
            <a:r>
              <a:rPr lang="en-GB" sz="2000" dirty="0" err="1"/>
              <a:t>G</a:t>
            </a:r>
            <a:r>
              <a:rPr lang="en-GB" sz="2000" dirty="0" err="1" smtClean="0"/>
              <a:t>etTax</a:t>
            </a:r>
            <a:r>
              <a:rPr lang="en-GB" sz="2000" dirty="0" smtClean="0"/>
              <a:t> </a:t>
            </a:r>
            <a:r>
              <a:rPr lang="en-GB" sz="2000" dirty="0"/>
              <a:t>() :-</a:t>
            </a:r>
          </a:p>
        </p:txBody>
      </p:sp>
      <p:sp>
        <p:nvSpPr>
          <p:cNvPr id="410626" name="Rectangle 2"/>
          <p:cNvSpPr>
            <a:spLocks noGrp="1" noChangeArrowheads="1"/>
          </p:cNvSpPr>
          <p:nvPr>
            <p:ph type="title"/>
          </p:nvPr>
        </p:nvSpPr>
        <p:spPr/>
        <p:txBody>
          <a:bodyPr/>
          <a:lstStyle/>
          <a:p>
            <a:r>
              <a:rPr lang="en-GB"/>
              <a:t>Interfaces – The Promise</a:t>
            </a:r>
          </a:p>
        </p:txBody>
      </p:sp>
      <p:sp>
        <p:nvSpPr>
          <p:cNvPr id="410628" name="Oval 4"/>
          <p:cNvSpPr>
            <a:spLocks noChangeArrowheads="1"/>
          </p:cNvSpPr>
          <p:nvPr/>
        </p:nvSpPr>
        <p:spPr bwMode="auto">
          <a:xfrm>
            <a:off x="8440738" y="6248400"/>
            <a:ext cx="280987" cy="304800"/>
          </a:xfrm>
          <a:prstGeom prst="ellipse">
            <a:avLst/>
          </a:prstGeom>
          <a:noFill/>
          <a:ln w="12700">
            <a:solidFill>
              <a:schemeClr val="tx1"/>
            </a:solidFill>
            <a:round/>
            <a:headEnd type="none" w="sm" len="sm"/>
            <a:tailEnd type="none" w="sm" len="sm"/>
          </a:ln>
          <a:effectLst/>
        </p:spPr>
        <p:txBody>
          <a:bodyPr wrap="none" anchor="ctr"/>
          <a:lstStyle/>
          <a:p>
            <a:pPr algn="ctr" defTabSz="739775">
              <a:spcBef>
                <a:spcPct val="0"/>
              </a:spcBef>
            </a:pPr>
            <a:endParaRPr lang="en-GB" sz="1800"/>
          </a:p>
        </p:txBody>
      </p:sp>
      <p:sp>
        <p:nvSpPr>
          <p:cNvPr id="410629" name="Rectangle 5"/>
          <p:cNvSpPr>
            <a:spLocks noChangeArrowheads="1"/>
          </p:cNvSpPr>
          <p:nvPr/>
        </p:nvSpPr>
        <p:spPr bwMode="auto">
          <a:xfrm>
            <a:off x="3282950" y="4419600"/>
            <a:ext cx="1652588" cy="927100"/>
          </a:xfrm>
          <a:prstGeom prst="rect">
            <a:avLst/>
          </a:prstGeom>
          <a:noFill/>
          <a:ln w="12700">
            <a:solidFill>
              <a:schemeClr val="tx1"/>
            </a:solid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6BB7B7"/>
            </a:extrusionClr>
          </a:sp3d>
        </p:spPr>
        <p:txBody>
          <a:bodyPr wrap="none" anchor="ctr">
            <a:flatTx/>
          </a:bodyPr>
          <a:lstStyle/>
          <a:p>
            <a:pPr defTabSz="739775">
              <a:spcBef>
                <a:spcPct val="0"/>
              </a:spcBef>
            </a:pPr>
            <a:r>
              <a:rPr lang="en-GB" sz="1800" u="sng" dirty="0"/>
              <a:t> </a:t>
            </a:r>
            <a:r>
              <a:rPr lang="en-GB" sz="1800" u="sng" dirty="0" err="1"/>
              <a:t>Genevieve:Car</a:t>
            </a:r>
            <a:endParaRPr lang="en-GB" sz="1800" u="sng" dirty="0"/>
          </a:p>
          <a:p>
            <a:pPr defTabSz="739775">
              <a:spcBef>
                <a:spcPct val="0"/>
              </a:spcBef>
            </a:pPr>
            <a:r>
              <a:rPr lang="en-GB" sz="1800" dirty="0"/>
              <a:t> </a:t>
            </a:r>
            <a:r>
              <a:rPr lang="en-GB" sz="1800" dirty="0" err="1"/>
              <a:t>G</a:t>
            </a:r>
            <a:r>
              <a:rPr lang="en-GB" sz="1800" dirty="0" err="1" smtClean="0"/>
              <a:t>etTax</a:t>
            </a:r>
            <a:r>
              <a:rPr lang="en-GB" sz="1800" dirty="0"/>
              <a:t>()</a:t>
            </a:r>
          </a:p>
        </p:txBody>
      </p:sp>
      <p:sp>
        <p:nvSpPr>
          <p:cNvPr id="410630" name="Rectangle 6"/>
          <p:cNvSpPr>
            <a:spLocks noChangeArrowheads="1"/>
          </p:cNvSpPr>
          <p:nvPr/>
        </p:nvSpPr>
        <p:spPr bwMode="auto">
          <a:xfrm>
            <a:off x="7138988" y="5118100"/>
            <a:ext cx="1641475" cy="927100"/>
          </a:xfrm>
          <a:prstGeom prst="rect">
            <a:avLst/>
          </a:prstGeom>
          <a:noFill/>
          <a:ln w="12700">
            <a:solidFill>
              <a:schemeClr val="tx1"/>
            </a:solid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6BB7B7"/>
            </a:extrusionClr>
          </a:sp3d>
        </p:spPr>
        <p:txBody>
          <a:bodyPr wrap="none" anchor="ctr">
            <a:flatTx/>
          </a:bodyPr>
          <a:lstStyle/>
          <a:p>
            <a:pPr defTabSz="739775">
              <a:spcBef>
                <a:spcPct val="0"/>
              </a:spcBef>
            </a:pPr>
            <a:r>
              <a:rPr lang="en-GB" sz="1800" u="sng" dirty="0"/>
              <a:t> me : Employee</a:t>
            </a:r>
          </a:p>
          <a:p>
            <a:pPr defTabSz="739775">
              <a:spcBef>
                <a:spcPct val="0"/>
              </a:spcBef>
            </a:pPr>
            <a:r>
              <a:rPr lang="en-GB" sz="1800" dirty="0"/>
              <a:t> </a:t>
            </a:r>
            <a:r>
              <a:rPr lang="en-GB" sz="1800" dirty="0" err="1"/>
              <a:t>G</a:t>
            </a:r>
            <a:r>
              <a:rPr lang="en-GB" sz="1800" dirty="0" err="1" smtClean="0"/>
              <a:t>etTax</a:t>
            </a:r>
            <a:r>
              <a:rPr lang="en-GB" sz="1800" dirty="0"/>
              <a:t>()</a:t>
            </a:r>
          </a:p>
        </p:txBody>
      </p:sp>
      <p:sp>
        <p:nvSpPr>
          <p:cNvPr id="410631" name="Rectangle 7"/>
          <p:cNvSpPr>
            <a:spLocks noChangeArrowheads="1"/>
          </p:cNvSpPr>
          <p:nvPr/>
        </p:nvSpPr>
        <p:spPr bwMode="auto">
          <a:xfrm>
            <a:off x="4641850" y="5676900"/>
            <a:ext cx="2205038" cy="927100"/>
          </a:xfrm>
          <a:prstGeom prst="rect">
            <a:avLst/>
          </a:prstGeom>
          <a:noFill/>
          <a:ln w="12700">
            <a:solidFill>
              <a:schemeClr val="tx1"/>
            </a:solid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6BB7B7"/>
            </a:extrusionClr>
          </a:sp3d>
        </p:spPr>
        <p:txBody>
          <a:bodyPr wrap="none" anchor="ctr">
            <a:flatTx/>
          </a:bodyPr>
          <a:lstStyle/>
          <a:p>
            <a:pPr defTabSz="739775">
              <a:spcBef>
                <a:spcPct val="0"/>
              </a:spcBef>
            </a:pPr>
            <a:r>
              <a:rPr lang="en-GB" sz="1800" dirty="0"/>
              <a:t> my : </a:t>
            </a:r>
            <a:r>
              <a:rPr lang="en-GB" sz="1800" dirty="0" err="1"/>
              <a:t>DepositAccount</a:t>
            </a:r>
            <a:endParaRPr lang="en-GB" sz="1800" dirty="0"/>
          </a:p>
          <a:p>
            <a:pPr defTabSz="739775">
              <a:spcBef>
                <a:spcPct val="0"/>
              </a:spcBef>
            </a:pPr>
            <a:r>
              <a:rPr lang="en-GB" sz="1800" dirty="0"/>
              <a:t> </a:t>
            </a:r>
            <a:r>
              <a:rPr lang="en-GB" sz="1800" dirty="0" err="1"/>
              <a:t>G</a:t>
            </a:r>
            <a:r>
              <a:rPr lang="en-GB" sz="1800" dirty="0" err="1" smtClean="0"/>
              <a:t>etTax</a:t>
            </a:r>
            <a:r>
              <a:rPr lang="en-GB" sz="1800" dirty="0"/>
              <a:t>()</a:t>
            </a:r>
          </a:p>
        </p:txBody>
      </p:sp>
      <p:grpSp>
        <p:nvGrpSpPr>
          <p:cNvPr id="2" name="Group 8"/>
          <p:cNvGrpSpPr>
            <a:grpSpLocks/>
          </p:cNvGrpSpPr>
          <p:nvPr/>
        </p:nvGrpSpPr>
        <p:grpSpPr bwMode="auto">
          <a:xfrm>
            <a:off x="3951288" y="2044700"/>
            <a:ext cx="5014912" cy="3530600"/>
            <a:chOff x="2720" y="1288"/>
            <a:chExt cx="3423" cy="2224"/>
          </a:xfrm>
        </p:grpSpPr>
        <p:grpSp>
          <p:nvGrpSpPr>
            <p:cNvPr id="3" name="Group 9"/>
            <p:cNvGrpSpPr>
              <a:grpSpLocks/>
            </p:cNvGrpSpPr>
            <p:nvPr/>
          </p:nvGrpSpPr>
          <p:grpSpPr bwMode="auto">
            <a:xfrm>
              <a:off x="2720" y="1288"/>
              <a:ext cx="799" cy="1448"/>
              <a:chOff x="2720" y="1288"/>
              <a:chExt cx="799" cy="1448"/>
            </a:xfrm>
          </p:grpSpPr>
          <p:sp>
            <p:nvSpPr>
              <p:cNvPr id="410634" name="Line 10"/>
              <p:cNvSpPr>
                <a:spLocks noChangeShapeType="1"/>
              </p:cNvSpPr>
              <p:nvPr/>
            </p:nvSpPr>
            <p:spPr bwMode="auto">
              <a:xfrm flipH="1" flipV="1">
                <a:off x="2800" y="1432"/>
                <a:ext cx="8" cy="1304"/>
              </a:xfrm>
              <a:prstGeom prst="line">
                <a:avLst/>
              </a:prstGeom>
              <a:noFill/>
              <a:ln w="57150">
                <a:solidFill>
                  <a:srgbClr val="993300"/>
                </a:solidFill>
                <a:round/>
                <a:headEnd type="none" w="sm" len="sm"/>
                <a:tailEnd type="none" w="sm" len="sm"/>
              </a:ln>
              <a:effectLst/>
            </p:spPr>
            <p:txBody>
              <a:bodyPr/>
              <a:lstStyle/>
              <a:p>
                <a:endParaRPr lang="en-GB"/>
              </a:p>
            </p:txBody>
          </p:sp>
          <p:sp>
            <p:nvSpPr>
              <p:cNvPr id="410635" name="Freeform 11"/>
              <p:cNvSpPr>
                <a:spLocks noEditPoints="1"/>
              </p:cNvSpPr>
              <p:nvPr/>
            </p:nvSpPr>
            <p:spPr bwMode="auto">
              <a:xfrm>
                <a:off x="2787" y="1423"/>
                <a:ext cx="732" cy="629"/>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0636" name="Oval 12"/>
              <p:cNvSpPr>
                <a:spLocks noChangeArrowheads="1"/>
              </p:cNvSpPr>
              <p:nvPr/>
            </p:nvSpPr>
            <p:spPr bwMode="auto">
              <a:xfrm>
                <a:off x="2720" y="1288"/>
                <a:ext cx="152" cy="152"/>
              </a:xfrm>
              <a:prstGeom prst="ellipse">
                <a:avLst/>
              </a:prstGeom>
              <a:noFill/>
              <a:ln w="57150">
                <a:solidFill>
                  <a:srgbClr val="993300"/>
                </a:solidFill>
                <a:round/>
                <a:headEnd type="none" w="sm" len="sm"/>
                <a:tailEnd type="none" w="sm" len="sm"/>
              </a:ln>
              <a:effectLst/>
            </p:spPr>
            <p:txBody>
              <a:bodyPr wrap="none" anchor="ctr"/>
              <a:lstStyle/>
              <a:p>
                <a:endParaRPr lang="en-GB"/>
              </a:p>
            </p:txBody>
          </p:sp>
        </p:grpSp>
        <p:grpSp>
          <p:nvGrpSpPr>
            <p:cNvPr id="4" name="Group 13"/>
            <p:cNvGrpSpPr>
              <a:grpSpLocks/>
            </p:cNvGrpSpPr>
            <p:nvPr/>
          </p:nvGrpSpPr>
          <p:grpSpPr bwMode="auto">
            <a:xfrm>
              <a:off x="3944" y="1424"/>
              <a:ext cx="791" cy="2088"/>
              <a:chOff x="3944" y="1424"/>
              <a:chExt cx="791" cy="2088"/>
            </a:xfrm>
          </p:grpSpPr>
          <p:sp>
            <p:nvSpPr>
              <p:cNvPr id="410638" name="Line 14"/>
              <p:cNvSpPr>
                <a:spLocks noChangeShapeType="1"/>
              </p:cNvSpPr>
              <p:nvPr/>
            </p:nvSpPr>
            <p:spPr bwMode="auto">
              <a:xfrm flipH="1" flipV="1">
                <a:off x="4012" y="1584"/>
                <a:ext cx="12" cy="1928"/>
              </a:xfrm>
              <a:prstGeom prst="line">
                <a:avLst/>
              </a:prstGeom>
              <a:noFill/>
              <a:ln w="57150">
                <a:solidFill>
                  <a:srgbClr val="993300"/>
                </a:solidFill>
                <a:round/>
                <a:headEnd type="none" w="sm" len="sm"/>
                <a:tailEnd type="none" w="sm" len="sm"/>
              </a:ln>
              <a:effectLst/>
            </p:spPr>
            <p:txBody>
              <a:bodyPr/>
              <a:lstStyle/>
              <a:p>
                <a:endParaRPr lang="en-GB"/>
              </a:p>
            </p:txBody>
          </p:sp>
          <p:sp>
            <p:nvSpPr>
              <p:cNvPr id="410639" name="Freeform 15"/>
              <p:cNvSpPr>
                <a:spLocks noEditPoints="1"/>
              </p:cNvSpPr>
              <p:nvPr/>
            </p:nvSpPr>
            <p:spPr bwMode="auto">
              <a:xfrm>
                <a:off x="4003" y="1543"/>
                <a:ext cx="732" cy="629"/>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0640" name="Oval 16"/>
              <p:cNvSpPr>
                <a:spLocks noChangeArrowheads="1"/>
              </p:cNvSpPr>
              <p:nvPr/>
            </p:nvSpPr>
            <p:spPr bwMode="auto">
              <a:xfrm>
                <a:off x="3944" y="1424"/>
                <a:ext cx="152" cy="152"/>
              </a:xfrm>
              <a:prstGeom prst="ellipse">
                <a:avLst/>
              </a:prstGeom>
              <a:noFill/>
              <a:ln w="57150">
                <a:solidFill>
                  <a:srgbClr val="993300"/>
                </a:solidFill>
                <a:round/>
                <a:headEnd type="none" w="sm" len="sm"/>
                <a:tailEnd type="none" w="sm" len="sm"/>
              </a:ln>
              <a:effectLst/>
            </p:spPr>
            <p:txBody>
              <a:bodyPr wrap="none" anchor="ctr"/>
              <a:lstStyle/>
              <a:p>
                <a:endParaRPr lang="en-GB"/>
              </a:p>
            </p:txBody>
          </p:sp>
        </p:grpSp>
        <p:grpSp>
          <p:nvGrpSpPr>
            <p:cNvPr id="5" name="Group 17"/>
            <p:cNvGrpSpPr>
              <a:grpSpLocks/>
            </p:cNvGrpSpPr>
            <p:nvPr/>
          </p:nvGrpSpPr>
          <p:grpSpPr bwMode="auto">
            <a:xfrm>
              <a:off x="5344" y="1384"/>
              <a:ext cx="799" cy="1768"/>
              <a:chOff x="5344" y="1384"/>
              <a:chExt cx="799" cy="1768"/>
            </a:xfrm>
          </p:grpSpPr>
          <p:sp>
            <p:nvSpPr>
              <p:cNvPr id="410642" name="Line 18"/>
              <p:cNvSpPr>
                <a:spLocks noChangeShapeType="1"/>
              </p:cNvSpPr>
              <p:nvPr/>
            </p:nvSpPr>
            <p:spPr bwMode="auto">
              <a:xfrm flipH="1" flipV="1">
                <a:off x="5422" y="1544"/>
                <a:ext cx="10" cy="1608"/>
              </a:xfrm>
              <a:prstGeom prst="line">
                <a:avLst/>
              </a:prstGeom>
              <a:noFill/>
              <a:ln w="57150">
                <a:solidFill>
                  <a:srgbClr val="993300"/>
                </a:solidFill>
                <a:round/>
                <a:headEnd type="none" w="sm" len="sm"/>
                <a:tailEnd type="none" w="sm" len="sm"/>
              </a:ln>
              <a:effectLst/>
            </p:spPr>
            <p:txBody>
              <a:bodyPr/>
              <a:lstStyle/>
              <a:p>
                <a:endParaRPr lang="en-GB"/>
              </a:p>
            </p:txBody>
          </p:sp>
          <p:sp>
            <p:nvSpPr>
              <p:cNvPr id="410643" name="Freeform 19"/>
              <p:cNvSpPr>
                <a:spLocks noEditPoints="1"/>
              </p:cNvSpPr>
              <p:nvPr/>
            </p:nvSpPr>
            <p:spPr bwMode="auto">
              <a:xfrm>
                <a:off x="5411" y="1487"/>
                <a:ext cx="732" cy="629"/>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0644" name="Oval 20"/>
              <p:cNvSpPr>
                <a:spLocks noChangeArrowheads="1"/>
              </p:cNvSpPr>
              <p:nvPr/>
            </p:nvSpPr>
            <p:spPr bwMode="auto">
              <a:xfrm>
                <a:off x="5344" y="1384"/>
                <a:ext cx="152" cy="152"/>
              </a:xfrm>
              <a:prstGeom prst="ellipse">
                <a:avLst/>
              </a:prstGeom>
              <a:noFill/>
              <a:ln w="57150">
                <a:solidFill>
                  <a:srgbClr val="993300"/>
                </a:solidFill>
                <a:round/>
                <a:headEnd type="none" w="sm" len="sm"/>
                <a:tailEnd type="none" w="sm" len="sm"/>
              </a:ln>
              <a:effectLst/>
            </p:spPr>
            <p:txBody>
              <a:bodyPr wrap="none" anchor="ctr"/>
              <a:lstStyle/>
              <a:p>
                <a:endParaRPr lang="en-GB"/>
              </a:p>
            </p:txBody>
          </p:sp>
        </p:grpSp>
      </p:grpSp>
      <p:grpSp>
        <p:nvGrpSpPr>
          <p:cNvPr id="6" name="Group 21"/>
          <p:cNvGrpSpPr>
            <a:grpSpLocks/>
          </p:cNvGrpSpPr>
          <p:nvPr/>
        </p:nvGrpSpPr>
        <p:grpSpPr bwMode="auto">
          <a:xfrm>
            <a:off x="4103688" y="3162300"/>
            <a:ext cx="5132138" cy="800100"/>
            <a:chOff x="2800" y="1992"/>
            <a:chExt cx="3503" cy="504"/>
          </a:xfrm>
        </p:grpSpPr>
        <p:grpSp>
          <p:nvGrpSpPr>
            <p:cNvPr id="7" name="Group 22"/>
            <p:cNvGrpSpPr>
              <a:grpSpLocks/>
            </p:cNvGrpSpPr>
            <p:nvPr/>
          </p:nvGrpSpPr>
          <p:grpSpPr bwMode="auto">
            <a:xfrm>
              <a:off x="2800" y="1992"/>
              <a:ext cx="887" cy="392"/>
              <a:chOff x="1400" y="3488"/>
              <a:chExt cx="887" cy="392"/>
            </a:xfrm>
          </p:grpSpPr>
          <p:sp>
            <p:nvSpPr>
              <p:cNvPr id="410647" name="Line 23"/>
              <p:cNvSpPr>
                <a:spLocks noChangeShapeType="1"/>
              </p:cNvSpPr>
              <p:nvPr/>
            </p:nvSpPr>
            <p:spPr bwMode="auto">
              <a:xfrm>
                <a:off x="1416" y="3688"/>
                <a:ext cx="808" cy="0"/>
              </a:xfrm>
              <a:prstGeom prst="line">
                <a:avLst/>
              </a:prstGeom>
              <a:noFill/>
              <a:ln w="12700">
                <a:solidFill>
                  <a:schemeClr val="tx1"/>
                </a:solidFill>
                <a:round/>
                <a:headEnd type="none" w="sm" len="sm"/>
                <a:tailEnd type="none" w="sm" len="sm"/>
              </a:ln>
              <a:effectLst/>
            </p:spPr>
            <p:txBody>
              <a:bodyPr/>
              <a:lstStyle/>
              <a:p>
                <a:endParaRPr lang="en-GB"/>
              </a:p>
            </p:txBody>
          </p:sp>
          <p:sp>
            <p:nvSpPr>
              <p:cNvPr id="410648" name="Rectangle 24"/>
              <p:cNvSpPr>
                <a:spLocks noChangeArrowheads="1"/>
              </p:cNvSpPr>
              <p:nvPr/>
            </p:nvSpPr>
            <p:spPr bwMode="auto">
              <a:xfrm>
                <a:off x="1416" y="3496"/>
                <a:ext cx="792" cy="384"/>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10649" name="Text Box 25"/>
              <p:cNvSpPr txBox="1">
                <a:spLocks noChangeArrowheads="1"/>
              </p:cNvSpPr>
              <p:nvPr/>
            </p:nvSpPr>
            <p:spPr bwMode="auto">
              <a:xfrm>
                <a:off x="1400" y="3664"/>
                <a:ext cx="887"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S</a:t>
                </a:r>
                <a:r>
                  <a:rPr lang="en-GB" sz="1600" dirty="0" err="1" smtClean="0">
                    <a:solidFill>
                      <a:srgbClr val="FA3200"/>
                    </a:solidFill>
                  </a:rPr>
                  <a:t>etTaxCode</a:t>
                </a:r>
                <a:endParaRPr lang="en-US" sz="1600" dirty="0">
                  <a:solidFill>
                    <a:srgbClr val="FA3200"/>
                  </a:solidFill>
                </a:endParaRPr>
              </a:p>
            </p:txBody>
          </p:sp>
          <p:sp>
            <p:nvSpPr>
              <p:cNvPr id="410650" name="Text Box 26"/>
              <p:cNvSpPr txBox="1">
                <a:spLocks noChangeArrowheads="1"/>
              </p:cNvSpPr>
              <p:nvPr/>
            </p:nvSpPr>
            <p:spPr bwMode="auto">
              <a:xfrm>
                <a:off x="1432" y="3488"/>
                <a:ext cx="570"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G</a:t>
                </a:r>
                <a:r>
                  <a:rPr lang="en-GB" sz="1600" dirty="0" err="1" smtClean="0">
                    <a:solidFill>
                      <a:srgbClr val="FA3200"/>
                    </a:solidFill>
                  </a:rPr>
                  <a:t>etTax</a:t>
                </a:r>
                <a:endParaRPr lang="en-US" sz="1600" dirty="0">
                  <a:solidFill>
                    <a:srgbClr val="FA3200"/>
                  </a:solidFill>
                </a:endParaRPr>
              </a:p>
            </p:txBody>
          </p:sp>
        </p:grpSp>
        <p:grpSp>
          <p:nvGrpSpPr>
            <p:cNvPr id="8" name="Group 27"/>
            <p:cNvGrpSpPr>
              <a:grpSpLocks/>
            </p:cNvGrpSpPr>
            <p:nvPr/>
          </p:nvGrpSpPr>
          <p:grpSpPr bwMode="auto">
            <a:xfrm>
              <a:off x="4008" y="2104"/>
              <a:ext cx="887" cy="392"/>
              <a:chOff x="1400" y="3488"/>
              <a:chExt cx="887" cy="392"/>
            </a:xfrm>
          </p:grpSpPr>
          <p:sp>
            <p:nvSpPr>
              <p:cNvPr id="410652" name="Line 28"/>
              <p:cNvSpPr>
                <a:spLocks noChangeShapeType="1"/>
              </p:cNvSpPr>
              <p:nvPr/>
            </p:nvSpPr>
            <p:spPr bwMode="auto">
              <a:xfrm>
                <a:off x="1416" y="3688"/>
                <a:ext cx="808" cy="0"/>
              </a:xfrm>
              <a:prstGeom prst="line">
                <a:avLst/>
              </a:prstGeom>
              <a:noFill/>
              <a:ln w="12700">
                <a:solidFill>
                  <a:schemeClr val="tx1"/>
                </a:solidFill>
                <a:round/>
                <a:headEnd type="none" w="sm" len="sm"/>
                <a:tailEnd type="none" w="sm" len="sm"/>
              </a:ln>
              <a:effectLst/>
            </p:spPr>
            <p:txBody>
              <a:bodyPr/>
              <a:lstStyle/>
              <a:p>
                <a:endParaRPr lang="en-GB"/>
              </a:p>
            </p:txBody>
          </p:sp>
          <p:sp>
            <p:nvSpPr>
              <p:cNvPr id="410653" name="Rectangle 29"/>
              <p:cNvSpPr>
                <a:spLocks noChangeArrowheads="1"/>
              </p:cNvSpPr>
              <p:nvPr/>
            </p:nvSpPr>
            <p:spPr bwMode="auto">
              <a:xfrm>
                <a:off x="1416" y="3496"/>
                <a:ext cx="792" cy="384"/>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10654" name="Text Box 30"/>
              <p:cNvSpPr txBox="1">
                <a:spLocks noChangeArrowheads="1"/>
              </p:cNvSpPr>
              <p:nvPr/>
            </p:nvSpPr>
            <p:spPr bwMode="auto">
              <a:xfrm>
                <a:off x="1400" y="3664"/>
                <a:ext cx="887"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S</a:t>
                </a:r>
                <a:r>
                  <a:rPr lang="en-GB" sz="1600" dirty="0" err="1" smtClean="0">
                    <a:solidFill>
                      <a:srgbClr val="FA3200"/>
                    </a:solidFill>
                  </a:rPr>
                  <a:t>etTaxCode</a:t>
                </a:r>
                <a:endParaRPr lang="en-US" sz="1600" dirty="0">
                  <a:solidFill>
                    <a:srgbClr val="FA3200"/>
                  </a:solidFill>
                </a:endParaRPr>
              </a:p>
            </p:txBody>
          </p:sp>
          <p:sp>
            <p:nvSpPr>
              <p:cNvPr id="410655" name="Text Box 31"/>
              <p:cNvSpPr txBox="1">
                <a:spLocks noChangeArrowheads="1"/>
              </p:cNvSpPr>
              <p:nvPr/>
            </p:nvSpPr>
            <p:spPr bwMode="auto">
              <a:xfrm>
                <a:off x="1433" y="3488"/>
                <a:ext cx="570"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G</a:t>
                </a:r>
                <a:r>
                  <a:rPr lang="en-GB" sz="1600" dirty="0" err="1" smtClean="0">
                    <a:solidFill>
                      <a:srgbClr val="FA3200"/>
                    </a:solidFill>
                  </a:rPr>
                  <a:t>etTax</a:t>
                </a:r>
                <a:endParaRPr lang="en-US" sz="1600" dirty="0">
                  <a:solidFill>
                    <a:srgbClr val="FA3200"/>
                  </a:solidFill>
                </a:endParaRPr>
              </a:p>
            </p:txBody>
          </p:sp>
        </p:grpSp>
        <p:grpSp>
          <p:nvGrpSpPr>
            <p:cNvPr id="9" name="Group 32"/>
            <p:cNvGrpSpPr>
              <a:grpSpLocks/>
            </p:cNvGrpSpPr>
            <p:nvPr/>
          </p:nvGrpSpPr>
          <p:grpSpPr bwMode="auto">
            <a:xfrm>
              <a:off x="5416" y="2040"/>
              <a:ext cx="887" cy="392"/>
              <a:chOff x="1400" y="3488"/>
              <a:chExt cx="887" cy="392"/>
            </a:xfrm>
          </p:grpSpPr>
          <p:sp>
            <p:nvSpPr>
              <p:cNvPr id="410657" name="Line 33"/>
              <p:cNvSpPr>
                <a:spLocks noChangeShapeType="1"/>
              </p:cNvSpPr>
              <p:nvPr/>
            </p:nvSpPr>
            <p:spPr bwMode="auto">
              <a:xfrm>
                <a:off x="1416" y="3688"/>
                <a:ext cx="808" cy="0"/>
              </a:xfrm>
              <a:prstGeom prst="line">
                <a:avLst/>
              </a:prstGeom>
              <a:noFill/>
              <a:ln w="12700">
                <a:solidFill>
                  <a:schemeClr val="tx1"/>
                </a:solidFill>
                <a:round/>
                <a:headEnd type="none" w="sm" len="sm"/>
                <a:tailEnd type="none" w="sm" len="sm"/>
              </a:ln>
              <a:effectLst/>
            </p:spPr>
            <p:txBody>
              <a:bodyPr/>
              <a:lstStyle/>
              <a:p>
                <a:endParaRPr lang="en-GB"/>
              </a:p>
            </p:txBody>
          </p:sp>
          <p:sp>
            <p:nvSpPr>
              <p:cNvPr id="410658" name="Rectangle 34"/>
              <p:cNvSpPr>
                <a:spLocks noChangeArrowheads="1"/>
              </p:cNvSpPr>
              <p:nvPr/>
            </p:nvSpPr>
            <p:spPr bwMode="auto">
              <a:xfrm>
                <a:off x="1416" y="3496"/>
                <a:ext cx="792" cy="384"/>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10659" name="Text Box 35"/>
              <p:cNvSpPr txBox="1">
                <a:spLocks noChangeArrowheads="1"/>
              </p:cNvSpPr>
              <p:nvPr/>
            </p:nvSpPr>
            <p:spPr bwMode="auto">
              <a:xfrm>
                <a:off x="1400" y="3664"/>
                <a:ext cx="887"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S</a:t>
                </a:r>
                <a:r>
                  <a:rPr lang="en-GB" sz="1600" dirty="0" err="1" smtClean="0">
                    <a:solidFill>
                      <a:srgbClr val="FA3200"/>
                    </a:solidFill>
                  </a:rPr>
                  <a:t>etTaxCode</a:t>
                </a:r>
                <a:endParaRPr lang="en-US" sz="1600" dirty="0">
                  <a:solidFill>
                    <a:srgbClr val="FA3200"/>
                  </a:solidFill>
                </a:endParaRPr>
              </a:p>
            </p:txBody>
          </p:sp>
          <p:sp>
            <p:nvSpPr>
              <p:cNvPr id="410660" name="Text Box 36"/>
              <p:cNvSpPr txBox="1">
                <a:spLocks noChangeArrowheads="1"/>
              </p:cNvSpPr>
              <p:nvPr/>
            </p:nvSpPr>
            <p:spPr bwMode="auto">
              <a:xfrm>
                <a:off x="1432" y="3488"/>
                <a:ext cx="570"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G</a:t>
                </a:r>
                <a:r>
                  <a:rPr lang="en-GB" sz="1600" dirty="0" err="1" smtClean="0">
                    <a:solidFill>
                      <a:srgbClr val="FA3200"/>
                    </a:solidFill>
                  </a:rPr>
                  <a:t>etTax</a:t>
                </a:r>
                <a:endParaRPr lang="en-US" sz="1600" dirty="0">
                  <a:solidFill>
                    <a:srgbClr val="FA3200"/>
                  </a:solidFill>
                </a:endParaRPr>
              </a:p>
            </p:txBody>
          </p:sp>
        </p:grpSp>
      </p:grpSp>
      <p:sp>
        <p:nvSpPr>
          <p:cNvPr id="410661" name="Freeform 37"/>
          <p:cNvSpPr>
            <a:spLocks/>
          </p:cNvSpPr>
          <p:nvPr/>
        </p:nvSpPr>
        <p:spPr bwMode="auto">
          <a:xfrm>
            <a:off x="4371975" y="3340100"/>
            <a:ext cx="1371600" cy="1676400"/>
          </a:xfrm>
          <a:custGeom>
            <a:avLst/>
            <a:gdLst/>
            <a:ahLst/>
            <a:cxnLst>
              <a:cxn ang="0">
                <a:pos x="624" y="0"/>
              </a:cxn>
              <a:cxn ang="0">
                <a:pos x="832" y="272"/>
              </a:cxn>
              <a:cxn ang="0">
                <a:pos x="0" y="1056"/>
              </a:cxn>
            </a:cxnLst>
            <a:rect l="0" t="0" r="r" b="b"/>
            <a:pathLst>
              <a:path w="936" h="1056">
                <a:moveTo>
                  <a:pt x="624" y="0"/>
                </a:moveTo>
                <a:cubicBezTo>
                  <a:pt x="780" y="48"/>
                  <a:pt x="936" y="96"/>
                  <a:pt x="832" y="272"/>
                </a:cubicBezTo>
                <a:cubicBezTo>
                  <a:pt x="728" y="448"/>
                  <a:pt x="364" y="752"/>
                  <a:pt x="0" y="1056"/>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0662" name="Freeform 38"/>
          <p:cNvSpPr>
            <a:spLocks/>
          </p:cNvSpPr>
          <p:nvPr/>
        </p:nvSpPr>
        <p:spPr bwMode="auto">
          <a:xfrm>
            <a:off x="5697538" y="3360738"/>
            <a:ext cx="1973262" cy="2900362"/>
          </a:xfrm>
          <a:custGeom>
            <a:avLst/>
            <a:gdLst/>
            <a:ahLst/>
            <a:cxnLst>
              <a:cxn ang="0">
                <a:pos x="928" y="83"/>
              </a:cxn>
              <a:cxn ang="0">
                <a:pos x="1192" y="291"/>
              </a:cxn>
              <a:cxn ang="0">
                <a:pos x="0" y="1827"/>
              </a:cxn>
            </a:cxnLst>
            <a:rect l="0" t="0" r="r" b="b"/>
            <a:pathLst>
              <a:path w="1347" h="1827">
                <a:moveTo>
                  <a:pt x="928" y="83"/>
                </a:moveTo>
                <a:cubicBezTo>
                  <a:pt x="1137" y="41"/>
                  <a:pt x="1347" y="0"/>
                  <a:pt x="1192" y="291"/>
                </a:cubicBezTo>
                <a:cubicBezTo>
                  <a:pt x="1037" y="582"/>
                  <a:pt x="197" y="1572"/>
                  <a:pt x="0" y="1827"/>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0663" name="Freeform 39"/>
          <p:cNvSpPr>
            <a:spLocks/>
          </p:cNvSpPr>
          <p:nvPr/>
        </p:nvSpPr>
        <p:spPr bwMode="auto">
          <a:xfrm>
            <a:off x="8170863" y="3365500"/>
            <a:ext cx="974725" cy="2374900"/>
          </a:xfrm>
          <a:custGeom>
            <a:avLst/>
            <a:gdLst/>
            <a:ahLst/>
            <a:cxnLst>
              <a:cxn ang="0">
                <a:pos x="440" y="0"/>
              </a:cxn>
              <a:cxn ang="0">
                <a:pos x="592" y="656"/>
              </a:cxn>
              <a:cxn ang="0">
                <a:pos x="0" y="1496"/>
              </a:cxn>
            </a:cxnLst>
            <a:rect l="0" t="0" r="r" b="b"/>
            <a:pathLst>
              <a:path w="665" h="1496">
                <a:moveTo>
                  <a:pt x="440" y="0"/>
                </a:moveTo>
                <a:cubicBezTo>
                  <a:pt x="552" y="203"/>
                  <a:pt x="665" y="407"/>
                  <a:pt x="592" y="656"/>
                </a:cubicBezTo>
                <a:cubicBezTo>
                  <a:pt x="519" y="905"/>
                  <a:pt x="99" y="1357"/>
                  <a:pt x="0" y="1496"/>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0664" name="Text Box 40"/>
          <p:cNvSpPr txBox="1">
            <a:spLocks noChangeArrowheads="1"/>
          </p:cNvSpPr>
          <p:nvPr/>
        </p:nvSpPr>
        <p:spPr bwMode="auto">
          <a:xfrm>
            <a:off x="8448675" y="6208713"/>
            <a:ext cx="276225"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x</a:t>
            </a:r>
          </a:p>
        </p:txBody>
      </p:sp>
      <p:sp>
        <p:nvSpPr>
          <p:cNvPr id="410665" name="Rectangle 41"/>
          <p:cNvSpPr>
            <a:spLocks noChangeArrowheads="1"/>
          </p:cNvSpPr>
          <p:nvPr/>
        </p:nvSpPr>
        <p:spPr bwMode="auto">
          <a:xfrm>
            <a:off x="104775" y="2374900"/>
            <a:ext cx="3013075" cy="1651000"/>
          </a:xfrm>
          <a:prstGeom prst="rect">
            <a:avLst/>
          </a:prstGeom>
          <a:noFill/>
          <a:ln w="12700">
            <a:solidFill>
              <a:schemeClr val="tx1"/>
            </a:solid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43D925"/>
            </a:extrusionClr>
          </a:sp3d>
        </p:spPr>
        <p:txBody>
          <a:bodyPr wrap="none" anchor="ctr">
            <a:flatTx/>
          </a:bodyPr>
          <a:lstStyle/>
          <a:p>
            <a:pPr defTabSz="739775">
              <a:spcBef>
                <a:spcPct val="0"/>
              </a:spcBef>
            </a:pPr>
            <a:r>
              <a:rPr lang="en-GB" sz="1800" u="sng" dirty="0"/>
              <a:t>  </a:t>
            </a:r>
            <a:r>
              <a:rPr lang="en-GB" sz="1600" b="1" u="sng" dirty="0"/>
              <a:t>The Inland Revenue </a:t>
            </a:r>
          </a:p>
          <a:p>
            <a:pPr defTabSz="739775">
              <a:spcBef>
                <a:spcPct val="0"/>
              </a:spcBef>
            </a:pPr>
            <a:r>
              <a:rPr lang="en-GB" sz="1800" dirty="0"/>
              <a:t>  </a:t>
            </a:r>
            <a:r>
              <a:rPr lang="en-GB" sz="1800" dirty="0" err="1"/>
              <a:t>C</a:t>
            </a:r>
            <a:r>
              <a:rPr lang="en-GB" sz="1800" dirty="0" err="1" smtClean="0"/>
              <a:t>alcTax</a:t>
            </a:r>
            <a:r>
              <a:rPr lang="en-GB" sz="1800" dirty="0"/>
              <a:t>()</a:t>
            </a:r>
          </a:p>
          <a:p>
            <a:pPr defTabSz="739775">
              <a:spcBef>
                <a:spcPct val="0"/>
              </a:spcBef>
            </a:pPr>
            <a:r>
              <a:rPr lang="en-GB" sz="1600" dirty="0"/>
              <a:t>  {</a:t>
            </a:r>
          </a:p>
          <a:p>
            <a:pPr defTabSz="739775">
              <a:spcBef>
                <a:spcPct val="0"/>
              </a:spcBef>
            </a:pPr>
            <a:r>
              <a:rPr lang="en-GB" sz="1600" dirty="0"/>
              <a:t>    </a:t>
            </a:r>
            <a:r>
              <a:rPr lang="en-GB" sz="1600" dirty="0" smtClean="0"/>
              <a:t>return </a:t>
            </a:r>
            <a:r>
              <a:rPr lang="en-GB" sz="1600" dirty="0" smtClean="0">
                <a:solidFill>
                  <a:srgbClr val="FA3200"/>
                </a:solidFill>
              </a:rPr>
              <a:t>                      .</a:t>
            </a:r>
            <a:r>
              <a:rPr lang="en-GB" sz="1600" dirty="0" err="1" smtClean="0"/>
              <a:t>GetTax</a:t>
            </a:r>
            <a:r>
              <a:rPr lang="en-GB" sz="1600" dirty="0"/>
              <a:t>()</a:t>
            </a:r>
          </a:p>
          <a:p>
            <a:pPr defTabSz="739775">
              <a:spcBef>
                <a:spcPct val="0"/>
              </a:spcBef>
            </a:pPr>
            <a:r>
              <a:rPr lang="en-GB" sz="1600" dirty="0"/>
              <a:t>  }</a:t>
            </a:r>
          </a:p>
        </p:txBody>
      </p:sp>
      <p:sp>
        <p:nvSpPr>
          <p:cNvPr id="410666" name="Freeform 42"/>
          <p:cNvSpPr>
            <a:spLocks/>
          </p:cNvSpPr>
          <p:nvPr/>
        </p:nvSpPr>
        <p:spPr bwMode="auto">
          <a:xfrm>
            <a:off x="2778125" y="3176588"/>
            <a:ext cx="1406525" cy="315912"/>
          </a:xfrm>
          <a:custGeom>
            <a:avLst/>
            <a:gdLst/>
            <a:ahLst/>
            <a:cxnLst>
              <a:cxn ang="0">
                <a:pos x="0" y="199"/>
              </a:cxn>
              <a:cxn ang="0">
                <a:pos x="520" y="15"/>
              </a:cxn>
              <a:cxn ang="0">
                <a:pos x="960" y="111"/>
              </a:cxn>
            </a:cxnLst>
            <a:rect l="0" t="0" r="r" b="b"/>
            <a:pathLst>
              <a:path w="960" h="199">
                <a:moveTo>
                  <a:pt x="0" y="199"/>
                </a:moveTo>
                <a:cubicBezTo>
                  <a:pt x="180" y="114"/>
                  <a:pt x="360" y="30"/>
                  <a:pt x="520" y="15"/>
                </a:cubicBezTo>
                <a:cubicBezTo>
                  <a:pt x="680" y="0"/>
                  <a:pt x="887" y="96"/>
                  <a:pt x="960" y="111"/>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0667" name="Freeform 43"/>
          <p:cNvSpPr>
            <a:spLocks/>
          </p:cNvSpPr>
          <p:nvPr/>
        </p:nvSpPr>
        <p:spPr bwMode="auto">
          <a:xfrm>
            <a:off x="2801938" y="2332038"/>
            <a:ext cx="3106737" cy="1160462"/>
          </a:xfrm>
          <a:custGeom>
            <a:avLst/>
            <a:gdLst/>
            <a:ahLst/>
            <a:cxnLst>
              <a:cxn ang="0">
                <a:pos x="0" y="715"/>
              </a:cxn>
              <a:cxn ang="0">
                <a:pos x="1328" y="3"/>
              </a:cxn>
              <a:cxn ang="0">
                <a:pos x="2120" y="731"/>
              </a:cxn>
            </a:cxnLst>
            <a:rect l="0" t="0" r="r" b="b"/>
            <a:pathLst>
              <a:path w="2120" h="731">
                <a:moveTo>
                  <a:pt x="0" y="715"/>
                </a:moveTo>
                <a:cubicBezTo>
                  <a:pt x="487" y="357"/>
                  <a:pt x="975" y="0"/>
                  <a:pt x="1328" y="3"/>
                </a:cubicBezTo>
                <a:cubicBezTo>
                  <a:pt x="1681" y="6"/>
                  <a:pt x="1900" y="368"/>
                  <a:pt x="2120" y="731"/>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0668" name="Freeform 44"/>
          <p:cNvSpPr>
            <a:spLocks/>
          </p:cNvSpPr>
          <p:nvPr/>
        </p:nvSpPr>
        <p:spPr bwMode="auto">
          <a:xfrm>
            <a:off x="2825750" y="2132013"/>
            <a:ext cx="5203825" cy="1309687"/>
          </a:xfrm>
          <a:custGeom>
            <a:avLst/>
            <a:gdLst/>
            <a:ahLst/>
            <a:cxnLst>
              <a:cxn ang="0">
                <a:pos x="0" y="817"/>
              </a:cxn>
              <a:cxn ang="0">
                <a:pos x="1296" y="1"/>
              </a:cxn>
              <a:cxn ang="0">
                <a:pos x="3552" y="825"/>
              </a:cxn>
            </a:cxnLst>
            <a:rect l="0" t="0" r="r" b="b"/>
            <a:pathLst>
              <a:path w="3552" h="825">
                <a:moveTo>
                  <a:pt x="0" y="817"/>
                </a:moveTo>
                <a:cubicBezTo>
                  <a:pt x="352" y="408"/>
                  <a:pt x="704" y="0"/>
                  <a:pt x="1296" y="1"/>
                </a:cubicBezTo>
                <a:cubicBezTo>
                  <a:pt x="1888" y="2"/>
                  <a:pt x="2720" y="413"/>
                  <a:pt x="3552" y="825"/>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grpSp>
        <p:nvGrpSpPr>
          <p:cNvPr id="10" name="Group 45"/>
          <p:cNvGrpSpPr>
            <a:grpSpLocks/>
          </p:cNvGrpSpPr>
          <p:nvPr/>
        </p:nvGrpSpPr>
        <p:grpSpPr bwMode="auto">
          <a:xfrm>
            <a:off x="1009282" y="2617788"/>
            <a:ext cx="7791827" cy="1030287"/>
            <a:chOff x="689" y="1649"/>
            <a:chExt cx="5317" cy="649"/>
          </a:xfrm>
        </p:grpSpPr>
        <p:sp>
          <p:nvSpPr>
            <p:cNvPr id="410670" name="WordArt 46"/>
            <p:cNvSpPr>
              <a:spLocks noChangeArrowheads="1" noChangeShapeType="1" noTextEdit="1"/>
            </p:cNvSpPr>
            <p:nvPr/>
          </p:nvSpPr>
          <p:spPr bwMode="auto">
            <a:xfrm>
              <a:off x="4154" y="1769"/>
              <a:ext cx="444" cy="286"/>
            </a:xfrm>
            <a:prstGeom prst="rect">
              <a:avLst/>
            </a:prstGeom>
          </p:spPr>
          <p:txBody>
            <a:bodyPr wrap="none" fromWordArt="1">
              <a:prstTxWarp prst="textDoubleWave1">
                <a:avLst>
                  <a:gd name="adj1" fmla="val 6500"/>
                  <a:gd name="adj2" fmla="val 0"/>
                </a:avLst>
              </a:prstTxWarp>
            </a:bodyPr>
            <a:lstStyle/>
            <a:p>
              <a:pPr algn="ctr"/>
              <a:r>
                <a:rPr lang="en-GB" sz="3600" kern="10" spc="-360">
                  <a:ln w="12700">
                    <a:solidFill>
                      <a:srgbClr val="000099"/>
                    </a:solidFill>
                    <a:round/>
                    <a:headEnd type="none" w="sm" len="sm"/>
                    <a:tailEnd type="none" w="sm" len="sm"/>
                  </a:ln>
                  <a:solidFill>
                    <a:srgbClr val="33CCFF"/>
                  </a:solidFill>
                  <a:effectLst>
                    <a:outerShdw dist="125724" dir="18900000" algn="ctr" rotWithShape="0">
                      <a:srgbClr val="000099"/>
                    </a:outerShdw>
                  </a:effectLst>
                  <a:latin typeface="Impact"/>
                </a:rPr>
                <a:t>Taxable</a:t>
              </a:r>
            </a:p>
          </p:txBody>
        </p:sp>
        <p:sp>
          <p:nvSpPr>
            <p:cNvPr id="410671" name="WordArt 47"/>
            <p:cNvSpPr>
              <a:spLocks noChangeArrowheads="1" noChangeShapeType="1" noTextEdit="1"/>
            </p:cNvSpPr>
            <p:nvPr/>
          </p:nvSpPr>
          <p:spPr bwMode="auto">
            <a:xfrm>
              <a:off x="2938" y="1649"/>
              <a:ext cx="444" cy="286"/>
            </a:xfrm>
            <a:prstGeom prst="rect">
              <a:avLst/>
            </a:prstGeom>
          </p:spPr>
          <p:txBody>
            <a:bodyPr wrap="none" fromWordArt="1">
              <a:prstTxWarp prst="textDoubleWave1">
                <a:avLst>
                  <a:gd name="adj1" fmla="val 6500"/>
                  <a:gd name="adj2" fmla="val 0"/>
                </a:avLst>
              </a:prstTxWarp>
            </a:bodyPr>
            <a:lstStyle/>
            <a:p>
              <a:pPr algn="ctr"/>
              <a:r>
                <a:rPr lang="en-GB" sz="3600" kern="10" spc="-360">
                  <a:ln w="12700">
                    <a:solidFill>
                      <a:srgbClr val="000099"/>
                    </a:solidFill>
                    <a:round/>
                    <a:headEnd type="none" w="sm" len="sm"/>
                    <a:tailEnd type="none" w="sm" len="sm"/>
                  </a:ln>
                  <a:solidFill>
                    <a:srgbClr val="33CCFF"/>
                  </a:solidFill>
                  <a:effectLst>
                    <a:outerShdw dist="125724" dir="18900000" algn="ctr" rotWithShape="0">
                      <a:srgbClr val="000099"/>
                    </a:outerShdw>
                  </a:effectLst>
                  <a:latin typeface="Impact"/>
                </a:rPr>
                <a:t>Taxable</a:t>
              </a:r>
            </a:p>
          </p:txBody>
        </p:sp>
        <p:sp>
          <p:nvSpPr>
            <p:cNvPr id="410672" name="WordArt 48"/>
            <p:cNvSpPr>
              <a:spLocks noChangeArrowheads="1" noChangeShapeType="1" noTextEdit="1"/>
            </p:cNvSpPr>
            <p:nvPr/>
          </p:nvSpPr>
          <p:spPr bwMode="auto">
            <a:xfrm>
              <a:off x="5562" y="1713"/>
              <a:ext cx="444" cy="286"/>
            </a:xfrm>
            <a:prstGeom prst="rect">
              <a:avLst/>
            </a:prstGeom>
          </p:spPr>
          <p:txBody>
            <a:bodyPr wrap="none" fromWordArt="1">
              <a:prstTxWarp prst="textDoubleWave1">
                <a:avLst>
                  <a:gd name="adj1" fmla="val 6500"/>
                  <a:gd name="adj2" fmla="val 0"/>
                </a:avLst>
              </a:prstTxWarp>
            </a:bodyPr>
            <a:lstStyle/>
            <a:p>
              <a:pPr algn="ctr"/>
              <a:r>
                <a:rPr lang="en-GB" sz="3600" kern="10" spc="-360">
                  <a:ln w="12700">
                    <a:solidFill>
                      <a:srgbClr val="000099"/>
                    </a:solidFill>
                    <a:round/>
                    <a:headEnd type="none" w="sm" len="sm"/>
                    <a:tailEnd type="none" w="sm" len="sm"/>
                  </a:ln>
                  <a:solidFill>
                    <a:srgbClr val="33CCFF"/>
                  </a:solidFill>
                  <a:effectLst>
                    <a:outerShdw dist="125724" dir="18900000" algn="ctr" rotWithShape="0">
                      <a:srgbClr val="000099"/>
                    </a:outerShdw>
                  </a:effectLst>
                  <a:latin typeface="Impact"/>
                </a:rPr>
                <a:t>Taxable</a:t>
              </a:r>
            </a:p>
          </p:txBody>
        </p:sp>
        <p:sp>
          <p:nvSpPr>
            <p:cNvPr id="410673" name="Text Box 49"/>
            <p:cNvSpPr txBox="1">
              <a:spLocks noChangeArrowheads="1"/>
            </p:cNvSpPr>
            <p:nvPr/>
          </p:nvSpPr>
          <p:spPr bwMode="auto">
            <a:xfrm>
              <a:off x="689" y="2086"/>
              <a:ext cx="928" cy="2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b="1" dirty="0" err="1">
                  <a:solidFill>
                    <a:srgbClr val="FA3200"/>
                  </a:solidFill>
                </a:rPr>
                <a:t>taxableItem</a:t>
              </a:r>
              <a:r>
                <a:rPr lang="en-GB" sz="1600" b="1" dirty="0">
                  <a:solidFill>
                    <a:schemeClr val="accent2"/>
                  </a:solidFill>
                </a:rPr>
                <a:t>.</a:t>
              </a:r>
            </a:p>
          </p:txBody>
        </p:sp>
      </p:grpSp>
    </p:spTree>
    <p:extLst>
      <p:ext uri="{BB962C8B-B14F-4D97-AF65-F5344CB8AC3E}">
        <p14:creationId xmlns:p14="http://schemas.microsoft.com/office/powerpoint/2010/main" val="33733214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10666"/>
                                        </p:tgtEl>
                                        <p:attrNameLst>
                                          <p:attrName>style.visibility</p:attrName>
                                        </p:attrNameLst>
                                      </p:cBhvr>
                                      <p:to>
                                        <p:strVal val="visible"/>
                                      </p:to>
                                    </p:set>
                                    <p:anim calcmode="lin" valueType="num">
                                      <p:cBhvr additive="base">
                                        <p:cTn id="22" dur="500" fill="hold"/>
                                        <p:tgtEl>
                                          <p:spTgt spid="410666"/>
                                        </p:tgtEl>
                                        <p:attrNameLst>
                                          <p:attrName>ppt_x</p:attrName>
                                        </p:attrNameLst>
                                      </p:cBhvr>
                                      <p:tavLst>
                                        <p:tav tm="0">
                                          <p:val>
                                            <p:strVal val="0-#ppt_w/2"/>
                                          </p:val>
                                        </p:tav>
                                        <p:tav tm="100000">
                                          <p:val>
                                            <p:strVal val="#ppt_x"/>
                                          </p:val>
                                        </p:tav>
                                      </p:tavLst>
                                    </p:anim>
                                    <p:anim calcmode="lin" valueType="num">
                                      <p:cBhvr additive="base">
                                        <p:cTn id="23" dur="500" fill="hold"/>
                                        <p:tgtEl>
                                          <p:spTgt spid="410666"/>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 presetClass="entr" presetSubtype="8" fill="hold" grpId="0" nodeType="afterEffect">
                                  <p:stCondLst>
                                    <p:cond delay="0"/>
                                  </p:stCondLst>
                                  <p:childTnLst>
                                    <p:set>
                                      <p:cBhvr>
                                        <p:cTn id="26" dur="1" fill="hold">
                                          <p:stCondLst>
                                            <p:cond delay="0"/>
                                          </p:stCondLst>
                                        </p:cTn>
                                        <p:tgtEl>
                                          <p:spTgt spid="410661"/>
                                        </p:tgtEl>
                                        <p:attrNameLst>
                                          <p:attrName>style.visibility</p:attrName>
                                        </p:attrNameLst>
                                      </p:cBhvr>
                                      <p:to>
                                        <p:strVal val="visible"/>
                                      </p:to>
                                    </p:set>
                                    <p:anim calcmode="lin" valueType="num">
                                      <p:cBhvr additive="base">
                                        <p:cTn id="27" dur="500" fill="hold"/>
                                        <p:tgtEl>
                                          <p:spTgt spid="410661"/>
                                        </p:tgtEl>
                                        <p:attrNameLst>
                                          <p:attrName>ppt_x</p:attrName>
                                        </p:attrNameLst>
                                      </p:cBhvr>
                                      <p:tavLst>
                                        <p:tav tm="0">
                                          <p:val>
                                            <p:strVal val="0-#ppt_w/2"/>
                                          </p:val>
                                        </p:tav>
                                        <p:tav tm="100000">
                                          <p:val>
                                            <p:strVal val="#ppt_x"/>
                                          </p:val>
                                        </p:tav>
                                      </p:tavLst>
                                    </p:anim>
                                    <p:anim calcmode="lin" valueType="num">
                                      <p:cBhvr additive="base">
                                        <p:cTn id="28" dur="500" fill="hold"/>
                                        <p:tgtEl>
                                          <p:spTgt spid="410661"/>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410667"/>
                                        </p:tgtEl>
                                        <p:attrNameLst>
                                          <p:attrName>style.visibility</p:attrName>
                                        </p:attrNameLst>
                                      </p:cBhvr>
                                      <p:to>
                                        <p:strVal val="visible"/>
                                      </p:to>
                                    </p:set>
                                    <p:anim calcmode="lin" valueType="num">
                                      <p:cBhvr additive="base">
                                        <p:cTn id="33" dur="500" fill="hold"/>
                                        <p:tgtEl>
                                          <p:spTgt spid="410667"/>
                                        </p:tgtEl>
                                        <p:attrNameLst>
                                          <p:attrName>ppt_x</p:attrName>
                                        </p:attrNameLst>
                                      </p:cBhvr>
                                      <p:tavLst>
                                        <p:tav tm="0">
                                          <p:val>
                                            <p:strVal val="0-#ppt_w/2"/>
                                          </p:val>
                                        </p:tav>
                                        <p:tav tm="100000">
                                          <p:val>
                                            <p:strVal val="#ppt_x"/>
                                          </p:val>
                                        </p:tav>
                                      </p:tavLst>
                                    </p:anim>
                                    <p:anim calcmode="lin" valueType="num">
                                      <p:cBhvr additive="base">
                                        <p:cTn id="34" dur="500" fill="hold"/>
                                        <p:tgtEl>
                                          <p:spTgt spid="410667"/>
                                        </p:tgtEl>
                                        <p:attrNameLst>
                                          <p:attrName>ppt_y</p:attrName>
                                        </p:attrNameLst>
                                      </p:cBhvr>
                                      <p:tavLst>
                                        <p:tav tm="0">
                                          <p:val>
                                            <p:strVal val="#ppt_y"/>
                                          </p:val>
                                        </p:tav>
                                        <p:tav tm="100000">
                                          <p:val>
                                            <p:strVal val="#ppt_y"/>
                                          </p:val>
                                        </p:tav>
                                      </p:tavLst>
                                    </p:anim>
                                  </p:childTnLst>
                                </p:cTn>
                              </p:par>
                            </p:childTnLst>
                          </p:cTn>
                        </p:par>
                        <p:par>
                          <p:cTn id="35" fill="hold">
                            <p:stCondLst>
                              <p:cond delay="500"/>
                            </p:stCondLst>
                            <p:childTnLst>
                              <p:par>
                                <p:cTn id="36" presetID="2" presetClass="entr" presetSubtype="8" fill="hold" grpId="0" nodeType="afterEffect">
                                  <p:stCondLst>
                                    <p:cond delay="0"/>
                                  </p:stCondLst>
                                  <p:childTnLst>
                                    <p:set>
                                      <p:cBhvr>
                                        <p:cTn id="37" dur="1" fill="hold">
                                          <p:stCondLst>
                                            <p:cond delay="0"/>
                                          </p:stCondLst>
                                        </p:cTn>
                                        <p:tgtEl>
                                          <p:spTgt spid="410662"/>
                                        </p:tgtEl>
                                        <p:attrNameLst>
                                          <p:attrName>style.visibility</p:attrName>
                                        </p:attrNameLst>
                                      </p:cBhvr>
                                      <p:to>
                                        <p:strVal val="visible"/>
                                      </p:to>
                                    </p:set>
                                    <p:anim calcmode="lin" valueType="num">
                                      <p:cBhvr additive="base">
                                        <p:cTn id="38" dur="500" fill="hold"/>
                                        <p:tgtEl>
                                          <p:spTgt spid="410662"/>
                                        </p:tgtEl>
                                        <p:attrNameLst>
                                          <p:attrName>ppt_x</p:attrName>
                                        </p:attrNameLst>
                                      </p:cBhvr>
                                      <p:tavLst>
                                        <p:tav tm="0">
                                          <p:val>
                                            <p:strVal val="0-#ppt_w/2"/>
                                          </p:val>
                                        </p:tav>
                                        <p:tav tm="100000">
                                          <p:val>
                                            <p:strVal val="#ppt_x"/>
                                          </p:val>
                                        </p:tav>
                                      </p:tavLst>
                                    </p:anim>
                                    <p:anim calcmode="lin" valueType="num">
                                      <p:cBhvr additive="base">
                                        <p:cTn id="39" dur="500" fill="hold"/>
                                        <p:tgtEl>
                                          <p:spTgt spid="41066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410668"/>
                                        </p:tgtEl>
                                        <p:attrNameLst>
                                          <p:attrName>style.visibility</p:attrName>
                                        </p:attrNameLst>
                                      </p:cBhvr>
                                      <p:to>
                                        <p:strVal val="visible"/>
                                      </p:to>
                                    </p:set>
                                    <p:anim calcmode="lin" valueType="num">
                                      <p:cBhvr additive="base">
                                        <p:cTn id="44" dur="500" fill="hold"/>
                                        <p:tgtEl>
                                          <p:spTgt spid="410668"/>
                                        </p:tgtEl>
                                        <p:attrNameLst>
                                          <p:attrName>ppt_x</p:attrName>
                                        </p:attrNameLst>
                                      </p:cBhvr>
                                      <p:tavLst>
                                        <p:tav tm="0">
                                          <p:val>
                                            <p:strVal val="0-#ppt_w/2"/>
                                          </p:val>
                                        </p:tav>
                                        <p:tav tm="100000">
                                          <p:val>
                                            <p:strVal val="#ppt_x"/>
                                          </p:val>
                                        </p:tav>
                                      </p:tavLst>
                                    </p:anim>
                                    <p:anim calcmode="lin" valueType="num">
                                      <p:cBhvr additive="base">
                                        <p:cTn id="45" dur="500" fill="hold"/>
                                        <p:tgtEl>
                                          <p:spTgt spid="410668"/>
                                        </p:tgtEl>
                                        <p:attrNameLst>
                                          <p:attrName>ppt_y</p:attrName>
                                        </p:attrNameLst>
                                      </p:cBhvr>
                                      <p:tavLst>
                                        <p:tav tm="0">
                                          <p:val>
                                            <p:strVal val="#ppt_y"/>
                                          </p:val>
                                        </p:tav>
                                        <p:tav tm="100000">
                                          <p:val>
                                            <p:strVal val="#ppt_y"/>
                                          </p:val>
                                        </p:tav>
                                      </p:tavLst>
                                    </p:anim>
                                  </p:childTnLst>
                                </p:cTn>
                              </p:par>
                            </p:childTnLst>
                          </p:cTn>
                        </p:par>
                        <p:par>
                          <p:cTn id="46" fill="hold">
                            <p:stCondLst>
                              <p:cond delay="500"/>
                            </p:stCondLst>
                            <p:childTnLst>
                              <p:par>
                                <p:cTn id="47" presetID="2" presetClass="entr" presetSubtype="8" fill="hold" grpId="0" nodeType="afterEffect">
                                  <p:stCondLst>
                                    <p:cond delay="0"/>
                                  </p:stCondLst>
                                  <p:childTnLst>
                                    <p:set>
                                      <p:cBhvr>
                                        <p:cTn id="48" dur="1" fill="hold">
                                          <p:stCondLst>
                                            <p:cond delay="0"/>
                                          </p:stCondLst>
                                        </p:cTn>
                                        <p:tgtEl>
                                          <p:spTgt spid="410663"/>
                                        </p:tgtEl>
                                        <p:attrNameLst>
                                          <p:attrName>style.visibility</p:attrName>
                                        </p:attrNameLst>
                                      </p:cBhvr>
                                      <p:to>
                                        <p:strVal val="visible"/>
                                      </p:to>
                                    </p:set>
                                    <p:anim calcmode="lin" valueType="num">
                                      <p:cBhvr additive="base">
                                        <p:cTn id="49" dur="500" fill="hold"/>
                                        <p:tgtEl>
                                          <p:spTgt spid="410663"/>
                                        </p:tgtEl>
                                        <p:attrNameLst>
                                          <p:attrName>ppt_x</p:attrName>
                                        </p:attrNameLst>
                                      </p:cBhvr>
                                      <p:tavLst>
                                        <p:tav tm="0">
                                          <p:val>
                                            <p:strVal val="0-#ppt_w/2"/>
                                          </p:val>
                                        </p:tav>
                                        <p:tav tm="100000">
                                          <p:val>
                                            <p:strVal val="#ppt_x"/>
                                          </p:val>
                                        </p:tav>
                                      </p:tavLst>
                                    </p:anim>
                                    <p:anim calcmode="lin" valueType="num">
                                      <p:cBhvr additive="base">
                                        <p:cTn id="50" dur="500" fill="hold"/>
                                        <p:tgtEl>
                                          <p:spTgt spid="410663"/>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ID="2" presetClass="entr" presetSubtype="8" fill="hold" grpId="0" nodeType="afterEffect">
                                  <p:stCondLst>
                                    <p:cond delay="0"/>
                                  </p:stCondLst>
                                  <p:childTnLst>
                                    <p:set>
                                      <p:cBhvr>
                                        <p:cTn id="53" dur="1" fill="hold">
                                          <p:stCondLst>
                                            <p:cond delay="0"/>
                                          </p:stCondLst>
                                        </p:cTn>
                                        <p:tgtEl>
                                          <p:spTgt spid="410664"/>
                                        </p:tgtEl>
                                        <p:attrNameLst>
                                          <p:attrName>style.visibility</p:attrName>
                                        </p:attrNameLst>
                                      </p:cBhvr>
                                      <p:to>
                                        <p:strVal val="visible"/>
                                      </p:to>
                                    </p:set>
                                    <p:anim calcmode="lin" valueType="num">
                                      <p:cBhvr additive="base">
                                        <p:cTn id="54" dur="500" fill="hold"/>
                                        <p:tgtEl>
                                          <p:spTgt spid="410664"/>
                                        </p:tgtEl>
                                        <p:attrNameLst>
                                          <p:attrName>ppt_x</p:attrName>
                                        </p:attrNameLst>
                                      </p:cBhvr>
                                      <p:tavLst>
                                        <p:tav tm="0">
                                          <p:val>
                                            <p:strVal val="0-#ppt_w/2"/>
                                          </p:val>
                                        </p:tav>
                                        <p:tav tm="100000">
                                          <p:val>
                                            <p:strVal val="#ppt_x"/>
                                          </p:val>
                                        </p:tav>
                                      </p:tavLst>
                                    </p:anim>
                                    <p:anim calcmode="lin" valueType="num">
                                      <p:cBhvr additive="base">
                                        <p:cTn id="55" dur="500" fill="hold"/>
                                        <p:tgtEl>
                                          <p:spTgt spid="4106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61" grpId="0" animBg="1"/>
      <p:bldP spid="410662" grpId="0" animBg="1"/>
      <p:bldP spid="410663" grpId="0" animBg="1"/>
      <p:bldP spid="410664" grpId="0" autoUpdateAnimBg="0"/>
      <p:bldP spid="410666" grpId="0" animBg="1"/>
      <p:bldP spid="410667" grpId="0" animBg="1"/>
      <p:bldP spid="41066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AutoShape 2" descr="Blue tissue paper"/>
          <p:cNvSpPr>
            <a:spLocks noChangeArrowheads="1"/>
          </p:cNvSpPr>
          <p:nvPr/>
        </p:nvSpPr>
        <p:spPr bwMode="auto">
          <a:xfrm>
            <a:off x="2601913" y="2590800"/>
            <a:ext cx="6542087" cy="3759200"/>
          </a:xfrm>
          <a:prstGeom prst="parallelogram">
            <a:avLst>
              <a:gd name="adj" fmla="val 43507"/>
            </a:avLst>
          </a:prstGeom>
          <a:blipFill dpi="0" rotWithShape="0">
            <a:blip r:embed="rId3" cstate="print"/>
            <a:srcRect/>
            <a:tile tx="0" ty="0" sx="100000" sy="100000" flip="none" algn="tl"/>
          </a:blipFill>
          <a:ln w="12700">
            <a:solidFill>
              <a:schemeClr val="tx1"/>
            </a:solidFill>
            <a:miter lim="800000"/>
            <a:headEnd type="none" w="sm" len="sm"/>
            <a:tailEnd type="none" w="sm" len="sm"/>
          </a:ln>
          <a:effectLst/>
        </p:spPr>
        <p:txBody>
          <a:bodyPr wrap="none" anchor="b"/>
          <a:lstStyle/>
          <a:p>
            <a:pPr algn="ctr" defTabSz="739775">
              <a:spcBef>
                <a:spcPct val="0"/>
              </a:spcBef>
            </a:pPr>
            <a:endParaRPr lang="en-GB" sz="1800"/>
          </a:p>
        </p:txBody>
      </p:sp>
      <p:sp>
        <p:nvSpPr>
          <p:cNvPr id="412676" name="Rectangle 4"/>
          <p:cNvSpPr>
            <a:spLocks noGrp="1" noChangeArrowheads="1"/>
          </p:cNvSpPr>
          <p:nvPr>
            <p:ph type="body" sz="quarter" idx="15"/>
          </p:nvPr>
        </p:nvSpPr>
        <p:spPr/>
        <p:txBody>
          <a:bodyPr/>
          <a:lstStyle/>
          <a:p>
            <a:r>
              <a:rPr lang="en-GB"/>
              <a:t>Now the Inland Revenue doesn’t know and doesn’t care what sort of object it is – provided its taxable :-</a:t>
            </a:r>
          </a:p>
        </p:txBody>
      </p:sp>
      <p:sp>
        <p:nvSpPr>
          <p:cNvPr id="412675" name="Rectangle 3"/>
          <p:cNvSpPr>
            <a:spLocks noGrp="1" noChangeArrowheads="1"/>
          </p:cNvSpPr>
          <p:nvPr>
            <p:ph type="title"/>
          </p:nvPr>
        </p:nvSpPr>
        <p:spPr/>
        <p:txBody>
          <a:bodyPr/>
          <a:lstStyle/>
          <a:p>
            <a:r>
              <a:rPr lang="en-GB"/>
              <a:t>Ignorance &amp; Apathy</a:t>
            </a:r>
          </a:p>
        </p:txBody>
      </p:sp>
      <p:grpSp>
        <p:nvGrpSpPr>
          <p:cNvPr id="2" name="Group 5"/>
          <p:cNvGrpSpPr>
            <a:grpSpLocks/>
          </p:cNvGrpSpPr>
          <p:nvPr/>
        </p:nvGrpSpPr>
        <p:grpSpPr bwMode="auto">
          <a:xfrm>
            <a:off x="3951288" y="2044700"/>
            <a:ext cx="1169987" cy="2298700"/>
            <a:chOff x="2720" y="1288"/>
            <a:chExt cx="799" cy="1448"/>
          </a:xfrm>
        </p:grpSpPr>
        <p:sp>
          <p:nvSpPr>
            <p:cNvPr id="412678" name="Line 6"/>
            <p:cNvSpPr>
              <a:spLocks noChangeShapeType="1"/>
            </p:cNvSpPr>
            <p:nvPr/>
          </p:nvSpPr>
          <p:spPr bwMode="auto">
            <a:xfrm flipH="1" flipV="1">
              <a:off x="2800" y="1432"/>
              <a:ext cx="8" cy="1304"/>
            </a:xfrm>
            <a:prstGeom prst="line">
              <a:avLst/>
            </a:prstGeom>
            <a:noFill/>
            <a:ln w="57150">
              <a:solidFill>
                <a:srgbClr val="993300"/>
              </a:solidFill>
              <a:round/>
              <a:headEnd type="none" w="sm" len="sm"/>
              <a:tailEnd type="none" w="sm" len="sm"/>
            </a:ln>
            <a:effectLst/>
          </p:spPr>
          <p:txBody>
            <a:bodyPr/>
            <a:lstStyle/>
            <a:p>
              <a:endParaRPr lang="en-GB"/>
            </a:p>
          </p:txBody>
        </p:sp>
        <p:sp>
          <p:nvSpPr>
            <p:cNvPr id="412679" name="Freeform 7"/>
            <p:cNvSpPr>
              <a:spLocks noEditPoints="1"/>
            </p:cNvSpPr>
            <p:nvPr/>
          </p:nvSpPr>
          <p:spPr bwMode="auto">
            <a:xfrm>
              <a:off x="2787" y="1423"/>
              <a:ext cx="732" cy="629"/>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2680" name="Oval 8"/>
            <p:cNvSpPr>
              <a:spLocks noChangeArrowheads="1"/>
            </p:cNvSpPr>
            <p:nvPr/>
          </p:nvSpPr>
          <p:spPr bwMode="auto">
            <a:xfrm>
              <a:off x="2720" y="1288"/>
              <a:ext cx="152" cy="152"/>
            </a:xfrm>
            <a:prstGeom prst="ellipse">
              <a:avLst/>
            </a:prstGeom>
            <a:noFill/>
            <a:ln w="57150">
              <a:solidFill>
                <a:srgbClr val="993300"/>
              </a:solidFill>
              <a:round/>
              <a:headEnd type="none" w="sm" len="sm"/>
              <a:tailEnd type="none" w="sm" len="sm"/>
            </a:ln>
            <a:effectLst/>
          </p:spPr>
          <p:txBody>
            <a:bodyPr wrap="none" anchor="ctr"/>
            <a:lstStyle/>
            <a:p>
              <a:endParaRPr lang="en-GB"/>
            </a:p>
          </p:txBody>
        </p:sp>
      </p:grpSp>
      <p:grpSp>
        <p:nvGrpSpPr>
          <p:cNvPr id="3" name="Group 9"/>
          <p:cNvGrpSpPr>
            <a:grpSpLocks/>
          </p:cNvGrpSpPr>
          <p:nvPr/>
        </p:nvGrpSpPr>
        <p:grpSpPr bwMode="auto">
          <a:xfrm>
            <a:off x="5743575" y="2260600"/>
            <a:ext cx="1160463" cy="3314700"/>
            <a:chOff x="3944" y="1424"/>
            <a:chExt cx="791" cy="2088"/>
          </a:xfrm>
        </p:grpSpPr>
        <p:sp>
          <p:nvSpPr>
            <p:cNvPr id="412682" name="Line 10"/>
            <p:cNvSpPr>
              <a:spLocks noChangeShapeType="1"/>
            </p:cNvSpPr>
            <p:nvPr/>
          </p:nvSpPr>
          <p:spPr bwMode="auto">
            <a:xfrm flipH="1" flipV="1">
              <a:off x="4012" y="1584"/>
              <a:ext cx="12" cy="1928"/>
            </a:xfrm>
            <a:prstGeom prst="line">
              <a:avLst/>
            </a:prstGeom>
            <a:noFill/>
            <a:ln w="57150">
              <a:solidFill>
                <a:srgbClr val="993300"/>
              </a:solidFill>
              <a:round/>
              <a:headEnd type="none" w="sm" len="sm"/>
              <a:tailEnd type="none" w="sm" len="sm"/>
            </a:ln>
            <a:effectLst/>
          </p:spPr>
          <p:txBody>
            <a:bodyPr/>
            <a:lstStyle/>
            <a:p>
              <a:endParaRPr lang="en-GB"/>
            </a:p>
          </p:txBody>
        </p:sp>
        <p:sp>
          <p:nvSpPr>
            <p:cNvPr id="412683" name="Freeform 11"/>
            <p:cNvSpPr>
              <a:spLocks noEditPoints="1"/>
            </p:cNvSpPr>
            <p:nvPr/>
          </p:nvSpPr>
          <p:spPr bwMode="auto">
            <a:xfrm>
              <a:off x="4003" y="1543"/>
              <a:ext cx="732" cy="629"/>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2684" name="Oval 12"/>
            <p:cNvSpPr>
              <a:spLocks noChangeArrowheads="1"/>
            </p:cNvSpPr>
            <p:nvPr/>
          </p:nvSpPr>
          <p:spPr bwMode="auto">
            <a:xfrm>
              <a:off x="3944" y="1424"/>
              <a:ext cx="152" cy="152"/>
            </a:xfrm>
            <a:prstGeom prst="ellipse">
              <a:avLst/>
            </a:prstGeom>
            <a:noFill/>
            <a:ln w="57150">
              <a:solidFill>
                <a:srgbClr val="993300"/>
              </a:solidFill>
              <a:round/>
              <a:headEnd type="none" w="sm" len="sm"/>
              <a:tailEnd type="none" w="sm" len="sm"/>
            </a:ln>
            <a:effectLst/>
          </p:spPr>
          <p:txBody>
            <a:bodyPr wrap="none" anchor="ctr"/>
            <a:lstStyle/>
            <a:p>
              <a:endParaRPr lang="en-GB"/>
            </a:p>
          </p:txBody>
        </p:sp>
      </p:grpSp>
      <p:grpSp>
        <p:nvGrpSpPr>
          <p:cNvPr id="4" name="Group 13"/>
          <p:cNvGrpSpPr>
            <a:grpSpLocks/>
          </p:cNvGrpSpPr>
          <p:nvPr/>
        </p:nvGrpSpPr>
        <p:grpSpPr bwMode="auto">
          <a:xfrm>
            <a:off x="7796213" y="2197100"/>
            <a:ext cx="1169987" cy="2806700"/>
            <a:chOff x="5344" y="1384"/>
            <a:chExt cx="799" cy="1768"/>
          </a:xfrm>
        </p:grpSpPr>
        <p:sp>
          <p:nvSpPr>
            <p:cNvPr id="412686" name="Line 14"/>
            <p:cNvSpPr>
              <a:spLocks noChangeShapeType="1"/>
            </p:cNvSpPr>
            <p:nvPr/>
          </p:nvSpPr>
          <p:spPr bwMode="auto">
            <a:xfrm flipH="1" flipV="1">
              <a:off x="5422" y="1544"/>
              <a:ext cx="10" cy="1608"/>
            </a:xfrm>
            <a:prstGeom prst="line">
              <a:avLst/>
            </a:prstGeom>
            <a:noFill/>
            <a:ln w="57150">
              <a:solidFill>
                <a:srgbClr val="993300"/>
              </a:solidFill>
              <a:round/>
              <a:headEnd type="none" w="sm" len="sm"/>
              <a:tailEnd type="none" w="sm" len="sm"/>
            </a:ln>
            <a:effectLst/>
          </p:spPr>
          <p:txBody>
            <a:bodyPr/>
            <a:lstStyle/>
            <a:p>
              <a:endParaRPr lang="en-GB"/>
            </a:p>
          </p:txBody>
        </p:sp>
        <p:sp>
          <p:nvSpPr>
            <p:cNvPr id="412687" name="Freeform 15"/>
            <p:cNvSpPr>
              <a:spLocks noEditPoints="1"/>
            </p:cNvSpPr>
            <p:nvPr/>
          </p:nvSpPr>
          <p:spPr bwMode="auto">
            <a:xfrm>
              <a:off x="5411" y="1487"/>
              <a:ext cx="732" cy="629"/>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2688" name="Oval 16"/>
            <p:cNvSpPr>
              <a:spLocks noChangeArrowheads="1"/>
            </p:cNvSpPr>
            <p:nvPr/>
          </p:nvSpPr>
          <p:spPr bwMode="auto">
            <a:xfrm>
              <a:off x="5344" y="1384"/>
              <a:ext cx="152" cy="152"/>
            </a:xfrm>
            <a:prstGeom prst="ellipse">
              <a:avLst/>
            </a:prstGeom>
            <a:noFill/>
            <a:ln w="57150">
              <a:solidFill>
                <a:srgbClr val="993300"/>
              </a:solidFill>
              <a:round/>
              <a:headEnd type="none" w="sm" len="sm"/>
              <a:tailEnd type="none" w="sm" len="sm"/>
            </a:ln>
            <a:effectLst/>
          </p:spPr>
          <p:txBody>
            <a:bodyPr wrap="none" anchor="ctr"/>
            <a:lstStyle/>
            <a:p>
              <a:endParaRPr lang="en-GB"/>
            </a:p>
          </p:txBody>
        </p:sp>
      </p:grpSp>
      <p:grpSp>
        <p:nvGrpSpPr>
          <p:cNvPr id="5" name="Group 17"/>
          <p:cNvGrpSpPr>
            <a:grpSpLocks/>
          </p:cNvGrpSpPr>
          <p:nvPr/>
        </p:nvGrpSpPr>
        <p:grpSpPr bwMode="auto">
          <a:xfrm>
            <a:off x="4103688" y="3162300"/>
            <a:ext cx="5132138" cy="800100"/>
            <a:chOff x="2800" y="1992"/>
            <a:chExt cx="3503" cy="504"/>
          </a:xfrm>
        </p:grpSpPr>
        <p:grpSp>
          <p:nvGrpSpPr>
            <p:cNvPr id="6" name="Group 18"/>
            <p:cNvGrpSpPr>
              <a:grpSpLocks/>
            </p:cNvGrpSpPr>
            <p:nvPr/>
          </p:nvGrpSpPr>
          <p:grpSpPr bwMode="auto">
            <a:xfrm>
              <a:off x="2800" y="1992"/>
              <a:ext cx="887" cy="392"/>
              <a:chOff x="1400" y="3488"/>
              <a:chExt cx="887" cy="392"/>
            </a:xfrm>
          </p:grpSpPr>
          <p:sp>
            <p:nvSpPr>
              <p:cNvPr id="412691" name="Line 19"/>
              <p:cNvSpPr>
                <a:spLocks noChangeShapeType="1"/>
              </p:cNvSpPr>
              <p:nvPr/>
            </p:nvSpPr>
            <p:spPr bwMode="auto">
              <a:xfrm>
                <a:off x="1416" y="3688"/>
                <a:ext cx="808" cy="0"/>
              </a:xfrm>
              <a:prstGeom prst="line">
                <a:avLst/>
              </a:prstGeom>
              <a:noFill/>
              <a:ln w="12700">
                <a:solidFill>
                  <a:schemeClr val="tx1"/>
                </a:solidFill>
                <a:round/>
                <a:headEnd type="none" w="sm" len="sm"/>
                <a:tailEnd type="none" w="sm" len="sm"/>
              </a:ln>
              <a:effectLst/>
            </p:spPr>
            <p:txBody>
              <a:bodyPr/>
              <a:lstStyle/>
              <a:p>
                <a:endParaRPr lang="en-GB"/>
              </a:p>
            </p:txBody>
          </p:sp>
          <p:sp>
            <p:nvSpPr>
              <p:cNvPr id="412692" name="Rectangle 20"/>
              <p:cNvSpPr>
                <a:spLocks noChangeArrowheads="1"/>
              </p:cNvSpPr>
              <p:nvPr/>
            </p:nvSpPr>
            <p:spPr bwMode="auto">
              <a:xfrm>
                <a:off x="1416" y="3496"/>
                <a:ext cx="792" cy="384"/>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12693" name="Text Box 21"/>
              <p:cNvSpPr txBox="1">
                <a:spLocks noChangeArrowheads="1"/>
              </p:cNvSpPr>
              <p:nvPr/>
            </p:nvSpPr>
            <p:spPr bwMode="auto">
              <a:xfrm>
                <a:off x="1400" y="3664"/>
                <a:ext cx="887"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S</a:t>
                </a:r>
                <a:r>
                  <a:rPr lang="en-GB" sz="1600" dirty="0" err="1" smtClean="0">
                    <a:solidFill>
                      <a:srgbClr val="FA3200"/>
                    </a:solidFill>
                  </a:rPr>
                  <a:t>etTaxCode</a:t>
                </a:r>
                <a:endParaRPr lang="en-US" sz="1600" dirty="0">
                  <a:solidFill>
                    <a:srgbClr val="FA3200"/>
                  </a:solidFill>
                </a:endParaRPr>
              </a:p>
            </p:txBody>
          </p:sp>
          <p:sp>
            <p:nvSpPr>
              <p:cNvPr id="412694" name="Text Box 22"/>
              <p:cNvSpPr txBox="1">
                <a:spLocks noChangeArrowheads="1"/>
              </p:cNvSpPr>
              <p:nvPr/>
            </p:nvSpPr>
            <p:spPr bwMode="auto">
              <a:xfrm>
                <a:off x="1432" y="3488"/>
                <a:ext cx="570"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G</a:t>
                </a:r>
                <a:r>
                  <a:rPr lang="en-GB" sz="1600" dirty="0" err="1" smtClean="0">
                    <a:solidFill>
                      <a:srgbClr val="FA3200"/>
                    </a:solidFill>
                  </a:rPr>
                  <a:t>etTax</a:t>
                </a:r>
                <a:endParaRPr lang="en-US" sz="1600" dirty="0">
                  <a:solidFill>
                    <a:srgbClr val="FA3200"/>
                  </a:solidFill>
                </a:endParaRPr>
              </a:p>
            </p:txBody>
          </p:sp>
        </p:grpSp>
        <p:grpSp>
          <p:nvGrpSpPr>
            <p:cNvPr id="7" name="Group 23"/>
            <p:cNvGrpSpPr>
              <a:grpSpLocks/>
            </p:cNvGrpSpPr>
            <p:nvPr/>
          </p:nvGrpSpPr>
          <p:grpSpPr bwMode="auto">
            <a:xfrm>
              <a:off x="4008" y="2104"/>
              <a:ext cx="887" cy="392"/>
              <a:chOff x="1400" y="3488"/>
              <a:chExt cx="887" cy="392"/>
            </a:xfrm>
          </p:grpSpPr>
          <p:sp>
            <p:nvSpPr>
              <p:cNvPr id="412696" name="Line 24"/>
              <p:cNvSpPr>
                <a:spLocks noChangeShapeType="1"/>
              </p:cNvSpPr>
              <p:nvPr/>
            </p:nvSpPr>
            <p:spPr bwMode="auto">
              <a:xfrm>
                <a:off x="1416" y="3688"/>
                <a:ext cx="808" cy="0"/>
              </a:xfrm>
              <a:prstGeom prst="line">
                <a:avLst/>
              </a:prstGeom>
              <a:noFill/>
              <a:ln w="12700">
                <a:solidFill>
                  <a:schemeClr val="tx1"/>
                </a:solidFill>
                <a:round/>
                <a:headEnd type="none" w="sm" len="sm"/>
                <a:tailEnd type="none" w="sm" len="sm"/>
              </a:ln>
              <a:effectLst/>
            </p:spPr>
            <p:txBody>
              <a:bodyPr/>
              <a:lstStyle/>
              <a:p>
                <a:endParaRPr lang="en-GB"/>
              </a:p>
            </p:txBody>
          </p:sp>
          <p:sp>
            <p:nvSpPr>
              <p:cNvPr id="412697" name="Rectangle 25"/>
              <p:cNvSpPr>
                <a:spLocks noChangeArrowheads="1"/>
              </p:cNvSpPr>
              <p:nvPr/>
            </p:nvSpPr>
            <p:spPr bwMode="auto">
              <a:xfrm>
                <a:off x="1416" y="3496"/>
                <a:ext cx="792" cy="384"/>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12698" name="Text Box 26"/>
              <p:cNvSpPr txBox="1">
                <a:spLocks noChangeArrowheads="1"/>
              </p:cNvSpPr>
              <p:nvPr/>
            </p:nvSpPr>
            <p:spPr bwMode="auto">
              <a:xfrm>
                <a:off x="1400" y="3664"/>
                <a:ext cx="887"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S</a:t>
                </a:r>
                <a:r>
                  <a:rPr lang="en-GB" sz="1600" dirty="0" err="1" smtClean="0">
                    <a:solidFill>
                      <a:srgbClr val="FA3200"/>
                    </a:solidFill>
                  </a:rPr>
                  <a:t>etTaxCode</a:t>
                </a:r>
                <a:endParaRPr lang="en-US" sz="1600" dirty="0">
                  <a:solidFill>
                    <a:srgbClr val="FA3200"/>
                  </a:solidFill>
                </a:endParaRPr>
              </a:p>
            </p:txBody>
          </p:sp>
          <p:sp>
            <p:nvSpPr>
              <p:cNvPr id="412699" name="Text Box 27"/>
              <p:cNvSpPr txBox="1">
                <a:spLocks noChangeArrowheads="1"/>
              </p:cNvSpPr>
              <p:nvPr/>
            </p:nvSpPr>
            <p:spPr bwMode="auto">
              <a:xfrm>
                <a:off x="1433" y="3488"/>
                <a:ext cx="570"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G</a:t>
                </a:r>
                <a:r>
                  <a:rPr lang="en-GB" sz="1600" dirty="0" err="1" smtClean="0">
                    <a:solidFill>
                      <a:srgbClr val="FA3200"/>
                    </a:solidFill>
                  </a:rPr>
                  <a:t>etTax</a:t>
                </a:r>
                <a:endParaRPr lang="en-US" sz="1600" dirty="0">
                  <a:solidFill>
                    <a:srgbClr val="FA3200"/>
                  </a:solidFill>
                </a:endParaRPr>
              </a:p>
            </p:txBody>
          </p:sp>
        </p:grpSp>
        <p:grpSp>
          <p:nvGrpSpPr>
            <p:cNvPr id="8" name="Group 28"/>
            <p:cNvGrpSpPr>
              <a:grpSpLocks/>
            </p:cNvGrpSpPr>
            <p:nvPr/>
          </p:nvGrpSpPr>
          <p:grpSpPr bwMode="auto">
            <a:xfrm>
              <a:off x="5416" y="2040"/>
              <a:ext cx="887" cy="392"/>
              <a:chOff x="1400" y="3488"/>
              <a:chExt cx="887" cy="392"/>
            </a:xfrm>
          </p:grpSpPr>
          <p:sp>
            <p:nvSpPr>
              <p:cNvPr id="412701" name="Line 29"/>
              <p:cNvSpPr>
                <a:spLocks noChangeShapeType="1"/>
              </p:cNvSpPr>
              <p:nvPr/>
            </p:nvSpPr>
            <p:spPr bwMode="auto">
              <a:xfrm>
                <a:off x="1416" y="3688"/>
                <a:ext cx="808" cy="0"/>
              </a:xfrm>
              <a:prstGeom prst="line">
                <a:avLst/>
              </a:prstGeom>
              <a:noFill/>
              <a:ln w="12700">
                <a:solidFill>
                  <a:schemeClr val="tx1"/>
                </a:solidFill>
                <a:round/>
                <a:headEnd type="none" w="sm" len="sm"/>
                <a:tailEnd type="none" w="sm" len="sm"/>
              </a:ln>
              <a:effectLst/>
            </p:spPr>
            <p:txBody>
              <a:bodyPr/>
              <a:lstStyle/>
              <a:p>
                <a:endParaRPr lang="en-GB"/>
              </a:p>
            </p:txBody>
          </p:sp>
          <p:sp>
            <p:nvSpPr>
              <p:cNvPr id="412702" name="Rectangle 30"/>
              <p:cNvSpPr>
                <a:spLocks noChangeArrowheads="1"/>
              </p:cNvSpPr>
              <p:nvPr/>
            </p:nvSpPr>
            <p:spPr bwMode="auto">
              <a:xfrm>
                <a:off x="1416" y="3496"/>
                <a:ext cx="792" cy="384"/>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12703" name="Text Box 31"/>
              <p:cNvSpPr txBox="1">
                <a:spLocks noChangeArrowheads="1"/>
              </p:cNvSpPr>
              <p:nvPr/>
            </p:nvSpPr>
            <p:spPr bwMode="auto">
              <a:xfrm>
                <a:off x="1400" y="3664"/>
                <a:ext cx="887"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S</a:t>
                </a:r>
                <a:r>
                  <a:rPr lang="en-GB" sz="1600" dirty="0" err="1" smtClean="0">
                    <a:solidFill>
                      <a:srgbClr val="FA3200"/>
                    </a:solidFill>
                  </a:rPr>
                  <a:t>etTaxCode</a:t>
                </a:r>
                <a:endParaRPr lang="en-US" sz="1600" dirty="0">
                  <a:solidFill>
                    <a:srgbClr val="FA3200"/>
                  </a:solidFill>
                </a:endParaRPr>
              </a:p>
            </p:txBody>
          </p:sp>
          <p:sp>
            <p:nvSpPr>
              <p:cNvPr id="412704" name="Text Box 32"/>
              <p:cNvSpPr txBox="1">
                <a:spLocks noChangeArrowheads="1"/>
              </p:cNvSpPr>
              <p:nvPr/>
            </p:nvSpPr>
            <p:spPr bwMode="auto">
              <a:xfrm>
                <a:off x="1432" y="3488"/>
                <a:ext cx="570" cy="2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dirty="0" err="1">
                    <a:solidFill>
                      <a:srgbClr val="FA3200"/>
                    </a:solidFill>
                  </a:rPr>
                  <a:t>G</a:t>
                </a:r>
                <a:r>
                  <a:rPr lang="en-GB" sz="1600" dirty="0" err="1" smtClean="0">
                    <a:solidFill>
                      <a:srgbClr val="FA3200"/>
                    </a:solidFill>
                  </a:rPr>
                  <a:t>etTax</a:t>
                </a:r>
                <a:endParaRPr lang="en-US" sz="1600" dirty="0">
                  <a:solidFill>
                    <a:srgbClr val="FA3200"/>
                  </a:solidFill>
                </a:endParaRPr>
              </a:p>
            </p:txBody>
          </p:sp>
        </p:grpSp>
      </p:grpSp>
      <p:sp>
        <p:nvSpPr>
          <p:cNvPr id="412705" name="Rectangle 33"/>
          <p:cNvSpPr>
            <a:spLocks noChangeArrowheads="1"/>
          </p:cNvSpPr>
          <p:nvPr/>
        </p:nvSpPr>
        <p:spPr bwMode="auto">
          <a:xfrm>
            <a:off x="104775" y="2391525"/>
            <a:ext cx="3013075" cy="1651000"/>
          </a:xfrm>
          <a:prstGeom prst="rect">
            <a:avLst/>
          </a:prstGeom>
          <a:noFill/>
          <a:ln w="12700">
            <a:solidFill>
              <a:schemeClr val="tx1"/>
            </a:solid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43D925"/>
            </a:extrusionClr>
          </a:sp3d>
        </p:spPr>
        <p:txBody>
          <a:bodyPr wrap="none" anchor="ctr">
            <a:flatTx/>
          </a:bodyPr>
          <a:lstStyle/>
          <a:p>
            <a:pPr defTabSz="739775">
              <a:spcBef>
                <a:spcPct val="0"/>
              </a:spcBef>
            </a:pPr>
            <a:r>
              <a:rPr lang="en-GB" sz="1600" b="1" u="sng" dirty="0" smtClean="0"/>
              <a:t>The </a:t>
            </a:r>
            <a:r>
              <a:rPr lang="en-GB" sz="1600" b="1" u="sng" dirty="0"/>
              <a:t>Inland </a:t>
            </a:r>
            <a:r>
              <a:rPr lang="en-GB" sz="1600" b="1" u="sng" dirty="0" smtClean="0"/>
              <a:t>Revenue</a:t>
            </a:r>
            <a:endParaRPr lang="en-GB" sz="1600" b="1" u="sng" dirty="0"/>
          </a:p>
          <a:p>
            <a:pPr defTabSz="739775">
              <a:spcBef>
                <a:spcPct val="0"/>
              </a:spcBef>
            </a:pPr>
            <a:r>
              <a:rPr lang="en-GB" sz="1800" dirty="0"/>
              <a:t>  </a:t>
            </a:r>
            <a:r>
              <a:rPr lang="en-GB" sz="1800" dirty="0" err="1"/>
              <a:t>C</a:t>
            </a:r>
            <a:r>
              <a:rPr lang="en-GB" sz="1800" dirty="0" err="1" smtClean="0"/>
              <a:t>alcTax</a:t>
            </a:r>
            <a:r>
              <a:rPr lang="en-GB" sz="1800" dirty="0"/>
              <a:t>()</a:t>
            </a:r>
          </a:p>
          <a:p>
            <a:pPr defTabSz="739775">
              <a:spcBef>
                <a:spcPct val="0"/>
              </a:spcBef>
            </a:pPr>
            <a:r>
              <a:rPr lang="en-GB" sz="1600" dirty="0"/>
              <a:t>  {</a:t>
            </a:r>
          </a:p>
          <a:p>
            <a:pPr defTabSz="739775">
              <a:spcBef>
                <a:spcPct val="0"/>
              </a:spcBef>
            </a:pPr>
            <a:r>
              <a:rPr lang="en-GB" sz="1600" dirty="0"/>
              <a:t>    </a:t>
            </a:r>
            <a:r>
              <a:rPr lang="en-GB" sz="1600" dirty="0" smtClean="0"/>
              <a:t>return                           </a:t>
            </a:r>
            <a:r>
              <a:rPr lang="en-GB" sz="1600" dirty="0" err="1" smtClean="0"/>
              <a:t>GetTax</a:t>
            </a:r>
            <a:r>
              <a:rPr lang="en-GB" sz="1600" dirty="0"/>
              <a:t>()</a:t>
            </a:r>
          </a:p>
          <a:p>
            <a:pPr defTabSz="739775">
              <a:spcBef>
                <a:spcPct val="0"/>
              </a:spcBef>
            </a:pPr>
            <a:r>
              <a:rPr lang="en-GB" sz="1600" dirty="0"/>
              <a:t>  }</a:t>
            </a:r>
          </a:p>
        </p:txBody>
      </p:sp>
      <p:sp>
        <p:nvSpPr>
          <p:cNvPr id="412706" name="Freeform 34"/>
          <p:cNvSpPr>
            <a:spLocks/>
          </p:cNvSpPr>
          <p:nvPr/>
        </p:nvSpPr>
        <p:spPr bwMode="auto">
          <a:xfrm>
            <a:off x="2778125" y="3026963"/>
            <a:ext cx="1406525" cy="315912"/>
          </a:xfrm>
          <a:custGeom>
            <a:avLst/>
            <a:gdLst/>
            <a:ahLst/>
            <a:cxnLst>
              <a:cxn ang="0">
                <a:pos x="0" y="199"/>
              </a:cxn>
              <a:cxn ang="0">
                <a:pos x="520" y="15"/>
              </a:cxn>
              <a:cxn ang="0">
                <a:pos x="960" y="111"/>
              </a:cxn>
            </a:cxnLst>
            <a:rect l="0" t="0" r="r" b="b"/>
            <a:pathLst>
              <a:path w="960" h="199">
                <a:moveTo>
                  <a:pt x="0" y="199"/>
                </a:moveTo>
                <a:cubicBezTo>
                  <a:pt x="180" y="114"/>
                  <a:pt x="360" y="30"/>
                  <a:pt x="520" y="15"/>
                </a:cubicBezTo>
                <a:cubicBezTo>
                  <a:pt x="680" y="0"/>
                  <a:pt x="887" y="96"/>
                  <a:pt x="960" y="111"/>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2707" name="Freeform 35"/>
          <p:cNvSpPr>
            <a:spLocks/>
          </p:cNvSpPr>
          <p:nvPr/>
        </p:nvSpPr>
        <p:spPr bwMode="auto">
          <a:xfrm>
            <a:off x="2801938" y="2182413"/>
            <a:ext cx="3106737" cy="1160462"/>
          </a:xfrm>
          <a:custGeom>
            <a:avLst/>
            <a:gdLst/>
            <a:ahLst/>
            <a:cxnLst>
              <a:cxn ang="0">
                <a:pos x="0" y="715"/>
              </a:cxn>
              <a:cxn ang="0">
                <a:pos x="1328" y="3"/>
              </a:cxn>
              <a:cxn ang="0">
                <a:pos x="2120" y="731"/>
              </a:cxn>
            </a:cxnLst>
            <a:rect l="0" t="0" r="r" b="b"/>
            <a:pathLst>
              <a:path w="2120" h="731">
                <a:moveTo>
                  <a:pt x="0" y="715"/>
                </a:moveTo>
                <a:cubicBezTo>
                  <a:pt x="487" y="357"/>
                  <a:pt x="975" y="0"/>
                  <a:pt x="1328" y="3"/>
                </a:cubicBezTo>
                <a:cubicBezTo>
                  <a:pt x="1681" y="6"/>
                  <a:pt x="1900" y="368"/>
                  <a:pt x="2120" y="731"/>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2708" name="Freeform 36"/>
          <p:cNvSpPr>
            <a:spLocks/>
          </p:cNvSpPr>
          <p:nvPr/>
        </p:nvSpPr>
        <p:spPr bwMode="auto">
          <a:xfrm>
            <a:off x="2825750" y="1982388"/>
            <a:ext cx="5203825" cy="1309687"/>
          </a:xfrm>
          <a:custGeom>
            <a:avLst/>
            <a:gdLst/>
            <a:ahLst/>
            <a:cxnLst>
              <a:cxn ang="0">
                <a:pos x="0" y="817"/>
              </a:cxn>
              <a:cxn ang="0">
                <a:pos x="1296" y="1"/>
              </a:cxn>
              <a:cxn ang="0">
                <a:pos x="3552" y="825"/>
              </a:cxn>
            </a:cxnLst>
            <a:rect l="0" t="0" r="r" b="b"/>
            <a:pathLst>
              <a:path w="3552" h="825">
                <a:moveTo>
                  <a:pt x="0" y="817"/>
                </a:moveTo>
                <a:cubicBezTo>
                  <a:pt x="352" y="408"/>
                  <a:pt x="704" y="0"/>
                  <a:pt x="1296" y="1"/>
                </a:cubicBezTo>
                <a:cubicBezTo>
                  <a:pt x="1888" y="2"/>
                  <a:pt x="2720" y="413"/>
                  <a:pt x="3552" y="825"/>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2709" name="WordArt 37"/>
          <p:cNvSpPr>
            <a:spLocks noChangeArrowheads="1" noChangeShapeType="1" noTextEdit="1"/>
          </p:cNvSpPr>
          <p:nvPr/>
        </p:nvSpPr>
        <p:spPr bwMode="auto">
          <a:xfrm>
            <a:off x="6086475" y="2820988"/>
            <a:ext cx="650875" cy="454025"/>
          </a:xfrm>
          <a:prstGeom prst="rect">
            <a:avLst/>
          </a:prstGeom>
        </p:spPr>
        <p:txBody>
          <a:bodyPr wrap="none" fromWordArt="1">
            <a:prstTxWarp prst="textDoubleWave1">
              <a:avLst>
                <a:gd name="adj1" fmla="val 6500"/>
                <a:gd name="adj2" fmla="val 0"/>
              </a:avLst>
            </a:prstTxWarp>
          </a:bodyPr>
          <a:lstStyle/>
          <a:p>
            <a:pPr algn="ctr"/>
            <a:r>
              <a:rPr lang="en-GB" sz="3600" kern="10" spc="-360">
                <a:ln w="12700">
                  <a:solidFill>
                    <a:srgbClr val="000099"/>
                  </a:solidFill>
                  <a:round/>
                  <a:headEnd type="none" w="sm" len="sm"/>
                  <a:tailEnd type="none" w="sm" len="sm"/>
                </a:ln>
                <a:solidFill>
                  <a:srgbClr val="33CCFF"/>
                </a:solidFill>
                <a:effectLst>
                  <a:outerShdw dist="125724" dir="18900000" algn="ctr" rotWithShape="0">
                    <a:srgbClr val="000099"/>
                  </a:outerShdw>
                </a:effectLst>
                <a:latin typeface="Impact"/>
              </a:rPr>
              <a:t>Taxable</a:t>
            </a:r>
          </a:p>
        </p:txBody>
      </p:sp>
      <p:sp>
        <p:nvSpPr>
          <p:cNvPr id="412710" name="WordArt 38"/>
          <p:cNvSpPr>
            <a:spLocks noChangeArrowheads="1" noChangeShapeType="1" noTextEdit="1"/>
          </p:cNvSpPr>
          <p:nvPr/>
        </p:nvSpPr>
        <p:spPr bwMode="auto">
          <a:xfrm>
            <a:off x="4305300" y="2630488"/>
            <a:ext cx="650875" cy="454025"/>
          </a:xfrm>
          <a:prstGeom prst="rect">
            <a:avLst/>
          </a:prstGeom>
        </p:spPr>
        <p:txBody>
          <a:bodyPr wrap="none" fromWordArt="1">
            <a:prstTxWarp prst="textDoubleWave1">
              <a:avLst>
                <a:gd name="adj1" fmla="val 6500"/>
                <a:gd name="adj2" fmla="val 0"/>
              </a:avLst>
            </a:prstTxWarp>
          </a:bodyPr>
          <a:lstStyle/>
          <a:p>
            <a:pPr algn="ctr"/>
            <a:r>
              <a:rPr lang="en-GB" sz="3600" kern="10" spc="-360">
                <a:ln w="12700">
                  <a:solidFill>
                    <a:srgbClr val="000099"/>
                  </a:solidFill>
                  <a:round/>
                  <a:headEnd type="none" w="sm" len="sm"/>
                  <a:tailEnd type="none" w="sm" len="sm"/>
                </a:ln>
                <a:solidFill>
                  <a:srgbClr val="33CCFF"/>
                </a:solidFill>
                <a:effectLst>
                  <a:outerShdw dist="125724" dir="18900000" algn="ctr" rotWithShape="0">
                    <a:srgbClr val="000099"/>
                  </a:outerShdw>
                </a:effectLst>
                <a:latin typeface="Impact"/>
              </a:rPr>
              <a:t>Taxable</a:t>
            </a:r>
          </a:p>
        </p:txBody>
      </p:sp>
      <p:sp>
        <p:nvSpPr>
          <p:cNvPr id="412711" name="WordArt 39"/>
          <p:cNvSpPr>
            <a:spLocks noChangeArrowheads="1" noChangeShapeType="1" noTextEdit="1"/>
          </p:cNvSpPr>
          <p:nvPr/>
        </p:nvSpPr>
        <p:spPr bwMode="auto">
          <a:xfrm>
            <a:off x="8150225" y="2732088"/>
            <a:ext cx="650875" cy="454025"/>
          </a:xfrm>
          <a:prstGeom prst="rect">
            <a:avLst/>
          </a:prstGeom>
        </p:spPr>
        <p:txBody>
          <a:bodyPr wrap="none" fromWordArt="1">
            <a:prstTxWarp prst="textDoubleWave1">
              <a:avLst>
                <a:gd name="adj1" fmla="val 6500"/>
                <a:gd name="adj2" fmla="val 0"/>
              </a:avLst>
            </a:prstTxWarp>
          </a:bodyPr>
          <a:lstStyle/>
          <a:p>
            <a:pPr algn="ctr"/>
            <a:r>
              <a:rPr lang="en-GB" sz="3600" kern="10" spc="-360">
                <a:ln w="12700">
                  <a:solidFill>
                    <a:srgbClr val="000099"/>
                  </a:solidFill>
                  <a:round/>
                  <a:headEnd type="none" w="sm" len="sm"/>
                  <a:tailEnd type="none" w="sm" len="sm"/>
                </a:ln>
                <a:solidFill>
                  <a:srgbClr val="33CCFF"/>
                </a:solidFill>
                <a:effectLst>
                  <a:outerShdw dist="125724" dir="18900000" algn="ctr" rotWithShape="0">
                    <a:srgbClr val="000099"/>
                  </a:outerShdw>
                </a:effectLst>
                <a:latin typeface="Impact"/>
              </a:rPr>
              <a:t>Taxable</a:t>
            </a:r>
          </a:p>
        </p:txBody>
      </p:sp>
      <p:sp>
        <p:nvSpPr>
          <p:cNvPr id="412712" name="Text Box 40"/>
          <p:cNvSpPr txBox="1">
            <a:spLocks noChangeArrowheads="1"/>
          </p:cNvSpPr>
          <p:nvPr/>
        </p:nvSpPr>
        <p:spPr bwMode="auto">
          <a:xfrm>
            <a:off x="1181100" y="3298825"/>
            <a:ext cx="1360488" cy="336550"/>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b="1">
                <a:solidFill>
                  <a:srgbClr val="FA3200"/>
                </a:solidFill>
              </a:rPr>
              <a:t>taxableItem.</a:t>
            </a:r>
          </a:p>
        </p:txBody>
      </p:sp>
      <p:sp>
        <p:nvSpPr>
          <p:cNvPr id="412713" name="WordArt 41"/>
          <p:cNvSpPr>
            <a:spLocks noChangeArrowheads="1" noChangeShapeType="1" noTextEdit="1"/>
          </p:cNvSpPr>
          <p:nvPr/>
        </p:nvSpPr>
        <p:spPr bwMode="auto">
          <a:xfrm>
            <a:off x="3579813" y="5726113"/>
            <a:ext cx="3508375" cy="638175"/>
          </a:xfrm>
          <a:prstGeom prst="rect">
            <a:avLst/>
          </a:prstGeom>
        </p:spPr>
        <p:txBody>
          <a:bodyPr wrap="none" fromWordArt="1">
            <a:prstTxWarp prst="textPlain">
              <a:avLst>
                <a:gd name="adj" fmla="val 50000"/>
              </a:avLst>
            </a:prstTxWarp>
          </a:bodyPr>
          <a:lstStyle/>
          <a:p>
            <a:pPr algn="ctr"/>
            <a:r>
              <a:rPr lang="en-US" sz="3600" i="1" kern="10">
                <a:ln w="9525">
                  <a:solidFill>
                    <a:srgbClr val="000000"/>
                  </a:solidFill>
                  <a:round/>
                  <a:headEnd type="none" w="sm" len="sm"/>
                  <a:tailEnd type="none" w="sm" len="sm"/>
                </a:ln>
                <a:solidFill>
                  <a:srgbClr val="FFFFFF"/>
                </a:solidFill>
                <a:effectLst>
                  <a:outerShdw dist="35921" dir="2700000" algn="ctr" rotWithShape="0">
                    <a:srgbClr val="808080"/>
                  </a:outerShdw>
                </a:effectLst>
                <a:latin typeface="Arial Black"/>
              </a:rPr>
              <a:t>The "sea" of all objects</a:t>
            </a:r>
            <a:endParaRPr lang="en-GB" sz="3600" i="1" kern="10">
              <a:ln w="9525">
                <a:solidFill>
                  <a:srgbClr val="000000"/>
                </a:solidFill>
                <a:round/>
                <a:headEnd type="none" w="sm" len="sm"/>
                <a:tailEnd type="none" w="sm" len="sm"/>
              </a:ln>
              <a:solidFill>
                <a:srgbClr val="FFFFFF"/>
              </a:solidFill>
              <a:effectLst>
                <a:outerShdw dist="35921" dir="2700000" algn="ctr" rotWithShape="0">
                  <a:srgbClr val="808080"/>
                </a:outerShdw>
              </a:effectLst>
              <a:latin typeface="Arial Black"/>
            </a:endParaRPr>
          </a:p>
        </p:txBody>
      </p:sp>
      <p:sp>
        <p:nvSpPr>
          <p:cNvPr id="412714" name="Oval 42"/>
          <p:cNvSpPr>
            <a:spLocks noChangeArrowheads="1"/>
          </p:cNvSpPr>
          <p:nvPr/>
        </p:nvSpPr>
        <p:spPr bwMode="auto">
          <a:xfrm>
            <a:off x="8440738" y="6286500"/>
            <a:ext cx="246062" cy="254000"/>
          </a:xfrm>
          <a:prstGeom prst="ellipse">
            <a:avLst/>
          </a:prstGeom>
          <a:noFill/>
          <a:ln w="12700">
            <a:solidFill>
              <a:schemeClr val="tx1"/>
            </a:solidFill>
            <a:round/>
            <a:headEnd type="none" w="sm" len="sm"/>
            <a:tailEnd type="none" w="sm" len="sm"/>
          </a:ln>
          <a:effectLst/>
        </p:spPr>
        <p:txBody>
          <a:bodyPr wrap="none" anchor="ctr"/>
          <a:lstStyle/>
          <a:p>
            <a:pPr algn="ctr" defTabSz="739775">
              <a:spcBef>
                <a:spcPct val="0"/>
              </a:spcBef>
            </a:pPr>
            <a:endParaRPr lang="en-GB" sz="1800"/>
          </a:p>
        </p:txBody>
      </p:sp>
      <p:sp>
        <p:nvSpPr>
          <p:cNvPr id="412715" name="Text Box 43"/>
          <p:cNvSpPr txBox="1">
            <a:spLocks noChangeArrowheads="1"/>
          </p:cNvSpPr>
          <p:nvPr/>
        </p:nvSpPr>
        <p:spPr bwMode="auto">
          <a:xfrm>
            <a:off x="178549" y="4460038"/>
            <a:ext cx="6122497" cy="923330"/>
          </a:xfrm>
          <a:prstGeom prst="rect">
            <a:avLst/>
          </a:prstGeom>
          <a:solidFill>
            <a:srgbClr val="CCFFCC"/>
          </a:solidFill>
          <a:ln w="12700">
            <a:noFill/>
            <a:miter lim="800000"/>
            <a:headEnd type="none" w="sm" len="sm"/>
            <a:tailEnd type="none" w="sm" len="sm"/>
          </a:ln>
          <a:effectLst>
            <a:outerShdw dist="107763" dir="2700000" algn="ctr" rotWithShape="0">
              <a:schemeClr val="bg2"/>
            </a:outerShdw>
          </a:effectLst>
        </p:spPr>
        <p:txBody>
          <a:bodyPr wrap="square">
            <a:spAutoFit/>
          </a:bodyPr>
          <a:lstStyle/>
          <a:p>
            <a:pPr defTabSz="739775">
              <a:spcBef>
                <a:spcPct val="0"/>
              </a:spcBef>
            </a:pPr>
            <a:r>
              <a:rPr lang="en-GB" sz="1800" dirty="0"/>
              <a:t>All you’ve got above the waterline is the Named Flagpole.</a:t>
            </a:r>
          </a:p>
          <a:p>
            <a:pPr defTabSz="739775">
              <a:spcBef>
                <a:spcPct val="0"/>
              </a:spcBef>
            </a:pPr>
            <a:r>
              <a:rPr lang="en-GB" sz="1800" dirty="0"/>
              <a:t>From this name (“Taxable”), the supported operations are known and “magically” redirected by the object itself</a:t>
            </a:r>
          </a:p>
        </p:txBody>
      </p:sp>
      <p:sp>
        <p:nvSpPr>
          <p:cNvPr id="412716" name="Text Box 44"/>
          <p:cNvSpPr txBox="1">
            <a:spLocks noChangeArrowheads="1"/>
          </p:cNvSpPr>
          <p:nvPr/>
        </p:nvSpPr>
        <p:spPr bwMode="auto">
          <a:xfrm>
            <a:off x="8453438" y="6207125"/>
            <a:ext cx="388937" cy="336550"/>
          </a:xfrm>
          <a:prstGeom prst="rect">
            <a:avLst/>
          </a:prstGeom>
          <a:noFill/>
          <a:ln w="12700">
            <a:noFill/>
            <a:miter lim="800000"/>
            <a:headEnd type="none" w="sm" len="sm"/>
            <a:tailEnd type="none" w="sm" len="sm"/>
          </a:ln>
          <a:effectLst/>
        </p:spPr>
        <p:txBody>
          <a:bodyPr>
            <a:spAutoFit/>
          </a:bodyPr>
          <a:lstStyle/>
          <a:p>
            <a:pPr defTabSz="739775">
              <a:spcBef>
                <a:spcPct val="0"/>
              </a:spcBef>
            </a:pPr>
            <a:r>
              <a:rPr lang="en-GB" sz="1600"/>
              <a:t>x</a:t>
            </a:r>
          </a:p>
        </p:txBody>
      </p:sp>
    </p:spTree>
    <p:extLst>
      <p:ext uri="{BB962C8B-B14F-4D97-AF65-F5344CB8AC3E}">
        <p14:creationId xmlns:p14="http://schemas.microsoft.com/office/powerpoint/2010/main" val="19514044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12715"/>
                                        </p:tgtEl>
                                        <p:attrNameLst>
                                          <p:attrName>style.visibility</p:attrName>
                                        </p:attrNameLst>
                                      </p:cBhvr>
                                      <p:to>
                                        <p:strVal val="visible"/>
                                      </p:to>
                                    </p:set>
                                    <p:animEffect transition="in" filter="checkerboard(across)">
                                      <p:cBhvr>
                                        <p:cTn id="7" dur="500"/>
                                        <p:tgtEl>
                                          <p:spTgt spid="412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7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4722" name="Picture 2" descr="Iceberg"/>
          <p:cNvPicPr>
            <a:picLocks noChangeAspect="1" noChangeArrowheads="1"/>
          </p:cNvPicPr>
          <p:nvPr/>
        </p:nvPicPr>
        <p:blipFill>
          <a:blip r:embed="rId3" cstate="print"/>
          <a:srcRect/>
          <a:stretch>
            <a:fillRect/>
          </a:stretch>
        </p:blipFill>
        <p:spPr bwMode="auto">
          <a:xfrm>
            <a:off x="7680325" y="1533525"/>
            <a:ext cx="1230313" cy="877888"/>
          </a:xfrm>
          <a:prstGeom prst="rect">
            <a:avLst/>
          </a:prstGeom>
          <a:noFill/>
        </p:spPr>
      </p:pic>
      <p:sp>
        <p:nvSpPr>
          <p:cNvPr id="414723" name="Rectangle 3"/>
          <p:cNvSpPr>
            <a:spLocks noChangeArrowheads="1"/>
          </p:cNvSpPr>
          <p:nvPr/>
        </p:nvSpPr>
        <p:spPr bwMode="auto">
          <a:xfrm>
            <a:off x="703263" y="6248400"/>
            <a:ext cx="18986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4724" name="Rectangle 4"/>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4725" name="Rectangle 5"/>
          <p:cNvSpPr>
            <a:spLocks noChangeArrowheads="1"/>
          </p:cNvSpPr>
          <p:nvPr/>
        </p:nvSpPr>
        <p:spPr bwMode="auto">
          <a:xfrm>
            <a:off x="703263" y="6248400"/>
            <a:ext cx="18986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4726" name="Rectangle 6"/>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4727" name="Rectangle 7"/>
          <p:cNvSpPr>
            <a:spLocks noChangeArrowheads="1"/>
          </p:cNvSpPr>
          <p:nvPr/>
        </p:nvSpPr>
        <p:spPr bwMode="auto">
          <a:xfrm>
            <a:off x="674688" y="6267450"/>
            <a:ext cx="1912937" cy="43815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4728" name="Rectangle 8"/>
          <p:cNvSpPr>
            <a:spLocks noChangeArrowheads="1"/>
          </p:cNvSpPr>
          <p:nvPr/>
        </p:nvSpPr>
        <p:spPr bwMode="auto">
          <a:xfrm>
            <a:off x="3154363" y="6267450"/>
            <a:ext cx="2835275" cy="43815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5" name="Text Placeholder 4"/>
          <p:cNvSpPr>
            <a:spLocks noGrp="1"/>
          </p:cNvSpPr>
          <p:nvPr>
            <p:ph type="body" sz="quarter" idx="15"/>
          </p:nvPr>
        </p:nvSpPr>
        <p:spPr/>
        <p:txBody>
          <a:bodyPr/>
          <a:lstStyle/>
          <a:p>
            <a:endParaRPr lang="en-GB"/>
          </a:p>
        </p:txBody>
      </p:sp>
      <p:sp>
        <p:nvSpPr>
          <p:cNvPr id="414729" name="Rectangle 9"/>
          <p:cNvSpPr>
            <a:spLocks noGrp="1" noChangeArrowheads="1"/>
          </p:cNvSpPr>
          <p:nvPr>
            <p:ph type="title"/>
          </p:nvPr>
        </p:nvSpPr>
        <p:spPr/>
        <p:txBody>
          <a:bodyPr/>
          <a:lstStyle/>
          <a:p>
            <a:r>
              <a:rPr lang="en-GB"/>
              <a:t>In Elevation View</a:t>
            </a:r>
          </a:p>
        </p:txBody>
      </p:sp>
      <p:sp>
        <p:nvSpPr>
          <p:cNvPr id="414730" name="Freeform 10"/>
          <p:cNvSpPr>
            <a:spLocks/>
          </p:cNvSpPr>
          <p:nvPr/>
        </p:nvSpPr>
        <p:spPr bwMode="auto">
          <a:xfrm>
            <a:off x="5649913" y="1323975"/>
            <a:ext cx="2192337" cy="3544888"/>
          </a:xfrm>
          <a:custGeom>
            <a:avLst/>
            <a:gdLst/>
            <a:ahLst/>
            <a:cxnLst>
              <a:cxn ang="0">
                <a:pos x="1496" y="2233"/>
              </a:cxn>
              <a:cxn ang="0">
                <a:pos x="749" y="0"/>
              </a:cxn>
              <a:cxn ang="0">
                <a:pos x="0" y="2233"/>
              </a:cxn>
              <a:cxn ang="0">
                <a:pos x="1496" y="2233"/>
              </a:cxn>
            </a:cxnLst>
            <a:rect l="0" t="0" r="r" b="b"/>
            <a:pathLst>
              <a:path w="1496" h="2233">
                <a:moveTo>
                  <a:pt x="1496" y="2233"/>
                </a:moveTo>
                <a:lnTo>
                  <a:pt x="749" y="0"/>
                </a:lnTo>
                <a:lnTo>
                  <a:pt x="0" y="2233"/>
                </a:lnTo>
                <a:lnTo>
                  <a:pt x="1496" y="2233"/>
                </a:lnTo>
                <a:close/>
              </a:path>
            </a:pathLst>
          </a:custGeom>
          <a:solidFill>
            <a:srgbClr val="FF99CC"/>
          </a:solidFill>
          <a:ln w="3175">
            <a:solidFill>
              <a:srgbClr val="000000"/>
            </a:solidFill>
            <a:prstDash val="solid"/>
            <a:round/>
            <a:headEnd/>
            <a:tailEnd/>
          </a:ln>
        </p:spPr>
        <p:txBody>
          <a:bodyPr/>
          <a:lstStyle/>
          <a:p>
            <a:endParaRPr lang="en-GB"/>
          </a:p>
        </p:txBody>
      </p:sp>
      <p:sp>
        <p:nvSpPr>
          <p:cNvPr id="414731" name="Rectangle 11"/>
          <p:cNvSpPr>
            <a:spLocks noChangeArrowheads="1"/>
          </p:cNvSpPr>
          <p:nvPr/>
        </p:nvSpPr>
        <p:spPr bwMode="auto">
          <a:xfrm>
            <a:off x="6174151" y="4154488"/>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4732" name="Freeform 12"/>
          <p:cNvSpPr>
            <a:spLocks/>
          </p:cNvSpPr>
          <p:nvPr/>
        </p:nvSpPr>
        <p:spPr bwMode="auto">
          <a:xfrm>
            <a:off x="7802563" y="1462088"/>
            <a:ext cx="376237" cy="2741612"/>
          </a:xfrm>
          <a:custGeom>
            <a:avLst/>
            <a:gdLst/>
            <a:ahLst/>
            <a:cxnLst>
              <a:cxn ang="0">
                <a:pos x="0" y="0"/>
              </a:cxn>
              <a:cxn ang="0">
                <a:pos x="29" y="50"/>
              </a:cxn>
              <a:cxn ang="0">
                <a:pos x="54" y="98"/>
              </a:cxn>
              <a:cxn ang="0">
                <a:pos x="77" y="146"/>
              </a:cxn>
              <a:cxn ang="0">
                <a:pos x="94" y="194"/>
              </a:cxn>
              <a:cxn ang="0">
                <a:pos x="107" y="239"/>
              </a:cxn>
              <a:cxn ang="0">
                <a:pos x="117" y="282"/>
              </a:cxn>
              <a:cxn ang="0">
                <a:pos x="120" y="324"/>
              </a:cxn>
              <a:cxn ang="0">
                <a:pos x="120" y="362"/>
              </a:cxn>
              <a:cxn ang="0">
                <a:pos x="115" y="397"/>
              </a:cxn>
              <a:cxn ang="0">
                <a:pos x="106" y="429"/>
              </a:cxn>
              <a:cxn ang="0">
                <a:pos x="91" y="456"/>
              </a:cxn>
              <a:cxn ang="0">
                <a:pos x="74" y="482"/>
              </a:cxn>
              <a:cxn ang="0">
                <a:pos x="51" y="503"/>
              </a:cxn>
            </a:cxnLst>
            <a:rect l="0" t="0" r="r" b="b"/>
            <a:pathLst>
              <a:path w="120" h="503">
                <a:moveTo>
                  <a:pt x="0" y="0"/>
                </a:moveTo>
                <a:lnTo>
                  <a:pt x="29" y="50"/>
                </a:lnTo>
                <a:lnTo>
                  <a:pt x="54" y="98"/>
                </a:lnTo>
                <a:lnTo>
                  <a:pt x="77" y="146"/>
                </a:lnTo>
                <a:lnTo>
                  <a:pt x="94" y="194"/>
                </a:lnTo>
                <a:lnTo>
                  <a:pt x="107" y="239"/>
                </a:lnTo>
                <a:lnTo>
                  <a:pt x="117" y="282"/>
                </a:lnTo>
                <a:lnTo>
                  <a:pt x="120" y="324"/>
                </a:lnTo>
                <a:lnTo>
                  <a:pt x="120" y="362"/>
                </a:lnTo>
                <a:lnTo>
                  <a:pt x="115" y="397"/>
                </a:lnTo>
                <a:lnTo>
                  <a:pt x="106" y="429"/>
                </a:lnTo>
                <a:lnTo>
                  <a:pt x="91" y="456"/>
                </a:lnTo>
                <a:lnTo>
                  <a:pt x="74" y="482"/>
                </a:lnTo>
                <a:lnTo>
                  <a:pt x="51" y="503"/>
                </a:lnTo>
              </a:path>
            </a:pathLst>
          </a:custGeom>
          <a:noFill/>
          <a:ln w="38100" cmpd="sng">
            <a:solidFill>
              <a:srgbClr val="000000"/>
            </a:solidFill>
            <a:prstDash val="solid"/>
            <a:round/>
            <a:headEnd/>
            <a:tailEnd/>
          </a:ln>
        </p:spPr>
        <p:txBody>
          <a:bodyPr/>
          <a:lstStyle/>
          <a:p>
            <a:endParaRPr lang="en-GB"/>
          </a:p>
        </p:txBody>
      </p:sp>
      <p:sp>
        <p:nvSpPr>
          <p:cNvPr id="414733" name="Freeform 13"/>
          <p:cNvSpPr>
            <a:spLocks/>
          </p:cNvSpPr>
          <p:nvPr/>
        </p:nvSpPr>
        <p:spPr bwMode="auto">
          <a:xfrm>
            <a:off x="7697788" y="4106863"/>
            <a:ext cx="238125" cy="223837"/>
          </a:xfrm>
          <a:custGeom>
            <a:avLst/>
            <a:gdLst/>
            <a:ahLst/>
            <a:cxnLst>
              <a:cxn ang="0">
                <a:pos x="163" y="141"/>
              </a:cxn>
              <a:cxn ang="0">
                <a:pos x="0" y="115"/>
              </a:cxn>
              <a:cxn ang="0">
                <a:pos x="118" y="0"/>
              </a:cxn>
              <a:cxn ang="0">
                <a:pos x="163" y="141"/>
              </a:cxn>
            </a:cxnLst>
            <a:rect l="0" t="0" r="r" b="b"/>
            <a:pathLst>
              <a:path w="163" h="141">
                <a:moveTo>
                  <a:pt x="163" y="141"/>
                </a:moveTo>
                <a:lnTo>
                  <a:pt x="0" y="115"/>
                </a:lnTo>
                <a:lnTo>
                  <a:pt x="118" y="0"/>
                </a:lnTo>
                <a:lnTo>
                  <a:pt x="163" y="141"/>
                </a:lnTo>
                <a:close/>
              </a:path>
            </a:pathLst>
          </a:custGeom>
          <a:solidFill>
            <a:srgbClr val="000000"/>
          </a:solidFill>
          <a:ln w="9525">
            <a:noFill/>
            <a:round/>
            <a:headEnd/>
            <a:tailEnd/>
          </a:ln>
        </p:spPr>
        <p:txBody>
          <a:bodyPr/>
          <a:lstStyle/>
          <a:p>
            <a:endParaRPr lang="en-GB"/>
          </a:p>
        </p:txBody>
      </p:sp>
      <p:sp>
        <p:nvSpPr>
          <p:cNvPr id="414734" name="Freeform 14"/>
          <p:cNvSpPr>
            <a:spLocks/>
          </p:cNvSpPr>
          <p:nvPr/>
        </p:nvSpPr>
        <p:spPr bwMode="auto">
          <a:xfrm>
            <a:off x="1571625" y="1349375"/>
            <a:ext cx="2192338" cy="3544888"/>
          </a:xfrm>
          <a:custGeom>
            <a:avLst/>
            <a:gdLst/>
            <a:ahLst/>
            <a:cxnLst>
              <a:cxn ang="0">
                <a:pos x="1496" y="2233"/>
              </a:cxn>
              <a:cxn ang="0">
                <a:pos x="749" y="0"/>
              </a:cxn>
              <a:cxn ang="0">
                <a:pos x="0" y="2233"/>
              </a:cxn>
              <a:cxn ang="0">
                <a:pos x="1496" y="2233"/>
              </a:cxn>
            </a:cxnLst>
            <a:rect l="0" t="0" r="r" b="b"/>
            <a:pathLst>
              <a:path w="1496" h="2233">
                <a:moveTo>
                  <a:pt x="1496" y="2233"/>
                </a:moveTo>
                <a:lnTo>
                  <a:pt x="749" y="0"/>
                </a:lnTo>
                <a:lnTo>
                  <a:pt x="0" y="2233"/>
                </a:lnTo>
                <a:lnTo>
                  <a:pt x="1496" y="2233"/>
                </a:lnTo>
                <a:close/>
              </a:path>
            </a:pathLst>
          </a:custGeom>
          <a:solidFill>
            <a:srgbClr val="FFFF00"/>
          </a:solidFill>
          <a:ln w="3175">
            <a:solidFill>
              <a:srgbClr val="000000"/>
            </a:solidFill>
            <a:prstDash val="solid"/>
            <a:round/>
            <a:headEnd/>
            <a:tailEnd/>
          </a:ln>
        </p:spPr>
        <p:txBody>
          <a:bodyPr/>
          <a:lstStyle/>
          <a:p>
            <a:endParaRPr lang="en-GB"/>
          </a:p>
        </p:txBody>
      </p:sp>
      <p:sp>
        <p:nvSpPr>
          <p:cNvPr id="414735" name="Freeform 15"/>
          <p:cNvSpPr>
            <a:spLocks/>
          </p:cNvSpPr>
          <p:nvPr/>
        </p:nvSpPr>
        <p:spPr bwMode="auto">
          <a:xfrm>
            <a:off x="2060575" y="1298575"/>
            <a:ext cx="1190625" cy="1835150"/>
          </a:xfrm>
          <a:custGeom>
            <a:avLst/>
            <a:gdLst/>
            <a:ahLst/>
            <a:cxnLst>
              <a:cxn ang="0">
                <a:pos x="749" y="1116"/>
              </a:cxn>
              <a:cxn ang="0">
                <a:pos x="375" y="0"/>
              </a:cxn>
              <a:cxn ang="0">
                <a:pos x="0" y="1116"/>
              </a:cxn>
              <a:cxn ang="0">
                <a:pos x="749" y="1116"/>
              </a:cxn>
            </a:cxnLst>
            <a:rect l="0" t="0" r="r" b="b"/>
            <a:pathLst>
              <a:path w="749" h="1116">
                <a:moveTo>
                  <a:pt x="749" y="1116"/>
                </a:moveTo>
                <a:lnTo>
                  <a:pt x="375" y="0"/>
                </a:lnTo>
                <a:lnTo>
                  <a:pt x="0" y="1116"/>
                </a:lnTo>
                <a:lnTo>
                  <a:pt x="749" y="1116"/>
                </a:lnTo>
                <a:close/>
              </a:path>
            </a:pathLst>
          </a:custGeom>
          <a:solidFill>
            <a:srgbClr val="FFFFFF"/>
          </a:solidFill>
          <a:ln w="3175">
            <a:noFill/>
            <a:prstDash val="solid"/>
            <a:round/>
            <a:headEnd/>
            <a:tailEnd/>
          </a:ln>
        </p:spPr>
        <p:txBody>
          <a:bodyPr/>
          <a:lstStyle/>
          <a:p>
            <a:endParaRPr lang="en-GB"/>
          </a:p>
        </p:txBody>
      </p:sp>
      <p:sp>
        <p:nvSpPr>
          <p:cNvPr id="414736" name="Rectangle 16"/>
          <p:cNvSpPr>
            <a:spLocks noChangeArrowheads="1"/>
          </p:cNvSpPr>
          <p:nvPr/>
        </p:nvSpPr>
        <p:spPr bwMode="auto">
          <a:xfrm>
            <a:off x="2028825" y="3417888"/>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4737" name="Freeform 17"/>
          <p:cNvSpPr>
            <a:spLocks/>
          </p:cNvSpPr>
          <p:nvPr/>
        </p:nvSpPr>
        <p:spPr bwMode="auto">
          <a:xfrm>
            <a:off x="481013" y="3022600"/>
            <a:ext cx="4138612" cy="266700"/>
          </a:xfrm>
          <a:custGeom>
            <a:avLst/>
            <a:gdLst/>
            <a:ahLst/>
            <a:cxnLst>
              <a:cxn ang="0">
                <a:pos x="0" y="88"/>
              </a:cxn>
              <a:cxn ang="0">
                <a:pos x="120" y="16"/>
              </a:cxn>
              <a:cxn ang="0">
                <a:pos x="176" y="24"/>
              </a:cxn>
              <a:cxn ang="0">
                <a:pos x="192" y="48"/>
              </a:cxn>
              <a:cxn ang="0">
                <a:pos x="248" y="104"/>
              </a:cxn>
              <a:cxn ang="0">
                <a:pos x="360" y="136"/>
              </a:cxn>
              <a:cxn ang="0">
                <a:pos x="416" y="128"/>
              </a:cxn>
              <a:cxn ang="0">
                <a:pos x="448" y="104"/>
              </a:cxn>
              <a:cxn ang="0">
                <a:pos x="472" y="96"/>
              </a:cxn>
              <a:cxn ang="0">
                <a:pos x="576" y="0"/>
              </a:cxn>
              <a:cxn ang="0">
                <a:pos x="688" y="104"/>
              </a:cxn>
              <a:cxn ang="0">
                <a:pos x="872" y="168"/>
              </a:cxn>
              <a:cxn ang="0">
                <a:pos x="920" y="160"/>
              </a:cxn>
              <a:cxn ang="0">
                <a:pos x="952" y="136"/>
              </a:cxn>
              <a:cxn ang="0">
                <a:pos x="976" y="128"/>
              </a:cxn>
              <a:cxn ang="0">
                <a:pos x="1096" y="16"/>
              </a:cxn>
              <a:cxn ang="0">
                <a:pos x="1264" y="144"/>
              </a:cxn>
              <a:cxn ang="0">
                <a:pos x="1464" y="40"/>
              </a:cxn>
              <a:cxn ang="0">
                <a:pos x="1672" y="128"/>
              </a:cxn>
              <a:cxn ang="0">
                <a:pos x="1728" y="120"/>
              </a:cxn>
              <a:cxn ang="0">
                <a:pos x="1760" y="72"/>
              </a:cxn>
              <a:cxn ang="0">
                <a:pos x="1784" y="48"/>
              </a:cxn>
              <a:cxn ang="0">
                <a:pos x="1816" y="0"/>
              </a:cxn>
              <a:cxn ang="0">
                <a:pos x="1960" y="32"/>
              </a:cxn>
              <a:cxn ang="0">
                <a:pos x="2048" y="104"/>
              </a:cxn>
              <a:cxn ang="0">
                <a:pos x="2144" y="32"/>
              </a:cxn>
              <a:cxn ang="0">
                <a:pos x="2192" y="16"/>
              </a:cxn>
              <a:cxn ang="0">
                <a:pos x="2280" y="72"/>
              </a:cxn>
              <a:cxn ang="0">
                <a:pos x="2304" y="96"/>
              </a:cxn>
              <a:cxn ang="0">
                <a:pos x="2328" y="120"/>
              </a:cxn>
              <a:cxn ang="0">
                <a:pos x="2368" y="112"/>
              </a:cxn>
              <a:cxn ang="0">
                <a:pos x="2384" y="88"/>
              </a:cxn>
              <a:cxn ang="0">
                <a:pos x="2456" y="32"/>
              </a:cxn>
              <a:cxn ang="0">
                <a:pos x="2560" y="8"/>
              </a:cxn>
              <a:cxn ang="0">
                <a:pos x="2640" y="40"/>
              </a:cxn>
              <a:cxn ang="0">
                <a:pos x="2664" y="88"/>
              </a:cxn>
              <a:cxn ang="0">
                <a:pos x="2712" y="112"/>
              </a:cxn>
              <a:cxn ang="0">
                <a:pos x="2776" y="104"/>
              </a:cxn>
              <a:cxn ang="0">
                <a:pos x="2824" y="8"/>
              </a:cxn>
            </a:cxnLst>
            <a:rect l="0" t="0" r="r" b="b"/>
            <a:pathLst>
              <a:path w="2824" h="168">
                <a:moveTo>
                  <a:pt x="0" y="88"/>
                </a:moveTo>
                <a:cubicBezTo>
                  <a:pt x="33" y="39"/>
                  <a:pt x="69" y="33"/>
                  <a:pt x="120" y="16"/>
                </a:cubicBezTo>
                <a:cubicBezTo>
                  <a:pt x="139" y="19"/>
                  <a:pt x="159" y="16"/>
                  <a:pt x="176" y="24"/>
                </a:cubicBezTo>
                <a:cubicBezTo>
                  <a:pt x="185" y="28"/>
                  <a:pt x="186" y="41"/>
                  <a:pt x="192" y="48"/>
                </a:cubicBezTo>
                <a:cubicBezTo>
                  <a:pt x="210" y="68"/>
                  <a:pt x="224" y="92"/>
                  <a:pt x="248" y="104"/>
                </a:cubicBezTo>
                <a:cubicBezTo>
                  <a:pt x="285" y="122"/>
                  <a:pt x="321" y="126"/>
                  <a:pt x="360" y="136"/>
                </a:cubicBezTo>
                <a:cubicBezTo>
                  <a:pt x="379" y="133"/>
                  <a:pt x="398" y="134"/>
                  <a:pt x="416" y="128"/>
                </a:cubicBezTo>
                <a:cubicBezTo>
                  <a:pt x="429" y="123"/>
                  <a:pt x="436" y="111"/>
                  <a:pt x="448" y="104"/>
                </a:cubicBezTo>
                <a:cubicBezTo>
                  <a:pt x="455" y="100"/>
                  <a:pt x="464" y="99"/>
                  <a:pt x="472" y="96"/>
                </a:cubicBezTo>
                <a:cubicBezTo>
                  <a:pt x="511" y="67"/>
                  <a:pt x="537" y="26"/>
                  <a:pt x="576" y="0"/>
                </a:cubicBezTo>
                <a:cubicBezTo>
                  <a:pt x="617" y="31"/>
                  <a:pt x="652" y="68"/>
                  <a:pt x="688" y="104"/>
                </a:cubicBezTo>
                <a:cubicBezTo>
                  <a:pt x="727" y="143"/>
                  <a:pt x="819" y="150"/>
                  <a:pt x="872" y="168"/>
                </a:cubicBezTo>
                <a:cubicBezTo>
                  <a:pt x="888" y="165"/>
                  <a:pt x="905" y="166"/>
                  <a:pt x="920" y="160"/>
                </a:cubicBezTo>
                <a:cubicBezTo>
                  <a:pt x="932" y="155"/>
                  <a:pt x="940" y="143"/>
                  <a:pt x="952" y="136"/>
                </a:cubicBezTo>
                <a:cubicBezTo>
                  <a:pt x="959" y="132"/>
                  <a:pt x="968" y="131"/>
                  <a:pt x="976" y="128"/>
                </a:cubicBezTo>
                <a:cubicBezTo>
                  <a:pt x="1015" y="89"/>
                  <a:pt x="1042" y="34"/>
                  <a:pt x="1096" y="16"/>
                </a:cubicBezTo>
                <a:cubicBezTo>
                  <a:pt x="1140" y="82"/>
                  <a:pt x="1186" y="124"/>
                  <a:pt x="1264" y="144"/>
                </a:cubicBezTo>
                <a:cubicBezTo>
                  <a:pt x="1351" y="127"/>
                  <a:pt x="1382" y="61"/>
                  <a:pt x="1464" y="40"/>
                </a:cubicBezTo>
                <a:cubicBezTo>
                  <a:pt x="1717" y="63"/>
                  <a:pt x="1596" y="14"/>
                  <a:pt x="1672" y="128"/>
                </a:cubicBezTo>
                <a:cubicBezTo>
                  <a:pt x="1691" y="125"/>
                  <a:pt x="1710" y="125"/>
                  <a:pt x="1728" y="120"/>
                </a:cubicBezTo>
                <a:cubicBezTo>
                  <a:pt x="1767" y="108"/>
                  <a:pt x="1743" y="101"/>
                  <a:pt x="1760" y="72"/>
                </a:cubicBezTo>
                <a:cubicBezTo>
                  <a:pt x="1766" y="62"/>
                  <a:pt x="1777" y="57"/>
                  <a:pt x="1784" y="48"/>
                </a:cubicBezTo>
                <a:cubicBezTo>
                  <a:pt x="1796" y="33"/>
                  <a:pt x="1816" y="0"/>
                  <a:pt x="1816" y="0"/>
                </a:cubicBezTo>
                <a:cubicBezTo>
                  <a:pt x="1939" y="26"/>
                  <a:pt x="1891" y="15"/>
                  <a:pt x="1960" y="32"/>
                </a:cubicBezTo>
                <a:cubicBezTo>
                  <a:pt x="1973" y="82"/>
                  <a:pt x="2001" y="88"/>
                  <a:pt x="2048" y="104"/>
                </a:cubicBezTo>
                <a:cubicBezTo>
                  <a:pt x="2103" y="90"/>
                  <a:pt x="2094" y="59"/>
                  <a:pt x="2144" y="32"/>
                </a:cubicBezTo>
                <a:cubicBezTo>
                  <a:pt x="2159" y="24"/>
                  <a:pt x="2192" y="16"/>
                  <a:pt x="2192" y="16"/>
                </a:cubicBezTo>
                <a:cubicBezTo>
                  <a:pt x="2254" y="28"/>
                  <a:pt x="2222" y="14"/>
                  <a:pt x="2280" y="72"/>
                </a:cubicBezTo>
                <a:cubicBezTo>
                  <a:pt x="2288" y="80"/>
                  <a:pt x="2296" y="88"/>
                  <a:pt x="2304" y="96"/>
                </a:cubicBezTo>
                <a:cubicBezTo>
                  <a:pt x="2312" y="104"/>
                  <a:pt x="2328" y="120"/>
                  <a:pt x="2328" y="120"/>
                </a:cubicBezTo>
                <a:cubicBezTo>
                  <a:pt x="2341" y="117"/>
                  <a:pt x="2356" y="119"/>
                  <a:pt x="2368" y="112"/>
                </a:cubicBezTo>
                <a:cubicBezTo>
                  <a:pt x="2376" y="107"/>
                  <a:pt x="2378" y="95"/>
                  <a:pt x="2384" y="88"/>
                </a:cubicBezTo>
                <a:cubicBezTo>
                  <a:pt x="2398" y="71"/>
                  <a:pt x="2439" y="35"/>
                  <a:pt x="2456" y="32"/>
                </a:cubicBezTo>
                <a:cubicBezTo>
                  <a:pt x="2493" y="26"/>
                  <a:pt x="2524" y="17"/>
                  <a:pt x="2560" y="8"/>
                </a:cubicBezTo>
                <a:cubicBezTo>
                  <a:pt x="2587" y="16"/>
                  <a:pt x="2619" y="19"/>
                  <a:pt x="2640" y="40"/>
                </a:cubicBezTo>
                <a:cubicBezTo>
                  <a:pt x="2707" y="107"/>
                  <a:pt x="2612" y="23"/>
                  <a:pt x="2664" y="88"/>
                </a:cubicBezTo>
                <a:cubicBezTo>
                  <a:pt x="2675" y="102"/>
                  <a:pt x="2696" y="107"/>
                  <a:pt x="2712" y="112"/>
                </a:cubicBezTo>
                <a:cubicBezTo>
                  <a:pt x="2733" y="109"/>
                  <a:pt x="2756" y="112"/>
                  <a:pt x="2776" y="104"/>
                </a:cubicBezTo>
                <a:cubicBezTo>
                  <a:pt x="2793" y="97"/>
                  <a:pt x="2814" y="27"/>
                  <a:pt x="2824" y="8"/>
                </a:cubicBezTo>
              </a:path>
            </a:pathLst>
          </a:custGeom>
          <a:noFill/>
          <a:ln w="25400" cap="flat" cmpd="sng">
            <a:solidFill>
              <a:srgbClr val="0000FF"/>
            </a:solidFill>
            <a:prstDash val="solid"/>
            <a:round/>
            <a:headEnd type="none" w="sm" len="sm"/>
            <a:tailEnd type="none" w="sm" len="sm"/>
          </a:ln>
          <a:effectLst/>
        </p:spPr>
        <p:txBody>
          <a:bodyPr/>
          <a:lstStyle/>
          <a:p>
            <a:endParaRPr lang="en-GB"/>
          </a:p>
        </p:txBody>
      </p:sp>
      <p:sp>
        <p:nvSpPr>
          <p:cNvPr id="414738" name="Line 18"/>
          <p:cNvSpPr>
            <a:spLocks noChangeShapeType="1"/>
          </p:cNvSpPr>
          <p:nvPr/>
        </p:nvSpPr>
        <p:spPr bwMode="auto">
          <a:xfrm flipH="1" flipV="1">
            <a:off x="2708275" y="1028700"/>
            <a:ext cx="0" cy="2070100"/>
          </a:xfrm>
          <a:prstGeom prst="line">
            <a:avLst/>
          </a:prstGeom>
          <a:noFill/>
          <a:ln w="57150">
            <a:solidFill>
              <a:srgbClr val="993300"/>
            </a:solidFill>
            <a:round/>
            <a:headEnd type="none" w="sm" len="sm"/>
            <a:tailEnd type="none" w="sm" len="sm"/>
          </a:ln>
          <a:effectLst/>
        </p:spPr>
        <p:txBody>
          <a:bodyPr/>
          <a:lstStyle/>
          <a:p>
            <a:endParaRPr lang="en-GB"/>
          </a:p>
        </p:txBody>
      </p:sp>
      <p:sp>
        <p:nvSpPr>
          <p:cNvPr id="414739" name="Freeform 19"/>
          <p:cNvSpPr>
            <a:spLocks noEditPoints="1"/>
          </p:cNvSpPr>
          <p:nvPr/>
        </p:nvSpPr>
        <p:spPr bwMode="auto">
          <a:xfrm>
            <a:off x="2689225" y="950913"/>
            <a:ext cx="744538" cy="693737"/>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4740" name="Oval 20"/>
          <p:cNvSpPr>
            <a:spLocks noChangeArrowheads="1"/>
          </p:cNvSpPr>
          <p:nvPr/>
        </p:nvSpPr>
        <p:spPr bwMode="auto">
          <a:xfrm>
            <a:off x="8697913" y="6248400"/>
            <a:ext cx="200025" cy="190500"/>
          </a:xfrm>
          <a:prstGeom prst="ellipse">
            <a:avLst/>
          </a:prstGeom>
          <a:noFill/>
          <a:ln w="12700">
            <a:solidFill>
              <a:schemeClr val="tx1"/>
            </a:solidFill>
            <a:round/>
            <a:headEnd type="none" w="sm" len="sm"/>
            <a:tailEnd type="none" w="sm" len="sm"/>
          </a:ln>
          <a:effectLst/>
        </p:spPr>
        <p:txBody>
          <a:bodyPr wrap="none" anchor="ctr"/>
          <a:lstStyle/>
          <a:p>
            <a:pPr algn="ctr" defTabSz="739775">
              <a:spcBef>
                <a:spcPct val="0"/>
              </a:spcBef>
            </a:pPr>
            <a:endParaRPr lang="en-GB" sz="1800"/>
          </a:p>
        </p:txBody>
      </p:sp>
      <p:sp>
        <p:nvSpPr>
          <p:cNvPr id="414741" name="Freeform 21"/>
          <p:cNvSpPr>
            <a:spLocks noEditPoints="1"/>
          </p:cNvSpPr>
          <p:nvPr/>
        </p:nvSpPr>
        <p:spPr bwMode="auto">
          <a:xfrm>
            <a:off x="6710363" y="849313"/>
            <a:ext cx="744537" cy="693737"/>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4742" name="Rectangle 22"/>
          <p:cNvSpPr>
            <a:spLocks noChangeArrowheads="1"/>
          </p:cNvSpPr>
          <p:nvPr/>
        </p:nvSpPr>
        <p:spPr bwMode="auto">
          <a:xfrm>
            <a:off x="3059113" y="1244600"/>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4743" name="Rectangle 23"/>
          <p:cNvSpPr>
            <a:spLocks noChangeArrowheads="1"/>
          </p:cNvSpPr>
          <p:nvPr/>
        </p:nvSpPr>
        <p:spPr bwMode="auto">
          <a:xfrm>
            <a:off x="6975475" y="1155700"/>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4744" name="Freeform 24"/>
          <p:cNvSpPr>
            <a:spLocks/>
          </p:cNvSpPr>
          <p:nvPr/>
        </p:nvSpPr>
        <p:spPr bwMode="auto">
          <a:xfrm>
            <a:off x="6151563" y="1311275"/>
            <a:ext cx="1203325" cy="1835150"/>
          </a:xfrm>
          <a:custGeom>
            <a:avLst/>
            <a:gdLst/>
            <a:ahLst/>
            <a:cxnLst>
              <a:cxn ang="0">
                <a:pos x="749" y="1116"/>
              </a:cxn>
              <a:cxn ang="0">
                <a:pos x="375" y="0"/>
              </a:cxn>
              <a:cxn ang="0">
                <a:pos x="0" y="1116"/>
              </a:cxn>
              <a:cxn ang="0">
                <a:pos x="749" y="1116"/>
              </a:cxn>
            </a:cxnLst>
            <a:rect l="0" t="0" r="r" b="b"/>
            <a:pathLst>
              <a:path w="749" h="1116">
                <a:moveTo>
                  <a:pt x="749" y="1116"/>
                </a:moveTo>
                <a:lnTo>
                  <a:pt x="375" y="0"/>
                </a:lnTo>
                <a:lnTo>
                  <a:pt x="0" y="1116"/>
                </a:lnTo>
                <a:lnTo>
                  <a:pt x="749" y="1116"/>
                </a:lnTo>
                <a:close/>
              </a:path>
            </a:pathLst>
          </a:custGeom>
          <a:solidFill>
            <a:srgbClr val="FFFFFF"/>
          </a:solidFill>
          <a:ln w="3175">
            <a:noFill/>
            <a:prstDash val="solid"/>
            <a:round/>
            <a:headEnd/>
            <a:tailEnd/>
          </a:ln>
        </p:spPr>
        <p:txBody>
          <a:bodyPr/>
          <a:lstStyle/>
          <a:p>
            <a:endParaRPr lang="en-GB"/>
          </a:p>
        </p:txBody>
      </p:sp>
      <p:sp>
        <p:nvSpPr>
          <p:cNvPr id="414745" name="Line 25"/>
          <p:cNvSpPr>
            <a:spLocks noChangeShapeType="1"/>
          </p:cNvSpPr>
          <p:nvPr/>
        </p:nvSpPr>
        <p:spPr bwMode="auto">
          <a:xfrm flipH="1" flipV="1">
            <a:off x="6753225" y="838200"/>
            <a:ext cx="0" cy="2273300"/>
          </a:xfrm>
          <a:prstGeom prst="line">
            <a:avLst/>
          </a:prstGeom>
          <a:noFill/>
          <a:ln w="57150">
            <a:solidFill>
              <a:srgbClr val="993300"/>
            </a:solidFill>
            <a:round/>
            <a:headEnd type="none" w="sm" len="sm"/>
            <a:tailEnd type="none" w="sm" len="sm"/>
          </a:ln>
          <a:effectLst/>
        </p:spPr>
        <p:txBody>
          <a:bodyPr/>
          <a:lstStyle/>
          <a:p>
            <a:endParaRPr lang="en-GB"/>
          </a:p>
        </p:txBody>
      </p:sp>
      <p:sp>
        <p:nvSpPr>
          <p:cNvPr id="414746" name="Freeform 26"/>
          <p:cNvSpPr>
            <a:spLocks/>
          </p:cNvSpPr>
          <p:nvPr/>
        </p:nvSpPr>
        <p:spPr bwMode="auto">
          <a:xfrm>
            <a:off x="4572000" y="2984500"/>
            <a:ext cx="4138613" cy="266700"/>
          </a:xfrm>
          <a:custGeom>
            <a:avLst/>
            <a:gdLst/>
            <a:ahLst/>
            <a:cxnLst>
              <a:cxn ang="0">
                <a:pos x="0" y="88"/>
              </a:cxn>
              <a:cxn ang="0">
                <a:pos x="120" y="16"/>
              </a:cxn>
              <a:cxn ang="0">
                <a:pos x="176" y="24"/>
              </a:cxn>
              <a:cxn ang="0">
                <a:pos x="192" y="48"/>
              </a:cxn>
              <a:cxn ang="0">
                <a:pos x="248" y="104"/>
              </a:cxn>
              <a:cxn ang="0">
                <a:pos x="360" y="136"/>
              </a:cxn>
              <a:cxn ang="0">
                <a:pos x="416" y="128"/>
              </a:cxn>
              <a:cxn ang="0">
                <a:pos x="448" y="104"/>
              </a:cxn>
              <a:cxn ang="0">
                <a:pos x="472" y="96"/>
              </a:cxn>
              <a:cxn ang="0">
                <a:pos x="576" y="0"/>
              </a:cxn>
              <a:cxn ang="0">
                <a:pos x="688" y="104"/>
              </a:cxn>
              <a:cxn ang="0">
                <a:pos x="872" y="168"/>
              </a:cxn>
              <a:cxn ang="0">
                <a:pos x="920" y="160"/>
              </a:cxn>
              <a:cxn ang="0">
                <a:pos x="952" y="136"/>
              </a:cxn>
              <a:cxn ang="0">
                <a:pos x="976" y="128"/>
              </a:cxn>
              <a:cxn ang="0">
                <a:pos x="1096" y="16"/>
              </a:cxn>
              <a:cxn ang="0">
                <a:pos x="1264" y="144"/>
              </a:cxn>
              <a:cxn ang="0">
                <a:pos x="1464" y="40"/>
              </a:cxn>
              <a:cxn ang="0">
                <a:pos x="1672" y="128"/>
              </a:cxn>
              <a:cxn ang="0">
                <a:pos x="1728" y="120"/>
              </a:cxn>
              <a:cxn ang="0">
                <a:pos x="1760" y="72"/>
              </a:cxn>
              <a:cxn ang="0">
                <a:pos x="1784" y="48"/>
              </a:cxn>
              <a:cxn ang="0">
                <a:pos x="1816" y="0"/>
              </a:cxn>
              <a:cxn ang="0">
                <a:pos x="1960" y="32"/>
              </a:cxn>
              <a:cxn ang="0">
                <a:pos x="2048" y="104"/>
              </a:cxn>
              <a:cxn ang="0">
                <a:pos x="2144" y="32"/>
              </a:cxn>
              <a:cxn ang="0">
                <a:pos x="2192" y="16"/>
              </a:cxn>
              <a:cxn ang="0">
                <a:pos x="2280" y="72"/>
              </a:cxn>
              <a:cxn ang="0">
                <a:pos x="2304" y="96"/>
              </a:cxn>
              <a:cxn ang="0">
                <a:pos x="2328" y="120"/>
              </a:cxn>
              <a:cxn ang="0">
                <a:pos x="2368" y="112"/>
              </a:cxn>
              <a:cxn ang="0">
                <a:pos x="2384" y="88"/>
              </a:cxn>
              <a:cxn ang="0">
                <a:pos x="2456" y="32"/>
              </a:cxn>
              <a:cxn ang="0">
                <a:pos x="2560" y="8"/>
              </a:cxn>
              <a:cxn ang="0">
                <a:pos x="2640" y="40"/>
              </a:cxn>
              <a:cxn ang="0">
                <a:pos x="2664" y="88"/>
              </a:cxn>
              <a:cxn ang="0">
                <a:pos x="2712" y="112"/>
              </a:cxn>
              <a:cxn ang="0">
                <a:pos x="2776" y="104"/>
              </a:cxn>
              <a:cxn ang="0">
                <a:pos x="2824" y="8"/>
              </a:cxn>
            </a:cxnLst>
            <a:rect l="0" t="0" r="r" b="b"/>
            <a:pathLst>
              <a:path w="2824" h="168">
                <a:moveTo>
                  <a:pt x="0" y="88"/>
                </a:moveTo>
                <a:cubicBezTo>
                  <a:pt x="33" y="39"/>
                  <a:pt x="69" y="33"/>
                  <a:pt x="120" y="16"/>
                </a:cubicBezTo>
                <a:cubicBezTo>
                  <a:pt x="139" y="19"/>
                  <a:pt x="159" y="16"/>
                  <a:pt x="176" y="24"/>
                </a:cubicBezTo>
                <a:cubicBezTo>
                  <a:pt x="185" y="28"/>
                  <a:pt x="186" y="41"/>
                  <a:pt x="192" y="48"/>
                </a:cubicBezTo>
                <a:cubicBezTo>
                  <a:pt x="210" y="68"/>
                  <a:pt x="224" y="92"/>
                  <a:pt x="248" y="104"/>
                </a:cubicBezTo>
                <a:cubicBezTo>
                  <a:pt x="285" y="122"/>
                  <a:pt x="321" y="126"/>
                  <a:pt x="360" y="136"/>
                </a:cubicBezTo>
                <a:cubicBezTo>
                  <a:pt x="379" y="133"/>
                  <a:pt x="398" y="134"/>
                  <a:pt x="416" y="128"/>
                </a:cubicBezTo>
                <a:cubicBezTo>
                  <a:pt x="429" y="123"/>
                  <a:pt x="436" y="111"/>
                  <a:pt x="448" y="104"/>
                </a:cubicBezTo>
                <a:cubicBezTo>
                  <a:pt x="455" y="100"/>
                  <a:pt x="464" y="99"/>
                  <a:pt x="472" y="96"/>
                </a:cubicBezTo>
                <a:cubicBezTo>
                  <a:pt x="511" y="67"/>
                  <a:pt x="537" y="26"/>
                  <a:pt x="576" y="0"/>
                </a:cubicBezTo>
                <a:cubicBezTo>
                  <a:pt x="617" y="31"/>
                  <a:pt x="652" y="68"/>
                  <a:pt x="688" y="104"/>
                </a:cubicBezTo>
                <a:cubicBezTo>
                  <a:pt x="727" y="143"/>
                  <a:pt x="819" y="150"/>
                  <a:pt x="872" y="168"/>
                </a:cubicBezTo>
                <a:cubicBezTo>
                  <a:pt x="888" y="165"/>
                  <a:pt x="905" y="166"/>
                  <a:pt x="920" y="160"/>
                </a:cubicBezTo>
                <a:cubicBezTo>
                  <a:pt x="932" y="155"/>
                  <a:pt x="940" y="143"/>
                  <a:pt x="952" y="136"/>
                </a:cubicBezTo>
                <a:cubicBezTo>
                  <a:pt x="959" y="132"/>
                  <a:pt x="968" y="131"/>
                  <a:pt x="976" y="128"/>
                </a:cubicBezTo>
                <a:cubicBezTo>
                  <a:pt x="1015" y="89"/>
                  <a:pt x="1042" y="34"/>
                  <a:pt x="1096" y="16"/>
                </a:cubicBezTo>
                <a:cubicBezTo>
                  <a:pt x="1140" y="82"/>
                  <a:pt x="1186" y="124"/>
                  <a:pt x="1264" y="144"/>
                </a:cubicBezTo>
                <a:cubicBezTo>
                  <a:pt x="1351" y="127"/>
                  <a:pt x="1382" y="61"/>
                  <a:pt x="1464" y="40"/>
                </a:cubicBezTo>
                <a:cubicBezTo>
                  <a:pt x="1717" y="63"/>
                  <a:pt x="1596" y="14"/>
                  <a:pt x="1672" y="128"/>
                </a:cubicBezTo>
                <a:cubicBezTo>
                  <a:pt x="1691" y="125"/>
                  <a:pt x="1710" y="125"/>
                  <a:pt x="1728" y="120"/>
                </a:cubicBezTo>
                <a:cubicBezTo>
                  <a:pt x="1767" y="108"/>
                  <a:pt x="1743" y="101"/>
                  <a:pt x="1760" y="72"/>
                </a:cubicBezTo>
                <a:cubicBezTo>
                  <a:pt x="1766" y="62"/>
                  <a:pt x="1777" y="57"/>
                  <a:pt x="1784" y="48"/>
                </a:cubicBezTo>
                <a:cubicBezTo>
                  <a:pt x="1796" y="33"/>
                  <a:pt x="1816" y="0"/>
                  <a:pt x="1816" y="0"/>
                </a:cubicBezTo>
                <a:cubicBezTo>
                  <a:pt x="1939" y="26"/>
                  <a:pt x="1891" y="15"/>
                  <a:pt x="1960" y="32"/>
                </a:cubicBezTo>
                <a:cubicBezTo>
                  <a:pt x="1973" y="82"/>
                  <a:pt x="2001" y="88"/>
                  <a:pt x="2048" y="104"/>
                </a:cubicBezTo>
                <a:cubicBezTo>
                  <a:pt x="2103" y="90"/>
                  <a:pt x="2094" y="59"/>
                  <a:pt x="2144" y="32"/>
                </a:cubicBezTo>
                <a:cubicBezTo>
                  <a:pt x="2159" y="24"/>
                  <a:pt x="2192" y="16"/>
                  <a:pt x="2192" y="16"/>
                </a:cubicBezTo>
                <a:cubicBezTo>
                  <a:pt x="2254" y="28"/>
                  <a:pt x="2222" y="14"/>
                  <a:pt x="2280" y="72"/>
                </a:cubicBezTo>
                <a:cubicBezTo>
                  <a:pt x="2288" y="80"/>
                  <a:pt x="2296" y="88"/>
                  <a:pt x="2304" y="96"/>
                </a:cubicBezTo>
                <a:cubicBezTo>
                  <a:pt x="2312" y="104"/>
                  <a:pt x="2328" y="120"/>
                  <a:pt x="2328" y="120"/>
                </a:cubicBezTo>
                <a:cubicBezTo>
                  <a:pt x="2341" y="117"/>
                  <a:pt x="2356" y="119"/>
                  <a:pt x="2368" y="112"/>
                </a:cubicBezTo>
                <a:cubicBezTo>
                  <a:pt x="2376" y="107"/>
                  <a:pt x="2378" y="95"/>
                  <a:pt x="2384" y="88"/>
                </a:cubicBezTo>
                <a:cubicBezTo>
                  <a:pt x="2398" y="71"/>
                  <a:pt x="2439" y="35"/>
                  <a:pt x="2456" y="32"/>
                </a:cubicBezTo>
                <a:cubicBezTo>
                  <a:pt x="2493" y="26"/>
                  <a:pt x="2524" y="17"/>
                  <a:pt x="2560" y="8"/>
                </a:cubicBezTo>
                <a:cubicBezTo>
                  <a:pt x="2587" y="16"/>
                  <a:pt x="2619" y="19"/>
                  <a:pt x="2640" y="40"/>
                </a:cubicBezTo>
                <a:cubicBezTo>
                  <a:pt x="2707" y="107"/>
                  <a:pt x="2612" y="23"/>
                  <a:pt x="2664" y="88"/>
                </a:cubicBezTo>
                <a:cubicBezTo>
                  <a:pt x="2675" y="102"/>
                  <a:pt x="2696" y="107"/>
                  <a:pt x="2712" y="112"/>
                </a:cubicBezTo>
                <a:cubicBezTo>
                  <a:pt x="2733" y="109"/>
                  <a:pt x="2756" y="112"/>
                  <a:pt x="2776" y="104"/>
                </a:cubicBezTo>
                <a:cubicBezTo>
                  <a:pt x="2793" y="97"/>
                  <a:pt x="2814" y="27"/>
                  <a:pt x="2824" y="8"/>
                </a:cubicBezTo>
              </a:path>
            </a:pathLst>
          </a:custGeom>
          <a:noFill/>
          <a:ln w="25400" cap="flat" cmpd="sng">
            <a:solidFill>
              <a:srgbClr val="0000FF"/>
            </a:solidFill>
            <a:prstDash val="solid"/>
            <a:round/>
            <a:headEnd type="none" w="sm" len="sm"/>
            <a:tailEnd type="none" w="sm" len="sm"/>
          </a:ln>
          <a:effectLst/>
        </p:spPr>
        <p:txBody>
          <a:bodyPr/>
          <a:lstStyle/>
          <a:p>
            <a:endParaRPr lang="en-GB"/>
          </a:p>
        </p:txBody>
      </p:sp>
      <p:sp>
        <p:nvSpPr>
          <p:cNvPr id="414747" name="Text Box 27"/>
          <p:cNvSpPr txBox="1">
            <a:spLocks noChangeArrowheads="1"/>
          </p:cNvSpPr>
          <p:nvPr/>
        </p:nvSpPr>
        <p:spPr bwMode="auto">
          <a:xfrm>
            <a:off x="1713325" y="4557713"/>
            <a:ext cx="184626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a:t>Cheque Account</a:t>
            </a:r>
          </a:p>
        </p:txBody>
      </p:sp>
      <p:sp>
        <p:nvSpPr>
          <p:cNvPr id="414748" name="Text Box 28"/>
          <p:cNvSpPr txBox="1">
            <a:spLocks noChangeArrowheads="1"/>
          </p:cNvSpPr>
          <p:nvPr/>
        </p:nvSpPr>
        <p:spPr bwMode="auto">
          <a:xfrm>
            <a:off x="5894388" y="4494213"/>
            <a:ext cx="184626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a:t>Deposit Account</a:t>
            </a:r>
          </a:p>
        </p:txBody>
      </p:sp>
      <p:sp>
        <p:nvSpPr>
          <p:cNvPr id="414749" name="Freeform 29"/>
          <p:cNvSpPr>
            <a:spLocks/>
          </p:cNvSpPr>
          <p:nvPr/>
        </p:nvSpPr>
        <p:spPr bwMode="auto">
          <a:xfrm>
            <a:off x="3387725" y="1536700"/>
            <a:ext cx="493713" cy="2019300"/>
          </a:xfrm>
          <a:custGeom>
            <a:avLst/>
            <a:gdLst/>
            <a:ahLst/>
            <a:cxnLst>
              <a:cxn ang="0">
                <a:pos x="104" y="0"/>
              </a:cxn>
              <a:cxn ang="0">
                <a:pos x="320" y="552"/>
              </a:cxn>
              <a:cxn ang="0">
                <a:pos x="0" y="1272"/>
              </a:cxn>
            </a:cxnLst>
            <a:rect l="0" t="0" r="r" b="b"/>
            <a:pathLst>
              <a:path w="337" h="1272">
                <a:moveTo>
                  <a:pt x="104" y="0"/>
                </a:moveTo>
                <a:cubicBezTo>
                  <a:pt x="220" y="170"/>
                  <a:pt x="337" y="340"/>
                  <a:pt x="320" y="552"/>
                </a:cubicBezTo>
                <a:cubicBezTo>
                  <a:pt x="303" y="764"/>
                  <a:pt x="151" y="1018"/>
                  <a:pt x="0" y="1272"/>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4750" name="Text Box 30"/>
          <p:cNvSpPr txBox="1">
            <a:spLocks noChangeArrowheads="1"/>
          </p:cNvSpPr>
          <p:nvPr/>
        </p:nvSpPr>
        <p:spPr bwMode="auto">
          <a:xfrm>
            <a:off x="8683625" y="6164263"/>
            <a:ext cx="273050" cy="304800"/>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400"/>
              <a:t>x</a:t>
            </a:r>
          </a:p>
        </p:txBody>
      </p:sp>
      <p:grpSp>
        <p:nvGrpSpPr>
          <p:cNvPr id="2" name="Group 31"/>
          <p:cNvGrpSpPr>
            <a:grpSpLocks/>
          </p:cNvGrpSpPr>
          <p:nvPr/>
        </p:nvGrpSpPr>
        <p:grpSpPr bwMode="auto">
          <a:xfrm>
            <a:off x="700088" y="3200400"/>
            <a:ext cx="7791450" cy="3065463"/>
            <a:chOff x="441" y="2016"/>
            <a:chExt cx="4908" cy="1931"/>
          </a:xfrm>
        </p:grpSpPr>
        <p:sp>
          <p:nvSpPr>
            <p:cNvPr id="414752" name="Text Box 32"/>
            <p:cNvSpPr txBox="1">
              <a:spLocks noChangeArrowheads="1"/>
            </p:cNvSpPr>
            <p:nvPr/>
          </p:nvSpPr>
          <p:spPr bwMode="auto">
            <a:xfrm>
              <a:off x="441" y="3543"/>
              <a:ext cx="4908" cy="404"/>
            </a:xfrm>
            <a:prstGeom prst="rect">
              <a:avLst/>
            </a:prstGeom>
            <a:solidFill>
              <a:srgbClr val="00FFFF"/>
            </a:solidFill>
            <a:ln w="12700">
              <a:noFill/>
              <a:miter lim="800000"/>
              <a:headEnd type="none" w="sm" len="sm"/>
              <a:tailEnd type="none" w="sm" len="sm"/>
            </a:ln>
            <a:effectLst>
              <a:outerShdw dist="107763" dir="2700000" algn="ctr" rotWithShape="0">
                <a:schemeClr val="bg2"/>
              </a:outerShdw>
            </a:effectLst>
          </p:spPr>
          <p:txBody>
            <a:bodyPr wrap="none">
              <a:spAutoFit/>
            </a:bodyPr>
            <a:lstStyle/>
            <a:p>
              <a:pPr defTabSz="739775">
                <a:spcBef>
                  <a:spcPct val="0"/>
                </a:spcBef>
              </a:pPr>
              <a:r>
                <a:rPr lang="en-GB" sz="1800"/>
                <a:t>What if you have some commonality of substance as well ?</a:t>
              </a:r>
            </a:p>
            <a:p>
              <a:pPr defTabSz="739775">
                <a:spcBef>
                  <a:spcPct val="0"/>
                </a:spcBef>
              </a:pPr>
              <a:r>
                <a:rPr lang="en-GB" sz="1800"/>
                <a:t>eg in this example there are some “Accounty” bits which really are common</a:t>
              </a:r>
            </a:p>
          </p:txBody>
        </p:sp>
        <p:grpSp>
          <p:nvGrpSpPr>
            <p:cNvPr id="3" name="Group 33"/>
            <p:cNvGrpSpPr>
              <a:grpSpLocks/>
            </p:cNvGrpSpPr>
            <p:nvPr/>
          </p:nvGrpSpPr>
          <p:grpSpPr bwMode="auto">
            <a:xfrm>
              <a:off x="3884" y="2016"/>
              <a:ext cx="805" cy="432"/>
              <a:chOff x="3884" y="2016"/>
              <a:chExt cx="805" cy="432"/>
            </a:xfrm>
          </p:grpSpPr>
          <p:sp>
            <p:nvSpPr>
              <p:cNvPr id="414754" name="Oval 34"/>
              <p:cNvSpPr>
                <a:spLocks noChangeArrowheads="1"/>
              </p:cNvSpPr>
              <p:nvPr/>
            </p:nvSpPr>
            <p:spPr bwMode="auto">
              <a:xfrm>
                <a:off x="3884" y="2016"/>
                <a:ext cx="805" cy="432"/>
              </a:xfrm>
              <a:prstGeom prst="ellipse">
                <a:avLst/>
              </a:prstGeom>
              <a:solidFill>
                <a:srgbClr val="00FFFF"/>
              </a:solidFill>
              <a:ln w="12700">
                <a:solidFill>
                  <a:schemeClr val="tx1"/>
                </a:solidFill>
                <a:round/>
                <a:headEnd type="none" w="sm" len="sm"/>
                <a:tailEnd type="none" w="sm" len="sm"/>
              </a:ln>
              <a:effectLst/>
            </p:spPr>
            <p:txBody>
              <a:bodyPr wrap="none" anchor="ctr"/>
              <a:lstStyle/>
              <a:p>
                <a:pPr algn="ctr" defTabSz="739775">
                  <a:spcBef>
                    <a:spcPct val="0"/>
                  </a:spcBef>
                </a:pPr>
                <a:r>
                  <a:rPr lang="en-GB" sz="1600"/>
                  <a:t>Common Stuff</a:t>
                </a:r>
              </a:p>
            </p:txBody>
          </p:sp>
          <p:sp>
            <p:nvSpPr>
              <p:cNvPr id="414755" name="Line 35"/>
              <p:cNvSpPr>
                <a:spLocks noChangeShapeType="1"/>
              </p:cNvSpPr>
              <p:nvPr/>
            </p:nvSpPr>
            <p:spPr bwMode="auto">
              <a:xfrm>
                <a:off x="4268" y="2312"/>
                <a:ext cx="192" cy="0"/>
              </a:xfrm>
              <a:prstGeom prst="line">
                <a:avLst/>
              </a:prstGeom>
              <a:noFill/>
              <a:ln w="28575">
                <a:solidFill>
                  <a:schemeClr val="tx1"/>
                </a:solidFill>
                <a:round/>
                <a:headEnd type="none" w="sm" len="sm"/>
                <a:tailEnd type="none" w="sm" len="sm"/>
              </a:ln>
              <a:effectLst/>
            </p:spPr>
            <p:txBody>
              <a:bodyPr/>
              <a:lstStyle/>
              <a:p>
                <a:endParaRPr lang="en-GB"/>
              </a:p>
            </p:txBody>
          </p:sp>
          <p:sp>
            <p:nvSpPr>
              <p:cNvPr id="414756" name="Line 36"/>
              <p:cNvSpPr>
                <a:spLocks noChangeShapeType="1"/>
              </p:cNvSpPr>
              <p:nvPr/>
            </p:nvSpPr>
            <p:spPr bwMode="auto">
              <a:xfrm>
                <a:off x="4268" y="2360"/>
                <a:ext cx="192" cy="0"/>
              </a:xfrm>
              <a:prstGeom prst="line">
                <a:avLst/>
              </a:prstGeom>
              <a:noFill/>
              <a:ln w="28575">
                <a:solidFill>
                  <a:schemeClr val="tx1"/>
                </a:solidFill>
                <a:round/>
                <a:headEnd type="none" w="sm" len="sm"/>
                <a:tailEnd type="none" w="sm" len="sm"/>
              </a:ln>
              <a:effectLst/>
            </p:spPr>
            <p:txBody>
              <a:bodyPr/>
              <a:lstStyle/>
              <a:p>
                <a:endParaRPr lang="en-GB"/>
              </a:p>
            </p:txBody>
          </p:sp>
          <p:sp>
            <p:nvSpPr>
              <p:cNvPr id="414757" name="Line 37"/>
              <p:cNvSpPr>
                <a:spLocks noChangeShapeType="1"/>
              </p:cNvSpPr>
              <p:nvPr/>
            </p:nvSpPr>
            <p:spPr bwMode="auto">
              <a:xfrm>
                <a:off x="4268" y="2408"/>
                <a:ext cx="192" cy="0"/>
              </a:xfrm>
              <a:prstGeom prst="line">
                <a:avLst/>
              </a:prstGeom>
              <a:noFill/>
              <a:ln w="28575">
                <a:solidFill>
                  <a:schemeClr val="tx1"/>
                </a:solidFill>
                <a:round/>
                <a:headEnd type="none" w="sm" len="sm"/>
                <a:tailEnd type="none" w="sm" len="sm"/>
              </a:ln>
              <a:effectLst/>
            </p:spPr>
            <p:txBody>
              <a:bodyPr/>
              <a:lstStyle/>
              <a:p>
                <a:endParaRPr lang="en-GB"/>
              </a:p>
            </p:txBody>
          </p:sp>
        </p:grpSp>
        <p:grpSp>
          <p:nvGrpSpPr>
            <p:cNvPr id="4" name="Group 38"/>
            <p:cNvGrpSpPr>
              <a:grpSpLocks/>
            </p:cNvGrpSpPr>
            <p:nvPr/>
          </p:nvGrpSpPr>
          <p:grpSpPr bwMode="auto">
            <a:xfrm>
              <a:off x="1193" y="2360"/>
              <a:ext cx="812" cy="432"/>
              <a:chOff x="1193" y="2360"/>
              <a:chExt cx="812" cy="432"/>
            </a:xfrm>
          </p:grpSpPr>
          <p:sp>
            <p:nvSpPr>
              <p:cNvPr id="414759" name="Oval 39"/>
              <p:cNvSpPr>
                <a:spLocks noChangeArrowheads="1"/>
              </p:cNvSpPr>
              <p:nvPr/>
            </p:nvSpPr>
            <p:spPr bwMode="auto">
              <a:xfrm>
                <a:off x="1193" y="2360"/>
                <a:ext cx="812" cy="432"/>
              </a:xfrm>
              <a:prstGeom prst="ellipse">
                <a:avLst/>
              </a:prstGeom>
              <a:solidFill>
                <a:srgbClr val="00FFFF"/>
              </a:solidFill>
              <a:ln w="12700">
                <a:solidFill>
                  <a:schemeClr val="tx1"/>
                </a:solidFill>
                <a:round/>
                <a:headEnd type="none" w="sm" len="sm"/>
                <a:tailEnd type="none" w="sm" len="sm"/>
              </a:ln>
              <a:effectLst/>
            </p:spPr>
            <p:txBody>
              <a:bodyPr wrap="none" anchor="ctr"/>
              <a:lstStyle/>
              <a:p>
                <a:pPr algn="ctr" defTabSz="739775">
                  <a:spcBef>
                    <a:spcPct val="0"/>
                  </a:spcBef>
                </a:pPr>
                <a:r>
                  <a:rPr lang="en-GB" sz="1600"/>
                  <a:t>Common Stuff</a:t>
                </a:r>
              </a:p>
            </p:txBody>
          </p:sp>
          <p:sp>
            <p:nvSpPr>
              <p:cNvPr id="414760" name="Line 40"/>
              <p:cNvSpPr>
                <a:spLocks noChangeShapeType="1"/>
              </p:cNvSpPr>
              <p:nvPr/>
            </p:nvSpPr>
            <p:spPr bwMode="auto">
              <a:xfrm>
                <a:off x="1514" y="2664"/>
                <a:ext cx="192" cy="0"/>
              </a:xfrm>
              <a:prstGeom prst="line">
                <a:avLst/>
              </a:prstGeom>
              <a:noFill/>
              <a:ln w="28575">
                <a:solidFill>
                  <a:schemeClr val="tx1"/>
                </a:solidFill>
                <a:round/>
                <a:headEnd type="none" w="sm" len="sm"/>
                <a:tailEnd type="none" w="sm" len="sm"/>
              </a:ln>
              <a:effectLst/>
            </p:spPr>
            <p:txBody>
              <a:bodyPr/>
              <a:lstStyle/>
              <a:p>
                <a:endParaRPr lang="en-GB"/>
              </a:p>
            </p:txBody>
          </p:sp>
          <p:sp>
            <p:nvSpPr>
              <p:cNvPr id="414761" name="Line 41"/>
              <p:cNvSpPr>
                <a:spLocks noChangeShapeType="1"/>
              </p:cNvSpPr>
              <p:nvPr/>
            </p:nvSpPr>
            <p:spPr bwMode="auto">
              <a:xfrm>
                <a:off x="1514" y="2712"/>
                <a:ext cx="192" cy="0"/>
              </a:xfrm>
              <a:prstGeom prst="line">
                <a:avLst/>
              </a:prstGeom>
              <a:noFill/>
              <a:ln w="28575">
                <a:solidFill>
                  <a:schemeClr val="tx1"/>
                </a:solidFill>
                <a:round/>
                <a:headEnd type="none" w="sm" len="sm"/>
                <a:tailEnd type="none" w="sm" len="sm"/>
              </a:ln>
              <a:effectLst/>
            </p:spPr>
            <p:txBody>
              <a:bodyPr/>
              <a:lstStyle/>
              <a:p>
                <a:endParaRPr lang="en-GB"/>
              </a:p>
            </p:txBody>
          </p:sp>
          <p:sp>
            <p:nvSpPr>
              <p:cNvPr id="414762" name="Line 42"/>
              <p:cNvSpPr>
                <a:spLocks noChangeShapeType="1"/>
              </p:cNvSpPr>
              <p:nvPr/>
            </p:nvSpPr>
            <p:spPr bwMode="auto">
              <a:xfrm>
                <a:off x="1514" y="2760"/>
                <a:ext cx="192" cy="0"/>
              </a:xfrm>
              <a:prstGeom prst="line">
                <a:avLst/>
              </a:prstGeom>
              <a:noFill/>
              <a:ln w="28575">
                <a:solidFill>
                  <a:schemeClr val="tx1"/>
                </a:solidFill>
                <a:round/>
                <a:headEnd type="none" w="sm" len="sm"/>
                <a:tailEnd type="none" w="sm" len="sm"/>
              </a:ln>
              <a:effectLst/>
            </p:spPr>
            <p:txBody>
              <a:bodyPr/>
              <a:lstStyle/>
              <a:p>
                <a:endParaRPr lang="en-GB"/>
              </a:p>
            </p:txBody>
          </p:sp>
        </p:grpSp>
      </p:grpSp>
      <p:pic>
        <p:nvPicPr>
          <p:cNvPr id="414763" name="Picture 43" descr="Iceberg"/>
          <p:cNvPicPr>
            <a:picLocks noChangeAspect="1" noChangeArrowheads="1"/>
          </p:cNvPicPr>
          <p:nvPr/>
        </p:nvPicPr>
        <p:blipFill>
          <a:blip r:embed="rId3" cstate="print"/>
          <a:srcRect/>
          <a:stretch>
            <a:fillRect/>
          </a:stretch>
        </p:blipFill>
        <p:spPr bwMode="auto">
          <a:xfrm>
            <a:off x="317500" y="1978025"/>
            <a:ext cx="1231900" cy="877888"/>
          </a:xfrm>
          <a:prstGeom prst="rect">
            <a:avLst/>
          </a:prstGeom>
          <a:noFill/>
        </p:spPr>
      </p:pic>
      <p:pic>
        <p:nvPicPr>
          <p:cNvPr id="414764" name="Picture 44" descr="Iceberg"/>
          <p:cNvPicPr>
            <a:picLocks noChangeAspect="1" noChangeArrowheads="1"/>
          </p:cNvPicPr>
          <p:nvPr/>
        </p:nvPicPr>
        <p:blipFill>
          <a:blip r:embed="rId3" cstate="print"/>
          <a:srcRect/>
          <a:stretch>
            <a:fillRect/>
          </a:stretch>
        </p:blipFill>
        <p:spPr bwMode="auto">
          <a:xfrm>
            <a:off x="4678363" y="2041525"/>
            <a:ext cx="1231900" cy="877888"/>
          </a:xfrm>
          <a:prstGeom prst="rect">
            <a:avLst/>
          </a:prstGeom>
          <a:noFill/>
        </p:spPr>
      </p:pic>
      <p:sp>
        <p:nvSpPr>
          <p:cNvPr id="414765" name="Text Box 45"/>
          <p:cNvSpPr txBox="1">
            <a:spLocks noChangeArrowheads="1"/>
          </p:cNvSpPr>
          <p:nvPr/>
        </p:nvSpPr>
        <p:spPr bwMode="auto">
          <a:xfrm>
            <a:off x="654050" y="5065713"/>
            <a:ext cx="4335463" cy="366712"/>
          </a:xfrm>
          <a:prstGeom prst="rect">
            <a:avLst/>
          </a:prstGeom>
          <a:solidFill>
            <a:srgbClr val="CCFFCC"/>
          </a:solidFill>
          <a:ln w="12700">
            <a:noFill/>
            <a:miter lim="800000"/>
            <a:headEnd type="none" w="sm" len="sm"/>
            <a:tailEnd type="none" w="sm" len="sm"/>
          </a:ln>
          <a:effectLst>
            <a:outerShdw dist="107763" dir="2700000" algn="ctr" rotWithShape="0">
              <a:schemeClr val="bg2"/>
            </a:outerShdw>
          </a:effectLst>
        </p:spPr>
        <p:txBody>
          <a:bodyPr>
            <a:spAutoFit/>
          </a:bodyPr>
          <a:lstStyle/>
          <a:p>
            <a:pPr defTabSz="739775">
              <a:spcBef>
                <a:spcPct val="0"/>
              </a:spcBef>
            </a:pPr>
            <a:r>
              <a:rPr lang="en-GB" sz="1800"/>
              <a:t>Interface is commonality of signature.</a:t>
            </a:r>
          </a:p>
        </p:txBody>
      </p:sp>
    </p:spTree>
    <p:extLst>
      <p:ext uri="{BB962C8B-B14F-4D97-AF65-F5344CB8AC3E}">
        <p14:creationId xmlns:p14="http://schemas.microsoft.com/office/powerpoint/2010/main" val="33658995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ChangeArrowheads="1"/>
          </p:cNvSpPr>
          <p:nvPr/>
        </p:nvSpPr>
        <p:spPr bwMode="auto">
          <a:xfrm>
            <a:off x="703263" y="6248400"/>
            <a:ext cx="18986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6771" name="Rectangle 3"/>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6772" name="Rectangle 4"/>
          <p:cNvSpPr>
            <a:spLocks noChangeArrowheads="1"/>
          </p:cNvSpPr>
          <p:nvPr/>
        </p:nvSpPr>
        <p:spPr bwMode="auto">
          <a:xfrm>
            <a:off x="703263" y="6248400"/>
            <a:ext cx="18986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6773" name="Rectangle 5"/>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6774" name="Rectangle 6"/>
          <p:cNvSpPr>
            <a:spLocks noChangeArrowheads="1"/>
          </p:cNvSpPr>
          <p:nvPr/>
        </p:nvSpPr>
        <p:spPr bwMode="auto">
          <a:xfrm>
            <a:off x="674688" y="6267450"/>
            <a:ext cx="1912937" cy="43815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6775" name="Rectangle 7"/>
          <p:cNvSpPr>
            <a:spLocks noChangeArrowheads="1"/>
          </p:cNvSpPr>
          <p:nvPr/>
        </p:nvSpPr>
        <p:spPr bwMode="auto">
          <a:xfrm>
            <a:off x="3154363" y="6267450"/>
            <a:ext cx="2835275" cy="43815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6776" name="Rectangle 8"/>
          <p:cNvSpPr>
            <a:spLocks noGrp="1" noChangeArrowheads="1"/>
          </p:cNvSpPr>
          <p:nvPr>
            <p:ph type="title"/>
          </p:nvPr>
        </p:nvSpPr>
        <p:spPr/>
        <p:txBody>
          <a:bodyPr/>
          <a:lstStyle/>
          <a:p>
            <a:r>
              <a:rPr lang="en-GB"/>
              <a:t>Inheritance</a:t>
            </a:r>
          </a:p>
        </p:txBody>
      </p:sp>
      <p:sp>
        <p:nvSpPr>
          <p:cNvPr id="416777" name="Freeform 9"/>
          <p:cNvSpPr>
            <a:spLocks/>
          </p:cNvSpPr>
          <p:nvPr/>
        </p:nvSpPr>
        <p:spPr bwMode="auto">
          <a:xfrm>
            <a:off x="5649913" y="1323975"/>
            <a:ext cx="2192337" cy="3544888"/>
          </a:xfrm>
          <a:custGeom>
            <a:avLst/>
            <a:gdLst/>
            <a:ahLst/>
            <a:cxnLst>
              <a:cxn ang="0">
                <a:pos x="1496" y="2233"/>
              </a:cxn>
              <a:cxn ang="0">
                <a:pos x="749" y="0"/>
              </a:cxn>
              <a:cxn ang="0">
                <a:pos x="0" y="2233"/>
              </a:cxn>
              <a:cxn ang="0">
                <a:pos x="1496" y="2233"/>
              </a:cxn>
            </a:cxnLst>
            <a:rect l="0" t="0" r="r" b="b"/>
            <a:pathLst>
              <a:path w="1496" h="2233">
                <a:moveTo>
                  <a:pt x="1496" y="2233"/>
                </a:moveTo>
                <a:lnTo>
                  <a:pt x="749" y="0"/>
                </a:lnTo>
                <a:lnTo>
                  <a:pt x="0" y="2233"/>
                </a:lnTo>
                <a:lnTo>
                  <a:pt x="1496" y="2233"/>
                </a:lnTo>
                <a:close/>
              </a:path>
            </a:pathLst>
          </a:custGeom>
          <a:solidFill>
            <a:srgbClr val="FF99CC"/>
          </a:solidFill>
          <a:ln w="3175">
            <a:solidFill>
              <a:srgbClr val="000000"/>
            </a:solidFill>
            <a:prstDash val="solid"/>
            <a:round/>
            <a:headEnd/>
            <a:tailEnd/>
          </a:ln>
        </p:spPr>
        <p:txBody>
          <a:bodyPr/>
          <a:lstStyle/>
          <a:p>
            <a:endParaRPr lang="en-GB"/>
          </a:p>
        </p:txBody>
      </p:sp>
      <p:sp>
        <p:nvSpPr>
          <p:cNvPr id="416778" name="Rectangle 10"/>
          <p:cNvSpPr>
            <a:spLocks noChangeArrowheads="1"/>
          </p:cNvSpPr>
          <p:nvPr/>
        </p:nvSpPr>
        <p:spPr bwMode="auto">
          <a:xfrm>
            <a:off x="6057776" y="4154488"/>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6779" name="Freeform 11"/>
          <p:cNvSpPr>
            <a:spLocks/>
          </p:cNvSpPr>
          <p:nvPr/>
        </p:nvSpPr>
        <p:spPr bwMode="auto">
          <a:xfrm>
            <a:off x="7802563" y="1462088"/>
            <a:ext cx="376237" cy="2741612"/>
          </a:xfrm>
          <a:custGeom>
            <a:avLst/>
            <a:gdLst/>
            <a:ahLst/>
            <a:cxnLst>
              <a:cxn ang="0">
                <a:pos x="0" y="0"/>
              </a:cxn>
              <a:cxn ang="0">
                <a:pos x="29" y="50"/>
              </a:cxn>
              <a:cxn ang="0">
                <a:pos x="54" y="98"/>
              </a:cxn>
              <a:cxn ang="0">
                <a:pos x="77" y="146"/>
              </a:cxn>
              <a:cxn ang="0">
                <a:pos x="94" y="194"/>
              </a:cxn>
              <a:cxn ang="0">
                <a:pos x="107" y="239"/>
              </a:cxn>
              <a:cxn ang="0">
                <a:pos x="117" y="282"/>
              </a:cxn>
              <a:cxn ang="0">
                <a:pos x="120" y="324"/>
              </a:cxn>
              <a:cxn ang="0">
                <a:pos x="120" y="362"/>
              </a:cxn>
              <a:cxn ang="0">
                <a:pos x="115" y="397"/>
              </a:cxn>
              <a:cxn ang="0">
                <a:pos x="106" y="429"/>
              </a:cxn>
              <a:cxn ang="0">
                <a:pos x="91" y="456"/>
              </a:cxn>
              <a:cxn ang="0">
                <a:pos x="74" y="482"/>
              </a:cxn>
              <a:cxn ang="0">
                <a:pos x="51" y="503"/>
              </a:cxn>
            </a:cxnLst>
            <a:rect l="0" t="0" r="r" b="b"/>
            <a:pathLst>
              <a:path w="120" h="503">
                <a:moveTo>
                  <a:pt x="0" y="0"/>
                </a:moveTo>
                <a:lnTo>
                  <a:pt x="29" y="50"/>
                </a:lnTo>
                <a:lnTo>
                  <a:pt x="54" y="98"/>
                </a:lnTo>
                <a:lnTo>
                  <a:pt x="77" y="146"/>
                </a:lnTo>
                <a:lnTo>
                  <a:pt x="94" y="194"/>
                </a:lnTo>
                <a:lnTo>
                  <a:pt x="107" y="239"/>
                </a:lnTo>
                <a:lnTo>
                  <a:pt x="117" y="282"/>
                </a:lnTo>
                <a:lnTo>
                  <a:pt x="120" y="324"/>
                </a:lnTo>
                <a:lnTo>
                  <a:pt x="120" y="362"/>
                </a:lnTo>
                <a:lnTo>
                  <a:pt x="115" y="397"/>
                </a:lnTo>
                <a:lnTo>
                  <a:pt x="106" y="429"/>
                </a:lnTo>
                <a:lnTo>
                  <a:pt x="91" y="456"/>
                </a:lnTo>
                <a:lnTo>
                  <a:pt x="74" y="482"/>
                </a:lnTo>
                <a:lnTo>
                  <a:pt x="51" y="503"/>
                </a:lnTo>
              </a:path>
            </a:pathLst>
          </a:custGeom>
          <a:noFill/>
          <a:ln w="38100" cmpd="sng">
            <a:solidFill>
              <a:srgbClr val="000000"/>
            </a:solidFill>
            <a:prstDash val="solid"/>
            <a:round/>
            <a:headEnd/>
            <a:tailEnd/>
          </a:ln>
        </p:spPr>
        <p:txBody>
          <a:bodyPr/>
          <a:lstStyle/>
          <a:p>
            <a:endParaRPr lang="en-GB"/>
          </a:p>
        </p:txBody>
      </p:sp>
      <p:sp>
        <p:nvSpPr>
          <p:cNvPr id="416780" name="Freeform 12"/>
          <p:cNvSpPr>
            <a:spLocks/>
          </p:cNvSpPr>
          <p:nvPr/>
        </p:nvSpPr>
        <p:spPr bwMode="auto">
          <a:xfrm>
            <a:off x="7697788" y="4106863"/>
            <a:ext cx="238125" cy="223837"/>
          </a:xfrm>
          <a:custGeom>
            <a:avLst/>
            <a:gdLst/>
            <a:ahLst/>
            <a:cxnLst>
              <a:cxn ang="0">
                <a:pos x="163" y="141"/>
              </a:cxn>
              <a:cxn ang="0">
                <a:pos x="0" y="115"/>
              </a:cxn>
              <a:cxn ang="0">
                <a:pos x="118" y="0"/>
              </a:cxn>
              <a:cxn ang="0">
                <a:pos x="163" y="141"/>
              </a:cxn>
            </a:cxnLst>
            <a:rect l="0" t="0" r="r" b="b"/>
            <a:pathLst>
              <a:path w="163" h="141">
                <a:moveTo>
                  <a:pt x="163" y="141"/>
                </a:moveTo>
                <a:lnTo>
                  <a:pt x="0" y="115"/>
                </a:lnTo>
                <a:lnTo>
                  <a:pt x="118" y="0"/>
                </a:lnTo>
                <a:lnTo>
                  <a:pt x="163" y="141"/>
                </a:lnTo>
                <a:close/>
              </a:path>
            </a:pathLst>
          </a:custGeom>
          <a:solidFill>
            <a:srgbClr val="000000"/>
          </a:solidFill>
          <a:ln w="9525">
            <a:noFill/>
            <a:round/>
            <a:headEnd/>
            <a:tailEnd/>
          </a:ln>
        </p:spPr>
        <p:txBody>
          <a:bodyPr/>
          <a:lstStyle/>
          <a:p>
            <a:endParaRPr lang="en-GB"/>
          </a:p>
        </p:txBody>
      </p:sp>
      <p:sp>
        <p:nvSpPr>
          <p:cNvPr id="416781" name="Freeform 13"/>
          <p:cNvSpPr>
            <a:spLocks/>
          </p:cNvSpPr>
          <p:nvPr/>
        </p:nvSpPr>
        <p:spPr bwMode="auto">
          <a:xfrm>
            <a:off x="1558925" y="1362075"/>
            <a:ext cx="2192338" cy="3544888"/>
          </a:xfrm>
          <a:custGeom>
            <a:avLst/>
            <a:gdLst/>
            <a:ahLst/>
            <a:cxnLst>
              <a:cxn ang="0">
                <a:pos x="1496" y="2233"/>
              </a:cxn>
              <a:cxn ang="0">
                <a:pos x="749" y="0"/>
              </a:cxn>
              <a:cxn ang="0">
                <a:pos x="0" y="2233"/>
              </a:cxn>
              <a:cxn ang="0">
                <a:pos x="1496" y="2233"/>
              </a:cxn>
            </a:cxnLst>
            <a:rect l="0" t="0" r="r" b="b"/>
            <a:pathLst>
              <a:path w="1496" h="2233">
                <a:moveTo>
                  <a:pt x="1496" y="2233"/>
                </a:moveTo>
                <a:lnTo>
                  <a:pt x="749" y="0"/>
                </a:lnTo>
                <a:lnTo>
                  <a:pt x="0" y="2233"/>
                </a:lnTo>
                <a:lnTo>
                  <a:pt x="1496" y="2233"/>
                </a:lnTo>
                <a:close/>
              </a:path>
            </a:pathLst>
          </a:custGeom>
          <a:solidFill>
            <a:srgbClr val="FFFF00"/>
          </a:solidFill>
          <a:ln w="3175">
            <a:solidFill>
              <a:srgbClr val="000000"/>
            </a:solidFill>
            <a:prstDash val="solid"/>
            <a:round/>
            <a:headEnd/>
            <a:tailEnd/>
          </a:ln>
        </p:spPr>
        <p:txBody>
          <a:bodyPr/>
          <a:lstStyle/>
          <a:p>
            <a:endParaRPr lang="en-GB"/>
          </a:p>
        </p:txBody>
      </p:sp>
      <p:sp>
        <p:nvSpPr>
          <p:cNvPr id="416782" name="Rectangle 14"/>
          <p:cNvSpPr>
            <a:spLocks noChangeArrowheads="1"/>
          </p:cNvSpPr>
          <p:nvPr/>
        </p:nvSpPr>
        <p:spPr bwMode="auto">
          <a:xfrm>
            <a:off x="1969833" y="3700519"/>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6783" name="Line 15"/>
          <p:cNvSpPr>
            <a:spLocks noChangeShapeType="1"/>
          </p:cNvSpPr>
          <p:nvPr/>
        </p:nvSpPr>
        <p:spPr bwMode="auto">
          <a:xfrm flipH="1" flipV="1">
            <a:off x="2708275" y="1028700"/>
            <a:ext cx="0" cy="2070100"/>
          </a:xfrm>
          <a:prstGeom prst="line">
            <a:avLst/>
          </a:prstGeom>
          <a:noFill/>
          <a:ln w="57150">
            <a:solidFill>
              <a:srgbClr val="993300"/>
            </a:solidFill>
            <a:round/>
            <a:headEnd type="none" w="sm" len="sm"/>
            <a:tailEnd type="none" w="sm" len="sm"/>
          </a:ln>
          <a:effectLst/>
        </p:spPr>
        <p:txBody>
          <a:bodyPr/>
          <a:lstStyle/>
          <a:p>
            <a:endParaRPr lang="en-GB"/>
          </a:p>
        </p:txBody>
      </p:sp>
      <p:sp>
        <p:nvSpPr>
          <p:cNvPr id="416784" name="Freeform 16"/>
          <p:cNvSpPr>
            <a:spLocks noEditPoints="1"/>
          </p:cNvSpPr>
          <p:nvPr/>
        </p:nvSpPr>
        <p:spPr bwMode="auto">
          <a:xfrm>
            <a:off x="2689225" y="950913"/>
            <a:ext cx="744538" cy="693737"/>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6785" name="Freeform 17"/>
          <p:cNvSpPr>
            <a:spLocks noEditPoints="1"/>
          </p:cNvSpPr>
          <p:nvPr/>
        </p:nvSpPr>
        <p:spPr bwMode="auto">
          <a:xfrm>
            <a:off x="6710363" y="849313"/>
            <a:ext cx="744537" cy="693737"/>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6786" name="Rectangle 18"/>
          <p:cNvSpPr>
            <a:spLocks noChangeArrowheads="1"/>
          </p:cNvSpPr>
          <p:nvPr/>
        </p:nvSpPr>
        <p:spPr bwMode="auto">
          <a:xfrm>
            <a:off x="3059113" y="1244600"/>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6787" name="Rectangle 19"/>
          <p:cNvSpPr>
            <a:spLocks noChangeArrowheads="1"/>
          </p:cNvSpPr>
          <p:nvPr/>
        </p:nvSpPr>
        <p:spPr bwMode="auto">
          <a:xfrm>
            <a:off x="6975475" y="1155700"/>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6788" name="Line 20"/>
          <p:cNvSpPr>
            <a:spLocks noChangeShapeType="1"/>
          </p:cNvSpPr>
          <p:nvPr/>
        </p:nvSpPr>
        <p:spPr bwMode="auto">
          <a:xfrm flipH="1" flipV="1">
            <a:off x="6753225" y="838200"/>
            <a:ext cx="0" cy="2273300"/>
          </a:xfrm>
          <a:prstGeom prst="line">
            <a:avLst/>
          </a:prstGeom>
          <a:noFill/>
          <a:ln w="57150">
            <a:solidFill>
              <a:srgbClr val="993300"/>
            </a:solidFill>
            <a:round/>
            <a:headEnd type="none" w="sm" len="sm"/>
            <a:tailEnd type="none" w="sm" len="sm"/>
          </a:ln>
          <a:effectLst/>
        </p:spPr>
        <p:txBody>
          <a:bodyPr/>
          <a:lstStyle/>
          <a:p>
            <a:endParaRPr lang="en-GB"/>
          </a:p>
        </p:txBody>
      </p:sp>
      <p:sp>
        <p:nvSpPr>
          <p:cNvPr id="416789" name="Text Box 21"/>
          <p:cNvSpPr txBox="1">
            <a:spLocks noChangeArrowheads="1"/>
          </p:cNvSpPr>
          <p:nvPr/>
        </p:nvSpPr>
        <p:spPr bwMode="auto">
          <a:xfrm>
            <a:off x="1685438" y="4491213"/>
            <a:ext cx="184626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a:t>Cheque Account</a:t>
            </a:r>
          </a:p>
        </p:txBody>
      </p:sp>
      <p:sp>
        <p:nvSpPr>
          <p:cNvPr id="416790" name="Text Box 22"/>
          <p:cNvSpPr txBox="1">
            <a:spLocks noChangeArrowheads="1"/>
          </p:cNvSpPr>
          <p:nvPr/>
        </p:nvSpPr>
        <p:spPr bwMode="auto">
          <a:xfrm>
            <a:off x="5778013" y="4494213"/>
            <a:ext cx="184626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a:t>Deposit Account</a:t>
            </a:r>
          </a:p>
        </p:txBody>
      </p:sp>
      <p:sp>
        <p:nvSpPr>
          <p:cNvPr id="416791" name="Freeform 23"/>
          <p:cNvSpPr>
            <a:spLocks/>
          </p:cNvSpPr>
          <p:nvPr/>
        </p:nvSpPr>
        <p:spPr bwMode="auto">
          <a:xfrm>
            <a:off x="3387725" y="1536700"/>
            <a:ext cx="493713" cy="2019300"/>
          </a:xfrm>
          <a:custGeom>
            <a:avLst/>
            <a:gdLst/>
            <a:ahLst/>
            <a:cxnLst>
              <a:cxn ang="0">
                <a:pos x="104" y="0"/>
              </a:cxn>
              <a:cxn ang="0">
                <a:pos x="320" y="552"/>
              </a:cxn>
              <a:cxn ang="0">
                <a:pos x="0" y="1272"/>
              </a:cxn>
            </a:cxnLst>
            <a:rect l="0" t="0" r="r" b="b"/>
            <a:pathLst>
              <a:path w="337" h="1272">
                <a:moveTo>
                  <a:pt x="104" y="0"/>
                </a:moveTo>
                <a:cubicBezTo>
                  <a:pt x="220" y="170"/>
                  <a:pt x="337" y="340"/>
                  <a:pt x="320" y="552"/>
                </a:cubicBezTo>
                <a:cubicBezTo>
                  <a:pt x="303" y="764"/>
                  <a:pt x="151" y="1018"/>
                  <a:pt x="0" y="1272"/>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6792" name="Text Box 24"/>
          <p:cNvSpPr txBox="1">
            <a:spLocks noChangeArrowheads="1"/>
          </p:cNvSpPr>
          <p:nvPr/>
        </p:nvSpPr>
        <p:spPr bwMode="auto">
          <a:xfrm>
            <a:off x="223838" y="5256213"/>
            <a:ext cx="5695950" cy="641350"/>
          </a:xfrm>
          <a:prstGeom prst="rect">
            <a:avLst/>
          </a:prstGeom>
          <a:noFill/>
          <a:ln w="12700">
            <a:noFill/>
            <a:miter lim="800000"/>
            <a:headEnd type="none" w="sm" len="sm"/>
            <a:tailEnd type="none" w="sm" len="sm"/>
          </a:ln>
          <a:effectLst/>
        </p:spPr>
        <p:txBody>
          <a:bodyPr wrap="none">
            <a:spAutoFit/>
          </a:bodyPr>
          <a:lstStyle/>
          <a:p>
            <a:pPr algn="r" defTabSz="739775">
              <a:spcBef>
                <a:spcPct val="0"/>
              </a:spcBef>
            </a:pPr>
            <a:r>
              <a:rPr lang="en-GB" sz="1800"/>
              <a:t>Interface is commonality of signature</a:t>
            </a:r>
          </a:p>
          <a:p>
            <a:pPr algn="r" defTabSz="739775">
              <a:spcBef>
                <a:spcPct val="0"/>
              </a:spcBef>
            </a:pPr>
            <a:r>
              <a:rPr lang="en-GB" sz="1800"/>
              <a:t>Inheritance is commonality of signature and substance</a:t>
            </a:r>
          </a:p>
        </p:txBody>
      </p:sp>
      <p:sp>
        <p:nvSpPr>
          <p:cNvPr id="416793" name="Freeform 25"/>
          <p:cNvSpPr>
            <a:spLocks/>
          </p:cNvSpPr>
          <p:nvPr/>
        </p:nvSpPr>
        <p:spPr bwMode="auto">
          <a:xfrm>
            <a:off x="2106613" y="1298575"/>
            <a:ext cx="1109662" cy="1835150"/>
          </a:xfrm>
          <a:custGeom>
            <a:avLst/>
            <a:gdLst/>
            <a:ahLst/>
            <a:cxnLst>
              <a:cxn ang="0">
                <a:pos x="749" y="1116"/>
              </a:cxn>
              <a:cxn ang="0">
                <a:pos x="375" y="0"/>
              </a:cxn>
              <a:cxn ang="0">
                <a:pos x="0" y="1116"/>
              </a:cxn>
              <a:cxn ang="0">
                <a:pos x="749" y="1116"/>
              </a:cxn>
            </a:cxnLst>
            <a:rect l="0" t="0" r="r" b="b"/>
            <a:pathLst>
              <a:path w="749" h="1116">
                <a:moveTo>
                  <a:pt x="749" y="1116"/>
                </a:moveTo>
                <a:lnTo>
                  <a:pt x="375" y="0"/>
                </a:lnTo>
                <a:lnTo>
                  <a:pt x="0" y="1116"/>
                </a:lnTo>
                <a:lnTo>
                  <a:pt x="749" y="1116"/>
                </a:lnTo>
                <a:close/>
              </a:path>
            </a:pathLst>
          </a:custGeom>
          <a:solidFill>
            <a:srgbClr val="00FFFF"/>
          </a:solidFill>
          <a:ln w="3175">
            <a:noFill/>
            <a:prstDash val="solid"/>
            <a:round/>
            <a:headEnd/>
            <a:tailEnd/>
          </a:ln>
        </p:spPr>
        <p:txBody>
          <a:bodyPr/>
          <a:lstStyle/>
          <a:p>
            <a:endParaRPr lang="en-GB"/>
          </a:p>
        </p:txBody>
      </p:sp>
      <p:sp>
        <p:nvSpPr>
          <p:cNvPr id="416794" name="Freeform 26"/>
          <p:cNvSpPr>
            <a:spLocks/>
          </p:cNvSpPr>
          <p:nvPr/>
        </p:nvSpPr>
        <p:spPr bwMode="auto">
          <a:xfrm>
            <a:off x="6175375" y="1311275"/>
            <a:ext cx="1144588" cy="1835150"/>
          </a:xfrm>
          <a:custGeom>
            <a:avLst/>
            <a:gdLst/>
            <a:ahLst/>
            <a:cxnLst>
              <a:cxn ang="0">
                <a:pos x="749" y="1116"/>
              </a:cxn>
              <a:cxn ang="0">
                <a:pos x="375" y="0"/>
              </a:cxn>
              <a:cxn ang="0">
                <a:pos x="0" y="1116"/>
              </a:cxn>
              <a:cxn ang="0">
                <a:pos x="749" y="1116"/>
              </a:cxn>
            </a:cxnLst>
            <a:rect l="0" t="0" r="r" b="b"/>
            <a:pathLst>
              <a:path w="749" h="1116">
                <a:moveTo>
                  <a:pt x="749" y="1116"/>
                </a:moveTo>
                <a:lnTo>
                  <a:pt x="375" y="0"/>
                </a:lnTo>
                <a:lnTo>
                  <a:pt x="0" y="1116"/>
                </a:lnTo>
                <a:lnTo>
                  <a:pt x="749" y="1116"/>
                </a:lnTo>
                <a:close/>
              </a:path>
            </a:pathLst>
          </a:custGeom>
          <a:solidFill>
            <a:srgbClr val="00FFFF"/>
          </a:solidFill>
          <a:ln w="3175">
            <a:noFill/>
            <a:prstDash val="solid"/>
            <a:round/>
            <a:headEnd/>
            <a:tailEnd/>
          </a:ln>
        </p:spPr>
        <p:txBody>
          <a:bodyPr/>
          <a:lstStyle/>
          <a:p>
            <a:endParaRPr lang="en-GB"/>
          </a:p>
        </p:txBody>
      </p:sp>
      <p:sp>
        <p:nvSpPr>
          <p:cNvPr id="416795" name="Freeform 27"/>
          <p:cNvSpPr>
            <a:spLocks/>
          </p:cNvSpPr>
          <p:nvPr/>
        </p:nvSpPr>
        <p:spPr bwMode="auto">
          <a:xfrm>
            <a:off x="481013" y="3022600"/>
            <a:ext cx="4138612" cy="266700"/>
          </a:xfrm>
          <a:custGeom>
            <a:avLst/>
            <a:gdLst/>
            <a:ahLst/>
            <a:cxnLst>
              <a:cxn ang="0">
                <a:pos x="0" y="88"/>
              </a:cxn>
              <a:cxn ang="0">
                <a:pos x="120" y="16"/>
              </a:cxn>
              <a:cxn ang="0">
                <a:pos x="176" y="24"/>
              </a:cxn>
              <a:cxn ang="0">
                <a:pos x="192" y="48"/>
              </a:cxn>
              <a:cxn ang="0">
                <a:pos x="248" y="104"/>
              </a:cxn>
              <a:cxn ang="0">
                <a:pos x="360" y="136"/>
              </a:cxn>
              <a:cxn ang="0">
                <a:pos x="416" y="128"/>
              </a:cxn>
              <a:cxn ang="0">
                <a:pos x="448" y="104"/>
              </a:cxn>
              <a:cxn ang="0">
                <a:pos x="472" y="96"/>
              </a:cxn>
              <a:cxn ang="0">
                <a:pos x="576" y="0"/>
              </a:cxn>
              <a:cxn ang="0">
                <a:pos x="688" y="104"/>
              </a:cxn>
              <a:cxn ang="0">
                <a:pos x="872" y="168"/>
              </a:cxn>
              <a:cxn ang="0">
                <a:pos x="920" y="160"/>
              </a:cxn>
              <a:cxn ang="0">
                <a:pos x="952" y="136"/>
              </a:cxn>
              <a:cxn ang="0">
                <a:pos x="976" y="128"/>
              </a:cxn>
              <a:cxn ang="0">
                <a:pos x="1096" y="16"/>
              </a:cxn>
              <a:cxn ang="0">
                <a:pos x="1264" y="144"/>
              </a:cxn>
              <a:cxn ang="0">
                <a:pos x="1464" y="40"/>
              </a:cxn>
              <a:cxn ang="0">
                <a:pos x="1672" y="128"/>
              </a:cxn>
              <a:cxn ang="0">
                <a:pos x="1728" y="120"/>
              </a:cxn>
              <a:cxn ang="0">
                <a:pos x="1760" y="72"/>
              </a:cxn>
              <a:cxn ang="0">
                <a:pos x="1784" y="48"/>
              </a:cxn>
              <a:cxn ang="0">
                <a:pos x="1816" y="0"/>
              </a:cxn>
              <a:cxn ang="0">
                <a:pos x="1960" y="32"/>
              </a:cxn>
              <a:cxn ang="0">
                <a:pos x="2048" y="104"/>
              </a:cxn>
              <a:cxn ang="0">
                <a:pos x="2144" y="32"/>
              </a:cxn>
              <a:cxn ang="0">
                <a:pos x="2192" y="16"/>
              </a:cxn>
              <a:cxn ang="0">
                <a:pos x="2280" y="72"/>
              </a:cxn>
              <a:cxn ang="0">
                <a:pos x="2304" y="96"/>
              </a:cxn>
              <a:cxn ang="0">
                <a:pos x="2328" y="120"/>
              </a:cxn>
              <a:cxn ang="0">
                <a:pos x="2368" y="112"/>
              </a:cxn>
              <a:cxn ang="0">
                <a:pos x="2384" y="88"/>
              </a:cxn>
              <a:cxn ang="0">
                <a:pos x="2456" y="32"/>
              </a:cxn>
              <a:cxn ang="0">
                <a:pos x="2560" y="8"/>
              </a:cxn>
              <a:cxn ang="0">
                <a:pos x="2640" y="40"/>
              </a:cxn>
              <a:cxn ang="0">
                <a:pos x="2664" y="88"/>
              </a:cxn>
              <a:cxn ang="0">
                <a:pos x="2712" y="112"/>
              </a:cxn>
              <a:cxn ang="0">
                <a:pos x="2776" y="104"/>
              </a:cxn>
              <a:cxn ang="0">
                <a:pos x="2824" y="8"/>
              </a:cxn>
            </a:cxnLst>
            <a:rect l="0" t="0" r="r" b="b"/>
            <a:pathLst>
              <a:path w="2824" h="168">
                <a:moveTo>
                  <a:pt x="0" y="88"/>
                </a:moveTo>
                <a:cubicBezTo>
                  <a:pt x="33" y="39"/>
                  <a:pt x="69" y="33"/>
                  <a:pt x="120" y="16"/>
                </a:cubicBezTo>
                <a:cubicBezTo>
                  <a:pt x="139" y="19"/>
                  <a:pt x="159" y="16"/>
                  <a:pt x="176" y="24"/>
                </a:cubicBezTo>
                <a:cubicBezTo>
                  <a:pt x="185" y="28"/>
                  <a:pt x="186" y="41"/>
                  <a:pt x="192" y="48"/>
                </a:cubicBezTo>
                <a:cubicBezTo>
                  <a:pt x="210" y="68"/>
                  <a:pt x="224" y="92"/>
                  <a:pt x="248" y="104"/>
                </a:cubicBezTo>
                <a:cubicBezTo>
                  <a:pt x="285" y="122"/>
                  <a:pt x="321" y="126"/>
                  <a:pt x="360" y="136"/>
                </a:cubicBezTo>
                <a:cubicBezTo>
                  <a:pt x="379" y="133"/>
                  <a:pt x="398" y="134"/>
                  <a:pt x="416" y="128"/>
                </a:cubicBezTo>
                <a:cubicBezTo>
                  <a:pt x="429" y="123"/>
                  <a:pt x="436" y="111"/>
                  <a:pt x="448" y="104"/>
                </a:cubicBezTo>
                <a:cubicBezTo>
                  <a:pt x="455" y="100"/>
                  <a:pt x="464" y="99"/>
                  <a:pt x="472" y="96"/>
                </a:cubicBezTo>
                <a:cubicBezTo>
                  <a:pt x="511" y="67"/>
                  <a:pt x="537" y="26"/>
                  <a:pt x="576" y="0"/>
                </a:cubicBezTo>
                <a:cubicBezTo>
                  <a:pt x="617" y="31"/>
                  <a:pt x="652" y="68"/>
                  <a:pt x="688" y="104"/>
                </a:cubicBezTo>
                <a:cubicBezTo>
                  <a:pt x="727" y="143"/>
                  <a:pt x="819" y="150"/>
                  <a:pt x="872" y="168"/>
                </a:cubicBezTo>
                <a:cubicBezTo>
                  <a:pt x="888" y="165"/>
                  <a:pt x="905" y="166"/>
                  <a:pt x="920" y="160"/>
                </a:cubicBezTo>
                <a:cubicBezTo>
                  <a:pt x="932" y="155"/>
                  <a:pt x="940" y="143"/>
                  <a:pt x="952" y="136"/>
                </a:cubicBezTo>
                <a:cubicBezTo>
                  <a:pt x="959" y="132"/>
                  <a:pt x="968" y="131"/>
                  <a:pt x="976" y="128"/>
                </a:cubicBezTo>
                <a:cubicBezTo>
                  <a:pt x="1015" y="89"/>
                  <a:pt x="1042" y="34"/>
                  <a:pt x="1096" y="16"/>
                </a:cubicBezTo>
                <a:cubicBezTo>
                  <a:pt x="1140" y="82"/>
                  <a:pt x="1186" y="124"/>
                  <a:pt x="1264" y="144"/>
                </a:cubicBezTo>
                <a:cubicBezTo>
                  <a:pt x="1351" y="127"/>
                  <a:pt x="1382" y="61"/>
                  <a:pt x="1464" y="40"/>
                </a:cubicBezTo>
                <a:cubicBezTo>
                  <a:pt x="1717" y="63"/>
                  <a:pt x="1596" y="14"/>
                  <a:pt x="1672" y="128"/>
                </a:cubicBezTo>
                <a:cubicBezTo>
                  <a:pt x="1691" y="125"/>
                  <a:pt x="1710" y="125"/>
                  <a:pt x="1728" y="120"/>
                </a:cubicBezTo>
                <a:cubicBezTo>
                  <a:pt x="1767" y="108"/>
                  <a:pt x="1743" y="101"/>
                  <a:pt x="1760" y="72"/>
                </a:cubicBezTo>
                <a:cubicBezTo>
                  <a:pt x="1766" y="62"/>
                  <a:pt x="1777" y="57"/>
                  <a:pt x="1784" y="48"/>
                </a:cubicBezTo>
                <a:cubicBezTo>
                  <a:pt x="1796" y="33"/>
                  <a:pt x="1816" y="0"/>
                  <a:pt x="1816" y="0"/>
                </a:cubicBezTo>
                <a:cubicBezTo>
                  <a:pt x="1939" y="26"/>
                  <a:pt x="1891" y="15"/>
                  <a:pt x="1960" y="32"/>
                </a:cubicBezTo>
                <a:cubicBezTo>
                  <a:pt x="1973" y="82"/>
                  <a:pt x="2001" y="88"/>
                  <a:pt x="2048" y="104"/>
                </a:cubicBezTo>
                <a:cubicBezTo>
                  <a:pt x="2103" y="90"/>
                  <a:pt x="2094" y="59"/>
                  <a:pt x="2144" y="32"/>
                </a:cubicBezTo>
                <a:cubicBezTo>
                  <a:pt x="2159" y="24"/>
                  <a:pt x="2192" y="16"/>
                  <a:pt x="2192" y="16"/>
                </a:cubicBezTo>
                <a:cubicBezTo>
                  <a:pt x="2254" y="28"/>
                  <a:pt x="2222" y="14"/>
                  <a:pt x="2280" y="72"/>
                </a:cubicBezTo>
                <a:cubicBezTo>
                  <a:pt x="2288" y="80"/>
                  <a:pt x="2296" y="88"/>
                  <a:pt x="2304" y="96"/>
                </a:cubicBezTo>
                <a:cubicBezTo>
                  <a:pt x="2312" y="104"/>
                  <a:pt x="2328" y="120"/>
                  <a:pt x="2328" y="120"/>
                </a:cubicBezTo>
                <a:cubicBezTo>
                  <a:pt x="2341" y="117"/>
                  <a:pt x="2356" y="119"/>
                  <a:pt x="2368" y="112"/>
                </a:cubicBezTo>
                <a:cubicBezTo>
                  <a:pt x="2376" y="107"/>
                  <a:pt x="2378" y="95"/>
                  <a:pt x="2384" y="88"/>
                </a:cubicBezTo>
                <a:cubicBezTo>
                  <a:pt x="2398" y="71"/>
                  <a:pt x="2439" y="35"/>
                  <a:pt x="2456" y="32"/>
                </a:cubicBezTo>
                <a:cubicBezTo>
                  <a:pt x="2493" y="26"/>
                  <a:pt x="2524" y="17"/>
                  <a:pt x="2560" y="8"/>
                </a:cubicBezTo>
                <a:cubicBezTo>
                  <a:pt x="2587" y="16"/>
                  <a:pt x="2619" y="19"/>
                  <a:pt x="2640" y="40"/>
                </a:cubicBezTo>
                <a:cubicBezTo>
                  <a:pt x="2707" y="107"/>
                  <a:pt x="2612" y="23"/>
                  <a:pt x="2664" y="88"/>
                </a:cubicBezTo>
                <a:cubicBezTo>
                  <a:pt x="2675" y="102"/>
                  <a:pt x="2696" y="107"/>
                  <a:pt x="2712" y="112"/>
                </a:cubicBezTo>
                <a:cubicBezTo>
                  <a:pt x="2733" y="109"/>
                  <a:pt x="2756" y="112"/>
                  <a:pt x="2776" y="104"/>
                </a:cubicBezTo>
                <a:cubicBezTo>
                  <a:pt x="2793" y="97"/>
                  <a:pt x="2814" y="27"/>
                  <a:pt x="2824" y="8"/>
                </a:cubicBezTo>
              </a:path>
            </a:pathLst>
          </a:custGeom>
          <a:noFill/>
          <a:ln w="25400" cap="flat" cmpd="sng">
            <a:solidFill>
              <a:srgbClr val="0000FF"/>
            </a:solidFill>
            <a:prstDash val="solid"/>
            <a:round/>
            <a:headEnd type="none" w="sm" len="sm"/>
            <a:tailEnd type="none" w="sm" len="sm"/>
          </a:ln>
          <a:effectLst/>
        </p:spPr>
        <p:txBody>
          <a:bodyPr/>
          <a:lstStyle/>
          <a:p>
            <a:endParaRPr lang="en-GB"/>
          </a:p>
        </p:txBody>
      </p:sp>
      <p:sp>
        <p:nvSpPr>
          <p:cNvPr id="416796" name="Freeform 28"/>
          <p:cNvSpPr>
            <a:spLocks/>
          </p:cNvSpPr>
          <p:nvPr/>
        </p:nvSpPr>
        <p:spPr bwMode="auto">
          <a:xfrm>
            <a:off x="4572000" y="2984500"/>
            <a:ext cx="4138613" cy="266700"/>
          </a:xfrm>
          <a:custGeom>
            <a:avLst/>
            <a:gdLst/>
            <a:ahLst/>
            <a:cxnLst>
              <a:cxn ang="0">
                <a:pos x="0" y="88"/>
              </a:cxn>
              <a:cxn ang="0">
                <a:pos x="120" y="16"/>
              </a:cxn>
              <a:cxn ang="0">
                <a:pos x="176" y="24"/>
              </a:cxn>
              <a:cxn ang="0">
                <a:pos x="192" y="48"/>
              </a:cxn>
              <a:cxn ang="0">
                <a:pos x="248" y="104"/>
              </a:cxn>
              <a:cxn ang="0">
                <a:pos x="360" y="136"/>
              </a:cxn>
              <a:cxn ang="0">
                <a:pos x="416" y="128"/>
              </a:cxn>
              <a:cxn ang="0">
                <a:pos x="448" y="104"/>
              </a:cxn>
              <a:cxn ang="0">
                <a:pos x="472" y="96"/>
              </a:cxn>
              <a:cxn ang="0">
                <a:pos x="576" y="0"/>
              </a:cxn>
              <a:cxn ang="0">
                <a:pos x="688" y="104"/>
              </a:cxn>
              <a:cxn ang="0">
                <a:pos x="872" y="168"/>
              </a:cxn>
              <a:cxn ang="0">
                <a:pos x="920" y="160"/>
              </a:cxn>
              <a:cxn ang="0">
                <a:pos x="952" y="136"/>
              </a:cxn>
              <a:cxn ang="0">
                <a:pos x="976" y="128"/>
              </a:cxn>
              <a:cxn ang="0">
                <a:pos x="1096" y="16"/>
              </a:cxn>
              <a:cxn ang="0">
                <a:pos x="1264" y="144"/>
              </a:cxn>
              <a:cxn ang="0">
                <a:pos x="1464" y="40"/>
              </a:cxn>
              <a:cxn ang="0">
                <a:pos x="1672" y="128"/>
              </a:cxn>
              <a:cxn ang="0">
                <a:pos x="1728" y="120"/>
              </a:cxn>
              <a:cxn ang="0">
                <a:pos x="1760" y="72"/>
              </a:cxn>
              <a:cxn ang="0">
                <a:pos x="1784" y="48"/>
              </a:cxn>
              <a:cxn ang="0">
                <a:pos x="1816" y="0"/>
              </a:cxn>
              <a:cxn ang="0">
                <a:pos x="1960" y="32"/>
              </a:cxn>
              <a:cxn ang="0">
                <a:pos x="2048" y="104"/>
              </a:cxn>
              <a:cxn ang="0">
                <a:pos x="2144" y="32"/>
              </a:cxn>
              <a:cxn ang="0">
                <a:pos x="2192" y="16"/>
              </a:cxn>
              <a:cxn ang="0">
                <a:pos x="2280" y="72"/>
              </a:cxn>
              <a:cxn ang="0">
                <a:pos x="2304" y="96"/>
              </a:cxn>
              <a:cxn ang="0">
                <a:pos x="2328" y="120"/>
              </a:cxn>
              <a:cxn ang="0">
                <a:pos x="2368" y="112"/>
              </a:cxn>
              <a:cxn ang="0">
                <a:pos x="2384" y="88"/>
              </a:cxn>
              <a:cxn ang="0">
                <a:pos x="2456" y="32"/>
              </a:cxn>
              <a:cxn ang="0">
                <a:pos x="2560" y="8"/>
              </a:cxn>
              <a:cxn ang="0">
                <a:pos x="2640" y="40"/>
              </a:cxn>
              <a:cxn ang="0">
                <a:pos x="2664" y="88"/>
              </a:cxn>
              <a:cxn ang="0">
                <a:pos x="2712" y="112"/>
              </a:cxn>
              <a:cxn ang="0">
                <a:pos x="2776" y="104"/>
              </a:cxn>
              <a:cxn ang="0">
                <a:pos x="2824" y="8"/>
              </a:cxn>
            </a:cxnLst>
            <a:rect l="0" t="0" r="r" b="b"/>
            <a:pathLst>
              <a:path w="2824" h="168">
                <a:moveTo>
                  <a:pt x="0" y="88"/>
                </a:moveTo>
                <a:cubicBezTo>
                  <a:pt x="33" y="39"/>
                  <a:pt x="69" y="33"/>
                  <a:pt x="120" y="16"/>
                </a:cubicBezTo>
                <a:cubicBezTo>
                  <a:pt x="139" y="19"/>
                  <a:pt x="159" y="16"/>
                  <a:pt x="176" y="24"/>
                </a:cubicBezTo>
                <a:cubicBezTo>
                  <a:pt x="185" y="28"/>
                  <a:pt x="186" y="41"/>
                  <a:pt x="192" y="48"/>
                </a:cubicBezTo>
                <a:cubicBezTo>
                  <a:pt x="210" y="68"/>
                  <a:pt x="224" y="92"/>
                  <a:pt x="248" y="104"/>
                </a:cubicBezTo>
                <a:cubicBezTo>
                  <a:pt x="285" y="122"/>
                  <a:pt x="321" y="126"/>
                  <a:pt x="360" y="136"/>
                </a:cubicBezTo>
                <a:cubicBezTo>
                  <a:pt x="379" y="133"/>
                  <a:pt x="398" y="134"/>
                  <a:pt x="416" y="128"/>
                </a:cubicBezTo>
                <a:cubicBezTo>
                  <a:pt x="429" y="123"/>
                  <a:pt x="436" y="111"/>
                  <a:pt x="448" y="104"/>
                </a:cubicBezTo>
                <a:cubicBezTo>
                  <a:pt x="455" y="100"/>
                  <a:pt x="464" y="99"/>
                  <a:pt x="472" y="96"/>
                </a:cubicBezTo>
                <a:cubicBezTo>
                  <a:pt x="511" y="67"/>
                  <a:pt x="537" y="26"/>
                  <a:pt x="576" y="0"/>
                </a:cubicBezTo>
                <a:cubicBezTo>
                  <a:pt x="617" y="31"/>
                  <a:pt x="652" y="68"/>
                  <a:pt x="688" y="104"/>
                </a:cubicBezTo>
                <a:cubicBezTo>
                  <a:pt x="727" y="143"/>
                  <a:pt x="819" y="150"/>
                  <a:pt x="872" y="168"/>
                </a:cubicBezTo>
                <a:cubicBezTo>
                  <a:pt x="888" y="165"/>
                  <a:pt x="905" y="166"/>
                  <a:pt x="920" y="160"/>
                </a:cubicBezTo>
                <a:cubicBezTo>
                  <a:pt x="932" y="155"/>
                  <a:pt x="940" y="143"/>
                  <a:pt x="952" y="136"/>
                </a:cubicBezTo>
                <a:cubicBezTo>
                  <a:pt x="959" y="132"/>
                  <a:pt x="968" y="131"/>
                  <a:pt x="976" y="128"/>
                </a:cubicBezTo>
                <a:cubicBezTo>
                  <a:pt x="1015" y="89"/>
                  <a:pt x="1042" y="34"/>
                  <a:pt x="1096" y="16"/>
                </a:cubicBezTo>
                <a:cubicBezTo>
                  <a:pt x="1140" y="82"/>
                  <a:pt x="1186" y="124"/>
                  <a:pt x="1264" y="144"/>
                </a:cubicBezTo>
                <a:cubicBezTo>
                  <a:pt x="1351" y="127"/>
                  <a:pt x="1382" y="61"/>
                  <a:pt x="1464" y="40"/>
                </a:cubicBezTo>
                <a:cubicBezTo>
                  <a:pt x="1717" y="63"/>
                  <a:pt x="1596" y="14"/>
                  <a:pt x="1672" y="128"/>
                </a:cubicBezTo>
                <a:cubicBezTo>
                  <a:pt x="1691" y="125"/>
                  <a:pt x="1710" y="125"/>
                  <a:pt x="1728" y="120"/>
                </a:cubicBezTo>
                <a:cubicBezTo>
                  <a:pt x="1767" y="108"/>
                  <a:pt x="1743" y="101"/>
                  <a:pt x="1760" y="72"/>
                </a:cubicBezTo>
                <a:cubicBezTo>
                  <a:pt x="1766" y="62"/>
                  <a:pt x="1777" y="57"/>
                  <a:pt x="1784" y="48"/>
                </a:cubicBezTo>
                <a:cubicBezTo>
                  <a:pt x="1796" y="33"/>
                  <a:pt x="1816" y="0"/>
                  <a:pt x="1816" y="0"/>
                </a:cubicBezTo>
                <a:cubicBezTo>
                  <a:pt x="1939" y="26"/>
                  <a:pt x="1891" y="15"/>
                  <a:pt x="1960" y="32"/>
                </a:cubicBezTo>
                <a:cubicBezTo>
                  <a:pt x="1973" y="82"/>
                  <a:pt x="2001" y="88"/>
                  <a:pt x="2048" y="104"/>
                </a:cubicBezTo>
                <a:cubicBezTo>
                  <a:pt x="2103" y="90"/>
                  <a:pt x="2094" y="59"/>
                  <a:pt x="2144" y="32"/>
                </a:cubicBezTo>
                <a:cubicBezTo>
                  <a:pt x="2159" y="24"/>
                  <a:pt x="2192" y="16"/>
                  <a:pt x="2192" y="16"/>
                </a:cubicBezTo>
                <a:cubicBezTo>
                  <a:pt x="2254" y="28"/>
                  <a:pt x="2222" y="14"/>
                  <a:pt x="2280" y="72"/>
                </a:cubicBezTo>
                <a:cubicBezTo>
                  <a:pt x="2288" y="80"/>
                  <a:pt x="2296" y="88"/>
                  <a:pt x="2304" y="96"/>
                </a:cubicBezTo>
                <a:cubicBezTo>
                  <a:pt x="2312" y="104"/>
                  <a:pt x="2328" y="120"/>
                  <a:pt x="2328" y="120"/>
                </a:cubicBezTo>
                <a:cubicBezTo>
                  <a:pt x="2341" y="117"/>
                  <a:pt x="2356" y="119"/>
                  <a:pt x="2368" y="112"/>
                </a:cubicBezTo>
                <a:cubicBezTo>
                  <a:pt x="2376" y="107"/>
                  <a:pt x="2378" y="95"/>
                  <a:pt x="2384" y="88"/>
                </a:cubicBezTo>
                <a:cubicBezTo>
                  <a:pt x="2398" y="71"/>
                  <a:pt x="2439" y="35"/>
                  <a:pt x="2456" y="32"/>
                </a:cubicBezTo>
                <a:cubicBezTo>
                  <a:pt x="2493" y="26"/>
                  <a:pt x="2524" y="17"/>
                  <a:pt x="2560" y="8"/>
                </a:cubicBezTo>
                <a:cubicBezTo>
                  <a:pt x="2587" y="16"/>
                  <a:pt x="2619" y="19"/>
                  <a:pt x="2640" y="40"/>
                </a:cubicBezTo>
                <a:cubicBezTo>
                  <a:pt x="2707" y="107"/>
                  <a:pt x="2612" y="23"/>
                  <a:pt x="2664" y="88"/>
                </a:cubicBezTo>
                <a:cubicBezTo>
                  <a:pt x="2675" y="102"/>
                  <a:pt x="2696" y="107"/>
                  <a:pt x="2712" y="112"/>
                </a:cubicBezTo>
                <a:cubicBezTo>
                  <a:pt x="2733" y="109"/>
                  <a:pt x="2756" y="112"/>
                  <a:pt x="2776" y="104"/>
                </a:cubicBezTo>
                <a:cubicBezTo>
                  <a:pt x="2793" y="97"/>
                  <a:pt x="2814" y="27"/>
                  <a:pt x="2824" y="8"/>
                </a:cubicBezTo>
              </a:path>
            </a:pathLst>
          </a:custGeom>
          <a:noFill/>
          <a:ln w="25400" cap="flat" cmpd="sng">
            <a:solidFill>
              <a:srgbClr val="0000FF"/>
            </a:solidFill>
            <a:prstDash val="solid"/>
            <a:round/>
            <a:headEnd type="none" w="sm" len="sm"/>
            <a:tailEnd type="none" w="sm" len="sm"/>
          </a:ln>
          <a:effectLst/>
        </p:spPr>
        <p:txBody>
          <a:bodyPr/>
          <a:lstStyle/>
          <a:p>
            <a:endParaRPr lang="en-GB"/>
          </a:p>
        </p:txBody>
      </p:sp>
      <p:grpSp>
        <p:nvGrpSpPr>
          <p:cNvPr id="2" name="Group 29"/>
          <p:cNvGrpSpPr>
            <a:grpSpLocks/>
          </p:cNvGrpSpPr>
          <p:nvPr/>
        </p:nvGrpSpPr>
        <p:grpSpPr bwMode="auto">
          <a:xfrm>
            <a:off x="6694488" y="2133600"/>
            <a:ext cx="315912" cy="368300"/>
            <a:chOff x="3616" y="1016"/>
            <a:chExt cx="216" cy="232"/>
          </a:xfrm>
        </p:grpSpPr>
        <p:sp>
          <p:nvSpPr>
            <p:cNvPr id="416798" name="Line 30"/>
            <p:cNvSpPr>
              <a:spLocks noChangeShapeType="1"/>
            </p:cNvSpPr>
            <p:nvPr/>
          </p:nvSpPr>
          <p:spPr bwMode="auto">
            <a:xfrm>
              <a:off x="3616" y="1016"/>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799" name="Line 31"/>
            <p:cNvSpPr>
              <a:spLocks noChangeShapeType="1"/>
            </p:cNvSpPr>
            <p:nvPr/>
          </p:nvSpPr>
          <p:spPr bwMode="auto">
            <a:xfrm>
              <a:off x="3616" y="1064"/>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0" name="Line 32"/>
            <p:cNvSpPr>
              <a:spLocks noChangeShapeType="1"/>
            </p:cNvSpPr>
            <p:nvPr/>
          </p:nvSpPr>
          <p:spPr bwMode="auto">
            <a:xfrm>
              <a:off x="3616" y="111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1" name="Line 33"/>
            <p:cNvSpPr>
              <a:spLocks noChangeShapeType="1"/>
            </p:cNvSpPr>
            <p:nvPr/>
          </p:nvSpPr>
          <p:spPr bwMode="auto">
            <a:xfrm>
              <a:off x="3616" y="115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2" name="Line 34"/>
            <p:cNvSpPr>
              <a:spLocks noChangeShapeType="1"/>
            </p:cNvSpPr>
            <p:nvPr/>
          </p:nvSpPr>
          <p:spPr bwMode="auto">
            <a:xfrm>
              <a:off x="3624" y="1200"/>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3" name="Line 35"/>
            <p:cNvSpPr>
              <a:spLocks noChangeShapeType="1"/>
            </p:cNvSpPr>
            <p:nvPr/>
          </p:nvSpPr>
          <p:spPr bwMode="auto">
            <a:xfrm>
              <a:off x="3624" y="1248"/>
              <a:ext cx="208" cy="0"/>
            </a:xfrm>
            <a:prstGeom prst="line">
              <a:avLst/>
            </a:prstGeom>
            <a:noFill/>
            <a:ln w="28575">
              <a:solidFill>
                <a:schemeClr val="tx1"/>
              </a:solidFill>
              <a:round/>
              <a:headEnd type="none" w="sm" len="sm"/>
              <a:tailEnd type="none" w="sm" len="sm"/>
            </a:ln>
            <a:effectLst/>
          </p:spPr>
          <p:txBody>
            <a:bodyPr/>
            <a:lstStyle/>
            <a:p>
              <a:endParaRPr lang="en-GB"/>
            </a:p>
          </p:txBody>
        </p:sp>
      </p:grpSp>
      <p:grpSp>
        <p:nvGrpSpPr>
          <p:cNvPr id="3" name="Group 36"/>
          <p:cNvGrpSpPr>
            <a:grpSpLocks/>
          </p:cNvGrpSpPr>
          <p:nvPr/>
        </p:nvGrpSpPr>
        <p:grpSpPr bwMode="auto">
          <a:xfrm>
            <a:off x="2579688" y="2057400"/>
            <a:ext cx="315912" cy="368300"/>
            <a:chOff x="3616" y="1016"/>
            <a:chExt cx="216" cy="232"/>
          </a:xfrm>
        </p:grpSpPr>
        <p:sp>
          <p:nvSpPr>
            <p:cNvPr id="416805" name="Line 37"/>
            <p:cNvSpPr>
              <a:spLocks noChangeShapeType="1"/>
            </p:cNvSpPr>
            <p:nvPr/>
          </p:nvSpPr>
          <p:spPr bwMode="auto">
            <a:xfrm>
              <a:off x="3616" y="1016"/>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6" name="Line 38"/>
            <p:cNvSpPr>
              <a:spLocks noChangeShapeType="1"/>
            </p:cNvSpPr>
            <p:nvPr/>
          </p:nvSpPr>
          <p:spPr bwMode="auto">
            <a:xfrm>
              <a:off x="3616" y="1064"/>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7" name="Line 39"/>
            <p:cNvSpPr>
              <a:spLocks noChangeShapeType="1"/>
            </p:cNvSpPr>
            <p:nvPr/>
          </p:nvSpPr>
          <p:spPr bwMode="auto">
            <a:xfrm>
              <a:off x="3616" y="111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8" name="Line 40"/>
            <p:cNvSpPr>
              <a:spLocks noChangeShapeType="1"/>
            </p:cNvSpPr>
            <p:nvPr/>
          </p:nvSpPr>
          <p:spPr bwMode="auto">
            <a:xfrm>
              <a:off x="3616" y="115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09" name="Line 41"/>
            <p:cNvSpPr>
              <a:spLocks noChangeShapeType="1"/>
            </p:cNvSpPr>
            <p:nvPr/>
          </p:nvSpPr>
          <p:spPr bwMode="auto">
            <a:xfrm>
              <a:off x="3624" y="1200"/>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6810" name="Line 42"/>
            <p:cNvSpPr>
              <a:spLocks noChangeShapeType="1"/>
            </p:cNvSpPr>
            <p:nvPr/>
          </p:nvSpPr>
          <p:spPr bwMode="auto">
            <a:xfrm>
              <a:off x="3624" y="1248"/>
              <a:ext cx="208" cy="0"/>
            </a:xfrm>
            <a:prstGeom prst="line">
              <a:avLst/>
            </a:prstGeom>
            <a:noFill/>
            <a:ln w="28575">
              <a:solidFill>
                <a:schemeClr val="tx1"/>
              </a:solidFill>
              <a:round/>
              <a:headEnd type="none" w="sm" len="sm"/>
              <a:tailEnd type="none" w="sm" len="sm"/>
            </a:ln>
            <a:effectLst/>
          </p:spPr>
          <p:txBody>
            <a:bodyPr/>
            <a:lstStyle/>
            <a:p>
              <a:endParaRPr lang="en-GB"/>
            </a:p>
          </p:txBody>
        </p:sp>
      </p:grpSp>
      <p:sp>
        <p:nvSpPr>
          <p:cNvPr id="416811" name="Text Box 43"/>
          <p:cNvSpPr txBox="1">
            <a:spLocks noChangeArrowheads="1"/>
          </p:cNvSpPr>
          <p:nvPr/>
        </p:nvSpPr>
        <p:spPr bwMode="auto">
          <a:xfrm>
            <a:off x="5819775" y="5268913"/>
            <a:ext cx="3324225" cy="915987"/>
          </a:xfrm>
          <a:prstGeom prst="rect">
            <a:avLst/>
          </a:prstGeom>
          <a:noFill/>
          <a:ln w="12700">
            <a:noFill/>
            <a:miter lim="800000"/>
            <a:headEnd type="none" w="sm" len="sm"/>
            <a:tailEnd type="none" w="sm" len="sm"/>
          </a:ln>
          <a:effectLst/>
        </p:spPr>
        <p:txBody>
          <a:bodyPr>
            <a:spAutoFit/>
          </a:bodyPr>
          <a:lstStyle/>
          <a:p>
            <a:pPr defTabSz="739775">
              <a:spcBef>
                <a:spcPct val="0"/>
              </a:spcBef>
            </a:pPr>
            <a:r>
              <a:rPr lang="en-GB" sz="1800"/>
              <a:t>= inheritance of interface</a:t>
            </a:r>
          </a:p>
          <a:p>
            <a:pPr defTabSz="739775">
              <a:spcBef>
                <a:spcPct val="0"/>
              </a:spcBef>
            </a:pPr>
            <a:r>
              <a:rPr lang="en-GB" sz="1800"/>
              <a:t>= inheritance of implementation</a:t>
            </a:r>
          </a:p>
        </p:txBody>
      </p:sp>
      <p:pic>
        <p:nvPicPr>
          <p:cNvPr id="416812" name="Picture 44" descr="Iceberg"/>
          <p:cNvPicPr>
            <a:picLocks noChangeAspect="1" noChangeArrowheads="1"/>
          </p:cNvPicPr>
          <p:nvPr/>
        </p:nvPicPr>
        <p:blipFill>
          <a:blip r:embed="rId3" cstate="print"/>
          <a:srcRect/>
          <a:stretch>
            <a:fillRect/>
          </a:stretch>
        </p:blipFill>
        <p:spPr bwMode="auto">
          <a:xfrm>
            <a:off x="7680325" y="1533525"/>
            <a:ext cx="1230313" cy="877888"/>
          </a:xfrm>
          <a:prstGeom prst="rect">
            <a:avLst/>
          </a:prstGeom>
          <a:noFill/>
        </p:spPr>
      </p:pic>
      <p:pic>
        <p:nvPicPr>
          <p:cNvPr id="416813" name="Picture 45" descr="Iceberg"/>
          <p:cNvPicPr>
            <a:picLocks noChangeAspect="1" noChangeArrowheads="1"/>
          </p:cNvPicPr>
          <p:nvPr/>
        </p:nvPicPr>
        <p:blipFill>
          <a:blip r:embed="rId3" cstate="print"/>
          <a:srcRect/>
          <a:stretch>
            <a:fillRect/>
          </a:stretch>
        </p:blipFill>
        <p:spPr bwMode="auto">
          <a:xfrm>
            <a:off x="317500" y="1978025"/>
            <a:ext cx="1231900" cy="877888"/>
          </a:xfrm>
          <a:prstGeom prst="rect">
            <a:avLst/>
          </a:prstGeom>
          <a:noFill/>
        </p:spPr>
      </p:pic>
      <p:pic>
        <p:nvPicPr>
          <p:cNvPr id="416814" name="Picture 46" descr="Iceberg"/>
          <p:cNvPicPr>
            <a:picLocks noChangeAspect="1" noChangeArrowheads="1"/>
          </p:cNvPicPr>
          <p:nvPr/>
        </p:nvPicPr>
        <p:blipFill>
          <a:blip r:embed="rId3" cstate="print"/>
          <a:srcRect/>
          <a:stretch>
            <a:fillRect/>
          </a:stretch>
        </p:blipFill>
        <p:spPr bwMode="auto">
          <a:xfrm>
            <a:off x="4678363" y="2041525"/>
            <a:ext cx="1231900" cy="877888"/>
          </a:xfrm>
          <a:prstGeom prst="rect">
            <a:avLst/>
          </a:prstGeom>
          <a:noFill/>
        </p:spPr>
      </p:pic>
    </p:spTree>
    <p:extLst>
      <p:ext uri="{BB962C8B-B14F-4D97-AF65-F5344CB8AC3E}">
        <p14:creationId xmlns:p14="http://schemas.microsoft.com/office/powerpoint/2010/main" val="2790557565"/>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ChangeArrowheads="1"/>
          </p:cNvSpPr>
          <p:nvPr/>
        </p:nvSpPr>
        <p:spPr bwMode="auto">
          <a:xfrm>
            <a:off x="703263" y="6248400"/>
            <a:ext cx="18986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8819" name="Rectangle 3"/>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8820" name="Rectangle 4"/>
          <p:cNvSpPr>
            <a:spLocks noChangeArrowheads="1"/>
          </p:cNvSpPr>
          <p:nvPr/>
        </p:nvSpPr>
        <p:spPr bwMode="auto">
          <a:xfrm>
            <a:off x="703263" y="6248400"/>
            <a:ext cx="18986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8821" name="Rectangle 5"/>
          <p:cNvSpPr>
            <a:spLocks noChangeArrowheads="1"/>
          </p:cNvSpPr>
          <p:nvPr/>
        </p:nvSpPr>
        <p:spPr bwMode="auto">
          <a:xfrm>
            <a:off x="3165475" y="6248400"/>
            <a:ext cx="2813050" cy="45720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8822" name="Rectangle 6"/>
          <p:cNvSpPr>
            <a:spLocks noChangeArrowheads="1"/>
          </p:cNvSpPr>
          <p:nvPr/>
        </p:nvSpPr>
        <p:spPr bwMode="auto">
          <a:xfrm>
            <a:off x="674688" y="6267450"/>
            <a:ext cx="1912937" cy="43815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8823" name="Rectangle 7"/>
          <p:cNvSpPr>
            <a:spLocks noChangeArrowheads="1"/>
          </p:cNvSpPr>
          <p:nvPr/>
        </p:nvSpPr>
        <p:spPr bwMode="auto">
          <a:xfrm>
            <a:off x="3154363" y="6267450"/>
            <a:ext cx="2835275" cy="438150"/>
          </a:xfrm>
          <a:prstGeom prst="rect">
            <a:avLst/>
          </a:prstGeom>
          <a:noFill/>
          <a:ln w="9525">
            <a:noFill/>
            <a:miter lim="800000"/>
            <a:headEnd/>
            <a:tailEnd/>
          </a:ln>
          <a:effectLst/>
        </p:spPr>
        <p:txBody>
          <a:bodyPr wrap="none" anchor="ctr"/>
          <a:lstStyle/>
          <a:p>
            <a:pPr algn="ctr" defTabSz="739775">
              <a:spcBef>
                <a:spcPct val="0"/>
              </a:spcBef>
            </a:pPr>
            <a:endParaRPr lang="en-GB" sz="1800"/>
          </a:p>
        </p:txBody>
      </p:sp>
      <p:sp>
        <p:nvSpPr>
          <p:cNvPr id="418824" name="Rectangle 8"/>
          <p:cNvSpPr>
            <a:spLocks noGrp="1" noChangeArrowheads="1"/>
          </p:cNvSpPr>
          <p:nvPr>
            <p:ph type="title"/>
          </p:nvPr>
        </p:nvSpPr>
        <p:spPr/>
        <p:txBody>
          <a:bodyPr/>
          <a:lstStyle/>
          <a:p>
            <a:r>
              <a:rPr lang="en-GB"/>
              <a:t>Inheritance</a:t>
            </a:r>
          </a:p>
        </p:txBody>
      </p:sp>
      <p:sp>
        <p:nvSpPr>
          <p:cNvPr id="418825" name="Freeform 9"/>
          <p:cNvSpPr>
            <a:spLocks/>
          </p:cNvSpPr>
          <p:nvPr/>
        </p:nvSpPr>
        <p:spPr bwMode="auto">
          <a:xfrm>
            <a:off x="5649913" y="1323975"/>
            <a:ext cx="2192337" cy="3544888"/>
          </a:xfrm>
          <a:custGeom>
            <a:avLst/>
            <a:gdLst/>
            <a:ahLst/>
            <a:cxnLst>
              <a:cxn ang="0">
                <a:pos x="1496" y="2233"/>
              </a:cxn>
              <a:cxn ang="0">
                <a:pos x="749" y="0"/>
              </a:cxn>
              <a:cxn ang="0">
                <a:pos x="0" y="2233"/>
              </a:cxn>
              <a:cxn ang="0">
                <a:pos x="1496" y="2233"/>
              </a:cxn>
            </a:cxnLst>
            <a:rect l="0" t="0" r="r" b="b"/>
            <a:pathLst>
              <a:path w="1496" h="2233">
                <a:moveTo>
                  <a:pt x="1496" y="2233"/>
                </a:moveTo>
                <a:lnTo>
                  <a:pt x="749" y="0"/>
                </a:lnTo>
                <a:lnTo>
                  <a:pt x="0" y="2233"/>
                </a:lnTo>
                <a:lnTo>
                  <a:pt x="1496" y="2233"/>
                </a:lnTo>
                <a:close/>
              </a:path>
            </a:pathLst>
          </a:custGeom>
          <a:solidFill>
            <a:srgbClr val="FF99CC"/>
          </a:solidFill>
          <a:ln w="3175">
            <a:solidFill>
              <a:srgbClr val="000000"/>
            </a:solidFill>
            <a:prstDash val="solid"/>
            <a:round/>
            <a:headEnd/>
            <a:tailEnd/>
          </a:ln>
        </p:spPr>
        <p:txBody>
          <a:bodyPr/>
          <a:lstStyle/>
          <a:p>
            <a:endParaRPr lang="en-GB"/>
          </a:p>
        </p:txBody>
      </p:sp>
      <p:sp>
        <p:nvSpPr>
          <p:cNvPr id="418826" name="Freeform 10"/>
          <p:cNvSpPr>
            <a:spLocks/>
          </p:cNvSpPr>
          <p:nvPr/>
        </p:nvSpPr>
        <p:spPr bwMode="auto">
          <a:xfrm>
            <a:off x="1558925" y="1362075"/>
            <a:ext cx="2192338" cy="3544888"/>
          </a:xfrm>
          <a:custGeom>
            <a:avLst/>
            <a:gdLst/>
            <a:ahLst/>
            <a:cxnLst>
              <a:cxn ang="0">
                <a:pos x="1496" y="2233"/>
              </a:cxn>
              <a:cxn ang="0">
                <a:pos x="749" y="0"/>
              </a:cxn>
              <a:cxn ang="0">
                <a:pos x="0" y="2233"/>
              </a:cxn>
              <a:cxn ang="0">
                <a:pos x="1496" y="2233"/>
              </a:cxn>
            </a:cxnLst>
            <a:rect l="0" t="0" r="r" b="b"/>
            <a:pathLst>
              <a:path w="1496" h="2233">
                <a:moveTo>
                  <a:pt x="1496" y="2233"/>
                </a:moveTo>
                <a:lnTo>
                  <a:pt x="749" y="0"/>
                </a:lnTo>
                <a:lnTo>
                  <a:pt x="0" y="2233"/>
                </a:lnTo>
                <a:lnTo>
                  <a:pt x="1496" y="2233"/>
                </a:lnTo>
                <a:close/>
              </a:path>
            </a:pathLst>
          </a:custGeom>
          <a:solidFill>
            <a:srgbClr val="FFFF00"/>
          </a:solidFill>
          <a:ln w="3175">
            <a:solidFill>
              <a:srgbClr val="000000"/>
            </a:solidFill>
            <a:prstDash val="solid"/>
            <a:round/>
            <a:headEnd/>
            <a:tailEnd/>
          </a:ln>
        </p:spPr>
        <p:txBody>
          <a:bodyPr/>
          <a:lstStyle/>
          <a:p>
            <a:endParaRPr lang="en-GB"/>
          </a:p>
        </p:txBody>
      </p:sp>
      <p:sp>
        <p:nvSpPr>
          <p:cNvPr id="418827" name="Rectangle 11"/>
          <p:cNvSpPr>
            <a:spLocks noChangeArrowheads="1"/>
          </p:cNvSpPr>
          <p:nvPr/>
        </p:nvSpPr>
        <p:spPr bwMode="auto">
          <a:xfrm>
            <a:off x="6224333" y="4217988"/>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8828" name="Line 12"/>
          <p:cNvSpPr>
            <a:spLocks noChangeShapeType="1"/>
          </p:cNvSpPr>
          <p:nvPr/>
        </p:nvSpPr>
        <p:spPr bwMode="auto">
          <a:xfrm flipH="1" flipV="1">
            <a:off x="2708275" y="1028700"/>
            <a:ext cx="0" cy="2070100"/>
          </a:xfrm>
          <a:prstGeom prst="line">
            <a:avLst/>
          </a:prstGeom>
          <a:noFill/>
          <a:ln w="57150">
            <a:solidFill>
              <a:srgbClr val="993300"/>
            </a:solidFill>
            <a:round/>
            <a:headEnd type="none" w="sm" len="sm"/>
            <a:tailEnd type="none" w="sm" len="sm"/>
          </a:ln>
          <a:effectLst/>
        </p:spPr>
        <p:txBody>
          <a:bodyPr/>
          <a:lstStyle/>
          <a:p>
            <a:endParaRPr lang="en-GB"/>
          </a:p>
        </p:txBody>
      </p:sp>
      <p:sp>
        <p:nvSpPr>
          <p:cNvPr id="418829" name="Freeform 13"/>
          <p:cNvSpPr>
            <a:spLocks noEditPoints="1"/>
          </p:cNvSpPr>
          <p:nvPr/>
        </p:nvSpPr>
        <p:spPr bwMode="auto">
          <a:xfrm>
            <a:off x="2689225" y="934288"/>
            <a:ext cx="744538" cy="693737"/>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8830" name="Freeform 14"/>
          <p:cNvSpPr>
            <a:spLocks noEditPoints="1"/>
          </p:cNvSpPr>
          <p:nvPr/>
        </p:nvSpPr>
        <p:spPr bwMode="auto">
          <a:xfrm>
            <a:off x="6710363" y="849313"/>
            <a:ext cx="744537" cy="693737"/>
          </a:xfrm>
          <a:custGeom>
            <a:avLst/>
            <a:gdLst/>
            <a:ahLst/>
            <a:cxnLst>
              <a:cxn ang="0">
                <a:pos x="1012" y="277"/>
              </a:cxn>
              <a:cxn ang="0">
                <a:pos x="1006" y="424"/>
              </a:cxn>
              <a:cxn ang="0">
                <a:pos x="973" y="564"/>
              </a:cxn>
              <a:cxn ang="0">
                <a:pos x="940" y="707"/>
              </a:cxn>
              <a:cxn ang="0">
                <a:pos x="950" y="858"/>
              </a:cxn>
              <a:cxn ang="0">
                <a:pos x="706" y="862"/>
              </a:cxn>
              <a:cxn ang="0">
                <a:pos x="488" y="785"/>
              </a:cxn>
              <a:cxn ang="0">
                <a:pos x="283" y="678"/>
              </a:cxn>
              <a:cxn ang="0">
                <a:pos x="73" y="585"/>
              </a:cxn>
              <a:cxn ang="0">
                <a:pos x="201" y="529"/>
              </a:cxn>
              <a:cxn ang="0">
                <a:pos x="143" y="525"/>
              </a:cxn>
              <a:cxn ang="0">
                <a:pos x="85" y="538"/>
              </a:cxn>
              <a:cxn ang="0">
                <a:pos x="25" y="556"/>
              </a:cxn>
              <a:cxn ang="0">
                <a:pos x="15" y="525"/>
              </a:cxn>
              <a:cxn ang="0">
                <a:pos x="50" y="451"/>
              </a:cxn>
              <a:cxn ang="0">
                <a:pos x="77" y="368"/>
              </a:cxn>
              <a:cxn ang="0">
                <a:pos x="83" y="277"/>
              </a:cxn>
              <a:cxn ang="0">
                <a:pos x="27" y="106"/>
              </a:cxn>
              <a:cxn ang="0">
                <a:pos x="66" y="131"/>
              </a:cxn>
              <a:cxn ang="0">
                <a:pos x="104" y="153"/>
              </a:cxn>
              <a:cxn ang="0">
                <a:pos x="145" y="178"/>
              </a:cxn>
              <a:cxn ang="0">
                <a:pos x="186" y="201"/>
              </a:cxn>
              <a:cxn ang="0">
                <a:pos x="172" y="176"/>
              </a:cxn>
              <a:cxn ang="0">
                <a:pos x="128" y="137"/>
              </a:cxn>
              <a:cxn ang="0">
                <a:pos x="81" y="100"/>
              </a:cxn>
              <a:cxn ang="0">
                <a:pos x="33" y="67"/>
              </a:cxn>
              <a:cxn ang="0">
                <a:pos x="39" y="58"/>
              </a:cxn>
              <a:cxn ang="0">
                <a:pos x="95" y="71"/>
              </a:cxn>
              <a:cxn ang="0">
                <a:pos x="151" y="91"/>
              </a:cxn>
              <a:cxn ang="0">
                <a:pos x="209" y="100"/>
              </a:cxn>
              <a:cxn ang="0">
                <a:pos x="33" y="13"/>
              </a:cxn>
              <a:cxn ang="0">
                <a:pos x="176" y="0"/>
              </a:cxn>
              <a:cxn ang="0">
                <a:pos x="405" y="102"/>
              </a:cxn>
              <a:cxn ang="0">
                <a:pos x="616" y="248"/>
              </a:cxn>
              <a:cxn ang="0">
                <a:pos x="851" y="314"/>
              </a:cxn>
              <a:cxn ang="0">
                <a:pos x="830" y="618"/>
              </a:cxn>
              <a:cxn ang="0">
                <a:pos x="785" y="649"/>
              </a:cxn>
              <a:cxn ang="0">
                <a:pos x="731" y="653"/>
              </a:cxn>
              <a:cxn ang="0">
                <a:pos x="669" y="649"/>
              </a:cxn>
              <a:cxn ang="0">
                <a:pos x="615" y="641"/>
              </a:cxn>
              <a:cxn ang="0">
                <a:pos x="603" y="626"/>
              </a:cxn>
              <a:cxn ang="0">
                <a:pos x="669" y="637"/>
              </a:cxn>
              <a:cxn ang="0">
                <a:pos x="735" y="639"/>
              </a:cxn>
              <a:cxn ang="0">
                <a:pos x="799" y="631"/>
              </a:cxn>
              <a:cxn ang="0">
                <a:pos x="814" y="732"/>
              </a:cxn>
              <a:cxn ang="0">
                <a:pos x="710" y="756"/>
              </a:cxn>
              <a:cxn ang="0">
                <a:pos x="605" y="740"/>
              </a:cxn>
              <a:cxn ang="0">
                <a:pos x="504" y="701"/>
              </a:cxn>
              <a:cxn ang="0">
                <a:pos x="415" y="651"/>
              </a:cxn>
              <a:cxn ang="0">
                <a:pos x="508" y="688"/>
              </a:cxn>
              <a:cxn ang="0">
                <a:pos x="605" y="721"/>
              </a:cxn>
              <a:cxn ang="0">
                <a:pos x="706" y="740"/>
              </a:cxn>
              <a:cxn ang="0">
                <a:pos x="814" y="732"/>
              </a:cxn>
            </a:cxnLst>
            <a:rect l="0" t="0" r="r" b="b"/>
            <a:pathLst>
              <a:path w="1016" h="874">
                <a:moveTo>
                  <a:pt x="991" y="277"/>
                </a:moveTo>
                <a:lnTo>
                  <a:pt x="1012" y="277"/>
                </a:lnTo>
                <a:lnTo>
                  <a:pt x="1016" y="350"/>
                </a:lnTo>
                <a:lnTo>
                  <a:pt x="1006" y="424"/>
                </a:lnTo>
                <a:lnTo>
                  <a:pt x="991" y="496"/>
                </a:lnTo>
                <a:lnTo>
                  <a:pt x="973" y="564"/>
                </a:lnTo>
                <a:lnTo>
                  <a:pt x="952" y="637"/>
                </a:lnTo>
                <a:lnTo>
                  <a:pt x="940" y="707"/>
                </a:lnTo>
                <a:lnTo>
                  <a:pt x="938" y="783"/>
                </a:lnTo>
                <a:lnTo>
                  <a:pt x="950" y="858"/>
                </a:lnTo>
                <a:lnTo>
                  <a:pt x="820" y="874"/>
                </a:lnTo>
                <a:lnTo>
                  <a:pt x="706" y="862"/>
                </a:lnTo>
                <a:lnTo>
                  <a:pt x="593" y="829"/>
                </a:lnTo>
                <a:lnTo>
                  <a:pt x="488" y="785"/>
                </a:lnTo>
                <a:lnTo>
                  <a:pt x="386" y="734"/>
                </a:lnTo>
                <a:lnTo>
                  <a:pt x="283" y="678"/>
                </a:lnTo>
                <a:lnTo>
                  <a:pt x="178" y="628"/>
                </a:lnTo>
                <a:lnTo>
                  <a:pt x="73" y="585"/>
                </a:lnTo>
                <a:lnTo>
                  <a:pt x="227" y="538"/>
                </a:lnTo>
                <a:lnTo>
                  <a:pt x="201" y="529"/>
                </a:lnTo>
                <a:lnTo>
                  <a:pt x="174" y="523"/>
                </a:lnTo>
                <a:lnTo>
                  <a:pt x="143" y="525"/>
                </a:lnTo>
                <a:lnTo>
                  <a:pt x="116" y="529"/>
                </a:lnTo>
                <a:lnTo>
                  <a:pt x="85" y="538"/>
                </a:lnTo>
                <a:lnTo>
                  <a:pt x="54" y="546"/>
                </a:lnTo>
                <a:lnTo>
                  <a:pt x="25" y="556"/>
                </a:lnTo>
                <a:lnTo>
                  <a:pt x="0" y="562"/>
                </a:lnTo>
                <a:lnTo>
                  <a:pt x="15" y="525"/>
                </a:lnTo>
                <a:lnTo>
                  <a:pt x="35" y="490"/>
                </a:lnTo>
                <a:lnTo>
                  <a:pt x="50" y="451"/>
                </a:lnTo>
                <a:lnTo>
                  <a:pt x="68" y="409"/>
                </a:lnTo>
                <a:lnTo>
                  <a:pt x="77" y="368"/>
                </a:lnTo>
                <a:lnTo>
                  <a:pt x="83" y="323"/>
                </a:lnTo>
                <a:lnTo>
                  <a:pt x="83" y="277"/>
                </a:lnTo>
                <a:lnTo>
                  <a:pt x="79" y="226"/>
                </a:lnTo>
                <a:lnTo>
                  <a:pt x="27" y="106"/>
                </a:lnTo>
                <a:lnTo>
                  <a:pt x="44" y="118"/>
                </a:lnTo>
                <a:lnTo>
                  <a:pt x="66" y="131"/>
                </a:lnTo>
                <a:lnTo>
                  <a:pt x="85" y="143"/>
                </a:lnTo>
                <a:lnTo>
                  <a:pt x="104" y="153"/>
                </a:lnTo>
                <a:lnTo>
                  <a:pt x="126" y="164"/>
                </a:lnTo>
                <a:lnTo>
                  <a:pt x="145" y="178"/>
                </a:lnTo>
                <a:lnTo>
                  <a:pt x="167" y="190"/>
                </a:lnTo>
                <a:lnTo>
                  <a:pt x="186" y="201"/>
                </a:lnTo>
                <a:lnTo>
                  <a:pt x="192" y="195"/>
                </a:lnTo>
                <a:lnTo>
                  <a:pt x="172" y="176"/>
                </a:lnTo>
                <a:lnTo>
                  <a:pt x="151" y="155"/>
                </a:lnTo>
                <a:lnTo>
                  <a:pt x="128" y="137"/>
                </a:lnTo>
                <a:lnTo>
                  <a:pt x="104" y="116"/>
                </a:lnTo>
                <a:lnTo>
                  <a:pt x="81" y="100"/>
                </a:lnTo>
                <a:lnTo>
                  <a:pt x="56" y="85"/>
                </a:lnTo>
                <a:lnTo>
                  <a:pt x="33" y="67"/>
                </a:lnTo>
                <a:lnTo>
                  <a:pt x="9" y="52"/>
                </a:lnTo>
                <a:lnTo>
                  <a:pt x="39" y="58"/>
                </a:lnTo>
                <a:lnTo>
                  <a:pt x="68" y="64"/>
                </a:lnTo>
                <a:lnTo>
                  <a:pt x="95" y="71"/>
                </a:lnTo>
                <a:lnTo>
                  <a:pt x="124" y="81"/>
                </a:lnTo>
                <a:lnTo>
                  <a:pt x="151" y="91"/>
                </a:lnTo>
                <a:lnTo>
                  <a:pt x="180" y="96"/>
                </a:lnTo>
                <a:lnTo>
                  <a:pt x="209" y="100"/>
                </a:lnTo>
                <a:lnTo>
                  <a:pt x="238" y="98"/>
                </a:lnTo>
                <a:lnTo>
                  <a:pt x="33" y="13"/>
                </a:lnTo>
                <a:lnTo>
                  <a:pt x="40" y="3"/>
                </a:lnTo>
                <a:lnTo>
                  <a:pt x="176" y="0"/>
                </a:lnTo>
                <a:lnTo>
                  <a:pt x="296" y="38"/>
                </a:lnTo>
                <a:lnTo>
                  <a:pt x="405" y="102"/>
                </a:lnTo>
                <a:lnTo>
                  <a:pt x="512" y="178"/>
                </a:lnTo>
                <a:lnTo>
                  <a:pt x="616" y="248"/>
                </a:lnTo>
                <a:lnTo>
                  <a:pt x="727" y="298"/>
                </a:lnTo>
                <a:lnTo>
                  <a:pt x="851" y="314"/>
                </a:lnTo>
                <a:lnTo>
                  <a:pt x="991" y="277"/>
                </a:lnTo>
                <a:close/>
                <a:moveTo>
                  <a:pt x="830" y="618"/>
                </a:moveTo>
                <a:lnTo>
                  <a:pt x="808" y="637"/>
                </a:lnTo>
                <a:lnTo>
                  <a:pt x="785" y="649"/>
                </a:lnTo>
                <a:lnTo>
                  <a:pt x="758" y="655"/>
                </a:lnTo>
                <a:lnTo>
                  <a:pt x="731" y="653"/>
                </a:lnTo>
                <a:lnTo>
                  <a:pt x="700" y="653"/>
                </a:lnTo>
                <a:lnTo>
                  <a:pt x="669" y="649"/>
                </a:lnTo>
                <a:lnTo>
                  <a:pt x="640" y="645"/>
                </a:lnTo>
                <a:lnTo>
                  <a:pt x="615" y="641"/>
                </a:lnTo>
                <a:lnTo>
                  <a:pt x="574" y="618"/>
                </a:lnTo>
                <a:lnTo>
                  <a:pt x="603" y="626"/>
                </a:lnTo>
                <a:lnTo>
                  <a:pt x="636" y="631"/>
                </a:lnTo>
                <a:lnTo>
                  <a:pt x="669" y="637"/>
                </a:lnTo>
                <a:lnTo>
                  <a:pt x="704" y="637"/>
                </a:lnTo>
                <a:lnTo>
                  <a:pt x="735" y="639"/>
                </a:lnTo>
                <a:lnTo>
                  <a:pt x="768" y="635"/>
                </a:lnTo>
                <a:lnTo>
                  <a:pt x="799" y="631"/>
                </a:lnTo>
                <a:lnTo>
                  <a:pt x="830" y="618"/>
                </a:lnTo>
                <a:close/>
                <a:moveTo>
                  <a:pt x="814" y="732"/>
                </a:moveTo>
                <a:lnTo>
                  <a:pt x="762" y="750"/>
                </a:lnTo>
                <a:lnTo>
                  <a:pt x="710" y="756"/>
                </a:lnTo>
                <a:lnTo>
                  <a:pt x="657" y="752"/>
                </a:lnTo>
                <a:lnTo>
                  <a:pt x="605" y="740"/>
                </a:lnTo>
                <a:lnTo>
                  <a:pt x="551" y="725"/>
                </a:lnTo>
                <a:lnTo>
                  <a:pt x="504" y="701"/>
                </a:lnTo>
                <a:lnTo>
                  <a:pt x="456" y="680"/>
                </a:lnTo>
                <a:lnTo>
                  <a:pt x="415" y="651"/>
                </a:lnTo>
                <a:lnTo>
                  <a:pt x="461" y="668"/>
                </a:lnTo>
                <a:lnTo>
                  <a:pt x="508" y="688"/>
                </a:lnTo>
                <a:lnTo>
                  <a:pt x="556" y="705"/>
                </a:lnTo>
                <a:lnTo>
                  <a:pt x="605" y="721"/>
                </a:lnTo>
                <a:lnTo>
                  <a:pt x="655" y="734"/>
                </a:lnTo>
                <a:lnTo>
                  <a:pt x="706" y="740"/>
                </a:lnTo>
                <a:lnTo>
                  <a:pt x="758" y="740"/>
                </a:lnTo>
                <a:lnTo>
                  <a:pt x="814" y="732"/>
                </a:lnTo>
                <a:close/>
              </a:path>
            </a:pathLst>
          </a:custGeom>
          <a:solidFill>
            <a:srgbClr val="FF6F06"/>
          </a:solidFill>
          <a:ln w="1651">
            <a:solidFill>
              <a:srgbClr val="FF6F06"/>
            </a:solidFill>
            <a:prstDash val="solid"/>
            <a:round/>
            <a:headEnd/>
            <a:tailEnd/>
          </a:ln>
        </p:spPr>
        <p:txBody>
          <a:bodyPr/>
          <a:lstStyle/>
          <a:p>
            <a:endParaRPr lang="en-GB"/>
          </a:p>
        </p:txBody>
      </p:sp>
      <p:sp>
        <p:nvSpPr>
          <p:cNvPr id="418831" name="Rectangle 15"/>
          <p:cNvSpPr>
            <a:spLocks noChangeArrowheads="1"/>
          </p:cNvSpPr>
          <p:nvPr/>
        </p:nvSpPr>
        <p:spPr bwMode="auto">
          <a:xfrm>
            <a:off x="3059113" y="1244600"/>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8832" name="Rectangle 16"/>
          <p:cNvSpPr>
            <a:spLocks noChangeArrowheads="1"/>
          </p:cNvSpPr>
          <p:nvPr/>
        </p:nvSpPr>
        <p:spPr bwMode="auto">
          <a:xfrm>
            <a:off x="6975475" y="1155700"/>
            <a:ext cx="1436291" cy="276999"/>
          </a:xfrm>
          <a:prstGeom prst="rect">
            <a:avLst/>
          </a:prstGeom>
          <a:noFill/>
          <a:ln w="9525">
            <a:noFill/>
            <a:miter lim="800000"/>
            <a:headEnd/>
            <a:tailEnd/>
          </a:ln>
        </p:spPr>
        <p:txBody>
          <a:bodyPr wrap="none" lIns="0" tIns="0" rIns="0" bIns="0">
            <a:spAutoFit/>
          </a:bodyPr>
          <a:lstStyle/>
          <a:p>
            <a:pPr defTabSz="739775">
              <a:spcBef>
                <a:spcPct val="0"/>
              </a:spcBef>
            </a:pPr>
            <a:r>
              <a:rPr lang="en-GB" sz="1800" b="1" dirty="0" err="1">
                <a:solidFill>
                  <a:srgbClr val="000000"/>
                </a:solidFill>
              </a:rPr>
              <a:t>A</a:t>
            </a:r>
            <a:r>
              <a:rPr lang="en-GB" sz="1800" b="1" dirty="0" err="1" smtClean="0">
                <a:solidFill>
                  <a:srgbClr val="000000"/>
                </a:solidFill>
              </a:rPr>
              <a:t>ddInterest</a:t>
            </a:r>
            <a:r>
              <a:rPr lang="en-GB" sz="1800" b="1" dirty="0">
                <a:solidFill>
                  <a:srgbClr val="000000"/>
                </a:solidFill>
              </a:rPr>
              <a:t>()</a:t>
            </a:r>
            <a:endParaRPr lang="en-GB" sz="1800" dirty="0"/>
          </a:p>
        </p:txBody>
      </p:sp>
      <p:sp>
        <p:nvSpPr>
          <p:cNvPr id="418833" name="Line 17"/>
          <p:cNvSpPr>
            <a:spLocks noChangeShapeType="1"/>
          </p:cNvSpPr>
          <p:nvPr/>
        </p:nvSpPr>
        <p:spPr bwMode="auto">
          <a:xfrm flipH="1" flipV="1">
            <a:off x="6753225" y="838200"/>
            <a:ext cx="0" cy="2273300"/>
          </a:xfrm>
          <a:prstGeom prst="line">
            <a:avLst/>
          </a:prstGeom>
          <a:noFill/>
          <a:ln w="57150">
            <a:solidFill>
              <a:srgbClr val="993300"/>
            </a:solidFill>
            <a:round/>
            <a:headEnd type="none" w="sm" len="sm"/>
            <a:tailEnd type="none" w="sm" len="sm"/>
          </a:ln>
          <a:effectLst/>
        </p:spPr>
        <p:txBody>
          <a:bodyPr/>
          <a:lstStyle/>
          <a:p>
            <a:endParaRPr lang="en-GB"/>
          </a:p>
        </p:txBody>
      </p:sp>
      <p:sp>
        <p:nvSpPr>
          <p:cNvPr id="418834" name="Text Box 18"/>
          <p:cNvSpPr txBox="1">
            <a:spLocks noChangeArrowheads="1"/>
          </p:cNvSpPr>
          <p:nvPr/>
        </p:nvSpPr>
        <p:spPr bwMode="auto">
          <a:xfrm>
            <a:off x="1713325" y="4557713"/>
            <a:ext cx="184626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a:t>Cheque Account</a:t>
            </a:r>
          </a:p>
        </p:txBody>
      </p:sp>
      <p:sp>
        <p:nvSpPr>
          <p:cNvPr id="418835" name="Text Box 19"/>
          <p:cNvSpPr txBox="1">
            <a:spLocks noChangeArrowheads="1"/>
          </p:cNvSpPr>
          <p:nvPr/>
        </p:nvSpPr>
        <p:spPr bwMode="auto">
          <a:xfrm>
            <a:off x="5791152" y="4494213"/>
            <a:ext cx="184626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a:t>Deposit Account</a:t>
            </a:r>
          </a:p>
        </p:txBody>
      </p:sp>
      <p:sp>
        <p:nvSpPr>
          <p:cNvPr id="418836" name="Freeform 20"/>
          <p:cNvSpPr>
            <a:spLocks/>
          </p:cNvSpPr>
          <p:nvPr/>
        </p:nvSpPr>
        <p:spPr bwMode="auto">
          <a:xfrm>
            <a:off x="2106613" y="1298575"/>
            <a:ext cx="1109662" cy="1835150"/>
          </a:xfrm>
          <a:custGeom>
            <a:avLst/>
            <a:gdLst/>
            <a:ahLst/>
            <a:cxnLst>
              <a:cxn ang="0">
                <a:pos x="749" y="1116"/>
              </a:cxn>
              <a:cxn ang="0">
                <a:pos x="375" y="0"/>
              </a:cxn>
              <a:cxn ang="0">
                <a:pos x="0" y="1116"/>
              </a:cxn>
              <a:cxn ang="0">
                <a:pos x="749" y="1116"/>
              </a:cxn>
            </a:cxnLst>
            <a:rect l="0" t="0" r="r" b="b"/>
            <a:pathLst>
              <a:path w="749" h="1116">
                <a:moveTo>
                  <a:pt x="749" y="1116"/>
                </a:moveTo>
                <a:lnTo>
                  <a:pt x="375" y="0"/>
                </a:lnTo>
                <a:lnTo>
                  <a:pt x="0" y="1116"/>
                </a:lnTo>
                <a:lnTo>
                  <a:pt x="749" y="1116"/>
                </a:lnTo>
                <a:close/>
              </a:path>
            </a:pathLst>
          </a:custGeom>
          <a:solidFill>
            <a:srgbClr val="00FFFF"/>
          </a:solidFill>
          <a:ln w="3175">
            <a:noFill/>
            <a:prstDash val="solid"/>
            <a:round/>
            <a:headEnd/>
            <a:tailEnd/>
          </a:ln>
        </p:spPr>
        <p:txBody>
          <a:bodyPr/>
          <a:lstStyle/>
          <a:p>
            <a:endParaRPr lang="en-GB"/>
          </a:p>
        </p:txBody>
      </p:sp>
      <p:sp>
        <p:nvSpPr>
          <p:cNvPr id="418837" name="Freeform 21"/>
          <p:cNvSpPr>
            <a:spLocks/>
          </p:cNvSpPr>
          <p:nvPr/>
        </p:nvSpPr>
        <p:spPr bwMode="auto">
          <a:xfrm>
            <a:off x="6175375" y="1311275"/>
            <a:ext cx="1144588" cy="1835150"/>
          </a:xfrm>
          <a:custGeom>
            <a:avLst/>
            <a:gdLst/>
            <a:ahLst/>
            <a:cxnLst>
              <a:cxn ang="0">
                <a:pos x="749" y="1116"/>
              </a:cxn>
              <a:cxn ang="0">
                <a:pos x="375" y="0"/>
              </a:cxn>
              <a:cxn ang="0">
                <a:pos x="0" y="1116"/>
              </a:cxn>
              <a:cxn ang="0">
                <a:pos x="749" y="1116"/>
              </a:cxn>
            </a:cxnLst>
            <a:rect l="0" t="0" r="r" b="b"/>
            <a:pathLst>
              <a:path w="749" h="1116">
                <a:moveTo>
                  <a:pt x="749" y="1116"/>
                </a:moveTo>
                <a:lnTo>
                  <a:pt x="375" y="0"/>
                </a:lnTo>
                <a:lnTo>
                  <a:pt x="0" y="1116"/>
                </a:lnTo>
                <a:lnTo>
                  <a:pt x="749" y="1116"/>
                </a:lnTo>
                <a:close/>
              </a:path>
            </a:pathLst>
          </a:custGeom>
          <a:solidFill>
            <a:srgbClr val="00FFFF"/>
          </a:solidFill>
          <a:ln w="3175">
            <a:noFill/>
            <a:prstDash val="solid"/>
            <a:round/>
            <a:headEnd/>
            <a:tailEnd/>
          </a:ln>
        </p:spPr>
        <p:txBody>
          <a:bodyPr/>
          <a:lstStyle/>
          <a:p>
            <a:endParaRPr lang="en-GB"/>
          </a:p>
        </p:txBody>
      </p:sp>
      <p:sp>
        <p:nvSpPr>
          <p:cNvPr id="418838" name="Freeform 22"/>
          <p:cNvSpPr>
            <a:spLocks/>
          </p:cNvSpPr>
          <p:nvPr/>
        </p:nvSpPr>
        <p:spPr bwMode="auto">
          <a:xfrm>
            <a:off x="481013" y="3022600"/>
            <a:ext cx="4138612" cy="266700"/>
          </a:xfrm>
          <a:custGeom>
            <a:avLst/>
            <a:gdLst/>
            <a:ahLst/>
            <a:cxnLst>
              <a:cxn ang="0">
                <a:pos x="0" y="88"/>
              </a:cxn>
              <a:cxn ang="0">
                <a:pos x="120" y="16"/>
              </a:cxn>
              <a:cxn ang="0">
                <a:pos x="176" y="24"/>
              </a:cxn>
              <a:cxn ang="0">
                <a:pos x="192" y="48"/>
              </a:cxn>
              <a:cxn ang="0">
                <a:pos x="248" y="104"/>
              </a:cxn>
              <a:cxn ang="0">
                <a:pos x="360" y="136"/>
              </a:cxn>
              <a:cxn ang="0">
                <a:pos x="416" y="128"/>
              </a:cxn>
              <a:cxn ang="0">
                <a:pos x="448" y="104"/>
              </a:cxn>
              <a:cxn ang="0">
                <a:pos x="472" y="96"/>
              </a:cxn>
              <a:cxn ang="0">
                <a:pos x="576" y="0"/>
              </a:cxn>
              <a:cxn ang="0">
                <a:pos x="688" y="104"/>
              </a:cxn>
              <a:cxn ang="0">
                <a:pos x="872" y="168"/>
              </a:cxn>
              <a:cxn ang="0">
                <a:pos x="920" y="160"/>
              </a:cxn>
              <a:cxn ang="0">
                <a:pos x="952" y="136"/>
              </a:cxn>
              <a:cxn ang="0">
                <a:pos x="976" y="128"/>
              </a:cxn>
              <a:cxn ang="0">
                <a:pos x="1096" y="16"/>
              </a:cxn>
              <a:cxn ang="0">
                <a:pos x="1264" y="144"/>
              </a:cxn>
              <a:cxn ang="0">
                <a:pos x="1464" y="40"/>
              </a:cxn>
              <a:cxn ang="0">
                <a:pos x="1672" y="128"/>
              </a:cxn>
              <a:cxn ang="0">
                <a:pos x="1728" y="120"/>
              </a:cxn>
              <a:cxn ang="0">
                <a:pos x="1760" y="72"/>
              </a:cxn>
              <a:cxn ang="0">
                <a:pos x="1784" y="48"/>
              </a:cxn>
              <a:cxn ang="0">
                <a:pos x="1816" y="0"/>
              </a:cxn>
              <a:cxn ang="0">
                <a:pos x="1960" y="32"/>
              </a:cxn>
              <a:cxn ang="0">
                <a:pos x="2048" y="104"/>
              </a:cxn>
              <a:cxn ang="0">
                <a:pos x="2144" y="32"/>
              </a:cxn>
              <a:cxn ang="0">
                <a:pos x="2192" y="16"/>
              </a:cxn>
              <a:cxn ang="0">
                <a:pos x="2280" y="72"/>
              </a:cxn>
              <a:cxn ang="0">
                <a:pos x="2304" y="96"/>
              </a:cxn>
              <a:cxn ang="0">
                <a:pos x="2328" y="120"/>
              </a:cxn>
              <a:cxn ang="0">
                <a:pos x="2368" y="112"/>
              </a:cxn>
              <a:cxn ang="0">
                <a:pos x="2384" y="88"/>
              </a:cxn>
              <a:cxn ang="0">
                <a:pos x="2456" y="32"/>
              </a:cxn>
              <a:cxn ang="0">
                <a:pos x="2560" y="8"/>
              </a:cxn>
              <a:cxn ang="0">
                <a:pos x="2640" y="40"/>
              </a:cxn>
              <a:cxn ang="0">
                <a:pos x="2664" y="88"/>
              </a:cxn>
              <a:cxn ang="0">
                <a:pos x="2712" y="112"/>
              </a:cxn>
              <a:cxn ang="0">
                <a:pos x="2776" y="104"/>
              </a:cxn>
              <a:cxn ang="0">
                <a:pos x="2824" y="8"/>
              </a:cxn>
            </a:cxnLst>
            <a:rect l="0" t="0" r="r" b="b"/>
            <a:pathLst>
              <a:path w="2824" h="168">
                <a:moveTo>
                  <a:pt x="0" y="88"/>
                </a:moveTo>
                <a:cubicBezTo>
                  <a:pt x="33" y="39"/>
                  <a:pt x="69" y="33"/>
                  <a:pt x="120" y="16"/>
                </a:cubicBezTo>
                <a:cubicBezTo>
                  <a:pt x="139" y="19"/>
                  <a:pt x="159" y="16"/>
                  <a:pt x="176" y="24"/>
                </a:cubicBezTo>
                <a:cubicBezTo>
                  <a:pt x="185" y="28"/>
                  <a:pt x="186" y="41"/>
                  <a:pt x="192" y="48"/>
                </a:cubicBezTo>
                <a:cubicBezTo>
                  <a:pt x="210" y="68"/>
                  <a:pt x="224" y="92"/>
                  <a:pt x="248" y="104"/>
                </a:cubicBezTo>
                <a:cubicBezTo>
                  <a:pt x="285" y="122"/>
                  <a:pt x="321" y="126"/>
                  <a:pt x="360" y="136"/>
                </a:cubicBezTo>
                <a:cubicBezTo>
                  <a:pt x="379" y="133"/>
                  <a:pt x="398" y="134"/>
                  <a:pt x="416" y="128"/>
                </a:cubicBezTo>
                <a:cubicBezTo>
                  <a:pt x="429" y="123"/>
                  <a:pt x="436" y="111"/>
                  <a:pt x="448" y="104"/>
                </a:cubicBezTo>
                <a:cubicBezTo>
                  <a:pt x="455" y="100"/>
                  <a:pt x="464" y="99"/>
                  <a:pt x="472" y="96"/>
                </a:cubicBezTo>
                <a:cubicBezTo>
                  <a:pt x="511" y="67"/>
                  <a:pt x="537" y="26"/>
                  <a:pt x="576" y="0"/>
                </a:cubicBezTo>
                <a:cubicBezTo>
                  <a:pt x="617" y="31"/>
                  <a:pt x="652" y="68"/>
                  <a:pt x="688" y="104"/>
                </a:cubicBezTo>
                <a:cubicBezTo>
                  <a:pt x="727" y="143"/>
                  <a:pt x="819" y="150"/>
                  <a:pt x="872" y="168"/>
                </a:cubicBezTo>
                <a:cubicBezTo>
                  <a:pt x="888" y="165"/>
                  <a:pt x="905" y="166"/>
                  <a:pt x="920" y="160"/>
                </a:cubicBezTo>
                <a:cubicBezTo>
                  <a:pt x="932" y="155"/>
                  <a:pt x="940" y="143"/>
                  <a:pt x="952" y="136"/>
                </a:cubicBezTo>
                <a:cubicBezTo>
                  <a:pt x="959" y="132"/>
                  <a:pt x="968" y="131"/>
                  <a:pt x="976" y="128"/>
                </a:cubicBezTo>
                <a:cubicBezTo>
                  <a:pt x="1015" y="89"/>
                  <a:pt x="1042" y="34"/>
                  <a:pt x="1096" y="16"/>
                </a:cubicBezTo>
                <a:cubicBezTo>
                  <a:pt x="1140" y="82"/>
                  <a:pt x="1186" y="124"/>
                  <a:pt x="1264" y="144"/>
                </a:cubicBezTo>
                <a:cubicBezTo>
                  <a:pt x="1351" y="127"/>
                  <a:pt x="1382" y="61"/>
                  <a:pt x="1464" y="40"/>
                </a:cubicBezTo>
                <a:cubicBezTo>
                  <a:pt x="1717" y="63"/>
                  <a:pt x="1596" y="14"/>
                  <a:pt x="1672" y="128"/>
                </a:cubicBezTo>
                <a:cubicBezTo>
                  <a:pt x="1691" y="125"/>
                  <a:pt x="1710" y="125"/>
                  <a:pt x="1728" y="120"/>
                </a:cubicBezTo>
                <a:cubicBezTo>
                  <a:pt x="1767" y="108"/>
                  <a:pt x="1743" y="101"/>
                  <a:pt x="1760" y="72"/>
                </a:cubicBezTo>
                <a:cubicBezTo>
                  <a:pt x="1766" y="62"/>
                  <a:pt x="1777" y="57"/>
                  <a:pt x="1784" y="48"/>
                </a:cubicBezTo>
                <a:cubicBezTo>
                  <a:pt x="1796" y="33"/>
                  <a:pt x="1816" y="0"/>
                  <a:pt x="1816" y="0"/>
                </a:cubicBezTo>
                <a:cubicBezTo>
                  <a:pt x="1939" y="26"/>
                  <a:pt x="1891" y="15"/>
                  <a:pt x="1960" y="32"/>
                </a:cubicBezTo>
                <a:cubicBezTo>
                  <a:pt x="1973" y="82"/>
                  <a:pt x="2001" y="88"/>
                  <a:pt x="2048" y="104"/>
                </a:cubicBezTo>
                <a:cubicBezTo>
                  <a:pt x="2103" y="90"/>
                  <a:pt x="2094" y="59"/>
                  <a:pt x="2144" y="32"/>
                </a:cubicBezTo>
                <a:cubicBezTo>
                  <a:pt x="2159" y="24"/>
                  <a:pt x="2192" y="16"/>
                  <a:pt x="2192" y="16"/>
                </a:cubicBezTo>
                <a:cubicBezTo>
                  <a:pt x="2254" y="28"/>
                  <a:pt x="2222" y="14"/>
                  <a:pt x="2280" y="72"/>
                </a:cubicBezTo>
                <a:cubicBezTo>
                  <a:pt x="2288" y="80"/>
                  <a:pt x="2296" y="88"/>
                  <a:pt x="2304" y="96"/>
                </a:cubicBezTo>
                <a:cubicBezTo>
                  <a:pt x="2312" y="104"/>
                  <a:pt x="2328" y="120"/>
                  <a:pt x="2328" y="120"/>
                </a:cubicBezTo>
                <a:cubicBezTo>
                  <a:pt x="2341" y="117"/>
                  <a:pt x="2356" y="119"/>
                  <a:pt x="2368" y="112"/>
                </a:cubicBezTo>
                <a:cubicBezTo>
                  <a:pt x="2376" y="107"/>
                  <a:pt x="2378" y="95"/>
                  <a:pt x="2384" y="88"/>
                </a:cubicBezTo>
                <a:cubicBezTo>
                  <a:pt x="2398" y="71"/>
                  <a:pt x="2439" y="35"/>
                  <a:pt x="2456" y="32"/>
                </a:cubicBezTo>
                <a:cubicBezTo>
                  <a:pt x="2493" y="26"/>
                  <a:pt x="2524" y="17"/>
                  <a:pt x="2560" y="8"/>
                </a:cubicBezTo>
                <a:cubicBezTo>
                  <a:pt x="2587" y="16"/>
                  <a:pt x="2619" y="19"/>
                  <a:pt x="2640" y="40"/>
                </a:cubicBezTo>
                <a:cubicBezTo>
                  <a:pt x="2707" y="107"/>
                  <a:pt x="2612" y="23"/>
                  <a:pt x="2664" y="88"/>
                </a:cubicBezTo>
                <a:cubicBezTo>
                  <a:pt x="2675" y="102"/>
                  <a:pt x="2696" y="107"/>
                  <a:pt x="2712" y="112"/>
                </a:cubicBezTo>
                <a:cubicBezTo>
                  <a:pt x="2733" y="109"/>
                  <a:pt x="2756" y="112"/>
                  <a:pt x="2776" y="104"/>
                </a:cubicBezTo>
                <a:cubicBezTo>
                  <a:pt x="2793" y="97"/>
                  <a:pt x="2814" y="27"/>
                  <a:pt x="2824" y="8"/>
                </a:cubicBezTo>
              </a:path>
            </a:pathLst>
          </a:custGeom>
          <a:noFill/>
          <a:ln w="25400" cap="flat" cmpd="sng">
            <a:solidFill>
              <a:srgbClr val="0000FF"/>
            </a:solidFill>
            <a:prstDash val="solid"/>
            <a:round/>
            <a:headEnd type="none" w="sm" len="sm"/>
            <a:tailEnd type="none" w="sm" len="sm"/>
          </a:ln>
          <a:effectLst/>
        </p:spPr>
        <p:txBody>
          <a:bodyPr/>
          <a:lstStyle/>
          <a:p>
            <a:endParaRPr lang="en-GB"/>
          </a:p>
        </p:txBody>
      </p:sp>
      <p:sp>
        <p:nvSpPr>
          <p:cNvPr id="418839" name="Freeform 23"/>
          <p:cNvSpPr>
            <a:spLocks/>
          </p:cNvSpPr>
          <p:nvPr/>
        </p:nvSpPr>
        <p:spPr bwMode="auto">
          <a:xfrm>
            <a:off x="4572000" y="2984500"/>
            <a:ext cx="4138613" cy="266700"/>
          </a:xfrm>
          <a:custGeom>
            <a:avLst/>
            <a:gdLst/>
            <a:ahLst/>
            <a:cxnLst>
              <a:cxn ang="0">
                <a:pos x="0" y="88"/>
              </a:cxn>
              <a:cxn ang="0">
                <a:pos x="120" y="16"/>
              </a:cxn>
              <a:cxn ang="0">
                <a:pos x="176" y="24"/>
              </a:cxn>
              <a:cxn ang="0">
                <a:pos x="192" y="48"/>
              </a:cxn>
              <a:cxn ang="0">
                <a:pos x="248" y="104"/>
              </a:cxn>
              <a:cxn ang="0">
                <a:pos x="360" y="136"/>
              </a:cxn>
              <a:cxn ang="0">
                <a:pos x="416" y="128"/>
              </a:cxn>
              <a:cxn ang="0">
                <a:pos x="448" y="104"/>
              </a:cxn>
              <a:cxn ang="0">
                <a:pos x="472" y="96"/>
              </a:cxn>
              <a:cxn ang="0">
                <a:pos x="576" y="0"/>
              </a:cxn>
              <a:cxn ang="0">
                <a:pos x="688" y="104"/>
              </a:cxn>
              <a:cxn ang="0">
                <a:pos x="872" y="168"/>
              </a:cxn>
              <a:cxn ang="0">
                <a:pos x="920" y="160"/>
              </a:cxn>
              <a:cxn ang="0">
                <a:pos x="952" y="136"/>
              </a:cxn>
              <a:cxn ang="0">
                <a:pos x="976" y="128"/>
              </a:cxn>
              <a:cxn ang="0">
                <a:pos x="1096" y="16"/>
              </a:cxn>
              <a:cxn ang="0">
                <a:pos x="1264" y="144"/>
              </a:cxn>
              <a:cxn ang="0">
                <a:pos x="1464" y="40"/>
              </a:cxn>
              <a:cxn ang="0">
                <a:pos x="1672" y="128"/>
              </a:cxn>
              <a:cxn ang="0">
                <a:pos x="1728" y="120"/>
              </a:cxn>
              <a:cxn ang="0">
                <a:pos x="1760" y="72"/>
              </a:cxn>
              <a:cxn ang="0">
                <a:pos x="1784" y="48"/>
              </a:cxn>
              <a:cxn ang="0">
                <a:pos x="1816" y="0"/>
              </a:cxn>
              <a:cxn ang="0">
                <a:pos x="1960" y="32"/>
              </a:cxn>
              <a:cxn ang="0">
                <a:pos x="2048" y="104"/>
              </a:cxn>
              <a:cxn ang="0">
                <a:pos x="2144" y="32"/>
              </a:cxn>
              <a:cxn ang="0">
                <a:pos x="2192" y="16"/>
              </a:cxn>
              <a:cxn ang="0">
                <a:pos x="2280" y="72"/>
              </a:cxn>
              <a:cxn ang="0">
                <a:pos x="2304" y="96"/>
              </a:cxn>
              <a:cxn ang="0">
                <a:pos x="2328" y="120"/>
              </a:cxn>
              <a:cxn ang="0">
                <a:pos x="2368" y="112"/>
              </a:cxn>
              <a:cxn ang="0">
                <a:pos x="2384" y="88"/>
              </a:cxn>
              <a:cxn ang="0">
                <a:pos x="2456" y="32"/>
              </a:cxn>
              <a:cxn ang="0">
                <a:pos x="2560" y="8"/>
              </a:cxn>
              <a:cxn ang="0">
                <a:pos x="2640" y="40"/>
              </a:cxn>
              <a:cxn ang="0">
                <a:pos x="2664" y="88"/>
              </a:cxn>
              <a:cxn ang="0">
                <a:pos x="2712" y="112"/>
              </a:cxn>
              <a:cxn ang="0">
                <a:pos x="2776" y="104"/>
              </a:cxn>
              <a:cxn ang="0">
                <a:pos x="2824" y="8"/>
              </a:cxn>
            </a:cxnLst>
            <a:rect l="0" t="0" r="r" b="b"/>
            <a:pathLst>
              <a:path w="2824" h="168">
                <a:moveTo>
                  <a:pt x="0" y="88"/>
                </a:moveTo>
                <a:cubicBezTo>
                  <a:pt x="33" y="39"/>
                  <a:pt x="69" y="33"/>
                  <a:pt x="120" y="16"/>
                </a:cubicBezTo>
                <a:cubicBezTo>
                  <a:pt x="139" y="19"/>
                  <a:pt x="159" y="16"/>
                  <a:pt x="176" y="24"/>
                </a:cubicBezTo>
                <a:cubicBezTo>
                  <a:pt x="185" y="28"/>
                  <a:pt x="186" y="41"/>
                  <a:pt x="192" y="48"/>
                </a:cubicBezTo>
                <a:cubicBezTo>
                  <a:pt x="210" y="68"/>
                  <a:pt x="224" y="92"/>
                  <a:pt x="248" y="104"/>
                </a:cubicBezTo>
                <a:cubicBezTo>
                  <a:pt x="285" y="122"/>
                  <a:pt x="321" y="126"/>
                  <a:pt x="360" y="136"/>
                </a:cubicBezTo>
                <a:cubicBezTo>
                  <a:pt x="379" y="133"/>
                  <a:pt x="398" y="134"/>
                  <a:pt x="416" y="128"/>
                </a:cubicBezTo>
                <a:cubicBezTo>
                  <a:pt x="429" y="123"/>
                  <a:pt x="436" y="111"/>
                  <a:pt x="448" y="104"/>
                </a:cubicBezTo>
                <a:cubicBezTo>
                  <a:pt x="455" y="100"/>
                  <a:pt x="464" y="99"/>
                  <a:pt x="472" y="96"/>
                </a:cubicBezTo>
                <a:cubicBezTo>
                  <a:pt x="511" y="67"/>
                  <a:pt x="537" y="26"/>
                  <a:pt x="576" y="0"/>
                </a:cubicBezTo>
                <a:cubicBezTo>
                  <a:pt x="617" y="31"/>
                  <a:pt x="652" y="68"/>
                  <a:pt x="688" y="104"/>
                </a:cubicBezTo>
                <a:cubicBezTo>
                  <a:pt x="727" y="143"/>
                  <a:pt x="819" y="150"/>
                  <a:pt x="872" y="168"/>
                </a:cubicBezTo>
                <a:cubicBezTo>
                  <a:pt x="888" y="165"/>
                  <a:pt x="905" y="166"/>
                  <a:pt x="920" y="160"/>
                </a:cubicBezTo>
                <a:cubicBezTo>
                  <a:pt x="932" y="155"/>
                  <a:pt x="940" y="143"/>
                  <a:pt x="952" y="136"/>
                </a:cubicBezTo>
                <a:cubicBezTo>
                  <a:pt x="959" y="132"/>
                  <a:pt x="968" y="131"/>
                  <a:pt x="976" y="128"/>
                </a:cubicBezTo>
                <a:cubicBezTo>
                  <a:pt x="1015" y="89"/>
                  <a:pt x="1042" y="34"/>
                  <a:pt x="1096" y="16"/>
                </a:cubicBezTo>
                <a:cubicBezTo>
                  <a:pt x="1140" y="82"/>
                  <a:pt x="1186" y="124"/>
                  <a:pt x="1264" y="144"/>
                </a:cubicBezTo>
                <a:cubicBezTo>
                  <a:pt x="1351" y="127"/>
                  <a:pt x="1382" y="61"/>
                  <a:pt x="1464" y="40"/>
                </a:cubicBezTo>
                <a:cubicBezTo>
                  <a:pt x="1717" y="63"/>
                  <a:pt x="1596" y="14"/>
                  <a:pt x="1672" y="128"/>
                </a:cubicBezTo>
                <a:cubicBezTo>
                  <a:pt x="1691" y="125"/>
                  <a:pt x="1710" y="125"/>
                  <a:pt x="1728" y="120"/>
                </a:cubicBezTo>
                <a:cubicBezTo>
                  <a:pt x="1767" y="108"/>
                  <a:pt x="1743" y="101"/>
                  <a:pt x="1760" y="72"/>
                </a:cubicBezTo>
                <a:cubicBezTo>
                  <a:pt x="1766" y="62"/>
                  <a:pt x="1777" y="57"/>
                  <a:pt x="1784" y="48"/>
                </a:cubicBezTo>
                <a:cubicBezTo>
                  <a:pt x="1796" y="33"/>
                  <a:pt x="1816" y="0"/>
                  <a:pt x="1816" y="0"/>
                </a:cubicBezTo>
                <a:cubicBezTo>
                  <a:pt x="1939" y="26"/>
                  <a:pt x="1891" y="15"/>
                  <a:pt x="1960" y="32"/>
                </a:cubicBezTo>
                <a:cubicBezTo>
                  <a:pt x="1973" y="82"/>
                  <a:pt x="2001" y="88"/>
                  <a:pt x="2048" y="104"/>
                </a:cubicBezTo>
                <a:cubicBezTo>
                  <a:pt x="2103" y="90"/>
                  <a:pt x="2094" y="59"/>
                  <a:pt x="2144" y="32"/>
                </a:cubicBezTo>
                <a:cubicBezTo>
                  <a:pt x="2159" y="24"/>
                  <a:pt x="2192" y="16"/>
                  <a:pt x="2192" y="16"/>
                </a:cubicBezTo>
                <a:cubicBezTo>
                  <a:pt x="2254" y="28"/>
                  <a:pt x="2222" y="14"/>
                  <a:pt x="2280" y="72"/>
                </a:cubicBezTo>
                <a:cubicBezTo>
                  <a:pt x="2288" y="80"/>
                  <a:pt x="2296" y="88"/>
                  <a:pt x="2304" y="96"/>
                </a:cubicBezTo>
                <a:cubicBezTo>
                  <a:pt x="2312" y="104"/>
                  <a:pt x="2328" y="120"/>
                  <a:pt x="2328" y="120"/>
                </a:cubicBezTo>
                <a:cubicBezTo>
                  <a:pt x="2341" y="117"/>
                  <a:pt x="2356" y="119"/>
                  <a:pt x="2368" y="112"/>
                </a:cubicBezTo>
                <a:cubicBezTo>
                  <a:pt x="2376" y="107"/>
                  <a:pt x="2378" y="95"/>
                  <a:pt x="2384" y="88"/>
                </a:cubicBezTo>
                <a:cubicBezTo>
                  <a:pt x="2398" y="71"/>
                  <a:pt x="2439" y="35"/>
                  <a:pt x="2456" y="32"/>
                </a:cubicBezTo>
                <a:cubicBezTo>
                  <a:pt x="2493" y="26"/>
                  <a:pt x="2524" y="17"/>
                  <a:pt x="2560" y="8"/>
                </a:cubicBezTo>
                <a:cubicBezTo>
                  <a:pt x="2587" y="16"/>
                  <a:pt x="2619" y="19"/>
                  <a:pt x="2640" y="40"/>
                </a:cubicBezTo>
                <a:cubicBezTo>
                  <a:pt x="2707" y="107"/>
                  <a:pt x="2612" y="23"/>
                  <a:pt x="2664" y="88"/>
                </a:cubicBezTo>
                <a:cubicBezTo>
                  <a:pt x="2675" y="102"/>
                  <a:pt x="2696" y="107"/>
                  <a:pt x="2712" y="112"/>
                </a:cubicBezTo>
                <a:cubicBezTo>
                  <a:pt x="2733" y="109"/>
                  <a:pt x="2756" y="112"/>
                  <a:pt x="2776" y="104"/>
                </a:cubicBezTo>
                <a:cubicBezTo>
                  <a:pt x="2793" y="97"/>
                  <a:pt x="2814" y="27"/>
                  <a:pt x="2824" y="8"/>
                </a:cubicBezTo>
              </a:path>
            </a:pathLst>
          </a:custGeom>
          <a:noFill/>
          <a:ln w="25400" cap="flat" cmpd="sng">
            <a:solidFill>
              <a:srgbClr val="0000FF"/>
            </a:solidFill>
            <a:prstDash val="solid"/>
            <a:round/>
            <a:headEnd type="none" w="sm" len="sm"/>
            <a:tailEnd type="none" w="sm" len="sm"/>
          </a:ln>
          <a:effectLst/>
        </p:spPr>
        <p:txBody>
          <a:bodyPr/>
          <a:lstStyle/>
          <a:p>
            <a:endParaRPr lang="en-GB"/>
          </a:p>
        </p:txBody>
      </p:sp>
      <p:grpSp>
        <p:nvGrpSpPr>
          <p:cNvPr id="2" name="Group 24"/>
          <p:cNvGrpSpPr>
            <a:grpSpLocks/>
          </p:cNvGrpSpPr>
          <p:nvPr/>
        </p:nvGrpSpPr>
        <p:grpSpPr bwMode="auto">
          <a:xfrm>
            <a:off x="6694488" y="2133600"/>
            <a:ext cx="315912" cy="368300"/>
            <a:chOff x="3616" y="1016"/>
            <a:chExt cx="216" cy="232"/>
          </a:xfrm>
        </p:grpSpPr>
        <p:sp>
          <p:nvSpPr>
            <p:cNvPr id="418841" name="Line 25"/>
            <p:cNvSpPr>
              <a:spLocks noChangeShapeType="1"/>
            </p:cNvSpPr>
            <p:nvPr/>
          </p:nvSpPr>
          <p:spPr bwMode="auto">
            <a:xfrm>
              <a:off x="3616" y="1016"/>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42" name="Line 26"/>
            <p:cNvSpPr>
              <a:spLocks noChangeShapeType="1"/>
            </p:cNvSpPr>
            <p:nvPr/>
          </p:nvSpPr>
          <p:spPr bwMode="auto">
            <a:xfrm>
              <a:off x="3616" y="1064"/>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43" name="Line 27"/>
            <p:cNvSpPr>
              <a:spLocks noChangeShapeType="1"/>
            </p:cNvSpPr>
            <p:nvPr/>
          </p:nvSpPr>
          <p:spPr bwMode="auto">
            <a:xfrm>
              <a:off x="3616" y="111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44" name="Line 28"/>
            <p:cNvSpPr>
              <a:spLocks noChangeShapeType="1"/>
            </p:cNvSpPr>
            <p:nvPr/>
          </p:nvSpPr>
          <p:spPr bwMode="auto">
            <a:xfrm>
              <a:off x="3616" y="115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45" name="Line 29"/>
            <p:cNvSpPr>
              <a:spLocks noChangeShapeType="1"/>
            </p:cNvSpPr>
            <p:nvPr/>
          </p:nvSpPr>
          <p:spPr bwMode="auto">
            <a:xfrm>
              <a:off x="3624" y="1200"/>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46" name="Line 30"/>
            <p:cNvSpPr>
              <a:spLocks noChangeShapeType="1"/>
            </p:cNvSpPr>
            <p:nvPr/>
          </p:nvSpPr>
          <p:spPr bwMode="auto">
            <a:xfrm>
              <a:off x="3624" y="1248"/>
              <a:ext cx="208" cy="0"/>
            </a:xfrm>
            <a:prstGeom prst="line">
              <a:avLst/>
            </a:prstGeom>
            <a:noFill/>
            <a:ln w="28575">
              <a:solidFill>
                <a:schemeClr val="tx1"/>
              </a:solidFill>
              <a:round/>
              <a:headEnd type="none" w="sm" len="sm"/>
              <a:tailEnd type="none" w="sm" len="sm"/>
            </a:ln>
            <a:effectLst/>
          </p:spPr>
          <p:txBody>
            <a:bodyPr/>
            <a:lstStyle/>
            <a:p>
              <a:endParaRPr lang="en-GB"/>
            </a:p>
          </p:txBody>
        </p:sp>
      </p:grpSp>
      <p:grpSp>
        <p:nvGrpSpPr>
          <p:cNvPr id="3" name="Group 31"/>
          <p:cNvGrpSpPr>
            <a:grpSpLocks/>
          </p:cNvGrpSpPr>
          <p:nvPr/>
        </p:nvGrpSpPr>
        <p:grpSpPr bwMode="auto">
          <a:xfrm>
            <a:off x="2579688" y="2057400"/>
            <a:ext cx="315912" cy="368300"/>
            <a:chOff x="3616" y="1016"/>
            <a:chExt cx="216" cy="232"/>
          </a:xfrm>
        </p:grpSpPr>
        <p:sp>
          <p:nvSpPr>
            <p:cNvPr id="418848" name="Line 32"/>
            <p:cNvSpPr>
              <a:spLocks noChangeShapeType="1"/>
            </p:cNvSpPr>
            <p:nvPr/>
          </p:nvSpPr>
          <p:spPr bwMode="auto">
            <a:xfrm>
              <a:off x="3616" y="1016"/>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49" name="Line 33"/>
            <p:cNvSpPr>
              <a:spLocks noChangeShapeType="1"/>
            </p:cNvSpPr>
            <p:nvPr/>
          </p:nvSpPr>
          <p:spPr bwMode="auto">
            <a:xfrm>
              <a:off x="3616" y="1064"/>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50" name="Line 34"/>
            <p:cNvSpPr>
              <a:spLocks noChangeShapeType="1"/>
            </p:cNvSpPr>
            <p:nvPr/>
          </p:nvSpPr>
          <p:spPr bwMode="auto">
            <a:xfrm>
              <a:off x="3616" y="111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51" name="Line 35"/>
            <p:cNvSpPr>
              <a:spLocks noChangeShapeType="1"/>
            </p:cNvSpPr>
            <p:nvPr/>
          </p:nvSpPr>
          <p:spPr bwMode="auto">
            <a:xfrm>
              <a:off x="3616" y="1152"/>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52" name="Line 36"/>
            <p:cNvSpPr>
              <a:spLocks noChangeShapeType="1"/>
            </p:cNvSpPr>
            <p:nvPr/>
          </p:nvSpPr>
          <p:spPr bwMode="auto">
            <a:xfrm>
              <a:off x="3624" y="1200"/>
              <a:ext cx="208" cy="0"/>
            </a:xfrm>
            <a:prstGeom prst="line">
              <a:avLst/>
            </a:prstGeom>
            <a:noFill/>
            <a:ln w="28575">
              <a:solidFill>
                <a:schemeClr val="tx1"/>
              </a:solidFill>
              <a:round/>
              <a:headEnd type="none" w="sm" len="sm"/>
              <a:tailEnd type="none" w="sm" len="sm"/>
            </a:ln>
            <a:effectLst/>
          </p:spPr>
          <p:txBody>
            <a:bodyPr/>
            <a:lstStyle/>
            <a:p>
              <a:endParaRPr lang="en-GB"/>
            </a:p>
          </p:txBody>
        </p:sp>
        <p:sp>
          <p:nvSpPr>
            <p:cNvPr id="418853" name="Line 37"/>
            <p:cNvSpPr>
              <a:spLocks noChangeShapeType="1"/>
            </p:cNvSpPr>
            <p:nvPr/>
          </p:nvSpPr>
          <p:spPr bwMode="auto">
            <a:xfrm>
              <a:off x="3624" y="1248"/>
              <a:ext cx="208" cy="0"/>
            </a:xfrm>
            <a:prstGeom prst="line">
              <a:avLst/>
            </a:prstGeom>
            <a:noFill/>
            <a:ln w="28575">
              <a:solidFill>
                <a:schemeClr val="tx1"/>
              </a:solidFill>
              <a:round/>
              <a:headEnd type="none" w="sm" len="sm"/>
              <a:tailEnd type="none" w="sm" len="sm"/>
            </a:ln>
            <a:effectLst/>
          </p:spPr>
          <p:txBody>
            <a:bodyPr/>
            <a:lstStyle/>
            <a:p>
              <a:endParaRPr lang="en-GB"/>
            </a:p>
          </p:txBody>
        </p:sp>
      </p:grpSp>
      <p:sp>
        <p:nvSpPr>
          <p:cNvPr id="418854" name="Freeform 38"/>
          <p:cNvSpPr>
            <a:spLocks/>
          </p:cNvSpPr>
          <p:nvPr/>
        </p:nvSpPr>
        <p:spPr bwMode="auto">
          <a:xfrm>
            <a:off x="2930525" y="1473200"/>
            <a:ext cx="820738" cy="914400"/>
          </a:xfrm>
          <a:custGeom>
            <a:avLst/>
            <a:gdLst/>
            <a:ahLst/>
            <a:cxnLst>
              <a:cxn ang="0">
                <a:pos x="336" y="0"/>
              </a:cxn>
              <a:cxn ang="0">
                <a:pos x="504" y="256"/>
              </a:cxn>
              <a:cxn ang="0">
                <a:pos x="0" y="576"/>
              </a:cxn>
            </a:cxnLst>
            <a:rect l="0" t="0" r="r" b="b"/>
            <a:pathLst>
              <a:path w="560" h="576">
                <a:moveTo>
                  <a:pt x="336" y="0"/>
                </a:moveTo>
                <a:cubicBezTo>
                  <a:pt x="448" y="80"/>
                  <a:pt x="560" y="160"/>
                  <a:pt x="504" y="256"/>
                </a:cubicBezTo>
                <a:cubicBezTo>
                  <a:pt x="448" y="352"/>
                  <a:pt x="224" y="464"/>
                  <a:pt x="0" y="576"/>
                </a:cubicBezTo>
              </a:path>
            </a:pathLst>
          </a:custGeom>
          <a:noFill/>
          <a:ln w="38100" cap="flat" cmpd="sng">
            <a:solidFill>
              <a:schemeClr val="tx1"/>
            </a:solidFill>
            <a:prstDash val="solid"/>
            <a:round/>
            <a:headEnd type="none" w="sm" len="sm"/>
            <a:tailEnd type="triangle" w="med" len="med"/>
          </a:ln>
          <a:effectLst/>
        </p:spPr>
        <p:txBody>
          <a:bodyPr/>
          <a:lstStyle/>
          <a:p>
            <a:endParaRPr lang="en-GB"/>
          </a:p>
        </p:txBody>
      </p:sp>
      <p:sp>
        <p:nvSpPr>
          <p:cNvPr id="418855" name="Text Box 39"/>
          <p:cNvSpPr txBox="1">
            <a:spLocks noChangeArrowheads="1"/>
          </p:cNvSpPr>
          <p:nvPr/>
        </p:nvSpPr>
        <p:spPr bwMode="auto">
          <a:xfrm>
            <a:off x="923925" y="5246744"/>
            <a:ext cx="7487841" cy="1200329"/>
          </a:xfrm>
          <a:prstGeom prst="rect">
            <a:avLst/>
          </a:prstGeom>
          <a:ln>
            <a:noFill/>
            <a:headEnd type="none" w="sm" len="sm"/>
            <a:tailEnd type="none" w="sm" len="sm"/>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wrap="square">
            <a:spAutoFit/>
          </a:bodyPr>
          <a:lstStyle/>
          <a:p>
            <a:pPr defTabSz="739775">
              <a:spcBef>
                <a:spcPct val="0"/>
              </a:spcBef>
            </a:pPr>
            <a:r>
              <a:rPr lang="en-GB" sz="1800" dirty="0" smtClean="0"/>
              <a:t>E.G </a:t>
            </a:r>
            <a:r>
              <a:rPr lang="en-GB" sz="1800" dirty="0"/>
              <a:t>Cheque Account chooses to </a:t>
            </a:r>
            <a:r>
              <a:rPr lang="en-GB" sz="1800" dirty="0" smtClean="0"/>
              <a:t>use the </a:t>
            </a:r>
            <a:r>
              <a:rPr lang="en-GB" sz="1800" dirty="0"/>
              <a:t>default "Account" </a:t>
            </a:r>
            <a:r>
              <a:rPr lang="en-GB" sz="1800" dirty="0" err="1"/>
              <a:t>A</a:t>
            </a:r>
            <a:r>
              <a:rPr lang="en-GB" sz="1800" dirty="0" err="1" smtClean="0"/>
              <a:t>ddInterest</a:t>
            </a:r>
            <a:r>
              <a:rPr lang="en-GB" sz="1800" dirty="0"/>
              <a:t>()</a:t>
            </a:r>
            <a:br>
              <a:rPr lang="en-GB" sz="1800" dirty="0"/>
            </a:br>
            <a:r>
              <a:rPr lang="en-GB" sz="1800" dirty="0"/>
              <a:t>and by declaring nothing </a:t>
            </a:r>
            <a:r>
              <a:rPr lang="en-GB" sz="1800" dirty="0" err="1" smtClean="0"/>
              <a:t>automaticallygets</a:t>
            </a:r>
            <a:r>
              <a:rPr lang="en-GB" sz="1800" dirty="0" smtClean="0"/>
              <a:t> </a:t>
            </a:r>
            <a:r>
              <a:rPr lang="en-GB" sz="1800" dirty="0"/>
              <a:t>this "base class" version.</a:t>
            </a:r>
          </a:p>
          <a:p>
            <a:pPr defTabSz="739775">
              <a:spcBef>
                <a:spcPct val="0"/>
              </a:spcBef>
            </a:pPr>
            <a:endParaRPr lang="en-GB" sz="1800" dirty="0"/>
          </a:p>
          <a:p>
            <a:pPr defTabSz="739775">
              <a:spcBef>
                <a:spcPct val="0"/>
              </a:spcBef>
            </a:pPr>
            <a:r>
              <a:rPr lang="en-GB" sz="1800" dirty="0"/>
              <a:t>This is programming by difference.</a:t>
            </a:r>
          </a:p>
        </p:txBody>
      </p:sp>
      <p:sp>
        <p:nvSpPr>
          <p:cNvPr id="418856" name="Freeform 40"/>
          <p:cNvSpPr>
            <a:spLocks/>
          </p:cNvSpPr>
          <p:nvPr/>
        </p:nvSpPr>
        <p:spPr bwMode="auto">
          <a:xfrm>
            <a:off x="7802563" y="1462088"/>
            <a:ext cx="376237" cy="2741612"/>
          </a:xfrm>
          <a:custGeom>
            <a:avLst/>
            <a:gdLst/>
            <a:ahLst/>
            <a:cxnLst>
              <a:cxn ang="0">
                <a:pos x="0" y="0"/>
              </a:cxn>
              <a:cxn ang="0">
                <a:pos x="29" y="50"/>
              </a:cxn>
              <a:cxn ang="0">
                <a:pos x="54" y="98"/>
              </a:cxn>
              <a:cxn ang="0">
                <a:pos x="77" y="146"/>
              </a:cxn>
              <a:cxn ang="0">
                <a:pos x="94" y="194"/>
              </a:cxn>
              <a:cxn ang="0">
                <a:pos x="107" y="239"/>
              </a:cxn>
              <a:cxn ang="0">
                <a:pos x="117" y="282"/>
              </a:cxn>
              <a:cxn ang="0">
                <a:pos x="120" y="324"/>
              </a:cxn>
              <a:cxn ang="0">
                <a:pos x="120" y="362"/>
              </a:cxn>
              <a:cxn ang="0">
                <a:pos x="115" y="397"/>
              </a:cxn>
              <a:cxn ang="0">
                <a:pos x="106" y="429"/>
              </a:cxn>
              <a:cxn ang="0">
                <a:pos x="91" y="456"/>
              </a:cxn>
              <a:cxn ang="0">
                <a:pos x="74" y="482"/>
              </a:cxn>
              <a:cxn ang="0">
                <a:pos x="51" y="503"/>
              </a:cxn>
            </a:cxnLst>
            <a:rect l="0" t="0" r="r" b="b"/>
            <a:pathLst>
              <a:path w="120" h="503">
                <a:moveTo>
                  <a:pt x="0" y="0"/>
                </a:moveTo>
                <a:lnTo>
                  <a:pt x="29" y="50"/>
                </a:lnTo>
                <a:lnTo>
                  <a:pt x="54" y="98"/>
                </a:lnTo>
                <a:lnTo>
                  <a:pt x="77" y="146"/>
                </a:lnTo>
                <a:lnTo>
                  <a:pt x="94" y="194"/>
                </a:lnTo>
                <a:lnTo>
                  <a:pt x="107" y="239"/>
                </a:lnTo>
                <a:lnTo>
                  <a:pt x="117" y="282"/>
                </a:lnTo>
                <a:lnTo>
                  <a:pt x="120" y="324"/>
                </a:lnTo>
                <a:lnTo>
                  <a:pt x="120" y="362"/>
                </a:lnTo>
                <a:lnTo>
                  <a:pt x="115" y="397"/>
                </a:lnTo>
                <a:lnTo>
                  <a:pt x="106" y="429"/>
                </a:lnTo>
                <a:lnTo>
                  <a:pt x="91" y="456"/>
                </a:lnTo>
                <a:lnTo>
                  <a:pt x="74" y="482"/>
                </a:lnTo>
                <a:lnTo>
                  <a:pt x="51" y="503"/>
                </a:lnTo>
              </a:path>
            </a:pathLst>
          </a:custGeom>
          <a:noFill/>
          <a:ln w="38100" cmpd="sng">
            <a:solidFill>
              <a:srgbClr val="000000"/>
            </a:solidFill>
            <a:prstDash val="solid"/>
            <a:round/>
            <a:headEnd/>
            <a:tailEnd/>
          </a:ln>
        </p:spPr>
        <p:txBody>
          <a:bodyPr/>
          <a:lstStyle/>
          <a:p>
            <a:endParaRPr lang="en-GB"/>
          </a:p>
        </p:txBody>
      </p:sp>
      <p:sp>
        <p:nvSpPr>
          <p:cNvPr id="418857" name="Freeform 41"/>
          <p:cNvSpPr>
            <a:spLocks/>
          </p:cNvSpPr>
          <p:nvPr/>
        </p:nvSpPr>
        <p:spPr bwMode="auto">
          <a:xfrm>
            <a:off x="7697788" y="4106863"/>
            <a:ext cx="238125" cy="223837"/>
          </a:xfrm>
          <a:custGeom>
            <a:avLst/>
            <a:gdLst/>
            <a:ahLst/>
            <a:cxnLst>
              <a:cxn ang="0">
                <a:pos x="163" y="141"/>
              </a:cxn>
              <a:cxn ang="0">
                <a:pos x="0" y="115"/>
              </a:cxn>
              <a:cxn ang="0">
                <a:pos x="118" y="0"/>
              </a:cxn>
              <a:cxn ang="0">
                <a:pos x="163" y="141"/>
              </a:cxn>
            </a:cxnLst>
            <a:rect l="0" t="0" r="r" b="b"/>
            <a:pathLst>
              <a:path w="163" h="141">
                <a:moveTo>
                  <a:pt x="163" y="141"/>
                </a:moveTo>
                <a:lnTo>
                  <a:pt x="0" y="115"/>
                </a:lnTo>
                <a:lnTo>
                  <a:pt x="118" y="0"/>
                </a:lnTo>
                <a:lnTo>
                  <a:pt x="163" y="141"/>
                </a:lnTo>
                <a:close/>
              </a:path>
            </a:pathLst>
          </a:custGeom>
          <a:solidFill>
            <a:srgbClr val="000000"/>
          </a:solidFill>
          <a:ln w="9525">
            <a:noFill/>
            <a:round/>
            <a:headEnd/>
            <a:tailEnd/>
          </a:ln>
        </p:spPr>
        <p:txBody>
          <a:bodyPr/>
          <a:lstStyle/>
          <a:p>
            <a:endParaRPr lang="en-GB"/>
          </a:p>
        </p:txBody>
      </p:sp>
    </p:spTree>
    <p:extLst>
      <p:ext uri="{BB962C8B-B14F-4D97-AF65-F5344CB8AC3E}">
        <p14:creationId xmlns:p14="http://schemas.microsoft.com/office/powerpoint/2010/main" val="2206348402"/>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Line 2"/>
          <p:cNvSpPr>
            <a:spLocks noChangeShapeType="1"/>
          </p:cNvSpPr>
          <p:nvPr/>
        </p:nvSpPr>
        <p:spPr bwMode="auto">
          <a:xfrm flipV="1">
            <a:off x="5146675" y="4677075"/>
            <a:ext cx="0" cy="304800"/>
          </a:xfrm>
          <a:prstGeom prst="line">
            <a:avLst/>
          </a:prstGeom>
          <a:noFill/>
          <a:ln w="12700">
            <a:solidFill>
              <a:schemeClr val="tx1"/>
            </a:solidFill>
            <a:round/>
            <a:headEnd type="none" w="sm" len="sm"/>
            <a:tailEnd type="none" w="sm" len="sm"/>
          </a:ln>
          <a:effectLst/>
        </p:spPr>
        <p:txBody>
          <a:bodyPr/>
          <a:lstStyle/>
          <a:p>
            <a:endParaRPr lang="en-GB"/>
          </a:p>
        </p:txBody>
      </p:sp>
      <p:sp>
        <p:nvSpPr>
          <p:cNvPr id="420867" name="Line 3"/>
          <p:cNvSpPr>
            <a:spLocks noChangeShapeType="1"/>
          </p:cNvSpPr>
          <p:nvPr/>
        </p:nvSpPr>
        <p:spPr bwMode="auto">
          <a:xfrm>
            <a:off x="6834188" y="4677075"/>
            <a:ext cx="0" cy="304800"/>
          </a:xfrm>
          <a:prstGeom prst="line">
            <a:avLst/>
          </a:prstGeom>
          <a:noFill/>
          <a:ln w="12700">
            <a:solidFill>
              <a:schemeClr val="tx1"/>
            </a:solidFill>
            <a:round/>
            <a:headEnd type="none" w="sm" len="sm"/>
            <a:tailEnd type="none" w="sm" len="sm"/>
          </a:ln>
          <a:effectLst/>
        </p:spPr>
        <p:txBody>
          <a:bodyPr/>
          <a:lstStyle/>
          <a:p>
            <a:endParaRPr lang="en-GB"/>
          </a:p>
        </p:txBody>
      </p:sp>
      <p:sp>
        <p:nvSpPr>
          <p:cNvPr id="420868" name="Line 4"/>
          <p:cNvSpPr>
            <a:spLocks noChangeShapeType="1"/>
          </p:cNvSpPr>
          <p:nvPr/>
        </p:nvSpPr>
        <p:spPr bwMode="auto">
          <a:xfrm flipV="1">
            <a:off x="2176463" y="4362750"/>
            <a:ext cx="280987" cy="696913"/>
          </a:xfrm>
          <a:prstGeom prst="line">
            <a:avLst/>
          </a:prstGeom>
          <a:noFill/>
          <a:ln w="0">
            <a:solidFill>
              <a:srgbClr val="990033"/>
            </a:solidFill>
            <a:round/>
            <a:headEnd/>
            <a:tailEnd/>
          </a:ln>
        </p:spPr>
        <p:txBody>
          <a:bodyPr/>
          <a:lstStyle/>
          <a:p>
            <a:endParaRPr lang="en-GB"/>
          </a:p>
        </p:txBody>
      </p:sp>
      <p:sp>
        <p:nvSpPr>
          <p:cNvPr id="420869" name="Line 5"/>
          <p:cNvSpPr>
            <a:spLocks noChangeShapeType="1"/>
          </p:cNvSpPr>
          <p:nvPr/>
        </p:nvSpPr>
        <p:spPr bwMode="auto">
          <a:xfrm flipH="1" flipV="1">
            <a:off x="3060700" y="4362750"/>
            <a:ext cx="333375" cy="696913"/>
          </a:xfrm>
          <a:prstGeom prst="line">
            <a:avLst/>
          </a:prstGeom>
          <a:noFill/>
          <a:ln w="0">
            <a:solidFill>
              <a:srgbClr val="990033"/>
            </a:solidFill>
            <a:round/>
            <a:headEnd/>
            <a:tailEnd/>
          </a:ln>
        </p:spPr>
        <p:txBody>
          <a:bodyPr/>
          <a:lstStyle/>
          <a:p>
            <a:endParaRPr lang="en-GB"/>
          </a:p>
        </p:txBody>
      </p:sp>
      <p:sp>
        <p:nvSpPr>
          <p:cNvPr id="420870" name="Rectangle 6"/>
          <p:cNvSpPr>
            <a:spLocks noChangeArrowheads="1"/>
          </p:cNvSpPr>
          <p:nvPr/>
        </p:nvSpPr>
        <p:spPr bwMode="auto">
          <a:xfrm>
            <a:off x="703263" y="5705775"/>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20871" name="Rectangle 7"/>
          <p:cNvSpPr>
            <a:spLocks noChangeArrowheads="1"/>
          </p:cNvSpPr>
          <p:nvPr/>
        </p:nvSpPr>
        <p:spPr bwMode="auto">
          <a:xfrm>
            <a:off x="3165475" y="5705775"/>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20872" name="Rectangle 8"/>
          <p:cNvSpPr>
            <a:spLocks noChangeArrowheads="1"/>
          </p:cNvSpPr>
          <p:nvPr/>
        </p:nvSpPr>
        <p:spPr bwMode="auto">
          <a:xfrm>
            <a:off x="703263" y="5705775"/>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20873" name="Rectangle 9"/>
          <p:cNvSpPr>
            <a:spLocks noChangeArrowheads="1"/>
          </p:cNvSpPr>
          <p:nvPr/>
        </p:nvSpPr>
        <p:spPr bwMode="auto">
          <a:xfrm>
            <a:off x="3165475" y="5705775"/>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20874" name="Rectangle 10"/>
          <p:cNvSpPr>
            <a:spLocks noChangeArrowheads="1"/>
          </p:cNvSpPr>
          <p:nvPr/>
        </p:nvSpPr>
        <p:spPr bwMode="auto">
          <a:xfrm>
            <a:off x="685800" y="5705775"/>
            <a:ext cx="190500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20875" name="Rectangle 11"/>
          <p:cNvSpPr>
            <a:spLocks noChangeArrowheads="1"/>
          </p:cNvSpPr>
          <p:nvPr/>
        </p:nvSpPr>
        <p:spPr bwMode="auto">
          <a:xfrm>
            <a:off x="3124200" y="5705775"/>
            <a:ext cx="289560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20877" name="Rectangle 13"/>
          <p:cNvSpPr>
            <a:spLocks noGrp="1" noChangeArrowheads="1"/>
          </p:cNvSpPr>
          <p:nvPr>
            <p:ph type="body" sz="quarter" idx="15"/>
          </p:nvPr>
        </p:nvSpPr>
        <p:spPr/>
        <p:txBody>
          <a:bodyPr/>
          <a:lstStyle/>
          <a:p>
            <a:r>
              <a:rPr lang="en-GB" dirty="0"/>
              <a:t>Inheritance should only be used when the "is a kind of" rule applies.</a:t>
            </a:r>
          </a:p>
        </p:txBody>
      </p:sp>
      <p:sp>
        <p:nvSpPr>
          <p:cNvPr id="420876" name="Rectangle 12"/>
          <p:cNvSpPr>
            <a:spLocks noGrp="1" noChangeArrowheads="1"/>
          </p:cNvSpPr>
          <p:nvPr>
            <p:ph type="title"/>
          </p:nvPr>
        </p:nvSpPr>
        <p:spPr/>
        <p:txBody>
          <a:bodyPr/>
          <a:lstStyle/>
          <a:p>
            <a:r>
              <a:rPr lang="en-GB"/>
              <a:t>They are both "is a" or "is a kind of"</a:t>
            </a:r>
          </a:p>
        </p:txBody>
      </p:sp>
      <p:sp>
        <p:nvSpPr>
          <p:cNvPr id="420878" name="Rectangle 14"/>
          <p:cNvSpPr>
            <a:spLocks noChangeArrowheads="1"/>
          </p:cNvSpPr>
          <p:nvPr/>
        </p:nvSpPr>
        <p:spPr bwMode="auto">
          <a:xfrm>
            <a:off x="1770063" y="1365887"/>
            <a:ext cx="4937500" cy="36035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77788" tIns="41275" rIns="77788" bIns="41275">
            <a:spAutoFit/>
          </a:bodyPr>
          <a:lstStyle/>
          <a:p>
            <a:pPr defTabSz="660400">
              <a:lnSpc>
                <a:spcPct val="90000"/>
              </a:lnSpc>
              <a:spcBef>
                <a:spcPct val="30000"/>
              </a:spcBef>
            </a:pPr>
            <a:r>
              <a:rPr lang="en-GB" sz="2000" b="1"/>
              <a:t>A subclass "is a kind of"  superclass</a:t>
            </a:r>
          </a:p>
        </p:txBody>
      </p:sp>
      <p:sp>
        <p:nvSpPr>
          <p:cNvPr id="420879" name="Rectangle 15"/>
          <p:cNvSpPr>
            <a:spLocks noChangeArrowheads="1"/>
          </p:cNvSpPr>
          <p:nvPr/>
        </p:nvSpPr>
        <p:spPr bwMode="auto">
          <a:xfrm>
            <a:off x="1008611" y="1918161"/>
            <a:ext cx="6854825" cy="736600"/>
          </a:xfrm>
          <a:prstGeom prst="rect">
            <a:avLst/>
          </a:prstGeom>
          <a:solidFill>
            <a:schemeClr val="accent1"/>
          </a:solidFill>
          <a:ln w="12700">
            <a:solidFill>
              <a:schemeClr val="accent2"/>
            </a:solidFill>
            <a:miter lim="800000"/>
            <a:headEnd/>
            <a:tailEnd/>
          </a:ln>
          <a:effectLst>
            <a:outerShdw dist="107763" dir="2700000" algn="ctr" rotWithShape="0">
              <a:schemeClr val="bg2"/>
            </a:outerShdw>
          </a:effectLst>
        </p:spPr>
        <p:txBody>
          <a:bodyPr lIns="77788" tIns="41275" rIns="77788" bIns="41275">
            <a:spAutoFit/>
          </a:bodyPr>
          <a:lstStyle/>
          <a:p>
            <a:pPr defTabSz="660400">
              <a:lnSpc>
                <a:spcPct val="90000"/>
              </a:lnSpc>
              <a:spcBef>
                <a:spcPct val="30000"/>
              </a:spcBef>
            </a:pPr>
            <a:r>
              <a:rPr lang="en-GB" sz="2000" b="1"/>
              <a:t>A CheckAccount "is a kind of" Account</a:t>
            </a:r>
          </a:p>
          <a:p>
            <a:pPr defTabSz="660400">
              <a:lnSpc>
                <a:spcPct val="90000"/>
              </a:lnSpc>
              <a:spcBef>
                <a:spcPct val="30000"/>
              </a:spcBef>
            </a:pPr>
            <a:r>
              <a:rPr lang="en-GB" sz="2000" b="1"/>
              <a:t>A DepositAccount "is a kind of" Account</a:t>
            </a:r>
          </a:p>
        </p:txBody>
      </p:sp>
      <p:sp>
        <p:nvSpPr>
          <p:cNvPr id="420880" name="Rectangle 16"/>
          <p:cNvSpPr>
            <a:spLocks noChangeArrowheads="1"/>
          </p:cNvSpPr>
          <p:nvPr/>
        </p:nvSpPr>
        <p:spPr bwMode="auto">
          <a:xfrm>
            <a:off x="1406525" y="4932663"/>
            <a:ext cx="1050925" cy="1214437"/>
          </a:xfrm>
          <a:prstGeom prst="rect">
            <a:avLst/>
          </a:prstGeom>
          <a:solidFill>
            <a:srgbClr val="FFFFCC"/>
          </a:solidFill>
          <a:ln w="0">
            <a:solidFill>
              <a:srgbClr val="990033"/>
            </a:solidFill>
            <a:miter lim="800000"/>
            <a:headEnd/>
            <a:tailEnd/>
          </a:ln>
        </p:spPr>
        <p:txBody>
          <a:bodyPr/>
          <a:lstStyle/>
          <a:p>
            <a:pPr defTabSz="739775">
              <a:spcBef>
                <a:spcPct val="0"/>
              </a:spcBef>
            </a:pPr>
            <a:endParaRPr lang="en-US" sz="1800"/>
          </a:p>
        </p:txBody>
      </p:sp>
      <p:sp>
        <p:nvSpPr>
          <p:cNvPr id="420881" name="Rectangle 17"/>
          <p:cNvSpPr>
            <a:spLocks noChangeArrowheads="1"/>
          </p:cNvSpPr>
          <p:nvPr/>
        </p:nvSpPr>
        <p:spPr bwMode="auto">
          <a:xfrm>
            <a:off x="1490663" y="4977113"/>
            <a:ext cx="903287" cy="182562"/>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CheckAccount</a:t>
            </a:r>
            <a:endParaRPr lang="en-GB" sz="1800" b="1"/>
          </a:p>
        </p:txBody>
      </p:sp>
      <p:sp>
        <p:nvSpPr>
          <p:cNvPr id="420882" name="Rectangle 18"/>
          <p:cNvSpPr>
            <a:spLocks noChangeArrowheads="1"/>
          </p:cNvSpPr>
          <p:nvPr/>
        </p:nvSpPr>
        <p:spPr bwMode="auto">
          <a:xfrm>
            <a:off x="1406525" y="5167613"/>
            <a:ext cx="1050925" cy="979487"/>
          </a:xfrm>
          <a:prstGeom prst="rect">
            <a:avLst/>
          </a:prstGeom>
          <a:noFill/>
          <a:ln w="0">
            <a:solidFill>
              <a:srgbClr val="990033"/>
            </a:solidFill>
            <a:miter lim="800000"/>
            <a:headEnd/>
            <a:tailEnd/>
          </a:ln>
        </p:spPr>
        <p:txBody>
          <a:bodyPr/>
          <a:lstStyle/>
          <a:p>
            <a:pPr defTabSz="739775">
              <a:spcBef>
                <a:spcPct val="0"/>
              </a:spcBef>
            </a:pPr>
            <a:endParaRPr lang="en-US" sz="1800"/>
          </a:p>
        </p:txBody>
      </p:sp>
      <p:sp>
        <p:nvSpPr>
          <p:cNvPr id="420883" name="Rectangle 19"/>
          <p:cNvSpPr>
            <a:spLocks noChangeArrowheads="1"/>
          </p:cNvSpPr>
          <p:nvPr/>
        </p:nvSpPr>
        <p:spPr bwMode="auto">
          <a:xfrm>
            <a:off x="1406525" y="5258100"/>
            <a:ext cx="1050925" cy="889000"/>
          </a:xfrm>
          <a:prstGeom prst="rect">
            <a:avLst/>
          </a:prstGeom>
          <a:noFill/>
          <a:ln w="0">
            <a:solidFill>
              <a:srgbClr val="990033"/>
            </a:solidFill>
            <a:miter lim="800000"/>
            <a:headEnd/>
            <a:tailEnd/>
          </a:ln>
        </p:spPr>
        <p:txBody>
          <a:bodyPr/>
          <a:lstStyle/>
          <a:p>
            <a:pPr defTabSz="739775">
              <a:spcBef>
                <a:spcPct val="0"/>
              </a:spcBef>
            </a:pPr>
            <a:endParaRPr lang="en-US" sz="1800"/>
          </a:p>
        </p:txBody>
      </p:sp>
      <p:pic>
        <p:nvPicPr>
          <p:cNvPr id="420884" name="Picture 20"/>
          <p:cNvPicPr>
            <a:picLocks noChangeAspect="1" noChangeArrowheads="1"/>
          </p:cNvPicPr>
          <p:nvPr/>
        </p:nvPicPr>
        <p:blipFill>
          <a:blip r:embed="rId3" cstate="print"/>
          <a:srcRect/>
          <a:stretch>
            <a:fillRect/>
          </a:stretch>
        </p:blipFill>
        <p:spPr bwMode="auto">
          <a:xfrm>
            <a:off x="1438275" y="5370813"/>
            <a:ext cx="166688" cy="168275"/>
          </a:xfrm>
          <a:prstGeom prst="rect">
            <a:avLst/>
          </a:prstGeom>
          <a:noFill/>
          <a:ln w="9525">
            <a:noFill/>
            <a:miter lim="800000"/>
            <a:headEnd/>
            <a:tailEnd/>
          </a:ln>
        </p:spPr>
      </p:pic>
      <p:pic>
        <p:nvPicPr>
          <p:cNvPr id="420885" name="Picture 21"/>
          <p:cNvPicPr>
            <a:picLocks noChangeAspect="1" noChangeArrowheads="1"/>
          </p:cNvPicPr>
          <p:nvPr/>
        </p:nvPicPr>
        <p:blipFill>
          <a:blip r:embed="rId4" cstate="print"/>
          <a:srcRect/>
          <a:stretch>
            <a:fillRect/>
          </a:stretch>
        </p:blipFill>
        <p:spPr bwMode="auto">
          <a:xfrm>
            <a:off x="1438275" y="5370813"/>
            <a:ext cx="166688" cy="168275"/>
          </a:xfrm>
          <a:prstGeom prst="rect">
            <a:avLst/>
          </a:prstGeom>
          <a:noFill/>
          <a:ln w="9525">
            <a:noFill/>
            <a:miter lim="800000"/>
            <a:headEnd/>
            <a:tailEnd/>
          </a:ln>
        </p:spPr>
      </p:pic>
      <p:pic>
        <p:nvPicPr>
          <p:cNvPr id="420886" name="Picture 22"/>
          <p:cNvPicPr>
            <a:picLocks noChangeAspect="1" noChangeArrowheads="1"/>
          </p:cNvPicPr>
          <p:nvPr/>
        </p:nvPicPr>
        <p:blipFill>
          <a:blip r:embed="rId3" cstate="print"/>
          <a:srcRect/>
          <a:stretch>
            <a:fillRect/>
          </a:stretch>
        </p:blipFill>
        <p:spPr bwMode="auto">
          <a:xfrm>
            <a:off x="1438275" y="5370813"/>
            <a:ext cx="166688" cy="168275"/>
          </a:xfrm>
          <a:prstGeom prst="rect">
            <a:avLst/>
          </a:prstGeom>
          <a:noFill/>
          <a:ln w="9525">
            <a:noFill/>
            <a:miter lim="800000"/>
            <a:headEnd/>
            <a:tailEnd/>
          </a:ln>
        </p:spPr>
      </p:pic>
      <p:sp>
        <p:nvSpPr>
          <p:cNvPr id="420887" name="Rectangle 23"/>
          <p:cNvSpPr>
            <a:spLocks noChangeArrowheads="1"/>
          </p:cNvSpPr>
          <p:nvPr/>
        </p:nvSpPr>
        <p:spPr bwMode="auto">
          <a:xfrm>
            <a:off x="1604963" y="5370813"/>
            <a:ext cx="742191"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pic>
        <p:nvPicPr>
          <p:cNvPr id="420888" name="Picture 24"/>
          <p:cNvPicPr>
            <a:picLocks noChangeAspect="1" noChangeArrowheads="1"/>
          </p:cNvPicPr>
          <p:nvPr/>
        </p:nvPicPr>
        <p:blipFill>
          <a:blip r:embed="rId3" cstate="print"/>
          <a:srcRect/>
          <a:stretch>
            <a:fillRect/>
          </a:stretch>
        </p:blipFill>
        <p:spPr bwMode="auto">
          <a:xfrm>
            <a:off x="1438275" y="5550200"/>
            <a:ext cx="166688" cy="169863"/>
          </a:xfrm>
          <a:prstGeom prst="rect">
            <a:avLst/>
          </a:prstGeom>
          <a:noFill/>
          <a:ln w="9525">
            <a:noFill/>
            <a:miter lim="800000"/>
            <a:headEnd/>
            <a:tailEnd/>
          </a:ln>
        </p:spPr>
      </p:pic>
      <p:pic>
        <p:nvPicPr>
          <p:cNvPr id="420889" name="Picture 25"/>
          <p:cNvPicPr>
            <a:picLocks noChangeAspect="1" noChangeArrowheads="1"/>
          </p:cNvPicPr>
          <p:nvPr/>
        </p:nvPicPr>
        <p:blipFill>
          <a:blip r:embed="rId4" cstate="print"/>
          <a:srcRect/>
          <a:stretch>
            <a:fillRect/>
          </a:stretch>
        </p:blipFill>
        <p:spPr bwMode="auto">
          <a:xfrm>
            <a:off x="1438275" y="5550200"/>
            <a:ext cx="166688" cy="169863"/>
          </a:xfrm>
          <a:prstGeom prst="rect">
            <a:avLst/>
          </a:prstGeom>
          <a:noFill/>
          <a:ln w="9525">
            <a:noFill/>
            <a:miter lim="800000"/>
            <a:headEnd/>
            <a:tailEnd/>
          </a:ln>
        </p:spPr>
      </p:pic>
      <p:pic>
        <p:nvPicPr>
          <p:cNvPr id="420890" name="Picture 26"/>
          <p:cNvPicPr>
            <a:picLocks noChangeAspect="1" noChangeArrowheads="1"/>
          </p:cNvPicPr>
          <p:nvPr/>
        </p:nvPicPr>
        <p:blipFill>
          <a:blip r:embed="rId3" cstate="print"/>
          <a:srcRect/>
          <a:stretch>
            <a:fillRect/>
          </a:stretch>
        </p:blipFill>
        <p:spPr bwMode="auto">
          <a:xfrm>
            <a:off x="1438275" y="5550200"/>
            <a:ext cx="166688" cy="169863"/>
          </a:xfrm>
          <a:prstGeom prst="rect">
            <a:avLst/>
          </a:prstGeom>
          <a:noFill/>
          <a:ln w="9525">
            <a:noFill/>
            <a:miter lim="800000"/>
            <a:headEnd/>
            <a:tailEnd/>
          </a:ln>
        </p:spPr>
      </p:pic>
      <p:sp>
        <p:nvSpPr>
          <p:cNvPr id="420891" name="Rectangle 27"/>
          <p:cNvSpPr>
            <a:spLocks noChangeArrowheads="1"/>
          </p:cNvSpPr>
          <p:nvPr/>
        </p:nvSpPr>
        <p:spPr bwMode="auto">
          <a:xfrm>
            <a:off x="1604963" y="5550200"/>
            <a:ext cx="62196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pic>
        <p:nvPicPr>
          <p:cNvPr id="420892" name="Picture 28"/>
          <p:cNvPicPr>
            <a:picLocks noChangeAspect="1" noChangeArrowheads="1"/>
          </p:cNvPicPr>
          <p:nvPr/>
        </p:nvPicPr>
        <p:blipFill>
          <a:blip r:embed="rId3" cstate="print"/>
          <a:srcRect/>
          <a:stretch>
            <a:fillRect/>
          </a:stretch>
        </p:blipFill>
        <p:spPr bwMode="auto">
          <a:xfrm>
            <a:off x="1438275" y="5731175"/>
            <a:ext cx="166688" cy="168275"/>
          </a:xfrm>
          <a:prstGeom prst="rect">
            <a:avLst/>
          </a:prstGeom>
          <a:noFill/>
          <a:ln w="9525">
            <a:noFill/>
            <a:miter lim="800000"/>
            <a:headEnd/>
            <a:tailEnd/>
          </a:ln>
        </p:spPr>
      </p:pic>
      <p:pic>
        <p:nvPicPr>
          <p:cNvPr id="420893" name="Picture 29"/>
          <p:cNvPicPr>
            <a:picLocks noChangeAspect="1" noChangeArrowheads="1"/>
          </p:cNvPicPr>
          <p:nvPr/>
        </p:nvPicPr>
        <p:blipFill>
          <a:blip r:embed="rId4" cstate="print"/>
          <a:srcRect/>
          <a:stretch>
            <a:fillRect/>
          </a:stretch>
        </p:blipFill>
        <p:spPr bwMode="auto">
          <a:xfrm>
            <a:off x="1438275" y="5731175"/>
            <a:ext cx="166688" cy="168275"/>
          </a:xfrm>
          <a:prstGeom prst="rect">
            <a:avLst/>
          </a:prstGeom>
          <a:noFill/>
          <a:ln w="9525">
            <a:noFill/>
            <a:miter lim="800000"/>
            <a:headEnd/>
            <a:tailEnd/>
          </a:ln>
        </p:spPr>
      </p:pic>
      <p:pic>
        <p:nvPicPr>
          <p:cNvPr id="420894" name="Picture 30"/>
          <p:cNvPicPr>
            <a:picLocks noChangeAspect="1" noChangeArrowheads="1"/>
          </p:cNvPicPr>
          <p:nvPr/>
        </p:nvPicPr>
        <p:blipFill>
          <a:blip r:embed="rId3" cstate="print"/>
          <a:srcRect/>
          <a:stretch>
            <a:fillRect/>
          </a:stretch>
        </p:blipFill>
        <p:spPr bwMode="auto">
          <a:xfrm>
            <a:off x="1438275" y="5731175"/>
            <a:ext cx="166688" cy="168275"/>
          </a:xfrm>
          <a:prstGeom prst="rect">
            <a:avLst/>
          </a:prstGeom>
          <a:noFill/>
          <a:ln w="9525">
            <a:noFill/>
            <a:miter lim="800000"/>
            <a:headEnd/>
            <a:tailEnd/>
          </a:ln>
        </p:spPr>
      </p:pic>
      <p:sp>
        <p:nvSpPr>
          <p:cNvPr id="420895" name="Rectangle 31"/>
          <p:cNvSpPr>
            <a:spLocks noChangeArrowheads="1"/>
          </p:cNvSpPr>
          <p:nvPr/>
        </p:nvSpPr>
        <p:spPr bwMode="auto">
          <a:xfrm>
            <a:off x="1604963" y="5731175"/>
            <a:ext cx="888064"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pic>
        <p:nvPicPr>
          <p:cNvPr id="420896" name="Picture 32"/>
          <p:cNvPicPr>
            <a:picLocks noChangeAspect="1" noChangeArrowheads="1"/>
          </p:cNvPicPr>
          <p:nvPr/>
        </p:nvPicPr>
        <p:blipFill>
          <a:blip r:embed="rId3" cstate="print"/>
          <a:srcRect/>
          <a:stretch>
            <a:fillRect/>
          </a:stretch>
        </p:blipFill>
        <p:spPr bwMode="auto">
          <a:xfrm>
            <a:off x="1438275" y="5910563"/>
            <a:ext cx="166688" cy="168275"/>
          </a:xfrm>
          <a:prstGeom prst="rect">
            <a:avLst/>
          </a:prstGeom>
          <a:noFill/>
          <a:ln w="9525">
            <a:noFill/>
            <a:miter lim="800000"/>
            <a:headEnd/>
            <a:tailEnd/>
          </a:ln>
        </p:spPr>
      </p:pic>
      <p:pic>
        <p:nvPicPr>
          <p:cNvPr id="420897" name="Picture 33"/>
          <p:cNvPicPr>
            <a:picLocks noChangeAspect="1" noChangeArrowheads="1"/>
          </p:cNvPicPr>
          <p:nvPr/>
        </p:nvPicPr>
        <p:blipFill>
          <a:blip r:embed="rId4" cstate="print"/>
          <a:srcRect/>
          <a:stretch>
            <a:fillRect/>
          </a:stretch>
        </p:blipFill>
        <p:spPr bwMode="auto">
          <a:xfrm>
            <a:off x="1438275" y="5910563"/>
            <a:ext cx="166688" cy="168275"/>
          </a:xfrm>
          <a:prstGeom prst="rect">
            <a:avLst/>
          </a:prstGeom>
          <a:noFill/>
          <a:ln w="9525">
            <a:noFill/>
            <a:miter lim="800000"/>
            <a:headEnd/>
            <a:tailEnd/>
          </a:ln>
        </p:spPr>
      </p:pic>
      <p:pic>
        <p:nvPicPr>
          <p:cNvPr id="420898" name="Picture 34"/>
          <p:cNvPicPr>
            <a:picLocks noChangeAspect="1" noChangeArrowheads="1"/>
          </p:cNvPicPr>
          <p:nvPr/>
        </p:nvPicPr>
        <p:blipFill>
          <a:blip r:embed="rId3" cstate="print"/>
          <a:srcRect/>
          <a:stretch>
            <a:fillRect/>
          </a:stretch>
        </p:blipFill>
        <p:spPr bwMode="auto">
          <a:xfrm>
            <a:off x="1438275" y="5910563"/>
            <a:ext cx="166688" cy="168275"/>
          </a:xfrm>
          <a:prstGeom prst="rect">
            <a:avLst/>
          </a:prstGeom>
          <a:noFill/>
          <a:ln w="9525">
            <a:noFill/>
            <a:miter lim="800000"/>
            <a:headEnd/>
            <a:tailEnd/>
          </a:ln>
        </p:spPr>
      </p:pic>
      <p:sp>
        <p:nvSpPr>
          <p:cNvPr id="420899" name="Rectangle 35"/>
          <p:cNvSpPr>
            <a:spLocks noChangeArrowheads="1"/>
          </p:cNvSpPr>
          <p:nvPr/>
        </p:nvSpPr>
        <p:spPr bwMode="auto">
          <a:xfrm>
            <a:off x="1604963" y="5910563"/>
            <a:ext cx="49372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420900" name="Rectangle 36"/>
          <p:cNvSpPr>
            <a:spLocks noChangeArrowheads="1"/>
          </p:cNvSpPr>
          <p:nvPr/>
        </p:nvSpPr>
        <p:spPr bwMode="auto">
          <a:xfrm>
            <a:off x="3122613" y="4932663"/>
            <a:ext cx="1135062" cy="1214437"/>
          </a:xfrm>
          <a:prstGeom prst="rect">
            <a:avLst/>
          </a:prstGeom>
          <a:solidFill>
            <a:srgbClr val="FFFFCC"/>
          </a:solidFill>
          <a:ln w="0">
            <a:solidFill>
              <a:srgbClr val="990033"/>
            </a:solidFill>
            <a:miter lim="800000"/>
            <a:headEnd/>
            <a:tailEnd/>
          </a:ln>
        </p:spPr>
        <p:txBody>
          <a:bodyPr/>
          <a:lstStyle/>
          <a:p>
            <a:pPr defTabSz="739775">
              <a:spcBef>
                <a:spcPct val="0"/>
              </a:spcBef>
            </a:pPr>
            <a:endParaRPr lang="en-US" sz="1800"/>
          </a:p>
        </p:txBody>
      </p:sp>
      <p:sp>
        <p:nvSpPr>
          <p:cNvPr id="420901" name="Rectangle 37"/>
          <p:cNvSpPr>
            <a:spLocks noChangeArrowheads="1"/>
          </p:cNvSpPr>
          <p:nvPr/>
        </p:nvSpPr>
        <p:spPr bwMode="auto">
          <a:xfrm>
            <a:off x="3206750" y="4977113"/>
            <a:ext cx="981075" cy="182562"/>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DepositAccount</a:t>
            </a:r>
            <a:endParaRPr lang="en-GB" sz="1800" b="1"/>
          </a:p>
        </p:txBody>
      </p:sp>
      <p:sp>
        <p:nvSpPr>
          <p:cNvPr id="420902" name="Rectangle 38"/>
          <p:cNvSpPr>
            <a:spLocks noChangeArrowheads="1"/>
          </p:cNvSpPr>
          <p:nvPr/>
        </p:nvSpPr>
        <p:spPr bwMode="auto">
          <a:xfrm>
            <a:off x="3122613" y="5167613"/>
            <a:ext cx="1135062" cy="979487"/>
          </a:xfrm>
          <a:prstGeom prst="rect">
            <a:avLst/>
          </a:prstGeom>
          <a:noFill/>
          <a:ln w="0">
            <a:solidFill>
              <a:srgbClr val="990033"/>
            </a:solidFill>
            <a:miter lim="800000"/>
            <a:headEnd/>
            <a:tailEnd/>
          </a:ln>
        </p:spPr>
        <p:txBody>
          <a:bodyPr/>
          <a:lstStyle/>
          <a:p>
            <a:pPr defTabSz="739775">
              <a:spcBef>
                <a:spcPct val="0"/>
              </a:spcBef>
            </a:pPr>
            <a:endParaRPr lang="en-US" sz="1800"/>
          </a:p>
        </p:txBody>
      </p:sp>
      <p:sp>
        <p:nvSpPr>
          <p:cNvPr id="420903" name="Rectangle 39"/>
          <p:cNvSpPr>
            <a:spLocks noChangeArrowheads="1"/>
          </p:cNvSpPr>
          <p:nvPr/>
        </p:nvSpPr>
        <p:spPr bwMode="auto">
          <a:xfrm>
            <a:off x="3122613" y="5258100"/>
            <a:ext cx="1135062" cy="889000"/>
          </a:xfrm>
          <a:prstGeom prst="rect">
            <a:avLst/>
          </a:prstGeom>
          <a:noFill/>
          <a:ln w="0">
            <a:solidFill>
              <a:srgbClr val="990033"/>
            </a:solidFill>
            <a:miter lim="800000"/>
            <a:headEnd/>
            <a:tailEnd/>
          </a:ln>
        </p:spPr>
        <p:txBody>
          <a:bodyPr/>
          <a:lstStyle/>
          <a:p>
            <a:pPr defTabSz="739775">
              <a:spcBef>
                <a:spcPct val="0"/>
              </a:spcBef>
            </a:pPr>
            <a:endParaRPr lang="en-US" sz="1800"/>
          </a:p>
        </p:txBody>
      </p:sp>
      <p:pic>
        <p:nvPicPr>
          <p:cNvPr id="420904" name="Picture 40"/>
          <p:cNvPicPr>
            <a:picLocks noChangeAspect="1" noChangeArrowheads="1"/>
          </p:cNvPicPr>
          <p:nvPr/>
        </p:nvPicPr>
        <p:blipFill>
          <a:blip r:embed="rId3" cstate="print"/>
          <a:srcRect/>
          <a:stretch>
            <a:fillRect/>
          </a:stretch>
        </p:blipFill>
        <p:spPr bwMode="auto">
          <a:xfrm>
            <a:off x="3152775" y="5370813"/>
            <a:ext cx="168275" cy="168275"/>
          </a:xfrm>
          <a:prstGeom prst="rect">
            <a:avLst/>
          </a:prstGeom>
          <a:noFill/>
          <a:ln w="9525">
            <a:noFill/>
            <a:miter lim="800000"/>
            <a:headEnd/>
            <a:tailEnd/>
          </a:ln>
        </p:spPr>
      </p:pic>
      <p:pic>
        <p:nvPicPr>
          <p:cNvPr id="420905" name="Picture 41"/>
          <p:cNvPicPr>
            <a:picLocks noChangeAspect="1" noChangeArrowheads="1"/>
          </p:cNvPicPr>
          <p:nvPr/>
        </p:nvPicPr>
        <p:blipFill>
          <a:blip r:embed="rId4" cstate="print"/>
          <a:srcRect/>
          <a:stretch>
            <a:fillRect/>
          </a:stretch>
        </p:blipFill>
        <p:spPr bwMode="auto">
          <a:xfrm>
            <a:off x="3152775" y="5370813"/>
            <a:ext cx="168275" cy="168275"/>
          </a:xfrm>
          <a:prstGeom prst="rect">
            <a:avLst/>
          </a:prstGeom>
          <a:noFill/>
          <a:ln w="9525">
            <a:noFill/>
            <a:miter lim="800000"/>
            <a:headEnd/>
            <a:tailEnd/>
          </a:ln>
        </p:spPr>
      </p:pic>
      <p:pic>
        <p:nvPicPr>
          <p:cNvPr id="420906" name="Picture 42"/>
          <p:cNvPicPr>
            <a:picLocks noChangeAspect="1" noChangeArrowheads="1"/>
          </p:cNvPicPr>
          <p:nvPr/>
        </p:nvPicPr>
        <p:blipFill>
          <a:blip r:embed="rId3" cstate="print"/>
          <a:srcRect/>
          <a:stretch>
            <a:fillRect/>
          </a:stretch>
        </p:blipFill>
        <p:spPr bwMode="auto">
          <a:xfrm>
            <a:off x="3152775" y="5370813"/>
            <a:ext cx="168275" cy="168275"/>
          </a:xfrm>
          <a:prstGeom prst="rect">
            <a:avLst/>
          </a:prstGeom>
          <a:noFill/>
          <a:ln w="9525">
            <a:noFill/>
            <a:miter lim="800000"/>
            <a:headEnd/>
            <a:tailEnd/>
          </a:ln>
        </p:spPr>
      </p:pic>
      <p:pic>
        <p:nvPicPr>
          <p:cNvPr id="420908" name="Picture 44"/>
          <p:cNvPicPr>
            <a:picLocks noChangeAspect="1" noChangeArrowheads="1"/>
          </p:cNvPicPr>
          <p:nvPr/>
        </p:nvPicPr>
        <p:blipFill>
          <a:blip r:embed="rId3" cstate="print"/>
          <a:srcRect/>
          <a:stretch>
            <a:fillRect/>
          </a:stretch>
        </p:blipFill>
        <p:spPr bwMode="auto">
          <a:xfrm>
            <a:off x="3152775" y="5550200"/>
            <a:ext cx="168275" cy="169863"/>
          </a:xfrm>
          <a:prstGeom prst="rect">
            <a:avLst/>
          </a:prstGeom>
          <a:noFill/>
          <a:ln w="9525">
            <a:noFill/>
            <a:miter lim="800000"/>
            <a:headEnd/>
            <a:tailEnd/>
          </a:ln>
        </p:spPr>
      </p:pic>
      <p:pic>
        <p:nvPicPr>
          <p:cNvPr id="420909" name="Picture 45"/>
          <p:cNvPicPr>
            <a:picLocks noChangeAspect="1" noChangeArrowheads="1"/>
          </p:cNvPicPr>
          <p:nvPr/>
        </p:nvPicPr>
        <p:blipFill>
          <a:blip r:embed="rId4" cstate="print"/>
          <a:srcRect/>
          <a:stretch>
            <a:fillRect/>
          </a:stretch>
        </p:blipFill>
        <p:spPr bwMode="auto">
          <a:xfrm>
            <a:off x="3152775" y="5550200"/>
            <a:ext cx="168275" cy="169863"/>
          </a:xfrm>
          <a:prstGeom prst="rect">
            <a:avLst/>
          </a:prstGeom>
          <a:noFill/>
          <a:ln w="9525">
            <a:noFill/>
            <a:miter lim="800000"/>
            <a:headEnd/>
            <a:tailEnd/>
          </a:ln>
        </p:spPr>
      </p:pic>
      <p:pic>
        <p:nvPicPr>
          <p:cNvPr id="420910" name="Picture 46"/>
          <p:cNvPicPr>
            <a:picLocks noChangeAspect="1" noChangeArrowheads="1"/>
          </p:cNvPicPr>
          <p:nvPr/>
        </p:nvPicPr>
        <p:blipFill>
          <a:blip r:embed="rId3" cstate="print"/>
          <a:srcRect/>
          <a:stretch>
            <a:fillRect/>
          </a:stretch>
        </p:blipFill>
        <p:spPr bwMode="auto">
          <a:xfrm>
            <a:off x="3152775" y="5550200"/>
            <a:ext cx="168275" cy="169863"/>
          </a:xfrm>
          <a:prstGeom prst="rect">
            <a:avLst/>
          </a:prstGeom>
          <a:noFill/>
          <a:ln w="9525">
            <a:noFill/>
            <a:miter lim="800000"/>
            <a:headEnd/>
            <a:tailEnd/>
          </a:ln>
        </p:spPr>
      </p:pic>
      <p:pic>
        <p:nvPicPr>
          <p:cNvPr id="420912" name="Picture 48"/>
          <p:cNvPicPr>
            <a:picLocks noChangeAspect="1" noChangeArrowheads="1"/>
          </p:cNvPicPr>
          <p:nvPr/>
        </p:nvPicPr>
        <p:blipFill>
          <a:blip r:embed="rId3" cstate="print"/>
          <a:srcRect/>
          <a:stretch>
            <a:fillRect/>
          </a:stretch>
        </p:blipFill>
        <p:spPr bwMode="auto">
          <a:xfrm>
            <a:off x="3152775" y="5731175"/>
            <a:ext cx="168275" cy="168275"/>
          </a:xfrm>
          <a:prstGeom prst="rect">
            <a:avLst/>
          </a:prstGeom>
          <a:noFill/>
          <a:ln w="9525">
            <a:noFill/>
            <a:miter lim="800000"/>
            <a:headEnd/>
            <a:tailEnd/>
          </a:ln>
        </p:spPr>
      </p:pic>
      <p:pic>
        <p:nvPicPr>
          <p:cNvPr id="420913" name="Picture 49"/>
          <p:cNvPicPr>
            <a:picLocks noChangeAspect="1" noChangeArrowheads="1"/>
          </p:cNvPicPr>
          <p:nvPr/>
        </p:nvPicPr>
        <p:blipFill>
          <a:blip r:embed="rId4" cstate="print"/>
          <a:srcRect/>
          <a:stretch>
            <a:fillRect/>
          </a:stretch>
        </p:blipFill>
        <p:spPr bwMode="auto">
          <a:xfrm>
            <a:off x="3152775" y="5731175"/>
            <a:ext cx="168275" cy="168275"/>
          </a:xfrm>
          <a:prstGeom prst="rect">
            <a:avLst/>
          </a:prstGeom>
          <a:noFill/>
          <a:ln w="9525">
            <a:noFill/>
            <a:miter lim="800000"/>
            <a:headEnd/>
            <a:tailEnd/>
          </a:ln>
        </p:spPr>
      </p:pic>
      <p:pic>
        <p:nvPicPr>
          <p:cNvPr id="420914" name="Picture 50"/>
          <p:cNvPicPr>
            <a:picLocks noChangeAspect="1" noChangeArrowheads="1"/>
          </p:cNvPicPr>
          <p:nvPr/>
        </p:nvPicPr>
        <p:blipFill>
          <a:blip r:embed="rId3" cstate="print"/>
          <a:srcRect/>
          <a:stretch>
            <a:fillRect/>
          </a:stretch>
        </p:blipFill>
        <p:spPr bwMode="auto">
          <a:xfrm>
            <a:off x="3152775" y="5731175"/>
            <a:ext cx="168275" cy="168275"/>
          </a:xfrm>
          <a:prstGeom prst="rect">
            <a:avLst/>
          </a:prstGeom>
          <a:noFill/>
          <a:ln w="9525">
            <a:noFill/>
            <a:miter lim="800000"/>
            <a:headEnd/>
            <a:tailEnd/>
          </a:ln>
        </p:spPr>
      </p:pic>
      <p:pic>
        <p:nvPicPr>
          <p:cNvPr id="420916" name="Picture 52"/>
          <p:cNvPicPr>
            <a:picLocks noChangeAspect="1" noChangeArrowheads="1"/>
          </p:cNvPicPr>
          <p:nvPr/>
        </p:nvPicPr>
        <p:blipFill>
          <a:blip r:embed="rId3" cstate="print"/>
          <a:srcRect/>
          <a:stretch>
            <a:fillRect/>
          </a:stretch>
        </p:blipFill>
        <p:spPr bwMode="auto">
          <a:xfrm>
            <a:off x="3152775" y="5910563"/>
            <a:ext cx="168275" cy="168275"/>
          </a:xfrm>
          <a:prstGeom prst="rect">
            <a:avLst/>
          </a:prstGeom>
          <a:noFill/>
          <a:ln w="9525">
            <a:noFill/>
            <a:miter lim="800000"/>
            <a:headEnd/>
            <a:tailEnd/>
          </a:ln>
        </p:spPr>
      </p:pic>
      <p:pic>
        <p:nvPicPr>
          <p:cNvPr id="420917" name="Picture 53"/>
          <p:cNvPicPr>
            <a:picLocks noChangeAspect="1" noChangeArrowheads="1"/>
          </p:cNvPicPr>
          <p:nvPr/>
        </p:nvPicPr>
        <p:blipFill>
          <a:blip r:embed="rId4" cstate="print"/>
          <a:srcRect/>
          <a:stretch>
            <a:fillRect/>
          </a:stretch>
        </p:blipFill>
        <p:spPr bwMode="auto">
          <a:xfrm>
            <a:off x="3152775" y="5910563"/>
            <a:ext cx="168275" cy="168275"/>
          </a:xfrm>
          <a:prstGeom prst="rect">
            <a:avLst/>
          </a:prstGeom>
          <a:noFill/>
          <a:ln w="9525">
            <a:noFill/>
            <a:miter lim="800000"/>
            <a:headEnd/>
            <a:tailEnd/>
          </a:ln>
        </p:spPr>
      </p:pic>
      <p:pic>
        <p:nvPicPr>
          <p:cNvPr id="420918" name="Picture 54"/>
          <p:cNvPicPr>
            <a:picLocks noChangeAspect="1" noChangeArrowheads="1"/>
          </p:cNvPicPr>
          <p:nvPr/>
        </p:nvPicPr>
        <p:blipFill>
          <a:blip r:embed="rId3" cstate="print"/>
          <a:srcRect/>
          <a:stretch>
            <a:fillRect/>
          </a:stretch>
        </p:blipFill>
        <p:spPr bwMode="auto">
          <a:xfrm>
            <a:off x="3152775" y="5910563"/>
            <a:ext cx="168275" cy="168275"/>
          </a:xfrm>
          <a:prstGeom prst="rect">
            <a:avLst/>
          </a:prstGeom>
          <a:noFill/>
          <a:ln w="9525">
            <a:noFill/>
            <a:miter lim="800000"/>
            <a:headEnd/>
            <a:tailEnd/>
          </a:ln>
        </p:spPr>
      </p:pic>
      <p:sp>
        <p:nvSpPr>
          <p:cNvPr id="420920" name="Rectangle 56"/>
          <p:cNvSpPr>
            <a:spLocks noChangeArrowheads="1"/>
          </p:cNvSpPr>
          <p:nvPr/>
        </p:nvSpPr>
        <p:spPr bwMode="auto">
          <a:xfrm>
            <a:off x="2144713" y="2967338"/>
            <a:ext cx="1176337" cy="1395412"/>
          </a:xfrm>
          <a:prstGeom prst="rect">
            <a:avLst/>
          </a:prstGeom>
          <a:solidFill>
            <a:srgbClr val="FFFFCC"/>
          </a:solidFill>
          <a:ln w="0">
            <a:solidFill>
              <a:srgbClr val="990033"/>
            </a:solidFill>
            <a:miter lim="800000"/>
            <a:headEnd/>
            <a:tailEnd/>
          </a:ln>
        </p:spPr>
        <p:txBody>
          <a:bodyPr/>
          <a:lstStyle/>
          <a:p>
            <a:pPr defTabSz="739775">
              <a:spcBef>
                <a:spcPct val="0"/>
              </a:spcBef>
            </a:pPr>
            <a:endParaRPr lang="en-US" sz="1800"/>
          </a:p>
        </p:txBody>
      </p:sp>
      <p:sp>
        <p:nvSpPr>
          <p:cNvPr id="420921" name="Rectangle 57"/>
          <p:cNvSpPr>
            <a:spLocks noChangeArrowheads="1"/>
          </p:cNvSpPr>
          <p:nvPr/>
        </p:nvSpPr>
        <p:spPr bwMode="auto">
          <a:xfrm>
            <a:off x="2487613" y="3013375"/>
            <a:ext cx="508000" cy="182563"/>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Account</a:t>
            </a:r>
            <a:endParaRPr lang="en-GB" sz="1800" b="1"/>
          </a:p>
        </p:txBody>
      </p:sp>
      <p:sp>
        <p:nvSpPr>
          <p:cNvPr id="420922" name="Rectangle 58"/>
          <p:cNvSpPr>
            <a:spLocks noChangeArrowheads="1"/>
          </p:cNvSpPr>
          <p:nvPr/>
        </p:nvSpPr>
        <p:spPr bwMode="auto">
          <a:xfrm>
            <a:off x="2144713" y="3203875"/>
            <a:ext cx="1176337" cy="1158875"/>
          </a:xfrm>
          <a:prstGeom prst="rect">
            <a:avLst/>
          </a:prstGeom>
          <a:noFill/>
          <a:ln w="0">
            <a:solidFill>
              <a:srgbClr val="990033"/>
            </a:solidFill>
            <a:miter lim="800000"/>
            <a:headEnd/>
            <a:tailEnd/>
          </a:ln>
        </p:spPr>
        <p:txBody>
          <a:bodyPr/>
          <a:lstStyle/>
          <a:p>
            <a:pPr defTabSz="739775">
              <a:spcBef>
                <a:spcPct val="0"/>
              </a:spcBef>
            </a:pPr>
            <a:endParaRPr lang="en-US" sz="1800"/>
          </a:p>
        </p:txBody>
      </p:sp>
      <p:sp>
        <p:nvSpPr>
          <p:cNvPr id="420923" name="Rectangle 59"/>
          <p:cNvSpPr>
            <a:spLocks noChangeArrowheads="1"/>
          </p:cNvSpPr>
          <p:nvPr/>
        </p:nvSpPr>
        <p:spPr bwMode="auto">
          <a:xfrm>
            <a:off x="2144713" y="3473750"/>
            <a:ext cx="1176337" cy="889000"/>
          </a:xfrm>
          <a:prstGeom prst="rect">
            <a:avLst/>
          </a:prstGeom>
          <a:noFill/>
          <a:ln w="0">
            <a:solidFill>
              <a:srgbClr val="990033"/>
            </a:solidFill>
            <a:miter lim="800000"/>
            <a:headEnd/>
            <a:tailEnd/>
          </a:ln>
        </p:spPr>
        <p:txBody>
          <a:bodyPr/>
          <a:lstStyle/>
          <a:p>
            <a:pPr defTabSz="739775">
              <a:spcBef>
                <a:spcPct val="0"/>
              </a:spcBef>
            </a:pPr>
            <a:endParaRPr lang="en-US" sz="1800"/>
          </a:p>
        </p:txBody>
      </p:sp>
      <p:pic>
        <p:nvPicPr>
          <p:cNvPr id="420924" name="Picture 60"/>
          <p:cNvPicPr>
            <a:picLocks noChangeAspect="1" noChangeArrowheads="1"/>
          </p:cNvPicPr>
          <p:nvPr/>
        </p:nvPicPr>
        <p:blipFill>
          <a:blip r:embed="rId5" cstate="print"/>
          <a:srcRect/>
          <a:stretch>
            <a:fillRect/>
          </a:stretch>
        </p:blipFill>
        <p:spPr bwMode="auto">
          <a:xfrm>
            <a:off x="2176463" y="3226100"/>
            <a:ext cx="166687" cy="168275"/>
          </a:xfrm>
          <a:prstGeom prst="rect">
            <a:avLst/>
          </a:prstGeom>
          <a:noFill/>
          <a:ln w="9525">
            <a:noFill/>
            <a:miter lim="800000"/>
            <a:headEnd/>
            <a:tailEnd/>
          </a:ln>
        </p:spPr>
      </p:pic>
      <p:pic>
        <p:nvPicPr>
          <p:cNvPr id="420925" name="Picture 61"/>
          <p:cNvPicPr>
            <a:picLocks noChangeAspect="1" noChangeArrowheads="1"/>
          </p:cNvPicPr>
          <p:nvPr/>
        </p:nvPicPr>
        <p:blipFill>
          <a:blip r:embed="rId6" cstate="print"/>
          <a:srcRect/>
          <a:stretch>
            <a:fillRect/>
          </a:stretch>
        </p:blipFill>
        <p:spPr bwMode="auto">
          <a:xfrm>
            <a:off x="2176463" y="3226100"/>
            <a:ext cx="166687" cy="168275"/>
          </a:xfrm>
          <a:prstGeom prst="rect">
            <a:avLst/>
          </a:prstGeom>
          <a:noFill/>
          <a:ln w="9525">
            <a:noFill/>
            <a:miter lim="800000"/>
            <a:headEnd/>
            <a:tailEnd/>
          </a:ln>
        </p:spPr>
      </p:pic>
      <p:pic>
        <p:nvPicPr>
          <p:cNvPr id="420926" name="Picture 62"/>
          <p:cNvPicPr>
            <a:picLocks noChangeAspect="1" noChangeArrowheads="1"/>
          </p:cNvPicPr>
          <p:nvPr/>
        </p:nvPicPr>
        <p:blipFill>
          <a:blip r:embed="rId5" cstate="print"/>
          <a:srcRect/>
          <a:stretch>
            <a:fillRect/>
          </a:stretch>
        </p:blipFill>
        <p:spPr bwMode="auto">
          <a:xfrm>
            <a:off x="2176463" y="3226100"/>
            <a:ext cx="166687" cy="168275"/>
          </a:xfrm>
          <a:prstGeom prst="rect">
            <a:avLst/>
          </a:prstGeom>
          <a:noFill/>
          <a:ln w="9525">
            <a:noFill/>
            <a:miter lim="800000"/>
            <a:headEnd/>
            <a:tailEnd/>
          </a:ln>
        </p:spPr>
      </p:pic>
      <p:sp>
        <p:nvSpPr>
          <p:cNvPr id="420927" name="Rectangle 63"/>
          <p:cNvSpPr>
            <a:spLocks noChangeArrowheads="1"/>
          </p:cNvSpPr>
          <p:nvPr/>
        </p:nvSpPr>
        <p:spPr bwMode="auto">
          <a:xfrm>
            <a:off x="2343150" y="3226100"/>
            <a:ext cx="989013" cy="182563"/>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accountNumber</a:t>
            </a:r>
            <a:endParaRPr lang="en-GB" sz="1800" b="1"/>
          </a:p>
        </p:txBody>
      </p:sp>
      <p:pic>
        <p:nvPicPr>
          <p:cNvPr id="420928" name="Picture 64"/>
          <p:cNvPicPr>
            <a:picLocks noChangeAspect="1" noChangeArrowheads="1"/>
          </p:cNvPicPr>
          <p:nvPr/>
        </p:nvPicPr>
        <p:blipFill>
          <a:blip r:embed="rId3" cstate="print"/>
          <a:srcRect/>
          <a:stretch>
            <a:fillRect/>
          </a:stretch>
        </p:blipFill>
        <p:spPr bwMode="auto">
          <a:xfrm>
            <a:off x="2176463" y="3586463"/>
            <a:ext cx="166687" cy="168275"/>
          </a:xfrm>
          <a:prstGeom prst="rect">
            <a:avLst/>
          </a:prstGeom>
          <a:noFill/>
          <a:ln w="9525">
            <a:noFill/>
            <a:miter lim="800000"/>
            <a:headEnd/>
            <a:tailEnd/>
          </a:ln>
        </p:spPr>
      </p:pic>
      <p:pic>
        <p:nvPicPr>
          <p:cNvPr id="420929" name="Picture 65"/>
          <p:cNvPicPr>
            <a:picLocks noChangeAspect="1" noChangeArrowheads="1"/>
          </p:cNvPicPr>
          <p:nvPr/>
        </p:nvPicPr>
        <p:blipFill>
          <a:blip r:embed="rId4" cstate="print"/>
          <a:srcRect/>
          <a:stretch>
            <a:fillRect/>
          </a:stretch>
        </p:blipFill>
        <p:spPr bwMode="auto">
          <a:xfrm>
            <a:off x="2176463" y="3586463"/>
            <a:ext cx="166687" cy="168275"/>
          </a:xfrm>
          <a:prstGeom prst="rect">
            <a:avLst/>
          </a:prstGeom>
          <a:noFill/>
          <a:ln w="9525">
            <a:noFill/>
            <a:miter lim="800000"/>
            <a:headEnd/>
            <a:tailEnd/>
          </a:ln>
        </p:spPr>
      </p:pic>
      <p:pic>
        <p:nvPicPr>
          <p:cNvPr id="420930" name="Picture 66"/>
          <p:cNvPicPr>
            <a:picLocks noChangeAspect="1" noChangeArrowheads="1"/>
          </p:cNvPicPr>
          <p:nvPr/>
        </p:nvPicPr>
        <p:blipFill>
          <a:blip r:embed="rId3" cstate="print"/>
          <a:srcRect/>
          <a:stretch>
            <a:fillRect/>
          </a:stretch>
        </p:blipFill>
        <p:spPr bwMode="auto">
          <a:xfrm>
            <a:off x="2176463" y="3586463"/>
            <a:ext cx="166687" cy="168275"/>
          </a:xfrm>
          <a:prstGeom prst="rect">
            <a:avLst/>
          </a:prstGeom>
          <a:noFill/>
          <a:ln w="9525">
            <a:noFill/>
            <a:miter lim="800000"/>
            <a:headEnd/>
            <a:tailEnd/>
          </a:ln>
        </p:spPr>
      </p:pic>
      <p:sp>
        <p:nvSpPr>
          <p:cNvPr id="420931" name="Rectangle 67"/>
          <p:cNvSpPr>
            <a:spLocks noChangeArrowheads="1"/>
          </p:cNvSpPr>
          <p:nvPr/>
        </p:nvSpPr>
        <p:spPr bwMode="auto">
          <a:xfrm>
            <a:off x="2343150" y="3586463"/>
            <a:ext cx="742191"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a:solidFill>
                  <a:srgbClr val="000000"/>
                </a:solidFill>
              </a:rPr>
              <a:t>W</a:t>
            </a:r>
            <a:r>
              <a:rPr lang="en-GB" sz="1200" dirty="0" smtClean="0">
                <a:solidFill>
                  <a:srgbClr val="000000"/>
                </a:solidFill>
              </a:rPr>
              <a:t>ithdraw</a:t>
            </a:r>
            <a:r>
              <a:rPr lang="en-GB" sz="1200" dirty="0">
                <a:solidFill>
                  <a:srgbClr val="000000"/>
                </a:solidFill>
              </a:rPr>
              <a:t>()</a:t>
            </a:r>
            <a:endParaRPr lang="en-GB" sz="1800" b="1" dirty="0"/>
          </a:p>
        </p:txBody>
      </p:sp>
      <p:pic>
        <p:nvPicPr>
          <p:cNvPr id="420932" name="Picture 68"/>
          <p:cNvPicPr>
            <a:picLocks noChangeAspect="1" noChangeArrowheads="1"/>
          </p:cNvPicPr>
          <p:nvPr/>
        </p:nvPicPr>
        <p:blipFill>
          <a:blip r:embed="rId3" cstate="print"/>
          <a:srcRect/>
          <a:stretch>
            <a:fillRect/>
          </a:stretch>
        </p:blipFill>
        <p:spPr bwMode="auto">
          <a:xfrm>
            <a:off x="2176463" y="3765850"/>
            <a:ext cx="166687" cy="168275"/>
          </a:xfrm>
          <a:prstGeom prst="rect">
            <a:avLst/>
          </a:prstGeom>
          <a:noFill/>
          <a:ln w="9525">
            <a:noFill/>
            <a:miter lim="800000"/>
            <a:headEnd/>
            <a:tailEnd/>
          </a:ln>
        </p:spPr>
      </p:pic>
      <p:pic>
        <p:nvPicPr>
          <p:cNvPr id="420933" name="Picture 69"/>
          <p:cNvPicPr>
            <a:picLocks noChangeAspect="1" noChangeArrowheads="1"/>
          </p:cNvPicPr>
          <p:nvPr/>
        </p:nvPicPr>
        <p:blipFill>
          <a:blip r:embed="rId4" cstate="print"/>
          <a:srcRect/>
          <a:stretch>
            <a:fillRect/>
          </a:stretch>
        </p:blipFill>
        <p:spPr bwMode="auto">
          <a:xfrm>
            <a:off x="2176463" y="3765850"/>
            <a:ext cx="166687" cy="168275"/>
          </a:xfrm>
          <a:prstGeom prst="rect">
            <a:avLst/>
          </a:prstGeom>
          <a:noFill/>
          <a:ln w="9525">
            <a:noFill/>
            <a:miter lim="800000"/>
            <a:headEnd/>
            <a:tailEnd/>
          </a:ln>
        </p:spPr>
      </p:pic>
      <p:pic>
        <p:nvPicPr>
          <p:cNvPr id="420934" name="Picture 70"/>
          <p:cNvPicPr>
            <a:picLocks noChangeAspect="1" noChangeArrowheads="1"/>
          </p:cNvPicPr>
          <p:nvPr/>
        </p:nvPicPr>
        <p:blipFill>
          <a:blip r:embed="rId3" cstate="print"/>
          <a:srcRect/>
          <a:stretch>
            <a:fillRect/>
          </a:stretch>
        </p:blipFill>
        <p:spPr bwMode="auto">
          <a:xfrm>
            <a:off x="2176463" y="3765850"/>
            <a:ext cx="166687" cy="168275"/>
          </a:xfrm>
          <a:prstGeom prst="rect">
            <a:avLst/>
          </a:prstGeom>
          <a:noFill/>
          <a:ln w="9525">
            <a:noFill/>
            <a:miter lim="800000"/>
            <a:headEnd/>
            <a:tailEnd/>
          </a:ln>
        </p:spPr>
      </p:pic>
      <p:sp>
        <p:nvSpPr>
          <p:cNvPr id="420935" name="Rectangle 71"/>
          <p:cNvSpPr>
            <a:spLocks noChangeArrowheads="1"/>
          </p:cNvSpPr>
          <p:nvPr/>
        </p:nvSpPr>
        <p:spPr bwMode="auto">
          <a:xfrm>
            <a:off x="2343150" y="3765850"/>
            <a:ext cx="62196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a:solidFill>
                  <a:srgbClr val="000000"/>
                </a:solidFill>
              </a:rPr>
              <a:t>D</a:t>
            </a:r>
            <a:r>
              <a:rPr lang="en-GB" sz="1200" dirty="0" smtClean="0">
                <a:solidFill>
                  <a:srgbClr val="000000"/>
                </a:solidFill>
              </a:rPr>
              <a:t>eposit</a:t>
            </a:r>
            <a:r>
              <a:rPr lang="en-GB" sz="1200" dirty="0">
                <a:solidFill>
                  <a:srgbClr val="000000"/>
                </a:solidFill>
              </a:rPr>
              <a:t>()</a:t>
            </a:r>
            <a:endParaRPr lang="en-GB" sz="1800" b="1" dirty="0"/>
          </a:p>
        </p:txBody>
      </p:sp>
      <p:pic>
        <p:nvPicPr>
          <p:cNvPr id="420936" name="Picture 72"/>
          <p:cNvPicPr>
            <a:picLocks noChangeAspect="1" noChangeArrowheads="1"/>
          </p:cNvPicPr>
          <p:nvPr/>
        </p:nvPicPr>
        <p:blipFill>
          <a:blip r:embed="rId3" cstate="print"/>
          <a:srcRect/>
          <a:stretch>
            <a:fillRect/>
          </a:stretch>
        </p:blipFill>
        <p:spPr bwMode="auto">
          <a:xfrm>
            <a:off x="2176463" y="3945238"/>
            <a:ext cx="166687" cy="169862"/>
          </a:xfrm>
          <a:prstGeom prst="rect">
            <a:avLst/>
          </a:prstGeom>
          <a:noFill/>
          <a:ln w="9525">
            <a:noFill/>
            <a:miter lim="800000"/>
            <a:headEnd/>
            <a:tailEnd/>
          </a:ln>
        </p:spPr>
      </p:pic>
      <p:pic>
        <p:nvPicPr>
          <p:cNvPr id="420937" name="Picture 73"/>
          <p:cNvPicPr>
            <a:picLocks noChangeAspect="1" noChangeArrowheads="1"/>
          </p:cNvPicPr>
          <p:nvPr/>
        </p:nvPicPr>
        <p:blipFill>
          <a:blip r:embed="rId4" cstate="print"/>
          <a:srcRect/>
          <a:stretch>
            <a:fillRect/>
          </a:stretch>
        </p:blipFill>
        <p:spPr bwMode="auto">
          <a:xfrm>
            <a:off x="2176463" y="3945238"/>
            <a:ext cx="166687" cy="169862"/>
          </a:xfrm>
          <a:prstGeom prst="rect">
            <a:avLst/>
          </a:prstGeom>
          <a:noFill/>
          <a:ln w="9525">
            <a:noFill/>
            <a:miter lim="800000"/>
            <a:headEnd/>
            <a:tailEnd/>
          </a:ln>
        </p:spPr>
      </p:pic>
      <p:pic>
        <p:nvPicPr>
          <p:cNvPr id="420938" name="Picture 74"/>
          <p:cNvPicPr>
            <a:picLocks noChangeAspect="1" noChangeArrowheads="1"/>
          </p:cNvPicPr>
          <p:nvPr/>
        </p:nvPicPr>
        <p:blipFill>
          <a:blip r:embed="rId3" cstate="print"/>
          <a:srcRect/>
          <a:stretch>
            <a:fillRect/>
          </a:stretch>
        </p:blipFill>
        <p:spPr bwMode="auto">
          <a:xfrm>
            <a:off x="2176463" y="3945238"/>
            <a:ext cx="166687" cy="169862"/>
          </a:xfrm>
          <a:prstGeom prst="rect">
            <a:avLst/>
          </a:prstGeom>
          <a:noFill/>
          <a:ln w="9525">
            <a:noFill/>
            <a:miter lim="800000"/>
            <a:headEnd/>
            <a:tailEnd/>
          </a:ln>
        </p:spPr>
      </p:pic>
      <p:sp>
        <p:nvSpPr>
          <p:cNvPr id="420939" name="Rectangle 75"/>
          <p:cNvSpPr>
            <a:spLocks noChangeArrowheads="1"/>
          </p:cNvSpPr>
          <p:nvPr/>
        </p:nvSpPr>
        <p:spPr bwMode="auto">
          <a:xfrm>
            <a:off x="2343150" y="3945238"/>
            <a:ext cx="888064"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err="1">
                <a:solidFill>
                  <a:srgbClr val="000000"/>
                </a:solidFill>
              </a:rPr>
              <a:t>A</a:t>
            </a:r>
            <a:r>
              <a:rPr lang="en-GB" sz="1200" dirty="0" err="1" smtClean="0">
                <a:solidFill>
                  <a:srgbClr val="000000"/>
                </a:solidFill>
              </a:rPr>
              <a:t>ddInterest</a:t>
            </a:r>
            <a:r>
              <a:rPr lang="en-GB" sz="1200" dirty="0">
                <a:solidFill>
                  <a:srgbClr val="000000"/>
                </a:solidFill>
              </a:rPr>
              <a:t>()</a:t>
            </a:r>
            <a:endParaRPr lang="en-GB" sz="1800" b="1" dirty="0"/>
          </a:p>
        </p:txBody>
      </p:sp>
      <p:pic>
        <p:nvPicPr>
          <p:cNvPr id="420940" name="Picture 76"/>
          <p:cNvPicPr>
            <a:picLocks noChangeAspect="1" noChangeArrowheads="1"/>
          </p:cNvPicPr>
          <p:nvPr/>
        </p:nvPicPr>
        <p:blipFill>
          <a:blip r:embed="rId3" cstate="print"/>
          <a:srcRect/>
          <a:stretch>
            <a:fillRect/>
          </a:stretch>
        </p:blipFill>
        <p:spPr bwMode="auto">
          <a:xfrm>
            <a:off x="2176463" y="4126213"/>
            <a:ext cx="166687" cy="168275"/>
          </a:xfrm>
          <a:prstGeom prst="rect">
            <a:avLst/>
          </a:prstGeom>
          <a:noFill/>
          <a:ln w="9525">
            <a:noFill/>
            <a:miter lim="800000"/>
            <a:headEnd/>
            <a:tailEnd/>
          </a:ln>
        </p:spPr>
      </p:pic>
      <p:pic>
        <p:nvPicPr>
          <p:cNvPr id="420941" name="Picture 77"/>
          <p:cNvPicPr>
            <a:picLocks noChangeAspect="1" noChangeArrowheads="1"/>
          </p:cNvPicPr>
          <p:nvPr/>
        </p:nvPicPr>
        <p:blipFill>
          <a:blip r:embed="rId4" cstate="print"/>
          <a:srcRect/>
          <a:stretch>
            <a:fillRect/>
          </a:stretch>
        </p:blipFill>
        <p:spPr bwMode="auto">
          <a:xfrm>
            <a:off x="2176463" y="4126213"/>
            <a:ext cx="166687" cy="168275"/>
          </a:xfrm>
          <a:prstGeom prst="rect">
            <a:avLst/>
          </a:prstGeom>
          <a:noFill/>
          <a:ln w="9525">
            <a:noFill/>
            <a:miter lim="800000"/>
            <a:headEnd/>
            <a:tailEnd/>
          </a:ln>
        </p:spPr>
      </p:pic>
      <p:pic>
        <p:nvPicPr>
          <p:cNvPr id="420942" name="Picture 78"/>
          <p:cNvPicPr>
            <a:picLocks noChangeAspect="1" noChangeArrowheads="1"/>
          </p:cNvPicPr>
          <p:nvPr/>
        </p:nvPicPr>
        <p:blipFill>
          <a:blip r:embed="rId3" cstate="print"/>
          <a:srcRect/>
          <a:stretch>
            <a:fillRect/>
          </a:stretch>
        </p:blipFill>
        <p:spPr bwMode="auto">
          <a:xfrm>
            <a:off x="2176463" y="4126213"/>
            <a:ext cx="166687" cy="168275"/>
          </a:xfrm>
          <a:prstGeom prst="rect">
            <a:avLst/>
          </a:prstGeom>
          <a:noFill/>
          <a:ln w="9525">
            <a:noFill/>
            <a:miter lim="800000"/>
            <a:headEnd/>
            <a:tailEnd/>
          </a:ln>
        </p:spPr>
      </p:pic>
      <p:sp>
        <p:nvSpPr>
          <p:cNvPr id="420943" name="Rectangle 79"/>
          <p:cNvSpPr>
            <a:spLocks noChangeArrowheads="1"/>
          </p:cNvSpPr>
          <p:nvPr/>
        </p:nvSpPr>
        <p:spPr bwMode="auto">
          <a:xfrm>
            <a:off x="2343150" y="4126213"/>
            <a:ext cx="49372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420944" name="Freeform 80"/>
          <p:cNvSpPr>
            <a:spLocks/>
          </p:cNvSpPr>
          <p:nvPr/>
        </p:nvSpPr>
        <p:spPr bwMode="auto">
          <a:xfrm>
            <a:off x="2312988" y="4362750"/>
            <a:ext cx="144462" cy="223838"/>
          </a:xfrm>
          <a:custGeom>
            <a:avLst/>
            <a:gdLst/>
            <a:ahLst/>
            <a:cxnLst>
              <a:cxn ang="0">
                <a:pos x="99" y="0"/>
              </a:cxn>
              <a:cxn ang="0">
                <a:pos x="85" y="141"/>
              </a:cxn>
              <a:cxn ang="0">
                <a:pos x="0" y="99"/>
              </a:cxn>
              <a:cxn ang="0">
                <a:pos x="99" y="0"/>
              </a:cxn>
            </a:cxnLst>
            <a:rect l="0" t="0" r="r" b="b"/>
            <a:pathLst>
              <a:path w="99" h="141">
                <a:moveTo>
                  <a:pt x="99" y="0"/>
                </a:moveTo>
                <a:lnTo>
                  <a:pt x="85" y="141"/>
                </a:lnTo>
                <a:lnTo>
                  <a:pt x="0" y="99"/>
                </a:lnTo>
                <a:lnTo>
                  <a:pt x="99" y="0"/>
                </a:lnTo>
                <a:close/>
              </a:path>
            </a:pathLst>
          </a:custGeom>
          <a:solidFill>
            <a:srgbClr val="FFFFFF"/>
          </a:solidFill>
          <a:ln w="0">
            <a:solidFill>
              <a:srgbClr val="990033"/>
            </a:solidFill>
            <a:prstDash val="solid"/>
            <a:round/>
            <a:headEnd/>
            <a:tailEnd/>
          </a:ln>
        </p:spPr>
        <p:txBody>
          <a:bodyPr/>
          <a:lstStyle/>
          <a:p>
            <a:endParaRPr lang="en-GB"/>
          </a:p>
        </p:txBody>
      </p:sp>
      <p:sp>
        <p:nvSpPr>
          <p:cNvPr id="420945" name="Freeform 81"/>
          <p:cNvSpPr>
            <a:spLocks/>
          </p:cNvSpPr>
          <p:nvPr/>
        </p:nvSpPr>
        <p:spPr bwMode="auto">
          <a:xfrm>
            <a:off x="3060700" y="4362750"/>
            <a:ext cx="155575" cy="223838"/>
          </a:xfrm>
          <a:custGeom>
            <a:avLst/>
            <a:gdLst/>
            <a:ahLst/>
            <a:cxnLst>
              <a:cxn ang="0">
                <a:pos x="0" y="0"/>
              </a:cxn>
              <a:cxn ang="0">
                <a:pos x="106" y="92"/>
              </a:cxn>
              <a:cxn ang="0">
                <a:pos x="14" y="141"/>
              </a:cxn>
              <a:cxn ang="0">
                <a:pos x="0" y="0"/>
              </a:cxn>
            </a:cxnLst>
            <a:rect l="0" t="0" r="r" b="b"/>
            <a:pathLst>
              <a:path w="106" h="141">
                <a:moveTo>
                  <a:pt x="0" y="0"/>
                </a:moveTo>
                <a:lnTo>
                  <a:pt x="106" y="92"/>
                </a:lnTo>
                <a:lnTo>
                  <a:pt x="14" y="141"/>
                </a:lnTo>
                <a:lnTo>
                  <a:pt x="0" y="0"/>
                </a:lnTo>
                <a:close/>
              </a:path>
            </a:pathLst>
          </a:custGeom>
          <a:solidFill>
            <a:srgbClr val="FFFFFF"/>
          </a:solidFill>
          <a:ln w="0">
            <a:solidFill>
              <a:srgbClr val="990033"/>
            </a:solidFill>
            <a:prstDash val="solid"/>
            <a:round/>
            <a:headEnd/>
            <a:tailEnd/>
          </a:ln>
        </p:spPr>
        <p:txBody>
          <a:bodyPr/>
          <a:lstStyle/>
          <a:p>
            <a:endParaRPr lang="en-GB"/>
          </a:p>
        </p:txBody>
      </p:sp>
      <p:sp>
        <p:nvSpPr>
          <p:cNvPr id="420946" name="Rectangle 82"/>
          <p:cNvSpPr>
            <a:spLocks noChangeArrowheads="1"/>
          </p:cNvSpPr>
          <p:nvPr/>
        </p:nvSpPr>
        <p:spPr bwMode="auto">
          <a:xfrm>
            <a:off x="5392738" y="2962575"/>
            <a:ext cx="1174750" cy="1395413"/>
          </a:xfrm>
          <a:prstGeom prst="rect">
            <a:avLst/>
          </a:prstGeom>
          <a:solidFill>
            <a:srgbClr val="FFFFCC"/>
          </a:solidFill>
          <a:ln w="0">
            <a:solidFill>
              <a:srgbClr val="990033"/>
            </a:solidFill>
            <a:miter lim="800000"/>
            <a:headEnd/>
            <a:tailEnd/>
          </a:ln>
        </p:spPr>
        <p:txBody>
          <a:bodyPr/>
          <a:lstStyle/>
          <a:p>
            <a:pPr defTabSz="739775">
              <a:spcBef>
                <a:spcPct val="0"/>
              </a:spcBef>
            </a:pPr>
            <a:endParaRPr lang="en-US" sz="1800"/>
          </a:p>
        </p:txBody>
      </p:sp>
      <p:sp>
        <p:nvSpPr>
          <p:cNvPr id="420947" name="Rectangle 83"/>
          <p:cNvSpPr>
            <a:spLocks noChangeArrowheads="1"/>
          </p:cNvSpPr>
          <p:nvPr/>
        </p:nvSpPr>
        <p:spPr bwMode="auto">
          <a:xfrm>
            <a:off x="5735638" y="3008613"/>
            <a:ext cx="506412" cy="182562"/>
          </a:xfrm>
          <a:prstGeom prst="rect">
            <a:avLst/>
          </a:prstGeom>
          <a:noFill/>
          <a:ln w="9525">
            <a:noFill/>
            <a:miter lim="800000"/>
            <a:headEnd/>
            <a:tailEnd/>
          </a:ln>
        </p:spPr>
        <p:txBody>
          <a:bodyPr wrap="none" lIns="0" tIns="0" rIns="0" bIns="0">
            <a:spAutoFit/>
          </a:bodyPr>
          <a:lstStyle/>
          <a:p>
            <a:pPr defTabSz="739775">
              <a:spcBef>
                <a:spcPct val="0"/>
              </a:spcBef>
            </a:pPr>
            <a:r>
              <a:rPr lang="en-GB" sz="1200" i="1">
                <a:solidFill>
                  <a:srgbClr val="000000"/>
                </a:solidFill>
              </a:rPr>
              <a:t>Account</a:t>
            </a:r>
            <a:endParaRPr lang="en-GB" sz="1800" b="1" i="1"/>
          </a:p>
        </p:txBody>
      </p:sp>
      <p:sp>
        <p:nvSpPr>
          <p:cNvPr id="420948" name="Rectangle 84"/>
          <p:cNvSpPr>
            <a:spLocks noChangeArrowheads="1"/>
          </p:cNvSpPr>
          <p:nvPr/>
        </p:nvSpPr>
        <p:spPr bwMode="auto">
          <a:xfrm>
            <a:off x="5392738" y="3199113"/>
            <a:ext cx="1174750" cy="1158875"/>
          </a:xfrm>
          <a:prstGeom prst="rect">
            <a:avLst/>
          </a:prstGeom>
          <a:noFill/>
          <a:ln w="0">
            <a:solidFill>
              <a:srgbClr val="990033"/>
            </a:solidFill>
            <a:miter lim="800000"/>
            <a:headEnd/>
            <a:tailEnd/>
          </a:ln>
        </p:spPr>
        <p:txBody>
          <a:bodyPr/>
          <a:lstStyle/>
          <a:p>
            <a:pPr defTabSz="739775">
              <a:spcBef>
                <a:spcPct val="0"/>
              </a:spcBef>
            </a:pPr>
            <a:endParaRPr lang="en-US" sz="1800"/>
          </a:p>
        </p:txBody>
      </p:sp>
      <p:sp>
        <p:nvSpPr>
          <p:cNvPr id="420949" name="Rectangle 85"/>
          <p:cNvSpPr>
            <a:spLocks noChangeArrowheads="1"/>
          </p:cNvSpPr>
          <p:nvPr/>
        </p:nvSpPr>
        <p:spPr bwMode="auto">
          <a:xfrm>
            <a:off x="5392738" y="3468988"/>
            <a:ext cx="1174750" cy="889000"/>
          </a:xfrm>
          <a:prstGeom prst="rect">
            <a:avLst/>
          </a:prstGeom>
          <a:noFill/>
          <a:ln w="0">
            <a:solidFill>
              <a:srgbClr val="990033"/>
            </a:solidFill>
            <a:miter lim="800000"/>
            <a:headEnd/>
            <a:tailEnd/>
          </a:ln>
        </p:spPr>
        <p:txBody>
          <a:bodyPr/>
          <a:lstStyle/>
          <a:p>
            <a:pPr defTabSz="739775">
              <a:spcBef>
                <a:spcPct val="0"/>
              </a:spcBef>
            </a:pPr>
            <a:endParaRPr lang="en-US" sz="1800"/>
          </a:p>
        </p:txBody>
      </p:sp>
      <p:pic>
        <p:nvPicPr>
          <p:cNvPr id="420950" name="Picture 86"/>
          <p:cNvPicPr>
            <a:picLocks noChangeAspect="1" noChangeArrowheads="1"/>
          </p:cNvPicPr>
          <p:nvPr/>
        </p:nvPicPr>
        <p:blipFill>
          <a:blip r:embed="rId5" cstate="print"/>
          <a:srcRect/>
          <a:stretch>
            <a:fillRect/>
          </a:stretch>
        </p:blipFill>
        <p:spPr bwMode="auto">
          <a:xfrm>
            <a:off x="5422900" y="3221338"/>
            <a:ext cx="168275" cy="168275"/>
          </a:xfrm>
          <a:prstGeom prst="rect">
            <a:avLst/>
          </a:prstGeom>
          <a:noFill/>
          <a:ln w="9525">
            <a:noFill/>
            <a:miter lim="800000"/>
            <a:headEnd/>
            <a:tailEnd/>
          </a:ln>
        </p:spPr>
      </p:pic>
      <p:pic>
        <p:nvPicPr>
          <p:cNvPr id="420951" name="Picture 87"/>
          <p:cNvPicPr>
            <a:picLocks noChangeAspect="1" noChangeArrowheads="1"/>
          </p:cNvPicPr>
          <p:nvPr/>
        </p:nvPicPr>
        <p:blipFill>
          <a:blip r:embed="rId6" cstate="print"/>
          <a:srcRect/>
          <a:stretch>
            <a:fillRect/>
          </a:stretch>
        </p:blipFill>
        <p:spPr bwMode="auto">
          <a:xfrm>
            <a:off x="5422900" y="3221338"/>
            <a:ext cx="168275" cy="168275"/>
          </a:xfrm>
          <a:prstGeom prst="rect">
            <a:avLst/>
          </a:prstGeom>
          <a:noFill/>
          <a:ln w="9525">
            <a:noFill/>
            <a:miter lim="800000"/>
            <a:headEnd/>
            <a:tailEnd/>
          </a:ln>
        </p:spPr>
      </p:pic>
      <p:pic>
        <p:nvPicPr>
          <p:cNvPr id="420952" name="Picture 88"/>
          <p:cNvPicPr>
            <a:picLocks noChangeAspect="1" noChangeArrowheads="1"/>
          </p:cNvPicPr>
          <p:nvPr/>
        </p:nvPicPr>
        <p:blipFill>
          <a:blip r:embed="rId5" cstate="print"/>
          <a:srcRect/>
          <a:stretch>
            <a:fillRect/>
          </a:stretch>
        </p:blipFill>
        <p:spPr bwMode="auto">
          <a:xfrm>
            <a:off x="5422900" y="3221338"/>
            <a:ext cx="168275" cy="168275"/>
          </a:xfrm>
          <a:prstGeom prst="rect">
            <a:avLst/>
          </a:prstGeom>
          <a:noFill/>
          <a:ln w="9525">
            <a:noFill/>
            <a:miter lim="800000"/>
            <a:headEnd/>
            <a:tailEnd/>
          </a:ln>
        </p:spPr>
      </p:pic>
      <p:sp>
        <p:nvSpPr>
          <p:cNvPr id="420953" name="Rectangle 89"/>
          <p:cNvSpPr>
            <a:spLocks noChangeArrowheads="1"/>
          </p:cNvSpPr>
          <p:nvPr/>
        </p:nvSpPr>
        <p:spPr bwMode="auto">
          <a:xfrm>
            <a:off x="5591175" y="3221338"/>
            <a:ext cx="989013" cy="182562"/>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accountNumber</a:t>
            </a:r>
            <a:endParaRPr lang="en-GB" sz="1800" b="1"/>
          </a:p>
        </p:txBody>
      </p:sp>
      <p:pic>
        <p:nvPicPr>
          <p:cNvPr id="420954" name="Picture 90"/>
          <p:cNvPicPr>
            <a:picLocks noChangeAspect="1" noChangeArrowheads="1"/>
          </p:cNvPicPr>
          <p:nvPr/>
        </p:nvPicPr>
        <p:blipFill>
          <a:blip r:embed="rId3" cstate="print"/>
          <a:srcRect/>
          <a:stretch>
            <a:fillRect/>
          </a:stretch>
        </p:blipFill>
        <p:spPr bwMode="auto">
          <a:xfrm>
            <a:off x="5422900" y="3581700"/>
            <a:ext cx="168275" cy="168275"/>
          </a:xfrm>
          <a:prstGeom prst="rect">
            <a:avLst/>
          </a:prstGeom>
          <a:noFill/>
          <a:ln w="9525">
            <a:noFill/>
            <a:miter lim="800000"/>
            <a:headEnd/>
            <a:tailEnd/>
          </a:ln>
        </p:spPr>
      </p:pic>
      <p:pic>
        <p:nvPicPr>
          <p:cNvPr id="420955" name="Picture 91"/>
          <p:cNvPicPr>
            <a:picLocks noChangeAspect="1" noChangeArrowheads="1"/>
          </p:cNvPicPr>
          <p:nvPr/>
        </p:nvPicPr>
        <p:blipFill>
          <a:blip r:embed="rId4" cstate="print"/>
          <a:srcRect/>
          <a:stretch>
            <a:fillRect/>
          </a:stretch>
        </p:blipFill>
        <p:spPr bwMode="auto">
          <a:xfrm>
            <a:off x="5422900" y="3581700"/>
            <a:ext cx="168275" cy="168275"/>
          </a:xfrm>
          <a:prstGeom prst="rect">
            <a:avLst/>
          </a:prstGeom>
          <a:noFill/>
          <a:ln w="9525">
            <a:noFill/>
            <a:miter lim="800000"/>
            <a:headEnd/>
            <a:tailEnd/>
          </a:ln>
        </p:spPr>
      </p:pic>
      <p:pic>
        <p:nvPicPr>
          <p:cNvPr id="420956" name="Picture 92"/>
          <p:cNvPicPr>
            <a:picLocks noChangeAspect="1" noChangeArrowheads="1"/>
          </p:cNvPicPr>
          <p:nvPr/>
        </p:nvPicPr>
        <p:blipFill>
          <a:blip r:embed="rId3" cstate="print"/>
          <a:srcRect/>
          <a:stretch>
            <a:fillRect/>
          </a:stretch>
        </p:blipFill>
        <p:spPr bwMode="auto">
          <a:xfrm>
            <a:off x="5422900" y="3581700"/>
            <a:ext cx="168275" cy="168275"/>
          </a:xfrm>
          <a:prstGeom prst="rect">
            <a:avLst/>
          </a:prstGeom>
          <a:noFill/>
          <a:ln w="9525">
            <a:noFill/>
            <a:miter lim="800000"/>
            <a:headEnd/>
            <a:tailEnd/>
          </a:ln>
        </p:spPr>
      </p:pic>
      <p:sp>
        <p:nvSpPr>
          <p:cNvPr id="420957" name="Rectangle 93"/>
          <p:cNvSpPr>
            <a:spLocks noChangeArrowheads="1"/>
          </p:cNvSpPr>
          <p:nvPr/>
        </p:nvSpPr>
        <p:spPr bwMode="auto">
          <a:xfrm>
            <a:off x="5591175" y="3581700"/>
            <a:ext cx="742191"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pic>
        <p:nvPicPr>
          <p:cNvPr id="420958" name="Picture 94"/>
          <p:cNvPicPr>
            <a:picLocks noChangeAspect="1" noChangeArrowheads="1"/>
          </p:cNvPicPr>
          <p:nvPr/>
        </p:nvPicPr>
        <p:blipFill>
          <a:blip r:embed="rId3" cstate="print"/>
          <a:srcRect/>
          <a:stretch>
            <a:fillRect/>
          </a:stretch>
        </p:blipFill>
        <p:spPr bwMode="auto">
          <a:xfrm>
            <a:off x="5422900" y="3761088"/>
            <a:ext cx="168275" cy="168275"/>
          </a:xfrm>
          <a:prstGeom prst="rect">
            <a:avLst/>
          </a:prstGeom>
          <a:noFill/>
          <a:ln w="9525">
            <a:noFill/>
            <a:miter lim="800000"/>
            <a:headEnd/>
            <a:tailEnd/>
          </a:ln>
        </p:spPr>
      </p:pic>
      <p:pic>
        <p:nvPicPr>
          <p:cNvPr id="420959" name="Picture 95"/>
          <p:cNvPicPr>
            <a:picLocks noChangeAspect="1" noChangeArrowheads="1"/>
          </p:cNvPicPr>
          <p:nvPr/>
        </p:nvPicPr>
        <p:blipFill>
          <a:blip r:embed="rId4" cstate="print"/>
          <a:srcRect/>
          <a:stretch>
            <a:fillRect/>
          </a:stretch>
        </p:blipFill>
        <p:spPr bwMode="auto">
          <a:xfrm>
            <a:off x="5422900" y="3761088"/>
            <a:ext cx="168275" cy="168275"/>
          </a:xfrm>
          <a:prstGeom prst="rect">
            <a:avLst/>
          </a:prstGeom>
          <a:noFill/>
          <a:ln w="9525">
            <a:noFill/>
            <a:miter lim="800000"/>
            <a:headEnd/>
            <a:tailEnd/>
          </a:ln>
        </p:spPr>
      </p:pic>
      <p:pic>
        <p:nvPicPr>
          <p:cNvPr id="420960" name="Picture 96"/>
          <p:cNvPicPr>
            <a:picLocks noChangeAspect="1" noChangeArrowheads="1"/>
          </p:cNvPicPr>
          <p:nvPr/>
        </p:nvPicPr>
        <p:blipFill>
          <a:blip r:embed="rId3" cstate="print"/>
          <a:srcRect/>
          <a:stretch>
            <a:fillRect/>
          </a:stretch>
        </p:blipFill>
        <p:spPr bwMode="auto">
          <a:xfrm>
            <a:off x="5422900" y="3761088"/>
            <a:ext cx="168275" cy="168275"/>
          </a:xfrm>
          <a:prstGeom prst="rect">
            <a:avLst/>
          </a:prstGeom>
          <a:noFill/>
          <a:ln w="9525">
            <a:noFill/>
            <a:miter lim="800000"/>
            <a:headEnd/>
            <a:tailEnd/>
          </a:ln>
        </p:spPr>
      </p:pic>
      <p:sp>
        <p:nvSpPr>
          <p:cNvPr id="420961" name="Rectangle 97"/>
          <p:cNvSpPr>
            <a:spLocks noChangeArrowheads="1"/>
          </p:cNvSpPr>
          <p:nvPr/>
        </p:nvSpPr>
        <p:spPr bwMode="auto">
          <a:xfrm>
            <a:off x="5591175" y="3761088"/>
            <a:ext cx="62196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pic>
        <p:nvPicPr>
          <p:cNvPr id="420962" name="Picture 98"/>
          <p:cNvPicPr>
            <a:picLocks noChangeAspect="1" noChangeArrowheads="1"/>
          </p:cNvPicPr>
          <p:nvPr/>
        </p:nvPicPr>
        <p:blipFill>
          <a:blip r:embed="rId3" cstate="print"/>
          <a:srcRect/>
          <a:stretch>
            <a:fillRect/>
          </a:stretch>
        </p:blipFill>
        <p:spPr bwMode="auto">
          <a:xfrm>
            <a:off x="5422900" y="3940475"/>
            <a:ext cx="168275" cy="169863"/>
          </a:xfrm>
          <a:prstGeom prst="rect">
            <a:avLst/>
          </a:prstGeom>
          <a:noFill/>
          <a:ln w="9525">
            <a:noFill/>
            <a:miter lim="800000"/>
            <a:headEnd/>
            <a:tailEnd/>
          </a:ln>
        </p:spPr>
      </p:pic>
      <p:pic>
        <p:nvPicPr>
          <p:cNvPr id="420963" name="Picture 99"/>
          <p:cNvPicPr>
            <a:picLocks noChangeAspect="1" noChangeArrowheads="1"/>
          </p:cNvPicPr>
          <p:nvPr/>
        </p:nvPicPr>
        <p:blipFill>
          <a:blip r:embed="rId4" cstate="print"/>
          <a:srcRect/>
          <a:stretch>
            <a:fillRect/>
          </a:stretch>
        </p:blipFill>
        <p:spPr bwMode="auto">
          <a:xfrm>
            <a:off x="5422900" y="3940475"/>
            <a:ext cx="168275" cy="169863"/>
          </a:xfrm>
          <a:prstGeom prst="rect">
            <a:avLst/>
          </a:prstGeom>
          <a:noFill/>
          <a:ln w="9525">
            <a:noFill/>
            <a:miter lim="800000"/>
            <a:headEnd/>
            <a:tailEnd/>
          </a:ln>
        </p:spPr>
      </p:pic>
      <p:pic>
        <p:nvPicPr>
          <p:cNvPr id="420964" name="Picture 100"/>
          <p:cNvPicPr>
            <a:picLocks noChangeAspect="1" noChangeArrowheads="1"/>
          </p:cNvPicPr>
          <p:nvPr/>
        </p:nvPicPr>
        <p:blipFill>
          <a:blip r:embed="rId3" cstate="print"/>
          <a:srcRect/>
          <a:stretch>
            <a:fillRect/>
          </a:stretch>
        </p:blipFill>
        <p:spPr bwMode="auto">
          <a:xfrm>
            <a:off x="5422900" y="3940475"/>
            <a:ext cx="168275" cy="169863"/>
          </a:xfrm>
          <a:prstGeom prst="rect">
            <a:avLst/>
          </a:prstGeom>
          <a:noFill/>
          <a:ln w="9525">
            <a:noFill/>
            <a:miter lim="800000"/>
            <a:headEnd/>
            <a:tailEnd/>
          </a:ln>
        </p:spPr>
      </p:pic>
      <p:sp>
        <p:nvSpPr>
          <p:cNvPr id="420965" name="Rectangle 101"/>
          <p:cNvSpPr>
            <a:spLocks noChangeArrowheads="1"/>
          </p:cNvSpPr>
          <p:nvPr/>
        </p:nvSpPr>
        <p:spPr bwMode="auto">
          <a:xfrm>
            <a:off x="5591175" y="3940475"/>
            <a:ext cx="888064"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pic>
        <p:nvPicPr>
          <p:cNvPr id="420966" name="Picture 102"/>
          <p:cNvPicPr>
            <a:picLocks noChangeAspect="1" noChangeArrowheads="1"/>
          </p:cNvPicPr>
          <p:nvPr/>
        </p:nvPicPr>
        <p:blipFill>
          <a:blip r:embed="rId3" cstate="print"/>
          <a:srcRect/>
          <a:stretch>
            <a:fillRect/>
          </a:stretch>
        </p:blipFill>
        <p:spPr bwMode="auto">
          <a:xfrm>
            <a:off x="5422900" y="4121450"/>
            <a:ext cx="168275" cy="168275"/>
          </a:xfrm>
          <a:prstGeom prst="rect">
            <a:avLst/>
          </a:prstGeom>
          <a:noFill/>
          <a:ln w="9525">
            <a:noFill/>
            <a:miter lim="800000"/>
            <a:headEnd/>
            <a:tailEnd/>
          </a:ln>
        </p:spPr>
      </p:pic>
      <p:pic>
        <p:nvPicPr>
          <p:cNvPr id="420967" name="Picture 103"/>
          <p:cNvPicPr>
            <a:picLocks noChangeAspect="1" noChangeArrowheads="1"/>
          </p:cNvPicPr>
          <p:nvPr/>
        </p:nvPicPr>
        <p:blipFill>
          <a:blip r:embed="rId4" cstate="print"/>
          <a:srcRect/>
          <a:stretch>
            <a:fillRect/>
          </a:stretch>
        </p:blipFill>
        <p:spPr bwMode="auto">
          <a:xfrm>
            <a:off x="5422900" y="4121450"/>
            <a:ext cx="168275" cy="168275"/>
          </a:xfrm>
          <a:prstGeom prst="rect">
            <a:avLst/>
          </a:prstGeom>
          <a:noFill/>
          <a:ln w="9525">
            <a:noFill/>
            <a:miter lim="800000"/>
            <a:headEnd/>
            <a:tailEnd/>
          </a:ln>
        </p:spPr>
      </p:pic>
      <p:pic>
        <p:nvPicPr>
          <p:cNvPr id="420968" name="Picture 104"/>
          <p:cNvPicPr>
            <a:picLocks noChangeAspect="1" noChangeArrowheads="1"/>
          </p:cNvPicPr>
          <p:nvPr/>
        </p:nvPicPr>
        <p:blipFill>
          <a:blip r:embed="rId3" cstate="print"/>
          <a:srcRect/>
          <a:stretch>
            <a:fillRect/>
          </a:stretch>
        </p:blipFill>
        <p:spPr bwMode="auto">
          <a:xfrm>
            <a:off x="5422900" y="4121450"/>
            <a:ext cx="168275" cy="168275"/>
          </a:xfrm>
          <a:prstGeom prst="rect">
            <a:avLst/>
          </a:prstGeom>
          <a:noFill/>
          <a:ln w="9525">
            <a:noFill/>
            <a:miter lim="800000"/>
            <a:headEnd/>
            <a:tailEnd/>
          </a:ln>
        </p:spPr>
      </p:pic>
      <p:sp>
        <p:nvSpPr>
          <p:cNvPr id="420969" name="Rectangle 105"/>
          <p:cNvSpPr>
            <a:spLocks noChangeArrowheads="1"/>
          </p:cNvSpPr>
          <p:nvPr/>
        </p:nvSpPr>
        <p:spPr bwMode="auto">
          <a:xfrm>
            <a:off x="5591175" y="4121450"/>
            <a:ext cx="49372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a:solidFill>
                  <a:srgbClr val="000000"/>
                </a:solidFill>
              </a:rPr>
              <a:t>C</a:t>
            </a:r>
            <a:r>
              <a:rPr lang="en-GB" sz="1200" dirty="0" smtClean="0">
                <a:solidFill>
                  <a:srgbClr val="000000"/>
                </a:solidFill>
              </a:rPr>
              <a:t>lose</a:t>
            </a:r>
            <a:r>
              <a:rPr lang="en-GB" sz="1200" dirty="0">
                <a:solidFill>
                  <a:srgbClr val="000000"/>
                </a:solidFill>
              </a:rPr>
              <a:t>()</a:t>
            </a:r>
            <a:endParaRPr lang="en-GB" sz="1800" b="1" dirty="0"/>
          </a:p>
        </p:txBody>
      </p:sp>
      <p:sp>
        <p:nvSpPr>
          <p:cNvPr id="420970" name="Rectangle 106"/>
          <p:cNvSpPr>
            <a:spLocks noChangeArrowheads="1"/>
          </p:cNvSpPr>
          <p:nvPr/>
        </p:nvSpPr>
        <p:spPr bwMode="auto">
          <a:xfrm>
            <a:off x="4654550" y="4927900"/>
            <a:ext cx="1191079" cy="1214438"/>
          </a:xfrm>
          <a:prstGeom prst="rect">
            <a:avLst/>
          </a:prstGeom>
          <a:solidFill>
            <a:srgbClr val="FFFFCC"/>
          </a:solidFill>
          <a:ln w="0">
            <a:solidFill>
              <a:srgbClr val="990033"/>
            </a:solidFill>
            <a:miter lim="800000"/>
            <a:headEnd/>
            <a:tailEnd/>
          </a:ln>
        </p:spPr>
        <p:txBody>
          <a:bodyPr/>
          <a:lstStyle/>
          <a:p>
            <a:pPr defTabSz="739775">
              <a:spcBef>
                <a:spcPct val="0"/>
              </a:spcBef>
            </a:pPr>
            <a:endParaRPr lang="en-US" sz="1800"/>
          </a:p>
        </p:txBody>
      </p:sp>
      <p:sp>
        <p:nvSpPr>
          <p:cNvPr id="420971" name="Rectangle 107"/>
          <p:cNvSpPr>
            <a:spLocks noChangeArrowheads="1"/>
          </p:cNvSpPr>
          <p:nvPr/>
        </p:nvSpPr>
        <p:spPr bwMode="auto">
          <a:xfrm>
            <a:off x="4720771" y="4972350"/>
            <a:ext cx="904875" cy="182563"/>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CheckAccount</a:t>
            </a:r>
            <a:endParaRPr lang="en-GB" sz="1800" b="1"/>
          </a:p>
        </p:txBody>
      </p:sp>
      <p:sp>
        <p:nvSpPr>
          <p:cNvPr id="420972" name="Rectangle 108"/>
          <p:cNvSpPr>
            <a:spLocks noChangeArrowheads="1"/>
          </p:cNvSpPr>
          <p:nvPr/>
        </p:nvSpPr>
        <p:spPr bwMode="auto">
          <a:xfrm>
            <a:off x="4654551" y="5162850"/>
            <a:ext cx="1184274" cy="979488"/>
          </a:xfrm>
          <a:prstGeom prst="rect">
            <a:avLst/>
          </a:prstGeom>
          <a:noFill/>
          <a:ln w="0">
            <a:solidFill>
              <a:srgbClr val="990033"/>
            </a:solidFill>
            <a:miter lim="800000"/>
            <a:headEnd/>
            <a:tailEnd/>
          </a:ln>
        </p:spPr>
        <p:txBody>
          <a:bodyPr/>
          <a:lstStyle/>
          <a:p>
            <a:pPr defTabSz="739775">
              <a:spcBef>
                <a:spcPct val="0"/>
              </a:spcBef>
            </a:pPr>
            <a:endParaRPr lang="en-US" sz="1800"/>
          </a:p>
        </p:txBody>
      </p:sp>
      <p:sp>
        <p:nvSpPr>
          <p:cNvPr id="420973" name="Rectangle 109"/>
          <p:cNvSpPr>
            <a:spLocks noChangeArrowheads="1"/>
          </p:cNvSpPr>
          <p:nvPr/>
        </p:nvSpPr>
        <p:spPr bwMode="auto">
          <a:xfrm>
            <a:off x="4654550" y="5253338"/>
            <a:ext cx="1191079" cy="889000"/>
          </a:xfrm>
          <a:prstGeom prst="rect">
            <a:avLst/>
          </a:prstGeom>
          <a:noFill/>
          <a:ln w="0">
            <a:solidFill>
              <a:srgbClr val="990033"/>
            </a:solidFill>
            <a:miter lim="800000"/>
            <a:headEnd/>
            <a:tailEnd/>
          </a:ln>
        </p:spPr>
        <p:txBody>
          <a:bodyPr/>
          <a:lstStyle/>
          <a:p>
            <a:pPr defTabSz="739775">
              <a:spcBef>
                <a:spcPct val="0"/>
              </a:spcBef>
            </a:pPr>
            <a:endParaRPr lang="en-US" sz="1800"/>
          </a:p>
        </p:txBody>
      </p:sp>
      <p:pic>
        <p:nvPicPr>
          <p:cNvPr id="420974" name="Picture 110"/>
          <p:cNvPicPr>
            <a:picLocks noChangeAspect="1" noChangeArrowheads="1"/>
          </p:cNvPicPr>
          <p:nvPr/>
        </p:nvPicPr>
        <p:blipFill>
          <a:blip r:embed="rId3" cstate="print"/>
          <a:srcRect/>
          <a:stretch>
            <a:fillRect/>
          </a:stretch>
        </p:blipFill>
        <p:spPr bwMode="auto">
          <a:xfrm>
            <a:off x="4686300" y="5366050"/>
            <a:ext cx="165100" cy="168275"/>
          </a:xfrm>
          <a:prstGeom prst="rect">
            <a:avLst/>
          </a:prstGeom>
          <a:noFill/>
          <a:ln w="9525">
            <a:noFill/>
            <a:miter lim="800000"/>
            <a:headEnd/>
            <a:tailEnd/>
          </a:ln>
        </p:spPr>
      </p:pic>
      <p:pic>
        <p:nvPicPr>
          <p:cNvPr id="420975" name="Picture 111"/>
          <p:cNvPicPr>
            <a:picLocks noChangeAspect="1" noChangeArrowheads="1"/>
          </p:cNvPicPr>
          <p:nvPr/>
        </p:nvPicPr>
        <p:blipFill>
          <a:blip r:embed="rId4" cstate="print"/>
          <a:srcRect/>
          <a:stretch>
            <a:fillRect/>
          </a:stretch>
        </p:blipFill>
        <p:spPr bwMode="auto">
          <a:xfrm>
            <a:off x="4686300" y="5366050"/>
            <a:ext cx="165100" cy="168275"/>
          </a:xfrm>
          <a:prstGeom prst="rect">
            <a:avLst/>
          </a:prstGeom>
          <a:noFill/>
          <a:ln w="9525">
            <a:noFill/>
            <a:miter lim="800000"/>
            <a:headEnd/>
            <a:tailEnd/>
          </a:ln>
        </p:spPr>
      </p:pic>
      <p:pic>
        <p:nvPicPr>
          <p:cNvPr id="420976" name="Picture 112"/>
          <p:cNvPicPr>
            <a:picLocks noChangeAspect="1" noChangeArrowheads="1"/>
          </p:cNvPicPr>
          <p:nvPr/>
        </p:nvPicPr>
        <p:blipFill>
          <a:blip r:embed="rId3" cstate="print"/>
          <a:srcRect/>
          <a:stretch>
            <a:fillRect/>
          </a:stretch>
        </p:blipFill>
        <p:spPr bwMode="auto">
          <a:xfrm>
            <a:off x="4686300" y="5366050"/>
            <a:ext cx="165100" cy="168275"/>
          </a:xfrm>
          <a:prstGeom prst="rect">
            <a:avLst/>
          </a:prstGeom>
          <a:noFill/>
          <a:ln w="9525">
            <a:noFill/>
            <a:miter lim="800000"/>
            <a:headEnd/>
            <a:tailEnd/>
          </a:ln>
        </p:spPr>
      </p:pic>
      <p:pic>
        <p:nvPicPr>
          <p:cNvPr id="420978" name="Picture 114"/>
          <p:cNvPicPr>
            <a:picLocks noChangeAspect="1" noChangeArrowheads="1"/>
          </p:cNvPicPr>
          <p:nvPr/>
        </p:nvPicPr>
        <p:blipFill>
          <a:blip r:embed="rId3" cstate="print"/>
          <a:srcRect/>
          <a:stretch>
            <a:fillRect/>
          </a:stretch>
        </p:blipFill>
        <p:spPr bwMode="auto">
          <a:xfrm>
            <a:off x="4686300" y="5545438"/>
            <a:ext cx="165100" cy="169862"/>
          </a:xfrm>
          <a:prstGeom prst="rect">
            <a:avLst/>
          </a:prstGeom>
          <a:noFill/>
          <a:ln w="9525">
            <a:noFill/>
            <a:miter lim="800000"/>
            <a:headEnd/>
            <a:tailEnd/>
          </a:ln>
        </p:spPr>
      </p:pic>
      <p:pic>
        <p:nvPicPr>
          <p:cNvPr id="420979" name="Picture 115"/>
          <p:cNvPicPr>
            <a:picLocks noChangeAspect="1" noChangeArrowheads="1"/>
          </p:cNvPicPr>
          <p:nvPr/>
        </p:nvPicPr>
        <p:blipFill>
          <a:blip r:embed="rId4" cstate="print"/>
          <a:srcRect/>
          <a:stretch>
            <a:fillRect/>
          </a:stretch>
        </p:blipFill>
        <p:spPr bwMode="auto">
          <a:xfrm>
            <a:off x="4686300" y="5545438"/>
            <a:ext cx="165100" cy="169862"/>
          </a:xfrm>
          <a:prstGeom prst="rect">
            <a:avLst/>
          </a:prstGeom>
          <a:noFill/>
          <a:ln w="9525">
            <a:noFill/>
            <a:miter lim="800000"/>
            <a:headEnd/>
            <a:tailEnd/>
          </a:ln>
        </p:spPr>
      </p:pic>
      <p:pic>
        <p:nvPicPr>
          <p:cNvPr id="420980" name="Picture 116"/>
          <p:cNvPicPr>
            <a:picLocks noChangeAspect="1" noChangeArrowheads="1"/>
          </p:cNvPicPr>
          <p:nvPr/>
        </p:nvPicPr>
        <p:blipFill>
          <a:blip r:embed="rId3" cstate="print"/>
          <a:srcRect/>
          <a:stretch>
            <a:fillRect/>
          </a:stretch>
        </p:blipFill>
        <p:spPr bwMode="auto">
          <a:xfrm>
            <a:off x="4686300" y="5545438"/>
            <a:ext cx="165100" cy="169862"/>
          </a:xfrm>
          <a:prstGeom prst="rect">
            <a:avLst/>
          </a:prstGeom>
          <a:noFill/>
          <a:ln w="9525">
            <a:noFill/>
            <a:miter lim="800000"/>
            <a:headEnd/>
            <a:tailEnd/>
          </a:ln>
        </p:spPr>
      </p:pic>
      <p:pic>
        <p:nvPicPr>
          <p:cNvPr id="420982" name="Picture 118"/>
          <p:cNvPicPr>
            <a:picLocks noChangeAspect="1" noChangeArrowheads="1"/>
          </p:cNvPicPr>
          <p:nvPr/>
        </p:nvPicPr>
        <p:blipFill>
          <a:blip r:embed="rId3" cstate="print"/>
          <a:srcRect/>
          <a:stretch>
            <a:fillRect/>
          </a:stretch>
        </p:blipFill>
        <p:spPr bwMode="auto">
          <a:xfrm>
            <a:off x="4686300" y="5726413"/>
            <a:ext cx="165100" cy="168275"/>
          </a:xfrm>
          <a:prstGeom prst="rect">
            <a:avLst/>
          </a:prstGeom>
          <a:noFill/>
          <a:ln w="9525">
            <a:noFill/>
            <a:miter lim="800000"/>
            <a:headEnd/>
            <a:tailEnd/>
          </a:ln>
        </p:spPr>
      </p:pic>
      <p:pic>
        <p:nvPicPr>
          <p:cNvPr id="420983" name="Picture 119"/>
          <p:cNvPicPr>
            <a:picLocks noChangeAspect="1" noChangeArrowheads="1"/>
          </p:cNvPicPr>
          <p:nvPr/>
        </p:nvPicPr>
        <p:blipFill>
          <a:blip r:embed="rId4" cstate="print"/>
          <a:srcRect/>
          <a:stretch>
            <a:fillRect/>
          </a:stretch>
        </p:blipFill>
        <p:spPr bwMode="auto">
          <a:xfrm>
            <a:off x="4686300" y="5726413"/>
            <a:ext cx="165100" cy="168275"/>
          </a:xfrm>
          <a:prstGeom prst="rect">
            <a:avLst/>
          </a:prstGeom>
          <a:noFill/>
          <a:ln w="9525">
            <a:noFill/>
            <a:miter lim="800000"/>
            <a:headEnd/>
            <a:tailEnd/>
          </a:ln>
        </p:spPr>
      </p:pic>
      <p:pic>
        <p:nvPicPr>
          <p:cNvPr id="420984" name="Picture 120"/>
          <p:cNvPicPr>
            <a:picLocks noChangeAspect="1" noChangeArrowheads="1"/>
          </p:cNvPicPr>
          <p:nvPr/>
        </p:nvPicPr>
        <p:blipFill>
          <a:blip r:embed="rId3" cstate="print"/>
          <a:srcRect/>
          <a:stretch>
            <a:fillRect/>
          </a:stretch>
        </p:blipFill>
        <p:spPr bwMode="auto">
          <a:xfrm>
            <a:off x="4686300" y="5726413"/>
            <a:ext cx="165100" cy="168275"/>
          </a:xfrm>
          <a:prstGeom prst="rect">
            <a:avLst/>
          </a:prstGeom>
          <a:noFill/>
          <a:ln w="9525">
            <a:noFill/>
            <a:miter lim="800000"/>
            <a:headEnd/>
            <a:tailEnd/>
          </a:ln>
        </p:spPr>
      </p:pic>
      <p:pic>
        <p:nvPicPr>
          <p:cNvPr id="420986" name="Picture 122"/>
          <p:cNvPicPr>
            <a:picLocks noChangeAspect="1" noChangeArrowheads="1"/>
          </p:cNvPicPr>
          <p:nvPr/>
        </p:nvPicPr>
        <p:blipFill>
          <a:blip r:embed="rId3" cstate="print"/>
          <a:srcRect/>
          <a:stretch>
            <a:fillRect/>
          </a:stretch>
        </p:blipFill>
        <p:spPr bwMode="auto">
          <a:xfrm>
            <a:off x="4686300" y="5905800"/>
            <a:ext cx="165100" cy="168275"/>
          </a:xfrm>
          <a:prstGeom prst="rect">
            <a:avLst/>
          </a:prstGeom>
          <a:noFill/>
          <a:ln w="9525">
            <a:noFill/>
            <a:miter lim="800000"/>
            <a:headEnd/>
            <a:tailEnd/>
          </a:ln>
        </p:spPr>
      </p:pic>
      <p:pic>
        <p:nvPicPr>
          <p:cNvPr id="420987" name="Picture 123"/>
          <p:cNvPicPr>
            <a:picLocks noChangeAspect="1" noChangeArrowheads="1"/>
          </p:cNvPicPr>
          <p:nvPr/>
        </p:nvPicPr>
        <p:blipFill>
          <a:blip r:embed="rId4" cstate="print"/>
          <a:srcRect/>
          <a:stretch>
            <a:fillRect/>
          </a:stretch>
        </p:blipFill>
        <p:spPr bwMode="auto">
          <a:xfrm>
            <a:off x="4686300" y="5905800"/>
            <a:ext cx="165100" cy="168275"/>
          </a:xfrm>
          <a:prstGeom prst="rect">
            <a:avLst/>
          </a:prstGeom>
          <a:noFill/>
          <a:ln w="9525">
            <a:noFill/>
            <a:miter lim="800000"/>
            <a:headEnd/>
            <a:tailEnd/>
          </a:ln>
        </p:spPr>
      </p:pic>
      <p:pic>
        <p:nvPicPr>
          <p:cNvPr id="420988" name="Picture 124"/>
          <p:cNvPicPr>
            <a:picLocks noChangeAspect="1" noChangeArrowheads="1"/>
          </p:cNvPicPr>
          <p:nvPr/>
        </p:nvPicPr>
        <p:blipFill>
          <a:blip r:embed="rId3" cstate="print"/>
          <a:srcRect/>
          <a:stretch>
            <a:fillRect/>
          </a:stretch>
        </p:blipFill>
        <p:spPr bwMode="auto">
          <a:xfrm>
            <a:off x="4686300" y="5905800"/>
            <a:ext cx="165100" cy="168275"/>
          </a:xfrm>
          <a:prstGeom prst="rect">
            <a:avLst/>
          </a:prstGeom>
          <a:noFill/>
          <a:ln w="9525">
            <a:noFill/>
            <a:miter lim="800000"/>
            <a:headEnd/>
            <a:tailEnd/>
          </a:ln>
        </p:spPr>
      </p:pic>
      <p:sp>
        <p:nvSpPr>
          <p:cNvPr id="420990" name="Rectangle 126"/>
          <p:cNvSpPr>
            <a:spLocks noChangeArrowheads="1"/>
          </p:cNvSpPr>
          <p:nvPr/>
        </p:nvSpPr>
        <p:spPr bwMode="auto">
          <a:xfrm>
            <a:off x="6370638" y="4927900"/>
            <a:ext cx="1249362" cy="1214438"/>
          </a:xfrm>
          <a:prstGeom prst="rect">
            <a:avLst/>
          </a:prstGeom>
          <a:solidFill>
            <a:srgbClr val="FFFFCC"/>
          </a:solidFill>
          <a:ln w="0">
            <a:solidFill>
              <a:srgbClr val="990033"/>
            </a:solidFill>
            <a:miter lim="800000"/>
            <a:headEnd/>
            <a:tailEnd/>
          </a:ln>
        </p:spPr>
        <p:txBody>
          <a:bodyPr/>
          <a:lstStyle/>
          <a:p>
            <a:pPr defTabSz="739775">
              <a:spcBef>
                <a:spcPct val="0"/>
              </a:spcBef>
            </a:pPr>
            <a:endParaRPr lang="en-US" sz="1800"/>
          </a:p>
        </p:txBody>
      </p:sp>
      <p:sp>
        <p:nvSpPr>
          <p:cNvPr id="420991" name="Rectangle 127"/>
          <p:cNvSpPr>
            <a:spLocks noChangeArrowheads="1"/>
          </p:cNvSpPr>
          <p:nvPr/>
        </p:nvSpPr>
        <p:spPr bwMode="auto">
          <a:xfrm>
            <a:off x="6453188" y="4972350"/>
            <a:ext cx="982662" cy="182563"/>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DepositAccount</a:t>
            </a:r>
            <a:endParaRPr lang="en-GB" sz="1800" b="1"/>
          </a:p>
        </p:txBody>
      </p:sp>
      <p:sp>
        <p:nvSpPr>
          <p:cNvPr id="420992" name="Rectangle 128"/>
          <p:cNvSpPr>
            <a:spLocks noChangeArrowheads="1"/>
          </p:cNvSpPr>
          <p:nvPr/>
        </p:nvSpPr>
        <p:spPr bwMode="auto">
          <a:xfrm>
            <a:off x="6370638" y="5162850"/>
            <a:ext cx="1249362" cy="979488"/>
          </a:xfrm>
          <a:prstGeom prst="rect">
            <a:avLst/>
          </a:prstGeom>
          <a:noFill/>
          <a:ln w="0">
            <a:solidFill>
              <a:srgbClr val="990033"/>
            </a:solidFill>
            <a:miter lim="800000"/>
            <a:headEnd/>
            <a:tailEnd/>
          </a:ln>
        </p:spPr>
        <p:txBody>
          <a:bodyPr/>
          <a:lstStyle/>
          <a:p>
            <a:pPr defTabSz="739775">
              <a:spcBef>
                <a:spcPct val="0"/>
              </a:spcBef>
            </a:pPr>
            <a:endParaRPr lang="en-US" sz="1800"/>
          </a:p>
        </p:txBody>
      </p:sp>
      <p:sp>
        <p:nvSpPr>
          <p:cNvPr id="420993" name="Rectangle 129"/>
          <p:cNvSpPr>
            <a:spLocks noChangeArrowheads="1"/>
          </p:cNvSpPr>
          <p:nvPr/>
        </p:nvSpPr>
        <p:spPr bwMode="auto">
          <a:xfrm>
            <a:off x="6370638" y="5253338"/>
            <a:ext cx="1249362" cy="889000"/>
          </a:xfrm>
          <a:prstGeom prst="rect">
            <a:avLst/>
          </a:prstGeom>
          <a:noFill/>
          <a:ln w="0">
            <a:solidFill>
              <a:srgbClr val="990033"/>
            </a:solidFill>
            <a:miter lim="800000"/>
            <a:headEnd/>
            <a:tailEnd/>
          </a:ln>
        </p:spPr>
        <p:txBody>
          <a:bodyPr/>
          <a:lstStyle/>
          <a:p>
            <a:pPr defTabSz="739775">
              <a:spcBef>
                <a:spcPct val="0"/>
              </a:spcBef>
            </a:pPr>
            <a:endParaRPr lang="en-US" sz="1800"/>
          </a:p>
        </p:txBody>
      </p:sp>
      <p:pic>
        <p:nvPicPr>
          <p:cNvPr id="420994" name="Picture 130"/>
          <p:cNvPicPr>
            <a:picLocks noChangeAspect="1" noChangeArrowheads="1"/>
          </p:cNvPicPr>
          <p:nvPr/>
        </p:nvPicPr>
        <p:blipFill>
          <a:blip r:embed="rId3" cstate="print"/>
          <a:srcRect/>
          <a:stretch>
            <a:fillRect/>
          </a:stretch>
        </p:blipFill>
        <p:spPr bwMode="auto">
          <a:xfrm>
            <a:off x="6400800" y="5366050"/>
            <a:ext cx="166688" cy="168275"/>
          </a:xfrm>
          <a:prstGeom prst="rect">
            <a:avLst/>
          </a:prstGeom>
          <a:noFill/>
          <a:ln w="9525">
            <a:noFill/>
            <a:miter lim="800000"/>
            <a:headEnd/>
            <a:tailEnd/>
          </a:ln>
        </p:spPr>
      </p:pic>
      <p:pic>
        <p:nvPicPr>
          <p:cNvPr id="420995" name="Picture 131"/>
          <p:cNvPicPr>
            <a:picLocks noChangeAspect="1" noChangeArrowheads="1"/>
          </p:cNvPicPr>
          <p:nvPr/>
        </p:nvPicPr>
        <p:blipFill>
          <a:blip r:embed="rId4" cstate="print"/>
          <a:srcRect/>
          <a:stretch>
            <a:fillRect/>
          </a:stretch>
        </p:blipFill>
        <p:spPr bwMode="auto">
          <a:xfrm>
            <a:off x="6400800" y="5366050"/>
            <a:ext cx="166688" cy="168275"/>
          </a:xfrm>
          <a:prstGeom prst="rect">
            <a:avLst/>
          </a:prstGeom>
          <a:noFill/>
          <a:ln w="9525">
            <a:noFill/>
            <a:miter lim="800000"/>
            <a:headEnd/>
            <a:tailEnd/>
          </a:ln>
        </p:spPr>
      </p:pic>
      <p:pic>
        <p:nvPicPr>
          <p:cNvPr id="420996" name="Picture 132"/>
          <p:cNvPicPr>
            <a:picLocks noChangeAspect="1" noChangeArrowheads="1"/>
          </p:cNvPicPr>
          <p:nvPr/>
        </p:nvPicPr>
        <p:blipFill>
          <a:blip r:embed="rId3" cstate="print"/>
          <a:srcRect/>
          <a:stretch>
            <a:fillRect/>
          </a:stretch>
        </p:blipFill>
        <p:spPr bwMode="auto">
          <a:xfrm>
            <a:off x="6400800" y="5366050"/>
            <a:ext cx="166688" cy="168275"/>
          </a:xfrm>
          <a:prstGeom prst="rect">
            <a:avLst/>
          </a:prstGeom>
          <a:noFill/>
          <a:ln w="9525">
            <a:noFill/>
            <a:miter lim="800000"/>
            <a:headEnd/>
            <a:tailEnd/>
          </a:ln>
        </p:spPr>
      </p:pic>
      <p:pic>
        <p:nvPicPr>
          <p:cNvPr id="420998" name="Picture 134"/>
          <p:cNvPicPr>
            <a:picLocks noChangeAspect="1" noChangeArrowheads="1"/>
          </p:cNvPicPr>
          <p:nvPr/>
        </p:nvPicPr>
        <p:blipFill>
          <a:blip r:embed="rId3" cstate="print"/>
          <a:srcRect/>
          <a:stretch>
            <a:fillRect/>
          </a:stretch>
        </p:blipFill>
        <p:spPr bwMode="auto">
          <a:xfrm>
            <a:off x="6400800" y="5545438"/>
            <a:ext cx="166688" cy="169862"/>
          </a:xfrm>
          <a:prstGeom prst="rect">
            <a:avLst/>
          </a:prstGeom>
          <a:noFill/>
          <a:ln w="9525">
            <a:noFill/>
            <a:miter lim="800000"/>
            <a:headEnd/>
            <a:tailEnd/>
          </a:ln>
        </p:spPr>
      </p:pic>
      <p:pic>
        <p:nvPicPr>
          <p:cNvPr id="420999" name="Picture 135"/>
          <p:cNvPicPr>
            <a:picLocks noChangeAspect="1" noChangeArrowheads="1"/>
          </p:cNvPicPr>
          <p:nvPr/>
        </p:nvPicPr>
        <p:blipFill>
          <a:blip r:embed="rId4" cstate="print"/>
          <a:srcRect/>
          <a:stretch>
            <a:fillRect/>
          </a:stretch>
        </p:blipFill>
        <p:spPr bwMode="auto">
          <a:xfrm>
            <a:off x="6400800" y="5545438"/>
            <a:ext cx="166688" cy="169862"/>
          </a:xfrm>
          <a:prstGeom prst="rect">
            <a:avLst/>
          </a:prstGeom>
          <a:noFill/>
          <a:ln w="9525">
            <a:noFill/>
            <a:miter lim="800000"/>
            <a:headEnd/>
            <a:tailEnd/>
          </a:ln>
        </p:spPr>
      </p:pic>
      <p:pic>
        <p:nvPicPr>
          <p:cNvPr id="421000" name="Picture 136"/>
          <p:cNvPicPr>
            <a:picLocks noChangeAspect="1" noChangeArrowheads="1"/>
          </p:cNvPicPr>
          <p:nvPr/>
        </p:nvPicPr>
        <p:blipFill>
          <a:blip r:embed="rId3" cstate="print"/>
          <a:srcRect/>
          <a:stretch>
            <a:fillRect/>
          </a:stretch>
        </p:blipFill>
        <p:spPr bwMode="auto">
          <a:xfrm>
            <a:off x="6400800" y="5545438"/>
            <a:ext cx="166688" cy="169862"/>
          </a:xfrm>
          <a:prstGeom prst="rect">
            <a:avLst/>
          </a:prstGeom>
          <a:noFill/>
          <a:ln w="9525">
            <a:noFill/>
            <a:miter lim="800000"/>
            <a:headEnd/>
            <a:tailEnd/>
          </a:ln>
        </p:spPr>
      </p:pic>
      <p:pic>
        <p:nvPicPr>
          <p:cNvPr id="421002" name="Picture 138"/>
          <p:cNvPicPr>
            <a:picLocks noChangeAspect="1" noChangeArrowheads="1"/>
          </p:cNvPicPr>
          <p:nvPr/>
        </p:nvPicPr>
        <p:blipFill>
          <a:blip r:embed="rId3" cstate="print"/>
          <a:srcRect/>
          <a:stretch>
            <a:fillRect/>
          </a:stretch>
        </p:blipFill>
        <p:spPr bwMode="auto">
          <a:xfrm>
            <a:off x="6400800" y="5726413"/>
            <a:ext cx="166688" cy="168275"/>
          </a:xfrm>
          <a:prstGeom prst="rect">
            <a:avLst/>
          </a:prstGeom>
          <a:noFill/>
          <a:ln w="9525">
            <a:noFill/>
            <a:miter lim="800000"/>
            <a:headEnd/>
            <a:tailEnd/>
          </a:ln>
        </p:spPr>
      </p:pic>
      <p:pic>
        <p:nvPicPr>
          <p:cNvPr id="421003" name="Picture 139"/>
          <p:cNvPicPr>
            <a:picLocks noChangeAspect="1" noChangeArrowheads="1"/>
          </p:cNvPicPr>
          <p:nvPr/>
        </p:nvPicPr>
        <p:blipFill>
          <a:blip r:embed="rId4" cstate="print"/>
          <a:srcRect/>
          <a:stretch>
            <a:fillRect/>
          </a:stretch>
        </p:blipFill>
        <p:spPr bwMode="auto">
          <a:xfrm>
            <a:off x="6400800" y="5726413"/>
            <a:ext cx="166688" cy="168275"/>
          </a:xfrm>
          <a:prstGeom prst="rect">
            <a:avLst/>
          </a:prstGeom>
          <a:noFill/>
          <a:ln w="9525">
            <a:noFill/>
            <a:miter lim="800000"/>
            <a:headEnd/>
            <a:tailEnd/>
          </a:ln>
        </p:spPr>
      </p:pic>
      <p:pic>
        <p:nvPicPr>
          <p:cNvPr id="421004" name="Picture 140"/>
          <p:cNvPicPr>
            <a:picLocks noChangeAspect="1" noChangeArrowheads="1"/>
          </p:cNvPicPr>
          <p:nvPr/>
        </p:nvPicPr>
        <p:blipFill>
          <a:blip r:embed="rId3" cstate="print"/>
          <a:srcRect/>
          <a:stretch>
            <a:fillRect/>
          </a:stretch>
        </p:blipFill>
        <p:spPr bwMode="auto">
          <a:xfrm>
            <a:off x="6400800" y="5726413"/>
            <a:ext cx="166688" cy="168275"/>
          </a:xfrm>
          <a:prstGeom prst="rect">
            <a:avLst/>
          </a:prstGeom>
          <a:noFill/>
          <a:ln w="9525">
            <a:noFill/>
            <a:miter lim="800000"/>
            <a:headEnd/>
            <a:tailEnd/>
          </a:ln>
        </p:spPr>
      </p:pic>
      <p:pic>
        <p:nvPicPr>
          <p:cNvPr id="421006" name="Picture 142"/>
          <p:cNvPicPr>
            <a:picLocks noChangeAspect="1" noChangeArrowheads="1"/>
          </p:cNvPicPr>
          <p:nvPr/>
        </p:nvPicPr>
        <p:blipFill>
          <a:blip r:embed="rId3" cstate="print"/>
          <a:srcRect/>
          <a:stretch>
            <a:fillRect/>
          </a:stretch>
        </p:blipFill>
        <p:spPr bwMode="auto">
          <a:xfrm>
            <a:off x="6400800" y="5905800"/>
            <a:ext cx="166688" cy="168275"/>
          </a:xfrm>
          <a:prstGeom prst="rect">
            <a:avLst/>
          </a:prstGeom>
          <a:noFill/>
          <a:ln w="9525">
            <a:noFill/>
            <a:miter lim="800000"/>
            <a:headEnd/>
            <a:tailEnd/>
          </a:ln>
        </p:spPr>
      </p:pic>
      <p:pic>
        <p:nvPicPr>
          <p:cNvPr id="421007" name="Picture 143"/>
          <p:cNvPicPr>
            <a:picLocks noChangeAspect="1" noChangeArrowheads="1"/>
          </p:cNvPicPr>
          <p:nvPr/>
        </p:nvPicPr>
        <p:blipFill>
          <a:blip r:embed="rId4" cstate="print"/>
          <a:srcRect/>
          <a:stretch>
            <a:fillRect/>
          </a:stretch>
        </p:blipFill>
        <p:spPr bwMode="auto">
          <a:xfrm>
            <a:off x="6400800" y="5905800"/>
            <a:ext cx="166688" cy="168275"/>
          </a:xfrm>
          <a:prstGeom prst="rect">
            <a:avLst/>
          </a:prstGeom>
          <a:noFill/>
          <a:ln w="9525">
            <a:noFill/>
            <a:miter lim="800000"/>
            <a:headEnd/>
            <a:tailEnd/>
          </a:ln>
        </p:spPr>
      </p:pic>
      <p:pic>
        <p:nvPicPr>
          <p:cNvPr id="421008" name="Picture 144"/>
          <p:cNvPicPr>
            <a:picLocks noChangeAspect="1" noChangeArrowheads="1"/>
          </p:cNvPicPr>
          <p:nvPr/>
        </p:nvPicPr>
        <p:blipFill>
          <a:blip r:embed="rId3" cstate="print"/>
          <a:srcRect/>
          <a:stretch>
            <a:fillRect/>
          </a:stretch>
        </p:blipFill>
        <p:spPr bwMode="auto">
          <a:xfrm>
            <a:off x="6400800" y="5905800"/>
            <a:ext cx="166688" cy="168275"/>
          </a:xfrm>
          <a:prstGeom prst="rect">
            <a:avLst/>
          </a:prstGeom>
          <a:noFill/>
          <a:ln w="9525">
            <a:noFill/>
            <a:miter lim="800000"/>
            <a:headEnd/>
            <a:tailEnd/>
          </a:ln>
        </p:spPr>
      </p:pic>
      <p:sp>
        <p:nvSpPr>
          <p:cNvPr id="421010" name="Line 146"/>
          <p:cNvSpPr>
            <a:spLocks noChangeShapeType="1"/>
          </p:cNvSpPr>
          <p:nvPr/>
        </p:nvSpPr>
        <p:spPr bwMode="auto">
          <a:xfrm>
            <a:off x="5146675" y="4677075"/>
            <a:ext cx="1687513" cy="0"/>
          </a:xfrm>
          <a:prstGeom prst="line">
            <a:avLst/>
          </a:prstGeom>
          <a:noFill/>
          <a:ln w="12700">
            <a:solidFill>
              <a:schemeClr val="tx1"/>
            </a:solidFill>
            <a:round/>
            <a:headEnd type="none" w="sm" len="sm"/>
            <a:tailEnd type="none" w="sm" len="sm"/>
          </a:ln>
          <a:effectLst/>
        </p:spPr>
        <p:txBody>
          <a:bodyPr/>
          <a:lstStyle/>
          <a:p>
            <a:endParaRPr lang="en-GB"/>
          </a:p>
        </p:txBody>
      </p:sp>
      <p:sp>
        <p:nvSpPr>
          <p:cNvPr id="421011" name="Line 147"/>
          <p:cNvSpPr>
            <a:spLocks noChangeShapeType="1"/>
          </p:cNvSpPr>
          <p:nvPr/>
        </p:nvSpPr>
        <p:spPr bwMode="auto">
          <a:xfrm flipV="1">
            <a:off x="5991225" y="4562775"/>
            <a:ext cx="0" cy="152400"/>
          </a:xfrm>
          <a:prstGeom prst="line">
            <a:avLst/>
          </a:prstGeom>
          <a:noFill/>
          <a:ln w="12700">
            <a:solidFill>
              <a:schemeClr val="tx1"/>
            </a:solidFill>
            <a:round/>
            <a:headEnd type="none" w="sm" len="sm"/>
            <a:tailEnd type="none" w="sm" len="sm"/>
          </a:ln>
          <a:effectLst/>
        </p:spPr>
        <p:txBody>
          <a:bodyPr/>
          <a:lstStyle/>
          <a:p>
            <a:endParaRPr lang="en-GB"/>
          </a:p>
        </p:txBody>
      </p:sp>
      <p:sp>
        <p:nvSpPr>
          <p:cNvPr id="421012" name="AutoShape 148"/>
          <p:cNvSpPr>
            <a:spLocks noChangeArrowheads="1"/>
          </p:cNvSpPr>
          <p:nvPr/>
        </p:nvSpPr>
        <p:spPr bwMode="auto">
          <a:xfrm>
            <a:off x="5919788" y="4334175"/>
            <a:ext cx="141287" cy="228600"/>
          </a:xfrm>
          <a:prstGeom prst="triangle">
            <a:avLst>
              <a:gd name="adj" fmla="val 50000"/>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US" sz="1800"/>
          </a:p>
        </p:txBody>
      </p:sp>
      <p:sp>
        <p:nvSpPr>
          <p:cNvPr id="149" name="Rectangle 23"/>
          <p:cNvSpPr>
            <a:spLocks noChangeArrowheads="1"/>
          </p:cNvSpPr>
          <p:nvPr/>
        </p:nvSpPr>
        <p:spPr bwMode="auto">
          <a:xfrm>
            <a:off x="3373934" y="5376252"/>
            <a:ext cx="742191"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150" name="Rectangle 27"/>
          <p:cNvSpPr>
            <a:spLocks noChangeArrowheads="1"/>
          </p:cNvSpPr>
          <p:nvPr/>
        </p:nvSpPr>
        <p:spPr bwMode="auto">
          <a:xfrm>
            <a:off x="3373934" y="5555639"/>
            <a:ext cx="62196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151" name="Rectangle 31"/>
          <p:cNvSpPr>
            <a:spLocks noChangeArrowheads="1"/>
          </p:cNvSpPr>
          <p:nvPr/>
        </p:nvSpPr>
        <p:spPr bwMode="auto">
          <a:xfrm>
            <a:off x="3373934" y="5736614"/>
            <a:ext cx="888064"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152" name="Rectangle 35"/>
          <p:cNvSpPr>
            <a:spLocks noChangeArrowheads="1"/>
          </p:cNvSpPr>
          <p:nvPr/>
        </p:nvSpPr>
        <p:spPr bwMode="auto">
          <a:xfrm>
            <a:off x="3373934" y="5916002"/>
            <a:ext cx="49372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153" name="Rectangle 23"/>
          <p:cNvSpPr>
            <a:spLocks noChangeArrowheads="1"/>
          </p:cNvSpPr>
          <p:nvPr/>
        </p:nvSpPr>
        <p:spPr bwMode="auto">
          <a:xfrm>
            <a:off x="4925189" y="5343594"/>
            <a:ext cx="742191"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154" name="Rectangle 27"/>
          <p:cNvSpPr>
            <a:spLocks noChangeArrowheads="1"/>
          </p:cNvSpPr>
          <p:nvPr/>
        </p:nvSpPr>
        <p:spPr bwMode="auto">
          <a:xfrm>
            <a:off x="4925189" y="5522981"/>
            <a:ext cx="62196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155" name="Rectangle 31"/>
          <p:cNvSpPr>
            <a:spLocks noChangeArrowheads="1"/>
          </p:cNvSpPr>
          <p:nvPr/>
        </p:nvSpPr>
        <p:spPr bwMode="auto">
          <a:xfrm>
            <a:off x="4925189" y="5703956"/>
            <a:ext cx="888064"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156" name="Rectangle 35"/>
          <p:cNvSpPr>
            <a:spLocks noChangeArrowheads="1"/>
          </p:cNvSpPr>
          <p:nvPr/>
        </p:nvSpPr>
        <p:spPr bwMode="auto">
          <a:xfrm>
            <a:off x="4925189" y="5883344"/>
            <a:ext cx="49372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157" name="Rectangle 23"/>
          <p:cNvSpPr>
            <a:spLocks noChangeArrowheads="1"/>
          </p:cNvSpPr>
          <p:nvPr/>
        </p:nvSpPr>
        <p:spPr bwMode="auto">
          <a:xfrm>
            <a:off x="6623405" y="5359923"/>
            <a:ext cx="742191"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158" name="Rectangle 27"/>
          <p:cNvSpPr>
            <a:spLocks noChangeArrowheads="1"/>
          </p:cNvSpPr>
          <p:nvPr/>
        </p:nvSpPr>
        <p:spPr bwMode="auto">
          <a:xfrm>
            <a:off x="6623405" y="5539310"/>
            <a:ext cx="62196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159" name="Rectangle 31"/>
          <p:cNvSpPr>
            <a:spLocks noChangeArrowheads="1"/>
          </p:cNvSpPr>
          <p:nvPr/>
        </p:nvSpPr>
        <p:spPr bwMode="auto">
          <a:xfrm>
            <a:off x="6623405" y="5720285"/>
            <a:ext cx="888064"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160" name="Rectangle 35"/>
          <p:cNvSpPr>
            <a:spLocks noChangeArrowheads="1"/>
          </p:cNvSpPr>
          <p:nvPr/>
        </p:nvSpPr>
        <p:spPr bwMode="auto">
          <a:xfrm>
            <a:off x="6623405" y="5899673"/>
            <a:ext cx="493725" cy="184666"/>
          </a:xfrm>
          <a:prstGeom prst="rect">
            <a:avLst/>
          </a:prstGeom>
          <a:noFill/>
          <a:ln w="9525">
            <a:noFill/>
            <a:miter lim="800000"/>
            <a:headEnd/>
            <a:tailEnd/>
          </a:ln>
        </p:spPr>
        <p:txBody>
          <a:bodyPr wrap="non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2" name="Oval Callout 1"/>
          <p:cNvSpPr/>
          <p:nvPr/>
        </p:nvSpPr>
        <p:spPr>
          <a:xfrm>
            <a:off x="6934387" y="3338264"/>
            <a:ext cx="2026870" cy="908566"/>
          </a:xfrm>
          <a:prstGeom prst="wedgeEllipseCallout">
            <a:avLst>
              <a:gd name="adj1" fmla="val -58565"/>
              <a:gd name="adj2" fmla="val 5701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smtClean="0">
                <a:solidFill>
                  <a:schemeClr val="tx1"/>
                </a:solidFill>
                <a:latin typeface="Arial" pitchFamily="34" charset="0"/>
                <a:cs typeface="Arial" pitchFamily="34" charset="0"/>
              </a:rPr>
              <a:t>Inheritance notation in UML</a:t>
            </a:r>
          </a:p>
        </p:txBody>
      </p:sp>
    </p:spTree>
    <p:extLst>
      <p:ext uri="{BB962C8B-B14F-4D97-AF65-F5344CB8AC3E}">
        <p14:creationId xmlns:p14="http://schemas.microsoft.com/office/powerpoint/2010/main" val="1980419772"/>
      </p:ext>
    </p:extLst>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5" name="Rectangle 3"/>
          <p:cNvSpPr>
            <a:spLocks noGrp="1" noChangeArrowheads="1"/>
          </p:cNvSpPr>
          <p:nvPr>
            <p:ph type="body" sz="quarter" idx="15"/>
          </p:nvPr>
        </p:nvSpPr>
        <p:spPr/>
        <p:txBody>
          <a:bodyPr/>
          <a:lstStyle/>
          <a:p>
            <a:r>
              <a:rPr lang="en-GB"/>
              <a:t>These 2 notations are both equally valid UML</a:t>
            </a:r>
            <a:endParaRPr lang="en-US"/>
          </a:p>
        </p:txBody>
      </p:sp>
      <p:sp>
        <p:nvSpPr>
          <p:cNvPr id="422914" name="Rectangle 2"/>
          <p:cNvSpPr>
            <a:spLocks noGrp="1" noChangeArrowheads="1"/>
          </p:cNvSpPr>
          <p:nvPr>
            <p:ph type="title"/>
          </p:nvPr>
        </p:nvSpPr>
        <p:spPr/>
        <p:txBody>
          <a:bodyPr/>
          <a:lstStyle/>
          <a:p>
            <a:r>
              <a:rPr lang="en-GB" dirty="0" smtClean="0"/>
              <a:t>Interface Notation in UML</a:t>
            </a:r>
            <a:endParaRPr lang="en-US" dirty="0"/>
          </a:p>
        </p:txBody>
      </p:sp>
      <p:sp>
        <p:nvSpPr>
          <p:cNvPr id="422916" name="Rectangle 4"/>
          <p:cNvSpPr>
            <a:spLocks noChangeArrowheads="1"/>
          </p:cNvSpPr>
          <p:nvPr/>
        </p:nvSpPr>
        <p:spPr bwMode="auto">
          <a:xfrm>
            <a:off x="661988" y="1778000"/>
            <a:ext cx="2532062" cy="1066800"/>
          </a:xfrm>
          <a:prstGeom prst="rect">
            <a:avLst/>
          </a:prstGeom>
          <a:noFill/>
          <a:ln w="9525">
            <a:solidFill>
              <a:schemeClr val="tx1"/>
            </a:solidFill>
            <a:miter lim="800000"/>
            <a:headEnd type="none" w="sm" len="sm"/>
            <a:tailEnd type="none" w="sm" len="sm"/>
          </a:ln>
          <a:effectLst/>
        </p:spPr>
        <p:txBody>
          <a:bodyPr wrap="none" anchor="ctr"/>
          <a:lstStyle/>
          <a:p>
            <a:endParaRPr lang="en-GB"/>
          </a:p>
        </p:txBody>
      </p:sp>
      <p:sp>
        <p:nvSpPr>
          <p:cNvPr id="422917" name="Line 5"/>
          <p:cNvSpPr>
            <a:spLocks noChangeShapeType="1"/>
          </p:cNvSpPr>
          <p:nvPr/>
        </p:nvSpPr>
        <p:spPr bwMode="auto">
          <a:xfrm>
            <a:off x="661988" y="2387600"/>
            <a:ext cx="2532062" cy="0"/>
          </a:xfrm>
          <a:prstGeom prst="line">
            <a:avLst/>
          </a:prstGeom>
          <a:noFill/>
          <a:ln w="9525">
            <a:solidFill>
              <a:schemeClr val="tx1"/>
            </a:solidFill>
            <a:round/>
            <a:headEnd type="none" w="sm" len="sm"/>
            <a:tailEnd type="none" w="sm" len="sm"/>
          </a:ln>
          <a:effectLst/>
        </p:spPr>
        <p:txBody>
          <a:bodyPr/>
          <a:lstStyle/>
          <a:p>
            <a:endParaRPr lang="en-GB"/>
          </a:p>
        </p:txBody>
      </p:sp>
      <p:sp>
        <p:nvSpPr>
          <p:cNvPr id="422918" name="Text Box 6"/>
          <p:cNvSpPr txBox="1">
            <a:spLocks noChangeArrowheads="1"/>
          </p:cNvSpPr>
          <p:nvPr/>
        </p:nvSpPr>
        <p:spPr bwMode="auto">
          <a:xfrm>
            <a:off x="1131888" y="1778000"/>
            <a:ext cx="1528762" cy="915988"/>
          </a:xfrm>
          <a:prstGeom prst="rect">
            <a:avLst/>
          </a:prstGeom>
          <a:noFill/>
          <a:ln w="38100">
            <a:noFill/>
            <a:miter lim="800000"/>
            <a:headEnd type="none" w="sm" len="sm"/>
            <a:tailEnd type="none" w="sm" len="sm"/>
          </a:ln>
          <a:effectLst/>
        </p:spPr>
        <p:txBody>
          <a:bodyPr wrap="none">
            <a:spAutoFit/>
          </a:bodyPr>
          <a:lstStyle/>
          <a:p>
            <a:pPr algn="ctr" defTabSz="739775">
              <a:spcBef>
                <a:spcPct val="0"/>
              </a:spcBef>
            </a:pPr>
            <a:r>
              <a:rPr lang="en-GB" sz="1800"/>
              <a:t>&lt;&lt;interface&gt;&gt;</a:t>
            </a:r>
            <a:r>
              <a:rPr lang="en-GB" sz="1800" b="1"/>
              <a:t> </a:t>
            </a:r>
          </a:p>
          <a:p>
            <a:pPr algn="ctr" defTabSz="739775">
              <a:spcBef>
                <a:spcPct val="0"/>
              </a:spcBef>
            </a:pPr>
            <a:r>
              <a:rPr lang="en-GB" sz="1800" b="1"/>
              <a:t>Taxable</a:t>
            </a:r>
          </a:p>
          <a:p>
            <a:pPr algn="ctr" defTabSz="739775">
              <a:spcBef>
                <a:spcPct val="0"/>
              </a:spcBef>
            </a:pPr>
            <a:endParaRPr lang="en-US" sz="1800"/>
          </a:p>
        </p:txBody>
      </p:sp>
      <p:sp>
        <p:nvSpPr>
          <p:cNvPr id="422919" name="Text Box 7"/>
          <p:cNvSpPr txBox="1">
            <a:spLocks noChangeArrowheads="1"/>
          </p:cNvSpPr>
          <p:nvPr/>
        </p:nvSpPr>
        <p:spPr bwMode="auto">
          <a:xfrm>
            <a:off x="668338" y="2387600"/>
            <a:ext cx="1103700" cy="369332"/>
          </a:xfrm>
          <a:prstGeom prst="rect">
            <a:avLst/>
          </a:prstGeom>
          <a:noFill/>
          <a:ln w="38100">
            <a:noFill/>
            <a:miter lim="800000"/>
            <a:headEnd type="none" w="sm" len="sm"/>
            <a:tailEnd type="none" w="sm" len="sm"/>
          </a:ln>
          <a:effectLst/>
        </p:spPr>
        <p:txBody>
          <a:bodyPr wrap="none">
            <a:spAutoFit/>
          </a:bodyPr>
          <a:lstStyle/>
          <a:p>
            <a:pPr defTabSz="739775">
              <a:spcBef>
                <a:spcPct val="0"/>
              </a:spcBef>
            </a:pPr>
            <a:r>
              <a:rPr lang="en-GB" sz="1800" b="1" dirty="0" err="1"/>
              <a:t>G</a:t>
            </a:r>
            <a:r>
              <a:rPr lang="en-GB" sz="1800" b="1" dirty="0" err="1" smtClean="0"/>
              <a:t>etTax</a:t>
            </a:r>
            <a:r>
              <a:rPr lang="en-GB" sz="1800" b="1" dirty="0"/>
              <a:t>()</a:t>
            </a:r>
            <a:endParaRPr lang="en-US" sz="1800" b="1" dirty="0"/>
          </a:p>
        </p:txBody>
      </p:sp>
      <p:sp>
        <p:nvSpPr>
          <p:cNvPr id="422920" name="Rectangle 8"/>
          <p:cNvSpPr>
            <a:spLocks noChangeArrowheads="1"/>
          </p:cNvSpPr>
          <p:nvPr/>
        </p:nvSpPr>
        <p:spPr bwMode="auto">
          <a:xfrm>
            <a:off x="668338" y="4140200"/>
            <a:ext cx="2532062" cy="1066800"/>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22921" name="Line 9"/>
          <p:cNvSpPr>
            <a:spLocks noChangeShapeType="1"/>
          </p:cNvSpPr>
          <p:nvPr/>
        </p:nvSpPr>
        <p:spPr bwMode="auto">
          <a:xfrm>
            <a:off x="668338" y="4521200"/>
            <a:ext cx="2532062" cy="0"/>
          </a:xfrm>
          <a:prstGeom prst="line">
            <a:avLst/>
          </a:prstGeom>
          <a:noFill/>
          <a:ln w="12700">
            <a:solidFill>
              <a:schemeClr val="tx1"/>
            </a:solidFill>
            <a:round/>
            <a:headEnd type="none" w="sm" len="sm"/>
            <a:tailEnd type="none" w="sm" len="sm"/>
          </a:ln>
          <a:effectLst/>
        </p:spPr>
        <p:txBody>
          <a:bodyPr/>
          <a:lstStyle/>
          <a:p>
            <a:endParaRPr lang="en-GB"/>
          </a:p>
        </p:txBody>
      </p:sp>
      <p:sp>
        <p:nvSpPr>
          <p:cNvPr id="422922" name="Text Box 10"/>
          <p:cNvSpPr txBox="1">
            <a:spLocks noChangeArrowheads="1"/>
          </p:cNvSpPr>
          <p:nvPr/>
        </p:nvSpPr>
        <p:spPr bwMode="auto">
          <a:xfrm>
            <a:off x="1441450" y="4140200"/>
            <a:ext cx="1166813"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a:t>Employee</a:t>
            </a:r>
            <a:endParaRPr lang="en-US" sz="1800" b="1"/>
          </a:p>
        </p:txBody>
      </p:sp>
      <p:sp>
        <p:nvSpPr>
          <p:cNvPr id="422923" name="Text Box 11"/>
          <p:cNvSpPr txBox="1">
            <a:spLocks noChangeArrowheads="1"/>
          </p:cNvSpPr>
          <p:nvPr/>
        </p:nvSpPr>
        <p:spPr bwMode="auto">
          <a:xfrm>
            <a:off x="654050" y="4786313"/>
            <a:ext cx="1103700"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err="1"/>
              <a:t>G</a:t>
            </a:r>
            <a:r>
              <a:rPr lang="en-GB" sz="1800" b="1" dirty="0" err="1" smtClean="0"/>
              <a:t>etTax</a:t>
            </a:r>
            <a:r>
              <a:rPr lang="en-GB" sz="1800" b="1" dirty="0"/>
              <a:t>()</a:t>
            </a:r>
            <a:endParaRPr lang="en-US" sz="1800" b="1" dirty="0"/>
          </a:p>
        </p:txBody>
      </p:sp>
      <p:sp>
        <p:nvSpPr>
          <p:cNvPr id="422924" name="AutoShape 12"/>
          <p:cNvSpPr>
            <a:spLocks noChangeArrowheads="1"/>
          </p:cNvSpPr>
          <p:nvPr/>
        </p:nvSpPr>
        <p:spPr bwMode="auto">
          <a:xfrm>
            <a:off x="1793875" y="2844800"/>
            <a:ext cx="422275" cy="304800"/>
          </a:xfrm>
          <a:prstGeom prst="triangle">
            <a:avLst>
              <a:gd name="adj" fmla="val 50000"/>
            </a:avLst>
          </a:prstGeom>
          <a:noFill/>
          <a:ln w="12700">
            <a:solidFill>
              <a:schemeClr val="tx1"/>
            </a:solidFill>
            <a:miter lim="800000"/>
            <a:headEnd type="none" w="sm" len="sm"/>
            <a:tailEnd type="none" w="sm" len="sm"/>
          </a:ln>
          <a:effectLst/>
        </p:spPr>
        <p:txBody>
          <a:bodyPr wrap="none" anchor="ctr"/>
          <a:lstStyle/>
          <a:p>
            <a:endParaRPr lang="en-GB"/>
          </a:p>
        </p:txBody>
      </p:sp>
      <p:sp>
        <p:nvSpPr>
          <p:cNvPr id="422925" name="Line 13"/>
          <p:cNvSpPr>
            <a:spLocks noChangeShapeType="1"/>
          </p:cNvSpPr>
          <p:nvPr/>
        </p:nvSpPr>
        <p:spPr bwMode="auto">
          <a:xfrm>
            <a:off x="2005013" y="3149600"/>
            <a:ext cx="0" cy="990600"/>
          </a:xfrm>
          <a:prstGeom prst="line">
            <a:avLst/>
          </a:prstGeom>
          <a:noFill/>
          <a:ln w="12700">
            <a:solidFill>
              <a:schemeClr val="tx1"/>
            </a:solidFill>
            <a:prstDash val="dash"/>
            <a:round/>
            <a:headEnd type="none" w="sm" len="sm"/>
            <a:tailEnd type="none" w="sm" len="sm"/>
          </a:ln>
          <a:effectLst/>
        </p:spPr>
        <p:txBody>
          <a:bodyPr/>
          <a:lstStyle/>
          <a:p>
            <a:endParaRPr lang="en-GB"/>
          </a:p>
        </p:txBody>
      </p:sp>
      <p:sp>
        <p:nvSpPr>
          <p:cNvPr id="422926" name="Text Box 14"/>
          <p:cNvSpPr txBox="1">
            <a:spLocks noChangeArrowheads="1"/>
          </p:cNvSpPr>
          <p:nvPr/>
        </p:nvSpPr>
        <p:spPr bwMode="auto">
          <a:xfrm>
            <a:off x="2060575" y="3324225"/>
            <a:ext cx="2282825" cy="581025"/>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a:t>The correct term for this </a:t>
            </a:r>
            <a:br>
              <a:rPr lang="en-GB" sz="1600"/>
            </a:br>
            <a:r>
              <a:rPr lang="en-GB" sz="1600"/>
              <a:t>is "to realize" an interface</a:t>
            </a:r>
          </a:p>
        </p:txBody>
      </p:sp>
      <p:sp>
        <p:nvSpPr>
          <p:cNvPr id="422927" name="Text Box 15"/>
          <p:cNvSpPr txBox="1">
            <a:spLocks noChangeArrowheads="1"/>
          </p:cNvSpPr>
          <p:nvPr/>
        </p:nvSpPr>
        <p:spPr bwMode="auto">
          <a:xfrm>
            <a:off x="595313" y="5688013"/>
            <a:ext cx="3633787" cy="641350"/>
          </a:xfrm>
          <a:prstGeom prst="rect">
            <a:avLst/>
          </a:prstGeom>
          <a:solidFill>
            <a:srgbClr val="CCFFCC"/>
          </a:solidFill>
          <a:ln w="12700">
            <a:noFill/>
            <a:miter lim="800000"/>
            <a:headEnd type="none" w="sm" len="sm"/>
            <a:tailEnd type="none" w="sm" len="sm"/>
          </a:ln>
          <a:effectLst>
            <a:outerShdw dist="107763" dir="2700000" algn="ctr" rotWithShape="0">
              <a:schemeClr val="bg2"/>
            </a:outerShdw>
          </a:effectLst>
        </p:spPr>
        <p:txBody>
          <a:bodyPr>
            <a:spAutoFit/>
          </a:bodyPr>
          <a:lstStyle/>
          <a:p>
            <a:pPr defTabSz="739775">
              <a:spcBef>
                <a:spcPct val="0"/>
              </a:spcBef>
            </a:pPr>
            <a:r>
              <a:rPr lang="en-GB" sz="1800"/>
              <a:t>Would you say "an Employee is a</a:t>
            </a:r>
            <a:br>
              <a:rPr lang="en-GB" sz="1800"/>
            </a:br>
            <a:r>
              <a:rPr lang="en-GB" sz="1800"/>
              <a:t>kind of taxable (item) ?</a:t>
            </a:r>
          </a:p>
        </p:txBody>
      </p:sp>
      <p:sp>
        <p:nvSpPr>
          <p:cNvPr id="422928" name="Line 16"/>
          <p:cNvSpPr>
            <a:spLocks noChangeShapeType="1"/>
          </p:cNvSpPr>
          <p:nvPr/>
        </p:nvSpPr>
        <p:spPr bwMode="auto">
          <a:xfrm>
            <a:off x="4464050" y="1892300"/>
            <a:ext cx="0" cy="3708400"/>
          </a:xfrm>
          <a:prstGeom prst="line">
            <a:avLst/>
          </a:prstGeom>
          <a:noFill/>
          <a:ln w="38100">
            <a:solidFill>
              <a:schemeClr val="tx1"/>
            </a:solidFill>
            <a:prstDash val="lgDashDot"/>
            <a:round/>
            <a:headEnd type="none" w="sm" len="sm"/>
            <a:tailEnd type="none" w="sm" len="sm"/>
          </a:ln>
          <a:effectLst/>
        </p:spPr>
        <p:txBody>
          <a:bodyPr/>
          <a:lstStyle/>
          <a:p>
            <a:endParaRPr lang="en-GB"/>
          </a:p>
        </p:txBody>
      </p:sp>
      <p:grpSp>
        <p:nvGrpSpPr>
          <p:cNvPr id="2" name="Group 17"/>
          <p:cNvGrpSpPr>
            <a:grpSpLocks/>
          </p:cNvGrpSpPr>
          <p:nvPr/>
        </p:nvGrpSpPr>
        <p:grpSpPr bwMode="auto">
          <a:xfrm>
            <a:off x="5492750" y="2971800"/>
            <a:ext cx="992188" cy="304800"/>
            <a:chOff x="3696" y="1392"/>
            <a:chExt cx="720" cy="192"/>
          </a:xfrm>
        </p:grpSpPr>
        <p:sp>
          <p:nvSpPr>
            <p:cNvPr id="422930" name="Line 18"/>
            <p:cNvSpPr>
              <a:spLocks noChangeShapeType="1"/>
            </p:cNvSpPr>
            <p:nvPr/>
          </p:nvSpPr>
          <p:spPr bwMode="auto">
            <a:xfrm>
              <a:off x="3888" y="1488"/>
              <a:ext cx="528" cy="0"/>
            </a:xfrm>
            <a:prstGeom prst="line">
              <a:avLst/>
            </a:prstGeom>
            <a:noFill/>
            <a:ln w="38100">
              <a:solidFill>
                <a:schemeClr val="tx1"/>
              </a:solidFill>
              <a:round/>
              <a:headEnd type="none" w="sm" len="sm"/>
              <a:tailEnd type="none" w="sm" len="sm"/>
            </a:ln>
            <a:effectLst/>
          </p:spPr>
          <p:txBody>
            <a:bodyPr/>
            <a:lstStyle/>
            <a:p>
              <a:endParaRPr lang="en-GB"/>
            </a:p>
          </p:txBody>
        </p:sp>
        <p:sp>
          <p:nvSpPr>
            <p:cNvPr id="422931" name="Oval 19"/>
            <p:cNvSpPr>
              <a:spLocks noChangeArrowheads="1"/>
            </p:cNvSpPr>
            <p:nvPr/>
          </p:nvSpPr>
          <p:spPr bwMode="auto">
            <a:xfrm>
              <a:off x="3696" y="1392"/>
              <a:ext cx="192" cy="192"/>
            </a:xfrm>
            <a:prstGeom prst="ellipse">
              <a:avLst/>
            </a:prstGeom>
            <a:noFill/>
            <a:ln w="38100">
              <a:solidFill>
                <a:schemeClr val="tx1"/>
              </a:solidFill>
              <a:round/>
              <a:headEnd type="none" w="sm" len="sm"/>
              <a:tailEnd type="none" w="sm" len="sm"/>
            </a:ln>
            <a:effectLst/>
          </p:spPr>
          <p:txBody>
            <a:bodyPr wrap="none" anchor="ctr"/>
            <a:lstStyle/>
            <a:p>
              <a:endParaRPr lang="en-GB"/>
            </a:p>
          </p:txBody>
        </p:sp>
      </p:grpSp>
      <p:sp>
        <p:nvSpPr>
          <p:cNvPr id="422932" name="Text Box 20"/>
          <p:cNvSpPr txBox="1">
            <a:spLocks noChangeArrowheads="1"/>
          </p:cNvSpPr>
          <p:nvPr/>
        </p:nvSpPr>
        <p:spPr bwMode="auto">
          <a:xfrm>
            <a:off x="4502150" y="2971800"/>
            <a:ext cx="955675"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a:t>Taxable</a:t>
            </a:r>
            <a:endParaRPr lang="en-US" sz="1800" b="1"/>
          </a:p>
        </p:txBody>
      </p:sp>
      <p:sp>
        <p:nvSpPr>
          <p:cNvPr id="422933" name="Rectangle 21"/>
          <p:cNvSpPr>
            <a:spLocks noChangeArrowheads="1"/>
          </p:cNvSpPr>
          <p:nvPr/>
        </p:nvSpPr>
        <p:spPr bwMode="auto">
          <a:xfrm>
            <a:off x="6484938" y="2819400"/>
            <a:ext cx="2378075" cy="1066800"/>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22934" name="Line 22"/>
          <p:cNvSpPr>
            <a:spLocks noChangeShapeType="1"/>
          </p:cNvSpPr>
          <p:nvPr/>
        </p:nvSpPr>
        <p:spPr bwMode="auto">
          <a:xfrm>
            <a:off x="6484938" y="3200400"/>
            <a:ext cx="2378075" cy="0"/>
          </a:xfrm>
          <a:prstGeom prst="line">
            <a:avLst/>
          </a:prstGeom>
          <a:noFill/>
          <a:ln w="12700">
            <a:solidFill>
              <a:schemeClr val="tx1"/>
            </a:solidFill>
            <a:round/>
            <a:headEnd type="none" w="sm" len="sm"/>
            <a:tailEnd type="none" w="sm" len="sm"/>
          </a:ln>
          <a:effectLst/>
        </p:spPr>
        <p:txBody>
          <a:bodyPr/>
          <a:lstStyle/>
          <a:p>
            <a:endParaRPr lang="en-GB"/>
          </a:p>
        </p:txBody>
      </p:sp>
      <p:sp>
        <p:nvSpPr>
          <p:cNvPr id="422935" name="Text Box 23"/>
          <p:cNvSpPr txBox="1">
            <a:spLocks noChangeArrowheads="1"/>
          </p:cNvSpPr>
          <p:nvPr/>
        </p:nvSpPr>
        <p:spPr bwMode="auto">
          <a:xfrm>
            <a:off x="7210425" y="2819400"/>
            <a:ext cx="1166813"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a:t>Employee</a:t>
            </a:r>
            <a:endParaRPr lang="en-US" sz="1800" b="1"/>
          </a:p>
        </p:txBody>
      </p:sp>
      <p:sp>
        <p:nvSpPr>
          <p:cNvPr id="422936" name="Text Box 24"/>
          <p:cNvSpPr txBox="1">
            <a:spLocks noChangeArrowheads="1"/>
          </p:cNvSpPr>
          <p:nvPr/>
        </p:nvSpPr>
        <p:spPr bwMode="auto">
          <a:xfrm>
            <a:off x="6469063" y="3465513"/>
            <a:ext cx="1103700"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b="1" dirty="0" err="1"/>
              <a:t>G</a:t>
            </a:r>
            <a:r>
              <a:rPr lang="en-GB" sz="1800" b="1" dirty="0" err="1" smtClean="0"/>
              <a:t>etTax</a:t>
            </a:r>
            <a:r>
              <a:rPr lang="en-GB" sz="1800" b="1" dirty="0"/>
              <a:t>()</a:t>
            </a:r>
            <a:endParaRPr lang="en-US" sz="1800" b="1" dirty="0"/>
          </a:p>
        </p:txBody>
      </p:sp>
      <p:sp>
        <p:nvSpPr>
          <p:cNvPr id="422937" name="Text Box 25"/>
          <p:cNvSpPr txBox="1">
            <a:spLocks noChangeArrowheads="1"/>
          </p:cNvSpPr>
          <p:nvPr/>
        </p:nvSpPr>
        <p:spPr bwMode="auto">
          <a:xfrm>
            <a:off x="4354287" y="5709783"/>
            <a:ext cx="4605564" cy="646331"/>
          </a:xfrm>
          <a:prstGeom prst="rect">
            <a:avLst/>
          </a:prstGeom>
          <a:solidFill>
            <a:srgbClr val="CCFFFF"/>
          </a:solidFill>
          <a:ln w="12700">
            <a:noFill/>
            <a:miter lim="800000"/>
            <a:headEnd type="none" w="sm" len="sm"/>
            <a:tailEnd type="none" w="sm" len="sm"/>
          </a:ln>
          <a:effectLst>
            <a:outerShdw dist="107763" dir="2700000" algn="ctr" rotWithShape="0">
              <a:schemeClr val="bg2"/>
            </a:outerShdw>
          </a:effectLst>
        </p:spPr>
        <p:txBody>
          <a:bodyPr wrap="square">
            <a:spAutoFit/>
          </a:bodyPr>
          <a:lstStyle/>
          <a:p>
            <a:pPr defTabSz="739775">
              <a:spcBef>
                <a:spcPct val="0"/>
              </a:spcBef>
            </a:pPr>
            <a:r>
              <a:rPr lang="en-GB" sz="1800" dirty="0"/>
              <a:t>Or does it sound better to say "an</a:t>
            </a:r>
            <a:br>
              <a:rPr lang="en-GB" sz="1800" dirty="0"/>
            </a:br>
            <a:r>
              <a:rPr lang="en-GB" sz="1800" dirty="0"/>
              <a:t>Employee supports all Taxable </a:t>
            </a:r>
            <a:r>
              <a:rPr lang="en-GB" sz="1800" dirty="0" smtClean="0"/>
              <a:t>Operations?</a:t>
            </a:r>
            <a:endParaRPr lang="en-GB" sz="1800" dirty="0"/>
          </a:p>
        </p:txBody>
      </p:sp>
      <p:sp>
        <p:nvSpPr>
          <p:cNvPr id="3" name="Oval Callout 2"/>
          <p:cNvSpPr/>
          <p:nvPr/>
        </p:nvSpPr>
        <p:spPr>
          <a:xfrm>
            <a:off x="180000" y="3200400"/>
            <a:ext cx="1261450" cy="490451"/>
          </a:xfrm>
          <a:prstGeom prst="wedgeEllipseCallout">
            <a:avLst>
              <a:gd name="adj1" fmla="val 81968"/>
              <a:gd name="adj2" fmla="val 25212"/>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Arial" pitchFamily="34" charset="0"/>
                <a:cs typeface="Arial" pitchFamily="34" charset="0"/>
              </a:rPr>
              <a:t>d</a:t>
            </a:r>
            <a:r>
              <a:rPr lang="en-GB" sz="1600" dirty="0" smtClean="0">
                <a:solidFill>
                  <a:schemeClr val="tx1"/>
                </a:solidFill>
                <a:latin typeface="Arial" pitchFamily="34" charset="0"/>
                <a:cs typeface="Arial" pitchFamily="34" charset="0"/>
              </a:rPr>
              <a:t>otted</a:t>
            </a:r>
          </a:p>
        </p:txBody>
      </p:sp>
    </p:spTree>
    <p:extLst>
      <p:ext uri="{BB962C8B-B14F-4D97-AF65-F5344CB8AC3E}">
        <p14:creationId xmlns:p14="http://schemas.microsoft.com/office/powerpoint/2010/main" val="4057656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1" name="Rectangle 3"/>
          <p:cNvSpPr>
            <a:spLocks noGrp="1" noChangeArrowheads="1"/>
          </p:cNvSpPr>
          <p:nvPr>
            <p:ph type="body" sz="quarter" idx="15"/>
          </p:nvPr>
        </p:nvSpPr>
        <p:spPr/>
        <p:txBody>
          <a:bodyPr/>
          <a:lstStyle/>
          <a:p>
            <a:pPr lvl="1"/>
            <a:r>
              <a:rPr lang="en-GB" dirty="0" smtClean="0"/>
              <a:t>Is the ability to exist in different forms</a:t>
            </a:r>
          </a:p>
          <a:p>
            <a:pPr lvl="1"/>
            <a:r>
              <a:rPr lang="en-GB" dirty="0" smtClean="0"/>
              <a:t>Enables us to treat different objects the same way</a:t>
            </a:r>
            <a:r>
              <a:rPr lang="en-GB" dirty="0"/>
              <a:t/>
            </a:r>
            <a:br>
              <a:rPr lang="en-GB" dirty="0"/>
            </a:br>
            <a:endParaRPr lang="en-GB" dirty="0"/>
          </a:p>
        </p:txBody>
      </p:sp>
      <p:sp>
        <p:nvSpPr>
          <p:cNvPr id="427010" name="Rectangle 2"/>
          <p:cNvSpPr>
            <a:spLocks noGrp="1" noChangeArrowheads="1"/>
          </p:cNvSpPr>
          <p:nvPr>
            <p:ph type="title"/>
          </p:nvPr>
        </p:nvSpPr>
        <p:spPr/>
        <p:txBody>
          <a:bodyPr/>
          <a:lstStyle/>
          <a:p>
            <a:r>
              <a:rPr lang="en-GB"/>
              <a:t>And what’s Polymorphism ?</a:t>
            </a:r>
          </a:p>
        </p:txBody>
      </p:sp>
      <p:grpSp>
        <p:nvGrpSpPr>
          <p:cNvPr id="6" name="Group 24"/>
          <p:cNvGrpSpPr>
            <a:grpSpLocks/>
          </p:cNvGrpSpPr>
          <p:nvPr/>
        </p:nvGrpSpPr>
        <p:grpSpPr bwMode="auto">
          <a:xfrm>
            <a:off x="3621060" y="1989515"/>
            <a:ext cx="2686050" cy="4029075"/>
            <a:chOff x="4128" y="1536"/>
            <a:chExt cx="1832" cy="2538"/>
          </a:xfrm>
        </p:grpSpPr>
        <p:pic>
          <p:nvPicPr>
            <p:cNvPr id="427033" name="Picture 25"/>
            <p:cNvPicPr>
              <a:picLocks noChangeArrowheads="1"/>
            </p:cNvPicPr>
            <p:nvPr/>
          </p:nvPicPr>
          <p:blipFill>
            <a:blip r:embed="rId3" cstate="print"/>
            <a:srcRect/>
            <a:stretch>
              <a:fillRect/>
            </a:stretch>
          </p:blipFill>
          <p:spPr bwMode="auto">
            <a:xfrm>
              <a:off x="4224" y="1536"/>
              <a:ext cx="1466" cy="762"/>
            </a:xfrm>
            <a:prstGeom prst="rect">
              <a:avLst/>
            </a:prstGeom>
            <a:noFill/>
            <a:ln w="12700">
              <a:noFill/>
              <a:miter lim="800000"/>
              <a:headEnd/>
              <a:tailEnd/>
            </a:ln>
            <a:effectLst/>
          </p:spPr>
        </p:pic>
        <p:pic>
          <p:nvPicPr>
            <p:cNvPr id="427034" name="Picture 26"/>
            <p:cNvPicPr>
              <a:picLocks noChangeArrowheads="1"/>
            </p:cNvPicPr>
            <p:nvPr/>
          </p:nvPicPr>
          <p:blipFill>
            <a:blip r:embed="rId4" cstate="print"/>
            <a:srcRect/>
            <a:stretch>
              <a:fillRect/>
            </a:stretch>
          </p:blipFill>
          <p:spPr bwMode="auto">
            <a:xfrm>
              <a:off x="4176" y="2592"/>
              <a:ext cx="1680" cy="570"/>
            </a:xfrm>
            <a:prstGeom prst="rect">
              <a:avLst/>
            </a:prstGeom>
            <a:noFill/>
            <a:ln w="12700">
              <a:noFill/>
              <a:miter lim="800000"/>
              <a:headEnd/>
              <a:tailEnd/>
            </a:ln>
            <a:effectLst/>
          </p:spPr>
        </p:pic>
        <p:pic>
          <p:nvPicPr>
            <p:cNvPr id="427035" name="Picture 27"/>
            <p:cNvPicPr>
              <a:picLocks noChangeArrowheads="1"/>
            </p:cNvPicPr>
            <p:nvPr/>
          </p:nvPicPr>
          <p:blipFill>
            <a:blip r:embed="rId5" cstate="print"/>
            <a:srcRect/>
            <a:stretch>
              <a:fillRect/>
            </a:stretch>
          </p:blipFill>
          <p:spPr bwMode="auto">
            <a:xfrm>
              <a:off x="4128" y="3312"/>
              <a:ext cx="1832" cy="762"/>
            </a:xfrm>
            <a:prstGeom prst="rect">
              <a:avLst/>
            </a:prstGeom>
            <a:noFill/>
            <a:ln w="12700">
              <a:noFill/>
              <a:miter lim="800000"/>
              <a:headEnd/>
              <a:tailEnd/>
            </a:ln>
            <a:effectLst/>
          </p:spPr>
        </p:pic>
      </p:grpSp>
      <p:grpSp>
        <p:nvGrpSpPr>
          <p:cNvPr id="7" name="Group 28"/>
          <p:cNvGrpSpPr>
            <a:grpSpLocks/>
          </p:cNvGrpSpPr>
          <p:nvPr/>
        </p:nvGrpSpPr>
        <p:grpSpPr bwMode="auto">
          <a:xfrm>
            <a:off x="2003398" y="1989515"/>
            <a:ext cx="1758950" cy="4194175"/>
            <a:chOff x="3024" y="1536"/>
            <a:chExt cx="1200" cy="2642"/>
          </a:xfrm>
        </p:grpSpPr>
        <p:grpSp>
          <p:nvGrpSpPr>
            <p:cNvPr id="8" name="Group 29"/>
            <p:cNvGrpSpPr>
              <a:grpSpLocks/>
            </p:cNvGrpSpPr>
            <p:nvPr/>
          </p:nvGrpSpPr>
          <p:grpSpPr bwMode="auto">
            <a:xfrm>
              <a:off x="3024" y="1536"/>
              <a:ext cx="1200" cy="770"/>
              <a:chOff x="3024" y="1824"/>
              <a:chExt cx="1200" cy="770"/>
            </a:xfrm>
          </p:grpSpPr>
          <p:sp>
            <p:nvSpPr>
              <p:cNvPr id="427038" name="Line 30"/>
              <p:cNvSpPr>
                <a:spLocks noChangeShapeType="1"/>
              </p:cNvSpPr>
              <p:nvPr/>
            </p:nvSpPr>
            <p:spPr bwMode="auto">
              <a:xfrm>
                <a:off x="3216" y="2160"/>
                <a:ext cx="1008" cy="0"/>
              </a:xfrm>
              <a:prstGeom prst="line">
                <a:avLst/>
              </a:prstGeom>
              <a:noFill/>
              <a:ln w="12700">
                <a:solidFill>
                  <a:srgbClr val="0000FF"/>
                </a:solidFill>
                <a:round/>
                <a:headEnd type="none" w="sm" len="sm"/>
                <a:tailEnd type="none" w="sm" len="sm"/>
              </a:ln>
              <a:effectLst/>
            </p:spPr>
            <p:txBody>
              <a:bodyPr/>
              <a:lstStyle/>
              <a:p>
                <a:endParaRPr lang="en-GB"/>
              </a:p>
            </p:txBody>
          </p:sp>
          <p:sp>
            <p:nvSpPr>
              <p:cNvPr id="427039" name="Oval 31"/>
              <p:cNvSpPr>
                <a:spLocks noChangeArrowheads="1"/>
              </p:cNvSpPr>
              <p:nvPr/>
            </p:nvSpPr>
            <p:spPr bwMode="auto">
              <a:xfrm>
                <a:off x="3024" y="2064"/>
                <a:ext cx="192" cy="192"/>
              </a:xfrm>
              <a:prstGeom prst="ellipse">
                <a:avLst/>
              </a:prstGeom>
              <a:noFill/>
              <a:ln w="12700">
                <a:solidFill>
                  <a:srgbClr val="0000FF"/>
                </a:solidFill>
                <a:round/>
                <a:headEnd type="none" w="sm" len="sm"/>
                <a:tailEnd type="none" w="sm" len="sm"/>
              </a:ln>
              <a:effectLst/>
            </p:spPr>
            <p:txBody>
              <a:bodyPr wrap="none" anchor="ctr"/>
              <a:lstStyle/>
              <a:p>
                <a:endParaRPr lang="en-GB"/>
              </a:p>
            </p:txBody>
          </p:sp>
          <p:sp>
            <p:nvSpPr>
              <p:cNvPr id="427040" name="Rectangle 32"/>
              <p:cNvSpPr>
                <a:spLocks noChangeArrowheads="1"/>
              </p:cNvSpPr>
              <p:nvPr/>
            </p:nvSpPr>
            <p:spPr bwMode="auto">
              <a:xfrm>
                <a:off x="3264" y="2160"/>
                <a:ext cx="768" cy="192"/>
              </a:xfrm>
              <a:prstGeom prst="rect">
                <a:avLst/>
              </a:prstGeom>
              <a:noFill/>
              <a:ln w="12700">
                <a:solidFill>
                  <a:srgbClr val="0000FF"/>
                </a:solidFill>
                <a:miter lim="800000"/>
                <a:headEnd type="none" w="sm" len="sm"/>
                <a:tailEnd type="none" w="sm" len="sm"/>
              </a:ln>
              <a:effectLst/>
            </p:spPr>
            <p:txBody>
              <a:bodyPr wrap="none" anchor="ctr"/>
              <a:lstStyle/>
              <a:p>
                <a:endParaRPr lang="en-GB"/>
              </a:p>
            </p:txBody>
          </p:sp>
          <p:sp>
            <p:nvSpPr>
              <p:cNvPr id="427041" name="Rectangle 33"/>
              <p:cNvSpPr>
                <a:spLocks noChangeArrowheads="1"/>
              </p:cNvSpPr>
              <p:nvPr/>
            </p:nvSpPr>
            <p:spPr bwMode="auto">
              <a:xfrm>
                <a:off x="3264" y="2352"/>
                <a:ext cx="768" cy="192"/>
              </a:xfrm>
              <a:prstGeom prst="rect">
                <a:avLst/>
              </a:prstGeom>
              <a:noFill/>
              <a:ln w="12700">
                <a:solidFill>
                  <a:srgbClr val="0000FF"/>
                </a:solidFill>
                <a:miter lim="800000"/>
                <a:headEnd type="none" w="sm" len="sm"/>
                <a:tailEnd type="none" w="sm" len="sm"/>
              </a:ln>
              <a:effectLst/>
            </p:spPr>
            <p:txBody>
              <a:bodyPr wrap="none" anchor="ctr"/>
              <a:lstStyle/>
              <a:p>
                <a:endParaRPr lang="en-GB"/>
              </a:p>
            </p:txBody>
          </p:sp>
          <p:sp>
            <p:nvSpPr>
              <p:cNvPr id="427042" name="Text Box 34"/>
              <p:cNvSpPr txBox="1">
                <a:spLocks noChangeArrowheads="1"/>
              </p:cNvSpPr>
              <p:nvPr/>
            </p:nvSpPr>
            <p:spPr bwMode="auto">
              <a:xfrm>
                <a:off x="3260" y="2160"/>
                <a:ext cx="511" cy="23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M</a:t>
                </a:r>
                <a:r>
                  <a:rPr lang="en-GB" sz="1800" dirty="0" smtClean="0"/>
                  <a:t>ove</a:t>
                </a:r>
                <a:endParaRPr lang="en-US" sz="1800" dirty="0"/>
              </a:p>
            </p:txBody>
          </p:sp>
          <p:sp>
            <p:nvSpPr>
              <p:cNvPr id="427043" name="Text Box 35"/>
              <p:cNvSpPr txBox="1">
                <a:spLocks noChangeArrowheads="1"/>
              </p:cNvSpPr>
              <p:nvPr/>
            </p:nvSpPr>
            <p:spPr bwMode="auto">
              <a:xfrm>
                <a:off x="3264" y="2361"/>
                <a:ext cx="581" cy="23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R</a:t>
                </a:r>
                <a:r>
                  <a:rPr lang="en-GB" sz="1800" dirty="0" smtClean="0"/>
                  <a:t>efuel</a:t>
                </a:r>
                <a:endParaRPr lang="en-US" sz="1800" dirty="0"/>
              </a:p>
            </p:txBody>
          </p:sp>
          <p:sp>
            <p:nvSpPr>
              <p:cNvPr id="427044" name="Text Box 36"/>
              <p:cNvSpPr txBox="1">
                <a:spLocks noChangeArrowheads="1"/>
              </p:cNvSpPr>
              <p:nvPr/>
            </p:nvSpPr>
            <p:spPr bwMode="auto">
              <a:xfrm>
                <a:off x="3120" y="1824"/>
                <a:ext cx="681" cy="231"/>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IVehicle</a:t>
                </a:r>
                <a:endParaRPr lang="en-US" sz="1800"/>
              </a:p>
            </p:txBody>
          </p:sp>
        </p:grpSp>
        <p:grpSp>
          <p:nvGrpSpPr>
            <p:cNvPr id="9" name="Group 37"/>
            <p:cNvGrpSpPr>
              <a:grpSpLocks/>
            </p:cNvGrpSpPr>
            <p:nvPr/>
          </p:nvGrpSpPr>
          <p:grpSpPr bwMode="auto">
            <a:xfrm>
              <a:off x="3024" y="2448"/>
              <a:ext cx="1200" cy="770"/>
              <a:chOff x="3024" y="1824"/>
              <a:chExt cx="1200" cy="770"/>
            </a:xfrm>
          </p:grpSpPr>
          <p:sp>
            <p:nvSpPr>
              <p:cNvPr id="427046" name="Line 38"/>
              <p:cNvSpPr>
                <a:spLocks noChangeShapeType="1"/>
              </p:cNvSpPr>
              <p:nvPr/>
            </p:nvSpPr>
            <p:spPr bwMode="auto">
              <a:xfrm>
                <a:off x="3216" y="2160"/>
                <a:ext cx="1008" cy="0"/>
              </a:xfrm>
              <a:prstGeom prst="line">
                <a:avLst/>
              </a:prstGeom>
              <a:noFill/>
              <a:ln w="12700">
                <a:solidFill>
                  <a:srgbClr val="0000FF"/>
                </a:solidFill>
                <a:round/>
                <a:headEnd type="none" w="sm" len="sm"/>
                <a:tailEnd type="none" w="sm" len="sm"/>
              </a:ln>
              <a:effectLst/>
            </p:spPr>
            <p:txBody>
              <a:bodyPr/>
              <a:lstStyle/>
              <a:p>
                <a:endParaRPr lang="en-GB"/>
              </a:p>
            </p:txBody>
          </p:sp>
          <p:sp>
            <p:nvSpPr>
              <p:cNvPr id="427047" name="Oval 39"/>
              <p:cNvSpPr>
                <a:spLocks noChangeArrowheads="1"/>
              </p:cNvSpPr>
              <p:nvPr/>
            </p:nvSpPr>
            <p:spPr bwMode="auto">
              <a:xfrm>
                <a:off x="3024" y="2064"/>
                <a:ext cx="192" cy="192"/>
              </a:xfrm>
              <a:prstGeom prst="ellipse">
                <a:avLst/>
              </a:prstGeom>
              <a:noFill/>
              <a:ln w="12700">
                <a:solidFill>
                  <a:srgbClr val="0000FF"/>
                </a:solidFill>
                <a:round/>
                <a:headEnd type="none" w="sm" len="sm"/>
                <a:tailEnd type="none" w="sm" len="sm"/>
              </a:ln>
              <a:effectLst/>
            </p:spPr>
            <p:txBody>
              <a:bodyPr wrap="none" anchor="ctr"/>
              <a:lstStyle/>
              <a:p>
                <a:endParaRPr lang="en-GB"/>
              </a:p>
            </p:txBody>
          </p:sp>
          <p:sp>
            <p:nvSpPr>
              <p:cNvPr id="427048" name="Rectangle 40"/>
              <p:cNvSpPr>
                <a:spLocks noChangeArrowheads="1"/>
              </p:cNvSpPr>
              <p:nvPr/>
            </p:nvSpPr>
            <p:spPr bwMode="auto">
              <a:xfrm>
                <a:off x="3264" y="2160"/>
                <a:ext cx="768" cy="192"/>
              </a:xfrm>
              <a:prstGeom prst="rect">
                <a:avLst/>
              </a:prstGeom>
              <a:noFill/>
              <a:ln w="12700">
                <a:solidFill>
                  <a:srgbClr val="0000FF"/>
                </a:solidFill>
                <a:miter lim="800000"/>
                <a:headEnd type="none" w="sm" len="sm"/>
                <a:tailEnd type="none" w="sm" len="sm"/>
              </a:ln>
              <a:effectLst/>
            </p:spPr>
            <p:txBody>
              <a:bodyPr wrap="none" anchor="ctr"/>
              <a:lstStyle/>
              <a:p>
                <a:endParaRPr lang="en-GB"/>
              </a:p>
            </p:txBody>
          </p:sp>
          <p:sp>
            <p:nvSpPr>
              <p:cNvPr id="427049" name="Rectangle 41"/>
              <p:cNvSpPr>
                <a:spLocks noChangeArrowheads="1"/>
              </p:cNvSpPr>
              <p:nvPr/>
            </p:nvSpPr>
            <p:spPr bwMode="auto">
              <a:xfrm>
                <a:off x="3264" y="2352"/>
                <a:ext cx="768" cy="192"/>
              </a:xfrm>
              <a:prstGeom prst="rect">
                <a:avLst/>
              </a:prstGeom>
              <a:noFill/>
              <a:ln w="12700">
                <a:solidFill>
                  <a:srgbClr val="0000FF"/>
                </a:solidFill>
                <a:miter lim="800000"/>
                <a:headEnd type="none" w="sm" len="sm"/>
                <a:tailEnd type="none" w="sm" len="sm"/>
              </a:ln>
              <a:effectLst/>
            </p:spPr>
            <p:txBody>
              <a:bodyPr wrap="none" anchor="ctr"/>
              <a:lstStyle/>
              <a:p>
                <a:endParaRPr lang="en-GB"/>
              </a:p>
            </p:txBody>
          </p:sp>
          <p:sp>
            <p:nvSpPr>
              <p:cNvPr id="427050" name="Text Box 42"/>
              <p:cNvSpPr txBox="1">
                <a:spLocks noChangeArrowheads="1"/>
              </p:cNvSpPr>
              <p:nvPr/>
            </p:nvSpPr>
            <p:spPr bwMode="auto">
              <a:xfrm>
                <a:off x="3260" y="2160"/>
                <a:ext cx="511" cy="23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M</a:t>
                </a:r>
                <a:r>
                  <a:rPr lang="en-GB" sz="1800" dirty="0" smtClean="0"/>
                  <a:t>ove</a:t>
                </a:r>
                <a:endParaRPr lang="en-US" sz="1800" dirty="0"/>
              </a:p>
            </p:txBody>
          </p:sp>
          <p:sp>
            <p:nvSpPr>
              <p:cNvPr id="427051" name="Text Box 43"/>
              <p:cNvSpPr txBox="1">
                <a:spLocks noChangeArrowheads="1"/>
              </p:cNvSpPr>
              <p:nvPr/>
            </p:nvSpPr>
            <p:spPr bwMode="auto">
              <a:xfrm>
                <a:off x="3264" y="2361"/>
                <a:ext cx="581" cy="23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R</a:t>
                </a:r>
                <a:r>
                  <a:rPr lang="en-GB" sz="1800" dirty="0" smtClean="0"/>
                  <a:t>efuel</a:t>
                </a:r>
                <a:endParaRPr lang="en-US" sz="1800" dirty="0"/>
              </a:p>
            </p:txBody>
          </p:sp>
          <p:sp>
            <p:nvSpPr>
              <p:cNvPr id="427052" name="Text Box 44"/>
              <p:cNvSpPr txBox="1">
                <a:spLocks noChangeArrowheads="1"/>
              </p:cNvSpPr>
              <p:nvPr/>
            </p:nvSpPr>
            <p:spPr bwMode="auto">
              <a:xfrm>
                <a:off x="3120" y="1824"/>
                <a:ext cx="681" cy="231"/>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IVehicle</a:t>
                </a:r>
                <a:endParaRPr lang="en-US" sz="1800"/>
              </a:p>
            </p:txBody>
          </p:sp>
        </p:grpSp>
        <p:grpSp>
          <p:nvGrpSpPr>
            <p:cNvPr id="10" name="Group 45"/>
            <p:cNvGrpSpPr>
              <a:grpSpLocks/>
            </p:cNvGrpSpPr>
            <p:nvPr/>
          </p:nvGrpSpPr>
          <p:grpSpPr bwMode="auto">
            <a:xfrm>
              <a:off x="3024" y="3408"/>
              <a:ext cx="1200" cy="770"/>
              <a:chOff x="3024" y="1824"/>
              <a:chExt cx="1200" cy="770"/>
            </a:xfrm>
          </p:grpSpPr>
          <p:sp>
            <p:nvSpPr>
              <p:cNvPr id="427054" name="Line 46"/>
              <p:cNvSpPr>
                <a:spLocks noChangeShapeType="1"/>
              </p:cNvSpPr>
              <p:nvPr/>
            </p:nvSpPr>
            <p:spPr bwMode="auto">
              <a:xfrm>
                <a:off x="3216" y="2160"/>
                <a:ext cx="1008" cy="0"/>
              </a:xfrm>
              <a:prstGeom prst="line">
                <a:avLst/>
              </a:prstGeom>
              <a:noFill/>
              <a:ln w="12700">
                <a:solidFill>
                  <a:srgbClr val="0000FF"/>
                </a:solidFill>
                <a:round/>
                <a:headEnd type="none" w="sm" len="sm"/>
                <a:tailEnd type="none" w="sm" len="sm"/>
              </a:ln>
              <a:effectLst/>
            </p:spPr>
            <p:txBody>
              <a:bodyPr/>
              <a:lstStyle/>
              <a:p>
                <a:endParaRPr lang="en-GB"/>
              </a:p>
            </p:txBody>
          </p:sp>
          <p:sp>
            <p:nvSpPr>
              <p:cNvPr id="427055" name="Oval 47"/>
              <p:cNvSpPr>
                <a:spLocks noChangeArrowheads="1"/>
              </p:cNvSpPr>
              <p:nvPr/>
            </p:nvSpPr>
            <p:spPr bwMode="auto">
              <a:xfrm>
                <a:off x="3024" y="2064"/>
                <a:ext cx="192" cy="192"/>
              </a:xfrm>
              <a:prstGeom prst="ellipse">
                <a:avLst/>
              </a:prstGeom>
              <a:noFill/>
              <a:ln w="12700">
                <a:solidFill>
                  <a:srgbClr val="0000FF"/>
                </a:solidFill>
                <a:round/>
                <a:headEnd type="none" w="sm" len="sm"/>
                <a:tailEnd type="none" w="sm" len="sm"/>
              </a:ln>
              <a:effectLst/>
            </p:spPr>
            <p:txBody>
              <a:bodyPr wrap="none" anchor="ctr"/>
              <a:lstStyle/>
              <a:p>
                <a:endParaRPr lang="en-GB"/>
              </a:p>
            </p:txBody>
          </p:sp>
          <p:sp>
            <p:nvSpPr>
              <p:cNvPr id="427056" name="Rectangle 48"/>
              <p:cNvSpPr>
                <a:spLocks noChangeArrowheads="1"/>
              </p:cNvSpPr>
              <p:nvPr/>
            </p:nvSpPr>
            <p:spPr bwMode="auto">
              <a:xfrm>
                <a:off x="3264" y="2160"/>
                <a:ext cx="768" cy="192"/>
              </a:xfrm>
              <a:prstGeom prst="rect">
                <a:avLst/>
              </a:prstGeom>
              <a:noFill/>
              <a:ln w="12700">
                <a:solidFill>
                  <a:srgbClr val="0000FF"/>
                </a:solidFill>
                <a:miter lim="800000"/>
                <a:headEnd type="none" w="sm" len="sm"/>
                <a:tailEnd type="none" w="sm" len="sm"/>
              </a:ln>
              <a:effectLst/>
            </p:spPr>
            <p:txBody>
              <a:bodyPr wrap="none" anchor="ctr"/>
              <a:lstStyle/>
              <a:p>
                <a:endParaRPr lang="en-GB"/>
              </a:p>
            </p:txBody>
          </p:sp>
          <p:sp>
            <p:nvSpPr>
              <p:cNvPr id="427057" name="Rectangle 49"/>
              <p:cNvSpPr>
                <a:spLocks noChangeArrowheads="1"/>
              </p:cNvSpPr>
              <p:nvPr/>
            </p:nvSpPr>
            <p:spPr bwMode="auto">
              <a:xfrm>
                <a:off x="3264" y="2352"/>
                <a:ext cx="768" cy="192"/>
              </a:xfrm>
              <a:prstGeom prst="rect">
                <a:avLst/>
              </a:prstGeom>
              <a:noFill/>
              <a:ln w="12700">
                <a:solidFill>
                  <a:srgbClr val="0000FF"/>
                </a:solidFill>
                <a:miter lim="800000"/>
                <a:headEnd type="none" w="sm" len="sm"/>
                <a:tailEnd type="none" w="sm" len="sm"/>
              </a:ln>
              <a:effectLst/>
            </p:spPr>
            <p:txBody>
              <a:bodyPr wrap="none" anchor="ctr"/>
              <a:lstStyle/>
              <a:p>
                <a:endParaRPr lang="en-GB"/>
              </a:p>
            </p:txBody>
          </p:sp>
          <p:sp>
            <p:nvSpPr>
              <p:cNvPr id="427058" name="Text Box 50"/>
              <p:cNvSpPr txBox="1">
                <a:spLocks noChangeArrowheads="1"/>
              </p:cNvSpPr>
              <p:nvPr/>
            </p:nvSpPr>
            <p:spPr bwMode="auto">
              <a:xfrm>
                <a:off x="3260" y="2160"/>
                <a:ext cx="511" cy="23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M</a:t>
                </a:r>
                <a:r>
                  <a:rPr lang="en-GB" sz="1800" dirty="0" smtClean="0"/>
                  <a:t>ove</a:t>
                </a:r>
                <a:endParaRPr lang="en-US" sz="1800" dirty="0"/>
              </a:p>
            </p:txBody>
          </p:sp>
          <p:sp>
            <p:nvSpPr>
              <p:cNvPr id="427059" name="Text Box 51"/>
              <p:cNvSpPr txBox="1">
                <a:spLocks noChangeArrowheads="1"/>
              </p:cNvSpPr>
              <p:nvPr/>
            </p:nvSpPr>
            <p:spPr bwMode="auto">
              <a:xfrm>
                <a:off x="3264" y="2361"/>
                <a:ext cx="581" cy="23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R</a:t>
                </a:r>
                <a:r>
                  <a:rPr lang="en-GB" sz="1800" dirty="0" smtClean="0"/>
                  <a:t>efuel</a:t>
                </a:r>
                <a:endParaRPr lang="en-US" sz="1800" dirty="0"/>
              </a:p>
            </p:txBody>
          </p:sp>
          <p:sp>
            <p:nvSpPr>
              <p:cNvPr id="427060" name="Text Box 52"/>
              <p:cNvSpPr txBox="1">
                <a:spLocks noChangeArrowheads="1"/>
              </p:cNvSpPr>
              <p:nvPr/>
            </p:nvSpPr>
            <p:spPr bwMode="auto">
              <a:xfrm>
                <a:off x="3120" y="1824"/>
                <a:ext cx="681" cy="231"/>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IVehicle</a:t>
                </a:r>
                <a:endParaRPr lang="en-US" sz="1800"/>
              </a:p>
            </p:txBody>
          </p:sp>
        </p:grpSp>
      </p:grpSp>
    </p:spTree>
    <p:extLst>
      <p:ext uri="{BB962C8B-B14F-4D97-AF65-F5344CB8AC3E}">
        <p14:creationId xmlns:p14="http://schemas.microsoft.com/office/powerpoint/2010/main" val="27938613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Oval 2"/>
          <p:cNvSpPr>
            <a:spLocks noChangeArrowheads="1"/>
          </p:cNvSpPr>
          <p:nvPr/>
        </p:nvSpPr>
        <p:spPr bwMode="auto">
          <a:xfrm>
            <a:off x="3990975" y="1920875"/>
            <a:ext cx="3235325" cy="4524375"/>
          </a:xfrm>
          <a:prstGeom prst="ellipse">
            <a:avLst/>
          </a:prstGeom>
          <a:solidFill>
            <a:srgbClr val="FCFEB9"/>
          </a:solidFill>
          <a:ln w="12700">
            <a:solidFill>
              <a:schemeClr val="tx1"/>
            </a:solidFill>
            <a:round/>
            <a:headEnd/>
            <a:tailEnd/>
          </a:ln>
          <a:effectLst/>
        </p:spPr>
        <p:txBody>
          <a:bodyPr lIns="19610" tIns="7990" rIns="19610" bIns="7990">
            <a:spAutoFit/>
          </a:bodyPr>
          <a:lstStyle/>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GB" sz="1600"/>
          </a:p>
          <a:p>
            <a:pPr defTabSz="739775">
              <a:spcBef>
                <a:spcPct val="0"/>
              </a:spcBef>
            </a:pPr>
            <a:endParaRPr lang="en-US" sz="1600"/>
          </a:p>
        </p:txBody>
      </p:sp>
      <p:sp>
        <p:nvSpPr>
          <p:cNvPr id="429060" name="Rectangle 4"/>
          <p:cNvSpPr>
            <a:spLocks noGrp="1" noChangeArrowheads="1"/>
          </p:cNvSpPr>
          <p:nvPr>
            <p:ph type="body" sz="quarter" idx="15"/>
          </p:nvPr>
        </p:nvSpPr>
        <p:spPr/>
        <p:txBody>
          <a:bodyPr/>
          <a:lstStyle/>
          <a:p>
            <a:r>
              <a:rPr lang="en-GB"/>
              <a:t>Each object offers the interface "IVehicle"</a:t>
            </a:r>
          </a:p>
        </p:txBody>
      </p:sp>
      <p:sp>
        <p:nvSpPr>
          <p:cNvPr id="429059" name="Rectangle 3"/>
          <p:cNvSpPr>
            <a:spLocks noGrp="1" noChangeArrowheads="1"/>
          </p:cNvSpPr>
          <p:nvPr>
            <p:ph type="title"/>
          </p:nvPr>
        </p:nvSpPr>
        <p:spPr/>
        <p:txBody>
          <a:bodyPr/>
          <a:lstStyle/>
          <a:p>
            <a:r>
              <a:rPr lang="en-GB"/>
              <a:t>Using Polymorphism</a:t>
            </a:r>
          </a:p>
        </p:txBody>
      </p:sp>
      <p:sp>
        <p:nvSpPr>
          <p:cNvPr id="429061" name="Rectangle 5"/>
          <p:cNvSpPr>
            <a:spLocks noChangeArrowheads="1"/>
          </p:cNvSpPr>
          <p:nvPr/>
        </p:nvSpPr>
        <p:spPr bwMode="auto">
          <a:xfrm>
            <a:off x="163513" y="3559175"/>
            <a:ext cx="2954337" cy="714375"/>
          </a:xfrm>
          <a:prstGeom prst="rect">
            <a:avLst/>
          </a:prstGeom>
          <a:solidFill>
            <a:srgbClr val="FAFD00"/>
          </a:solidFill>
          <a:ln w="12700">
            <a:solidFill>
              <a:schemeClr val="tx1"/>
            </a:solidFill>
            <a:miter lim="800000"/>
            <a:headEnd/>
            <a:tailEnd/>
          </a:ln>
          <a:effectLst/>
        </p:spPr>
        <p:txBody>
          <a:bodyPr lIns="19610" tIns="7990" rIns="19610" bIns="7990">
            <a:spAutoFit/>
          </a:bodyPr>
          <a:lstStyle/>
          <a:p>
            <a:pPr marL="296863" indent="-296863" defTabSz="593725">
              <a:spcBef>
                <a:spcPct val="0"/>
              </a:spcBef>
              <a:spcAft>
                <a:spcPct val="50000"/>
              </a:spcAft>
            </a:pPr>
            <a:r>
              <a:rPr lang="en-GB" sz="1500" dirty="0"/>
              <a:t>For each Vehicle in </a:t>
            </a:r>
            <a:br>
              <a:rPr lang="en-GB" sz="1500" dirty="0"/>
            </a:br>
            <a:r>
              <a:rPr lang="en-GB" sz="1500" dirty="0"/>
              <a:t>collection of Vehicles </a:t>
            </a:r>
            <a:br>
              <a:rPr lang="en-GB" sz="1500" dirty="0"/>
            </a:br>
            <a:r>
              <a:rPr lang="en-GB" sz="1500" dirty="0"/>
              <a:t>send message </a:t>
            </a:r>
            <a:r>
              <a:rPr lang="en-GB" sz="1500" dirty="0" err="1"/>
              <a:t>G</a:t>
            </a:r>
            <a:r>
              <a:rPr lang="en-GB" sz="1500" dirty="0" err="1" smtClean="0"/>
              <a:t>etRoadTax</a:t>
            </a:r>
            <a:r>
              <a:rPr lang="en-GB" sz="1500" dirty="0"/>
              <a:t>()</a:t>
            </a:r>
          </a:p>
        </p:txBody>
      </p:sp>
      <p:sp>
        <p:nvSpPr>
          <p:cNvPr id="429062" name="Oval 6"/>
          <p:cNvSpPr>
            <a:spLocks noChangeArrowheads="1"/>
          </p:cNvSpPr>
          <p:nvPr/>
        </p:nvSpPr>
        <p:spPr bwMode="auto">
          <a:xfrm>
            <a:off x="4559300" y="3919538"/>
            <a:ext cx="698500" cy="603250"/>
          </a:xfrm>
          <a:prstGeom prst="ellipse">
            <a:avLst/>
          </a:prstGeom>
          <a:solidFill>
            <a:srgbClr val="7FFF00"/>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Motor</a:t>
            </a:r>
          </a:p>
          <a:p>
            <a:pPr algn="ctr" defTabSz="593725">
              <a:spcBef>
                <a:spcPct val="0"/>
              </a:spcBef>
            </a:pPr>
            <a:r>
              <a:rPr lang="en-GB" sz="1300"/>
              <a:t>Cycle</a:t>
            </a:r>
          </a:p>
        </p:txBody>
      </p:sp>
      <p:sp>
        <p:nvSpPr>
          <p:cNvPr id="429063" name="Oval 7"/>
          <p:cNvSpPr>
            <a:spLocks noChangeArrowheads="1"/>
          </p:cNvSpPr>
          <p:nvPr/>
        </p:nvSpPr>
        <p:spPr bwMode="auto">
          <a:xfrm>
            <a:off x="5372100" y="3240088"/>
            <a:ext cx="698500" cy="603250"/>
          </a:xfrm>
          <a:prstGeom prst="ellipse">
            <a:avLst/>
          </a:prstGeom>
          <a:solidFill>
            <a:srgbClr val="7FFF00"/>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Motor</a:t>
            </a:r>
          </a:p>
          <a:p>
            <a:pPr algn="ctr" defTabSz="593725">
              <a:spcBef>
                <a:spcPct val="0"/>
              </a:spcBef>
            </a:pPr>
            <a:r>
              <a:rPr lang="en-GB" sz="1300"/>
              <a:t>Cycle</a:t>
            </a:r>
          </a:p>
        </p:txBody>
      </p:sp>
      <p:sp>
        <p:nvSpPr>
          <p:cNvPr id="429064" name="Oval 8"/>
          <p:cNvSpPr>
            <a:spLocks noChangeArrowheads="1"/>
          </p:cNvSpPr>
          <p:nvPr/>
        </p:nvSpPr>
        <p:spPr bwMode="auto">
          <a:xfrm>
            <a:off x="5264150" y="4632325"/>
            <a:ext cx="700088" cy="603250"/>
          </a:xfrm>
          <a:prstGeom prst="ellipse">
            <a:avLst/>
          </a:prstGeom>
          <a:solidFill>
            <a:srgbClr val="7FFF00"/>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Motor</a:t>
            </a:r>
          </a:p>
          <a:p>
            <a:pPr algn="ctr" defTabSz="593725">
              <a:spcBef>
                <a:spcPct val="0"/>
              </a:spcBef>
            </a:pPr>
            <a:r>
              <a:rPr lang="en-GB" sz="1300"/>
              <a:t>Cycle</a:t>
            </a:r>
          </a:p>
        </p:txBody>
      </p:sp>
      <p:sp>
        <p:nvSpPr>
          <p:cNvPr id="429065" name="Oval 9"/>
          <p:cNvSpPr>
            <a:spLocks noChangeArrowheads="1"/>
          </p:cNvSpPr>
          <p:nvPr/>
        </p:nvSpPr>
        <p:spPr bwMode="auto">
          <a:xfrm>
            <a:off x="5156200" y="5214938"/>
            <a:ext cx="700088" cy="603250"/>
          </a:xfrm>
          <a:prstGeom prst="ellipse">
            <a:avLst/>
          </a:prstGeom>
          <a:solidFill>
            <a:srgbClr val="7FFF00"/>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Motor</a:t>
            </a:r>
          </a:p>
          <a:p>
            <a:pPr algn="ctr" defTabSz="593725">
              <a:spcBef>
                <a:spcPct val="0"/>
              </a:spcBef>
            </a:pPr>
            <a:r>
              <a:rPr lang="en-GB" sz="1300"/>
              <a:t>Cycle</a:t>
            </a:r>
          </a:p>
        </p:txBody>
      </p:sp>
      <p:sp>
        <p:nvSpPr>
          <p:cNvPr id="429066" name="Oval 10"/>
          <p:cNvSpPr>
            <a:spLocks noChangeArrowheads="1"/>
          </p:cNvSpPr>
          <p:nvPr/>
        </p:nvSpPr>
        <p:spPr bwMode="auto">
          <a:xfrm>
            <a:off x="4881563" y="2781300"/>
            <a:ext cx="698500" cy="322263"/>
          </a:xfrm>
          <a:prstGeom prst="ellipse">
            <a:avLst/>
          </a:prstGeom>
          <a:solidFill>
            <a:srgbClr val="E3BEFF"/>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Car</a:t>
            </a:r>
          </a:p>
        </p:txBody>
      </p:sp>
      <p:sp>
        <p:nvSpPr>
          <p:cNvPr id="429067" name="Oval 11"/>
          <p:cNvSpPr>
            <a:spLocks noChangeArrowheads="1"/>
          </p:cNvSpPr>
          <p:nvPr/>
        </p:nvSpPr>
        <p:spPr bwMode="auto">
          <a:xfrm>
            <a:off x="5464175" y="4043363"/>
            <a:ext cx="700088" cy="322262"/>
          </a:xfrm>
          <a:prstGeom prst="ellipse">
            <a:avLst/>
          </a:prstGeom>
          <a:solidFill>
            <a:srgbClr val="E3BEFF"/>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Car</a:t>
            </a:r>
          </a:p>
        </p:txBody>
      </p:sp>
      <p:sp>
        <p:nvSpPr>
          <p:cNvPr id="429068" name="Oval 12"/>
          <p:cNvSpPr>
            <a:spLocks noChangeArrowheads="1"/>
          </p:cNvSpPr>
          <p:nvPr/>
        </p:nvSpPr>
        <p:spPr bwMode="auto">
          <a:xfrm>
            <a:off x="6245225" y="3281363"/>
            <a:ext cx="700088" cy="322262"/>
          </a:xfrm>
          <a:prstGeom prst="ellipse">
            <a:avLst/>
          </a:prstGeom>
          <a:solidFill>
            <a:srgbClr val="E3BEFF"/>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Car</a:t>
            </a:r>
          </a:p>
        </p:txBody>
      </p:sp>
      <p:sp>
        <p:nvSpPr>
          <p:cNvPr id="429069" name="Oval 13"/>
          <p:cNvSpPr>
            <a:spLocks noChangeArrowheads="1"/>
          </p:cNvSpPr>
          <p:nvPr/>
        </p:nvSpPr>
        <p:spPr bwMode="auto">
          <a:xfrm>
            <a:off x="5357813" y="5803900"/>
            <a:ext cx="698500" cy="322263"/>
          </a:xfrm>
          <a:prstGeom prst="ellipse">
            <a:avLst/>
          </a:prstGeom>
          <a:solidFill>
            <a:srgbClr val="E3BEFF"/>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Car</a:t>
            </a:r>
          </a:p>
        </p:txBody>
      </p:sp>
      <p:sp>
        <p:nvSpPr>
          <p:cNvPr id="429070" name="Oval 14"/>
          <p:cNvSpPr>
            <a:spLocks noChangeArrowheads="1"/>
          </p:cNvSpPr>
          <p:nvPr/>
        </p:nvSpPr>
        <p:spPr bwMode="auto">
          <a:xfrm>
            <a:off x="5924550" y="4425950"/>
            <a:ext cx="698500" cy="322263"/>
          </a:xfrm>
          <a:prstGeom prst="ellipse">
            <a:avLst/>
          </a:prstGeom>
          <a:solidFill>
            <a:schemeClr val="hlink"/>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Truck</a:t>
            </a:r>
          </a:p>
        </p:txBody>
      </p:sp>
      <p:sp>
        <p:nvSpPr>
          <p:cNvPr id="429071" name="Oval 15"/>
          <p:cNvSpPr>
            <a:spLocks noChangeArrowheads="1"/>
          </p:cNvSpPr>
          <p:nvPr/>
        </p:nvSpPr>
        <p:spPr bwMode="auto">
          <a:xfrm>
            <a:off x="4713288" y="4922838"/>
            <a:ext cx="698500" cy="322262"/>
          </a:xfrm>
          <a:prstGeom prst="ellipse">
            <a:avLst/>
          </a:prstGeom>
          <a:solidFill>
            <a:schemeClr val="hlink"/>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Truck</a:t>
            </a:r>
          </a:p>
        </p:txBody>
      </p:sp>
      <p:sp>
        <p:nvSpPr>
          <p:cNvPr id="429072" name="Oval 16"/>
          <p:cNvSpPr>
            <a:spLocks noChangeArrowheads="1"/>
          </p:cNvSpPr>
          <p:nvPr/>
        </p:nvSpPr>
        <p:spPr bwMode="auto">
          <a:xfrm>
            <a:off x="4741863" y="3446463"/>
            <a:ext cx="698500" cy="322262"/>
          </a:xfrm>
          <a:prstGeom prst="ellipse">
            <a:avLst/>
          </a:prstGeom>
          <a:solidFill>
            <a:schemeClr val="hlink"/>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Truck</a:t>
            </a:r>
          </a:p>
        </p:txBody>
      </p:sp>
      <p:sp>
        <p:nvSpPr>
          <p:cNvPr id="429073" name="Oval 17"/>
          <p:cNvSpPr>
            <a:spLocks noChangeArrowheads="1"/>
          </p:cNvSpPr>
          <p:nvPr/>
        </p:nvSpPr>
        <p:spPr bwMode="auto">
          <a:xfrm>
            <a:off x="5938838" y="2733675"/>
            <a:ext cx="700087" cy="322263"/>
          </a:xfrm>
          <a:prstGeom prst="ellipse">
            <a:avLst/>
          </a:prstGeom>
          <a:solidFill>
            <a:schemeClr val="hlink"/>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Truck</a:t>
            </a:r>
          </a:p>
        </p:txBody>
      </p:sp>
      <p:sp>
        <p:nvSpPr>
          <p:cNvPr id="429074" name="Oval 18"/>
          <p:cNvSpPr>
            <a:spLocks noChangeArrowheads="1"/>
          </p:cNvSpPr>
          <p:nvPr/>
        </p:nvSpPr>
        <p:spPr bwMode="auto">
          <a:xfrm>
            <a:off x="5832475" y="5405438"/>
            <a:ext cx="698500" cy="322262"/>
          </a:xfrm>
          <a:prstGeom prst="ellipse">
            <a:avLst/>
          </a:prstGeom>
          <a:solidFill>
            <a:schemeClr val="hlink"/>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Truck</a:t>
            </a:r>
          </a:p>
        </p:txBody>
      </p:sp>
      <p:sp>
        <p:nvSpPr>
          <p:cNvPr id="429075" name="Oval 19"/>
          <p:cNvSpPr>
            <a:spLocks noChangeArrowheads="1"/>
          </p:cNvSpPr>
          <p:nvPr/>
        </p:nvSpPr>
        <p:spPr bwMode="auto">
          <a:xfrm>
            <a:off x="5846763" y="3703638"/>
            <a:ext cx="700087" cy="603250"/>
          </a:xfrm>
          <a:prstGeom prst="ellipse">
            <a:avLst/>
          </a:prstGeom>
          <a:solidFill>
            <a:srgbClr val="7FFF00"/>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Motor</a:t>
            </a:r>
          </a:p>
          <a:p>
            <a:pPr algn="ctr" defTabSz="593725">
              <a:spcBef>
                <a:spcPct val="0"/>
              </a:spcBef>
            </a:pPr>
            <a:r>
              <a:rPr lang="en-GB" sz="1300"/>
              <a:t>Cycle</a:t>
            </a:r>
          </a:p>
        </p:txBody>
      </p:sp>
      <p:sp>
        <p:nvSpPr>
          <p:cNvPr id="429076" name="Oval 20"/>
          <p:cNvSpPr>
            <a:spLocks noChangeArrowheads="1"/>
          </p:cNvSpPr>
          <p:nvPr/>
        </p:nvSpPr>
        <p:spPr bwMode="auto">
          <a:xfrm>
            <a:off x="4329113" y="4524375"/>
            <a:ext cx="698500" cy="322263"/>
          </a:xfrm>
          <a:prstGeom prst="ellipse">
            <a:avLst/>
          </a:prstGeom>
          <a:solidFill>
            <a:srgbClr val="E3BEFF"/>
          </a:solidFill>
          <a:ln w="25400">
            <a:solidFill>
              <a:schemeClr val="tx1"/>
            </a:solidFill>
            <a:round/>
            <a:headEnd/>
            <a:tailEnd/>
          </a:ln>
          <a:effectLst/>
        </p:spPr>
        <p:txBody>
          <a:bodyPr lIns="19610" tIns="7990" rIns="19610" bIns="7990">
            <a:spAutoFit/>
          </a:bodyPr>
          <a:lstStyle/>
          <a:p>
            <a:pPr algn="ctr" defTabSz="593725">
              <a:spcBef>
                <a:spcPct val="0"/>
              </a:spcBef>
            </a:pPr>
            <a:r>
              <a:rPr lang="en-GB" sz="1300"/>
              <a:t>Car</a:t>
            </a:r>
          </a:p>
        </p:txBody>
      </p:sp>
      <p:sp>
        <p:nvSpPr>
          <p:cNvPr id="429077" name="Line 21"/>
          <p:cNvSpPr>
            <a:spLocks noChangeShapeType="1"/>
          </p:cNvSpPr>
          <p:nvPr/>
        </p:nvSpPr>
        <p:spPr bwMode="auto">
          <a:xfrm>
            <a:off x="3136900" y="4057650"/>
            <a:ext cx="919163" cy="222250"/>
          </a:xfrm>
          <a:prstGeom prst="line">
            <a:avLst/>
          </a:prstGeom>
          <a:noFill/>
          <a:ln w="127000">
            <a:solidFill>
              <a:schemeClr val="bg2"/>
            </a:solidFill>
            <a:round/>
            <a:headEnd/>
            <a:tailEnd type="triangle" w="med" len="med"/>
          </a:ln>
          <a:effectLst/>
        </p:spPr>
        <p:txBody>
          <a:bodyPr lIns="19610" tIns="7990" rIns="19610" bIns="7990">
            <a:spAutoFit/>
          </a:bodyPr>
          <a:lstStyle/>
          <a:p>
            <a:endParaRPr lang="en-GB"/>
          </a:p>
        </p:txBody>
      </p:sp>
      <p:sp>
        <p:nvSpPr>
          <p:cNvPr id="429078" name="Line 22"/>
          <p:cNvSpPr>
            <a:spLocks noChangeShapeType="1"/>
          </p:cNvSpPr>
          <p:nvPr/>
        </p:nvSpPr>
        <p:spPr bwMode="auto">
          <a:xfrm>
            <a:off x="2262188" y="2171700"/>
            <a:ext cx="1477962" cy="0"/>
          </a:xfrm>
          <a:prstGeom prst="line">
            <a:avLst/>
          </a:prstGeom>
          <a:noFill/>
          <a:ln w="12700">
            <a:solidFill>
              <a:srgbClr val="0000FF"/>
            </a:solidFill>
            <a:round/>
            <a:headEnd type="none" w="sm" len="sm"/>
            <a:tailEnd type="none" w="sm" len="sm"/>
          </a:ln>
          <a:effectLst/>
        </p:spPr>
        <p:txBody>
          <a:bodyPr/>
          <a:lstStyle/>
          <a:p>
            <a:endParaRPr lang="en-GB"/>
          </a:p>
        </p:txBody>
      </p:sp>
      <p:sp>
        <p:nvSpPr>
          <p:cNvPr id="429079" name="Oval 23"/>
          <p:cNvSpPr>
            <a:spLocks noChangeArrowheads="1"/>
          </p:cNvSpPr>
          <p:nvPr/>
        </p:nvSpPr>
        <p:spPr bwMode="auto">
          <a:xfrm>
            <a:off x="1981200" y="2019300"/>
            <a:ext cx="280988" cy="304800"/>
          </a:xfrm>
          <a:prstGeom prst="ellipse">
            <a:avLst/>
          </a:prstGeom>
          <a:noFill/>
          <a:ln w="12700">
            <a:solidFill>
              <a:srgbClr val="0000FF"/>
            </a:solidFill>
            <a:round/>
            <a:headEnd type="none" w="sm" len="sm"/>
            <a:tailEnd type="none" w="sm" len="sm"/>
          </a:ln>
          <a:effectLst/>
        </p:spPr>
        <p:txBody>
          <a:bodyPr wrap="none" anchor="ctr"/>
          <a:lstStyle/>
          <a:p>
            <a:pPr algn="ctr" defTabSz="739775">
              <a:spcBef>
                <a:spcPct val="0"/>
              </a:spcBef>
            </a:pPr>
            <a:endParaRPr lang="en-US" sz="1800"/>
          </a:p>
        </p:txBody>
      </p:sp>
      <p:sp>
        <p:nvSpPr>
          <p:cNvPr id="429080" name="Rectangle 24"/>
          <p:cNvSpPr>
            <a:spLocks noChangeArrowheads="1"/>
          </p:cNvSpPr>
          <p:nvPr/>
        </p:nvSpPr>
        <p:spPr bwMode="auto">
          <a:xfrm>
            <a:off x="2333625" y="2171700"/>
            <a:ext cx="1123950" cy="304800"/>
          </a:xfrm>
          <a:prstGeom prst="rect">
            <a:avLst/>
          </a:prstGeom>
          <a:noFill/>
          <a:ln w="12700">
            <a:solidFill>
              <a:srgbClr val="0000FF"/>
            </a:solidFill>
            <a:miter lim="800000"/>
            <a:headEnd type="none" w="sm" len="sm"/>
            <a:tailEnd type="none" w="sm" len="sm"/>
          </a:ln>
          <a:effectLst/>
        </p:spPr>
        <p:txBody>
          <a:bodyPr wrap="none" anchor="ctr"/>
          <a:lstStyle/>
          <a:p>
            <a:pPr algn="ctr" defTabSz="739775">
              <a:spcBef>
                <a:spcPct val="0"/>
              </a:spcBef>
            </a:pPr>
            <a:endParaRPr lang="en-US" sz="1800"/>
          </a:p>
        </p:txBody>
      </p:sp>
      <p:sp>
        <p:nvSpPr>
          <p:cNvPr id="429081" name="Rectangle 25"/>
          <p:cNvSpPr>
            <a:spLocks noChangeArrowheads="1"/>
          </p:cNvSpPr>
          <p:nvPr/>
        </p:nvSpPr>
        <p:spPr bwMode="auto">
          <a:xfrm>
            <a:off x="2333625" y="2476500"/>
            <a:ext cx="1123950" cy="304800"/>
          </a:xfrm>
          <a:prstGeom prst="rect">
            <a:avLst/>
          </a:prstGeom>
          <a:noFill/>
          <a:ln w="12700">
            <a:solidFill>
              <a:srgbClr val="0000FF"/>
            </a:solidFill>
            <a:miter lim="800000"/>
            <a:headEnd type="none" w="sm" len="sm"/>
            <a:tailEnd type="none" w="sm" len="sm"/>
          </a:ln>
          <a:effectLst/>
        </p:spPr>
        <p:txBody>
          <a:bodyPr wrap="none" anchor="ctr"/>
          <a:lstStyle/>
          <a:p>
            <a:pPr algn="ctr" defTabSz="739775">
              <a:spcBef>
                <a:spcPct val="0"/>
              </a:spcBef>
            </a:pPr>
            <a:endParaRPr lang="en-US" sz="1800"/>
          </a:p>
        </p:txBody>
      </p:sp>
      <p:sp>
        <p:nvSpPr>
          <p:cNvPr id="429082" name="Text Box 26"/>
          <p:cNvSpPr txBox="1">
            <a:spLocks noChangeArrowheads="1"/>
          </p:cNvSpPr>
          <p:nvPr/>
        </p:nvSpPr>
        <p:spPr bwMode="auto">
          <a:xfrm>
            <a:off x="2327275" y="2171700"/>
            <a:ext cx="748923"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M</a:t>
            </a:r>
            <a:r>
              <a:rPr lang="en-GB" sz="1800" dirty="0" smtClean="0"/>
              <a:t>ove</a:t>
            </a:r>
            <a:endParaRPr lang="en-US" sz="1800" dirty="0"/>
          </a:p>
        </p:txBody>
      </p:sp>
      <p:sp>
        <p:nvSpPr>
          <p:cNvPr id="429083" name="Text Box 27"/>
          <p:cNvSpPr txBox="1">
            <a:spLocks noChangeArrowheads="1"/>
          </p:cNvSpPr>
          <p:nvPr/>
        </p:nvSpPr>
        <p:spPr bwMode="auto">
          <a:xfrm>
            <a:off x="2333625" y="2490788"/>
            <a:ext cx="851515"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R</a:t>
            </a:r>
            <a:r>
              <a:rPr lang="en-GB" sz="1800" dirty="0" smtClean="0"/>
              <a:t>efuel</a:t>
            </a:r>
            <a:endParaRPr lang="en-US" sz="1800" dirty="0"/>
          </a:p>
        </p:txBody>
      </p:sp>
      <p:sp>
        <p:nvSpPr>
          <p:cNvPr id="429084" name="Text Box 28"/>
          <p:cNvSpPr txBox="1">
            <a:spLocks noChangeArrowheads="1"/>
          </p:cNvSpPr>
          <p:nvPr/>
        </p:nvSpPr>
        <p:spPr bwMode="auto">
          <a:xfrm>
            <a:off x="2122488" y="1638300"/>
            <a:ext cx="996950"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IVehicle</a:t>
            </a:r>
            <a:endParaRPr lang="en-US" sz="1800"/>
          </a:p>
        </p:txBody>
      </p:sp>
      <p:sp>
        <p:nvSpPr>
          <p:cNvPr id="429085" name="Rectangle 29"/>
          <p:cNvSpPr>
            <a:spLocks noChangeArrowheads="1"/>
          </p:cNvSpPr>
          <p:nvPr/>
        </p:nvSpPr>
        <p:spPr bwMode="auto">
          <a:xfrm>
            <a:off x="2333625" y="2781300"/>
            <a:ext cx="1123950" cy="304800"/>
          </a:xfrm>
          <a:prstGeom prst="rect">
            <a:avLst/>
          </a:prstGeom>
          <a:noFill/>
          <a:ln w="12700">
            <a:solidFill>
              <a:srgbClr val="0000FF"/>
            </a:solidFill>
            <a:miter lim="800000"/>
            <a:headEnd type="none" w="sm" len="sm"/>
            <a:tailEnd type="none" w="sm" len="sm"/>
          </a:ln>
          <a:effectLst/>
        </p:spPr>
        <p:txBody>
          <a:bodyPr wrap="none" anchor="ctr"/>
          <a:lstStyle/>
          <a:p>
            <a:pPr algn="ctr" defTabSz="739775">
              <a:spcBef>
                <a:spcPct val="0"/>
              </a:spcBef>
            </a:pPr>
            <a:r>
              <a:rPr lang="en-GB" sz="1600" dirty="0" err="1">
                <a:solidFill>
                  <a:srgbClr val="0000FF"/>
                </a:solidFill>
              </a:rPr>
              <a:t>G</a:t>
            </a:r>
            <a:r>
              <a:rPr lang="en-GB" sz="1600" dirty="0" err="1" smtClean="0">
                <a:solidFill>
                  <a:srgbClr val="0000FF"/>
                </a:solidFill>
              </a:rPr>
              <a:t>etRoadTax</a:t>
            </a:r>
            <a:endParaRPr lang="en-GB" sz="1600" dirty="0">
              <a:solidFill>
                <a:srgbClr val="0000FF"/>
              </a:solidFill>
            </a:endParaRPr>
          </a:p>
        </p:txBody>
      </p:sp>
      <p:sp>
        <p:nvSpPr>
          <p:cNvPr id="429086" name="Rectangle 30"/>
          <p:cNvSpPr>
            <a:spLocks noChangeArrowheads="1"/>
          </p:cNvSpPr>
          <p:nvPr/>
        </p:nvSpPr>
        <p:spPr bwMode="auto">
          <a:xfrm>
            <a:off x="3516313" y="2609850"/>
            <a:ext cx="9144000" cy="0"/>
          </a:xfrm>
          <a:prstGeom prst="rect">
            <a:avLst/>
          </a:prstGeom>
          <a:noFill/>
          <a:ln w="12700">
            <a:noFill/>
            <a:miter lim="800000"/>
            <a:headEnd type="none" w="sm" len="sm"/>
            <a:tailEnd type="none" w="sm" len="sm"/>
          </a:ln>
          <a:effectLst/>
        </p:spPr>
        <p:txBody>
          <a:bodyPr>
            <a:spAutoFit/>
          </a:bodyPr>
          <a:lstStyle/>
          <a:p>
            <a:pPr defTabSz="739775">
              <a:spcBef>
                <a:spcPct val="0"/>
              </a:spcBef>
            </a:pPr>
            <a:endParaRPr lang="en-US" sz="1800"/>
          </a:p>
        </p:txBody>
      </p:sp>
      <p:pic>
        <p:nvPicPr>
          <p:cNvPr id="429087" name="Picture 31" descr="G0105154"/>
          <p:cNvPicPr>
            <a:picLocks noChangeAspect="1" noChangeArrowheads="1"/>
          </p:cNvPicPr>
          <p:nvPr/>
        </p:nvPicPr>
        <p:blipFill>
          <a:blip r:embed="rId3" cstate="print"/>
          <a:srcRect/>
          <a:stretch>
            <a:fillRect/>
          </a:stretch>
        </p:blipFill>
        <p:spPr bwMode="auto">
          <a:xfrm>
            <a:off x="7419975" y="1225550"/>
            <a:ext cx="1477963" cy="1146175"/>
          </a:xfrm>
          <a:prstGeom prst="rect">
            <a:avLst/>
          </a:prstGeom>
          <a:noFill/>
        </p:spPr>
      </p:pic>
      <p:sp>
        <p:nvSpPr>
          <p:cNvPr id="429088" name="Rectangle 32"/>
          <p:cNvSpPr>
            <a:spLocks noChangeArrowheads="1"/>
          </p:cNvSpPr>
          <p:nvPr/>
        </p:nvSpPr>
        <p:spPr bwMode="auto">
          <a:xfrm>
            <a:off x="3675063" y="2867025"/>
            <a:ext cx="9144000" cy="0"/>
          </a:xfrm>
          <a:prstGeom prst="rect">
            <a:avLst/>
          </a:prstGeom>
          <a:noFill/>
          <a:ln w="12700">
            <a:noFill/>
            <a:miter lim="800000"/>
            <a:headEnd type="none" w="sm" len="sm"/>
            <a:tailEnd type="none" w="sm" len="sm"/>
          </a:ln>
          <a:effectLst/>
        </p:spPr>
        <p:txBody>
          <a:bodyPr>
            <a:spAutoFit/>
          </a:bodyPr>
          <a:lstStyle/>
          <a:p>
            <a:pPr defTabSz="739775">
              <a:spcBef>
                <a:spcPct val="0"/>
              </a:spcBef>
            </a:pPr>
            <a:endParaRPr lang="en-US" sz="1800"/>
          </a:p>
        </p:txBody>
      </p:sp>
      <p:pic>
        <p:nvPicPr>
          <p:cNvPr id="429089" name="Picture 33" descr="G0105157"/>
          <p:cNvPicPr>
            <a:picLocks noChangeAspect="1" noChangeArrowheads="1"/>
          </p:cNvPicPr>
          <p:nvPr/>
        </p:nvPicPr>
        <p:blipFill>
          <a:blip r:embed="rId4" cstate="print"/>
          <a:srcRect/>
          <a:stretch>
            <a:fillRect/>
          </a:stretch>
        </p:blipFill>
        <p:spPr bwMode="auto">
          <a:xfrm>
            <a:off x="7210425" y="2320925"/>
            <a:ext cx="1792288" cy="1123950"/>
          </a:xfrm>
          <a:prstGeom prst="rect">
            <a:avLst/>
          </a:prstGeom>
          <a:noFill/>
        </p:spPr>
      </p:pic>
      <p:sp>
        <p:nvSpPr>
          <p:cNvPr id="429090" name="Rectangle 34"/>
          <p:cNvSpPr>
            <a:spLocks noChangeArrowheads="1"/>
          </p:cNvSpPr>
          <p:nvPr/>
        </p:nvSpPr>
        <p:spPr bwMode="auto">
          <a:xfrm>
            <a:off x="3675063" y="3028950"/>
            <a:ext cx="9144000" cy="0"/>
          </a:xfrm>
          <a:prstGeom prst="rect">
            <a:avLst/>
          </a:prstGeom>
          <a:noFill/>
          <a:ln w="12700">
            <a:noFill/>
            <a:miter lim="800000"/>
            <a:headEnd type="none" w="sm" len="sm"/>
            <a:tailEnd type="none" w="sm" len="sm"/>
          </a:ln>
          <a:effectLst/>
        </p:spPr>
        <p:txBody>
          <a:bodyPr>
            <a:spAutoFit/>
          </a:bodyPr>
          <a:lstStyle/>
          <a:p>
            <a:pPr defTabSz="739775">
              <a:spcBef>
                <a:spcPct val="0"/>
              </a:spcBef>
            </a:pPr>
            <a:endParaRPr lang="en-US" sz="1800"/>
          </a:p>
        </p:txBody>
      </p:sp>
      <p:pic>
        <p:nvPicPr>
          <p:cNvPr id="429091" name="Picture 35" descr="G0105167"/>
          <p:cNvPicPr>
            <a:picLocks noChangeAspect="1" noChangeArrowheads="1"/>
          </p:cNvPicPr>
          <p:nvPr/>
        </p:nvPicPr>
        <p:blipFill>
          <a:blip r:embed="rId5" cstate="print"/>
          <a:srcRect/>
          <a:stretch>
            <a:fillRect/>
          </a:stretch>
        </p:blipFill>
        <p:spPr bwMode="auto">
          <a:xfrm>
            <a:off x="7350125" y="3448050"/>
            <a:ext cx="1793875" cy="800100"/>
          </a:xfrm>
          <a:prstGeom prst="rect">
            <a:avLst/>
          </a:prstGeom>
          <a:noFill/>
        </p:spPr>
      </p:pic>
      <p:sp>
        <p:nvSpPr>
          <p:cNvPr id="429092" name="Rectangle 36"/>
          <p:cNvSpPr>
            <a:spLocks noChangeArrowheads="1"/>
          </p:cNvSpPr>
          <p:nvPr/>
        </p:nvSpPr>
        <p:spPr bwMode="auto">
          <a:xfrm>
            <a:off x="3938588" y="2924175"/>
            <a:ext cx="9144000" cy="0"/>
          </a:xfrm>
          <a:prstGeom prst="rect">
            <a:avLst/>
          </a:prstGeom>
          <a:noFill/>
          <a:ln w="12700">
            <a:noFill/>
            <a:miter lim="800000"/>
            <a:headEnd type="none" w="sm" len="sm"/>
            <a:tailEnd type="none" w="sm" len="sm"/>
          </a:ln>
          <a:effectLst/>
        </p:spPr>
        <p:txBody>
          <a:bodyPr>
            <a:spAutoFit/>
          </a:bodyPr>
          <a:lstStyle/>
          <a:p>
            <a:pPr defTabSz="739775">
              <a:spcBef>
                <a:spcPct val="0"/>
              </a:spcBef>
            </a:pPr>
            <a:endParaRPr lang="en-US" sz="1800"/>
          </a:p>
        </p:txBody>
      </p:sp>
      <p:pic>
        <p:nvPicPr>
          <p:cNvPr id="429093" name="Picture 37" descr="G0178996"/>
          <p:cNvPicPr>
            <a:picLocks noChangeAspect="1" noChangeArrowheads="1"/>
          </p:cNvPicPr>
          <p:nvPr/>
        </p:nvPicPr>
        <p:blipFill>
          <a:blip r:embed="rId6" cstate="print"/>
          <a:srcRect/>
          <a:stretch>
            <a:fillRect/>
          </a:stretch>
        </p:blipFill>
        <p:spPr bwMode="auto">
          <a:xfrm>
            <a:off x="7572375" y="4333875"/>
            <a:ext cx="1266825" cy="1009650"/>
          </a:xfrm>
          <a:prstGeom prst="rect">
            <a:avLst/>
          </a:prstGeom>
          <a:noFill/>
        </p:spPr>
      </p:pic>
      <p:sp>
        <p:nvSpPr>
          <p:cNvPr id="429094" name="Rectangle 38"/>
          <p:cNvSpPr>
            <a:spLocks noChangeArrowheads="1"/>
          </p:cNvSpPr>
          <p:nvPr/>
        </p:nvSpPr>
        <p:spPr bwMode="auto">
          <a:xfrm>
            <a:off x="3990975" y="2895600"/>
            <a:ext cx="9144000" cy="0"/>
          </a:xfrm>
          <a:prstGeom prst="rect">
            <a:avLst/>
          </a:prstGeom>
          <a:noFill/>
          <a:ln w="12700">
            <a:noFill/>
            <a:miter lim="800000"/>
            <a:headEnd type="none" w="sm" len="sm"/>
            <a:tailEnd type="none" w="sm" len="sm"/>
          </a:ln>
          <a:effectLst/>
        </p:spPr>
        <p:txBody>
          <a:bodyPr>
            <a:spAutoFit/>
          </a:bodyPr>
          <a:lstStyle/>
          <a:p>
            <a:pPr defTabSz="739775">
              <a:spcBef>
                <a:spcPct val="0"/>
              </a:spcBef>
            </a:pPr>
            <a:endParaRPr lang="en-US" sz="1800"/>
          </a:p>
        </p:txBody>
      </p:sp>
      <p:pic>
        <p:nvPicPr>
          <p:cNvPr id="429095" name="Picture 39" descr="G0705165"/>
          <p:cNvPicPr>
            <a:picLocks noChangeAspect="1" noChangeArrowheads="1"/>
          </p:cNvPicPr>
          <p:nvPr/>
        </p:nvPicPr>
        <p:blipFill>
          <a:blip r:embed="rId7" cstate="print"/>
          <a:srcRect/>
          <a:stretch>
            <a:fillRect/>
          </a:stretch>
        </p:blipFill>
        <p:spPr bwMode="auto">
          <a:xfrm>
            <a:off x="7707313" y="5321300"/>
            <a:ext cx="1160462" cy="1066800"/>
          </a:xfrm>
          <a:prstGeom prst="rect">
            <a:avLst/>
          </a:prstGeom>
          <a:noFill/>
        </p:spPr>
      </p:pic>
      <p:sp>
        <p:nvSpPr>
          <p:cNvPr id="429096" name="Text Box 40"/>
          <p:cNvSpPr txBox="1">
            <a:spLocks noChangeArrowheads="1"/>
          </p:cNvSpPr>
          <p:nvPr/>
        </p:nvSpPr>
        <p:spPr bwMode="auto">
          <a:xfrm>
            <a:off x="5013325" y="2055813"/>
            <a:ext cx="1219200" cy="517525"/>
          </a:xfrm>
          <a:prstGeom prst="rect">
            <a:avLst/>
          </a:prstGeom>
          <a:noFill/>
          <a:ln w="12700">
            <a:noFill/>
            <a:miter lim="800000"/>
            <a:headEnd type="none" w="sm" len="sm"/>
            <a:tailEnd type="none" w="sm" len="sm"/>
          </a:ln>
          <a:effectLst/>
        </p:spPr>
        <p:txBody>
          <a:bodyPr wrap="none">
            <a:spAutoFit/>
          </a:bodyPr>
          <a:lstStyle/>
          <a:p>
            <a:pPr algn="ctr" defTabSz="739775">
              <a:spcBef>
                <a:spcPct val="0"/>
              </a:spcBef>
            </a:pPr>
            <a:r>
              <a:rPr lang="en-GB" sz="1400"/>
              <a:t>the collection</a:t>
            </a:r>
            <a:br>
              <a:rPr lang="en-GB" sz="1400"/>
            </a:br>
            <a:r>
              <a:rPr lang="en-GB" sz="1400"/>
              <a:t>of vehicles</a:t>
            </a:r>
          </a:p>
        </p:txBody>
      </p:sp>
    </p:spTree>
    <p:extLst>
      <p:ext uri="{BB962C8B-B14F-4D97-AF65-F5344CB8AC3E}">
        <p14:creationId xmlns:p14="http://schemas.microsoft.com/office/powerpoint/2010/main" val="254271547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5" name="Rectangle 3"/>
          <p:cNvSpPr>
            <a:spLocks noGrp="1" noChangeArrowheads="1"/>
          </p:cNvSpPr>
          <p:nvPr>
            <p:ph type="body" sz="quarter" idx="15"/>
          </p:nvPr>
        </p:nvSpPr>
        <p:spPr/>
        <p:txBody>
          <a:bodyPr/>
          <a:lstStyle/>
          <a:p>
            <a:r>
              <a:rPr lang="en-US" dirty="0"/>
              <a:t>You could view an interface as a degenerate version of an Abstract Base Class</a:t>
            </a:r>
          </a:p>
        </p:txBody>
      </p:sp>
      <p:sp>
        <p:nvSpPr>
          <p:cNvPr id="433154" name="Rectangle 2"/>
          <p:cNvSpPr>
            <a:spLocks noGrp="1" noChangeArrowheads="1"/>
          </p:cNvSpPr>
          <p:nvPr>
            <p:ph type="title"/>
          </p:nvPr>
        </p:nvSpPr>
        <p:spPr/>
        <p:txBody>
          <a:bodyPr/>
          <a:lstStyle/>
          <a:p>
            <a:r>
              <a:rPr lang="en-GB"/>
              <a:t>Abstract Base Class</a:t>
            </a:r>
            <a:endParaRPr lang="en-US"/>
          </a:p>
        </p:txBody>
      </p:sp>
      <p:grpSp>
        <p:nvGrpSpPr>
          <p:cNvPr id="2" name="Group 4"/>
          <p:cNvGrpSpPr>
            <a:grpSpLocks/>
          </p:cNvGrpSpPr>
          <p:nvPr/>
        </p:nvGrpSpPr>
        <p:grpSpPr bwMode="auto">
          <a:xfrm>
            <a:off x="5964011" y="2413000"/>
            <a:ext cx="2851150" cy="3306763"/>
            <a:chOff x="3863" y="1128"/>
            <a:chExt cx="1945" cy="2083"/>
          </a:xfrm>
        </p:grpSpPr>
        <p:sp>
          <p:nvSpPr>
            <p:cNvPr id="433157" name="Rectangle 5"/>
            <p:cNvSpPr>
              <a:spLocks noChangeArrowheads="1"/>
            </p:cNvSpPr>
            <p:nvPr/>
          </p:nvSpPr>
          <p:spPr bwMode="auto">
            <a:xfrm>
              <a:off x="4367" y="1128"/>
              <a:ext cx="802" cy="879"/>
            </a:xfrm>
            <a:prstGeom prst="rect">
              <a:avLst/>
            </a:prstGeom>
            <a:solidFill>
              <a:srgbClr val="FFFFCC"/>
            </a:solidFill>
            <a:ln w="0">
              <a:solidFill>
                <a:srgbClr val="990033"/>
              </a:solidFill>
              <a:miter lim="800000"/>
              <a:headEnd/>
              <a:tailEnd/>
            </a:ln>
          </p:spPr>
          <p:txBody>
            <a:bodyPr/>
            <a:lstStyle/>
            <a:p>
              <a:endParaRPr lang="en-GB"/>
            </a:p>
          </p:txBody>
        </p:sp>
        <p:sp>
          <p:nvSpPr>
            <p:cNvPr id="433158" name="Rectangle 6"/>
            <p:cNvSpPr>
              <a:spLocks noChangeArrowheads="1"/>
            </p:cNvSpPr>
            <p:nvPr/>
          </p:nvSpPr>
          <p:spPr bwMode="auto">
            <a:xfrm>
              <a:off x="4601" y="1157"/>
              <a:ext cx="346" cy="115"/>
            </a:xfrm>
            <a:prstGeom prst="rect">
              <a:avLst/>
            </a:prstGeom>
            <a:noFill/>
            <a:ln w="9525">
              <a:noFill/>
              <a:miter lim="800000"/>
              <a:headEnd/>
              <a:tailEnd/>
            </a:ln>
          </p:spPr>
          <p:txBody>
            <a:bodyPr wrap="none" lIns="0" tIns="0" rIns="0" bIns="0">
              <a:spAutoFit/>
            </a:bodyPr>
            <a:lstStyle/>
            <a:p>
              <a:pPr defTabSz="739775">
                <a:spcBef>
                  <a:spcPct val="0"/>
                </a:spcBef>
              </a:pPr>
              <a:r>
                <a:rPr lang="en-GB" sz="1200" i="1">
                  <a:solidFill>
                    <a:srgbClr val="000000"/>
                  </a:solidFill>
                </a:rPr>
                <a:t>Account</a:t>
              </a:r>
              <a:endParaRPr lang="en-GB" sz="1800" b="1" i="1"/>
            </a:p>
          </p:txBody>
        </p:sp>
        <p:sp>
          <p:nvSpPr>
            <p:cNvPr id="433159" name="Rectangle 7"/>
            <p:cNvSpPr>
              <a:spLocks noChangeArrowheads="1"/>
            </p:cNvSpPr>
            <p:nvPr/>
          </p:nvSpPr>
          <p:spPr bwMode="auto">
            <a:xfrm>
              <a:off x="4367" y="1277"/>
              <a:ext cx="802" cy="730"/>
            </a:xfrm>
            <a:prstGeom prst="rect">
              <a:avLst/>
            </a:prstGeom>
            <a:noFill/>
            <a:ln w="0">
              <a:solidFill>
                <a:srgbClr val="990033"/>
              </a:solidFill>
              <a:miter lim="800000"/>
              <a:headEnd/>
              <a:tailEnd/>
            </a:ln>
          </p:spPr>
          <p:txBody>
            <a:bodyPr/>
            <a:lstStyle/>
            <a:p>
              <a:endParaRPr lang="en-GB"/>
            </a:p>
          </p:txBody>
        </p:sp>
        <p:sp>
          <p:nvSpPr>
            <p:cNvPr id="433160" name="Rectangle 8"/>
            <p:cNvSpPr>
              <a:spLocks noChangeArrowheads="1"/>
            </p:cNvSpPr>
            <p:nvPr/>
          </p:nvSpPr>
          <p:spPr bwMode="auto">
            <a:xfrm>
              <a:off x="4367" y="1447"/>
              <a:ext cx="802" cy="560"/>
            </a:xfrm>
            <a:prstGeom prst="rect">
              <a:avLst/>
            </a:prstGeom>
            <a:noFill/>
            <a:ln w="0">
              <a:solidFill>
                <a:srgbClr val="990033"/>
              </a:solidFill>
              <a:miter lim="800000"/>
              <a:headEnd/>
              <a:tailEnd/>
            </a:ln>
          </p:spPr>
          <p:txBody>
            <a:bodyPr/>
            <a:lstStyle/>
            <a:p>
              <a:endParaRPr lang="en-GB"/>
            </a:p>
          </p:txBody>
        </p:sp>
        <p:pic>
          <p:nvPicPr>
            <p:cNvPr id="433161" name="Picture 9"/>
            <p:cNvPicPr>
              <a:picLocks noChangeAspect="1" noChangeArrowheads="1"/>
            </p:cNvPicPr>
            <p:nvPr/>
          </p:nvPicPr>
          <p:blipFill>
            <a:blip r:embed="rId3" cstate="print"/>
            <a:srcRect/>
            <a:stretch>
              <a:fillRect/>
            </a:stretch>
          </p:blipFill>
          <p:spPr bwMode="auto">
            <a:xfrm>
              <a:off x="4388" y="1291"/>
              <a:ext cx="114" cy="106"/>
            </a:xfrm>
            <a:prstGeom prst="rect">
              <a:avLst/>
            </a:prstGeom>
            <a:noFill/>
            <a:ln w="9525">
              <a:noFill/>
              <a:miter lim="800000"/>
              <a:headEnd/>
              <a:tailEnd/>
            </a:ln>
          </p:spPr>
        </p:pic>
        <p:pic>
          <p:nvPicPr>
            <p:cNvPr id="433162" name="Picture 10"/>
            <p:cNvPicPr>
              <a:picLocks noChangeAspect="1" noChangeArrowheads="1"/>
            </p:cNvPicPr>
            <p:nvPr/>
          </p:nvPicPr>
          <p:blipFill>
            <a:blip r:embed="rId4" cstate="print"/>
            <a:srcRect/>
            <a:stretch>
              <a:fillRect/>
            </a:stretch>
          </p:blipFill>
          <p:spPr bwMode="auto">
            <a:xfrm>
              <a:off x="4388" y="1291"/>
              <a:ext cx="114" cy="106"/>
            </a:xfrm>
            <a:prstGeom prst="rect">
              <a:avLst/>
            </a:prstGeom>
            <a:noFill/>
            <a:ln w="9525">
              <a:noFill/>
              <a:miter lim="800000"/>
              <a:headEnd/>
              <a:tailEnd/>
            </a:ln>
          </p:spPr>
        </p:pic>
        <p:pic>
          <p:nvPicPr>
            <p:cNvPr id="433163" name="Picture 11"/>
            <p:cNvPicPr>
              <a:picLocks noChangeAspect="1" noChangeArrowheads="1"/>
            </p:cNvPicPr>
            <p:nvPr/>
          </p:nvPicPr>
          <p:blipFill>
            <a:blip r:embed="rId3" cstate="print"/>
            <a:srcRect/>
            <a:stretch>
              <a:fillRect/>
            </a:stretch>
          </p:blipFill>
          <p:spPr bwMode="auto">
            <a:xfrm>
              <a:off x="4388" y="1291"/>
              <a:ext cx="114" cy="106"/>
            </a:xfrm>
            <a:prstGeom prst="rect">
              <a:avLst/>
            </a:prstGeom>
            <a:noFill/>
            <a:ln w="9525">
              <a:noFill/>
              <a:miter lim="800000"/>
              <a:headEnd/>
              <a:tailEnd/>
            </a:ln>
          </p:spPr>
        </p:pic>
        <p:sp>
          <p:nvSpPr>
            <p:cNvPr id="433164" name="Rectangle 12"/>
            <p:cNvSpPr>
              <a:spLocks noChangeArrowheads="1"/>
            </p:cNvSpPr>
            <p:nvPr/>
          </p:nvSpPr>
          <p:spPr bwMode="auto">
            <a:xfrm>
              <a:off x="4502" y="1291"/>
              <a:ext cx="675" cy="115"/>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accountNumber</a:t>
              </a:r>
              <a:endParaRPr lang="en-GB" sz="1800" b="1"/>
            </a:p>
          </p:txBody>
        </p:sp>
        <p:pic>
          <p:nvPicPr>
            <p:cNvPr id="433165" name="Picture 13"/>
            <p:cNvPicPr>
              <a:picLocks noChangeAspect="1" noChangeArrowheads="1"/>
            </p:cNvPicPr>
            <p:nvPr/>
          </p:nvPicPr>
          <p:blipFill>
            <a:blip r:embed="rId5" cstate="print"/>
            <a:srcRect/>
            <a:stretch>
              <a:fillRect/>
            </a:stretch>
          </p:blipFill>
          <p:spPr bwMode="auto">
            <a:xfrm>
              <a:off x="4388" y="1518"/>
              <a:ext cx="114" cy="106"/>
            </a:xfrm>
            <a:prstGeom prst="rect">
              <a:avLst/>
            </a:prstGeom>
            <a:noFill/>
            <a:ln w="9525">
              <a:noFill/>
              <a:miter lim="800000"/>
              <a:headEnd/>
              <a:tailEnd/>
            </a:ln>
          </p:spPr>
        </p:pic>
        <p:pic>
          <p:nvPicPr>
            <p:cNvPr id="433166" name="Picture 14"/>
            <p:cNvPicPr>
              <a:picLocks noChangeAspect="1" noChangeArrowheads="1"/>
            </p:cNvPicPr>
            <p:nvPr/>
          </p:nvPicPr>
          <p:blipFill>
            <a:blip r:embed="rId6" cstate="print"/>
            <a:srcRect/>
            <a:stretch>
              <a:fillRect/>
            </a:stretch>
          </p:blipFill>
          <p:spPr bwMode="auto">
            <a:xfrm>
              <a:off x="4388" y="1518"/>
              <a:ext cx="114" cy="106"/>
            </a:xfrm>
            <a:prstGeom prst="rect">
              <a:avLst/>
            </a:prstGeom>
            <a:noFill/>
            <a:ln w="9525">
              <a:noFill/>
              <a:miter lim="800000"/>
              <a:headEnd/>
              <a:tailEnd/>
            </a:ln>
          </p:spPr>
        </p:pic>
        <p:pic>
          <p:nvPicPr>
            <p:cNvPr id="433167" name="Picture 15"/>
            <p:cNvPicPr>
              <a:picLocks noChangeAspect="1" noChangeArrowheads="1"/>
            </p:cNvPicPr>
            <p:nvPr/>
          </p:nvPicPr>
          <p:blipFill>
            <a:blip r:embed="rId5" cstate="print"/>
            <a:srcRect/>
            <a:stretch>
              <a:fillRect/>
            </a:stretch>
          </p:blipFill>
          <p:spPr bwMode="auto">
            <a:xfrm>
              <a:off x="4388" y="1518"/>
              <a:ext cx="114" cy="106"/>
            </a:xfrm>
            <a:prstGeom prst="rect">
              <a:avLst/>
            </a:prstGeom>
            <a:noFill/>
            <a:ln w="9525">
              <a:noFill/>
              <a:miter lim="800000"/>
              <a:headEnd/>
              <a:tailEnd/>
            </a:ln>
          </p:spPr>
        </p:pic>
        <p:pic>
          <p:nvPicPr>
            <p:cNvPr id="433169" name="Picture 17"/>
            <p:cNvPicPr>
              <a:picLocks noChangeAspect="1" noChangeArrowheads="1"/>
            </p:cNvPicPr>
            <p:nvPr/>
          </p:nvPicPr>
          <p:blipFill>
            <a:blip r:embed="rId5" cstate="print"/>
            <a:srcRect/>
            <a:stretch>
              <a:fillRect/>
            </a:stretch>
          </p:blipFill>
          <p:spPr bwMode="auto">
            <a:xfrm>
              <a:off x="4388" y="1631"/>
              <a:ext cx="114" cy="106"/>
            </a:xfrm>
            <a:prstGeom prst="rect">
              <a:avLst/>
            </a:prstGeom>
            <a:noFill/>
            <a:ln w="9525">
              <a:noFill/>
              <a:miter lim="800000"/>
              <a:headEnd/>
              <a:tailEnd/>
            </a:ln>
          </p:spPr>
        </p:pic>
        <p:pic>
          <p:nvPicPr>
            <p:cNvPr id="433170" name="Picture 18"/>
            <p:cNvPicPr>
              <a:picLocks noChangeAspect="1" noChangeArrowheads="1"/>
            </p:cNvPicPr>
            <p:nvPr/>
          </p:nvPicPr>
          <p:blipFill>
            <a:blip r:embed="rId6" cstate="print"/>
            <a:srcRect/>
            <a:stretch>
              <a:fillRect/>
            </a:stretch>
          </p:blipFill>
          <p:spPr bwMode="auto">
            <a:xfrm>
              <a:off x="4388" y="1631"/>
              <a:ext cx="114" cy="106"/>
            </a:xfrm>
            <a:prstGeom prst="rect">
              <a:avLst/>
            </a:prstGeom>
            <a:noFill/>
            <a:ln w="9525">
              <a:noFill/>
              <a:miter lim="800000"/>
              <a:headEnd/>
              <a:tailEnd/>
            </a:ln>
          </p:spPr>
        </p:pic>
        <p:pic>
          <p:nvPicPr>
            <p:cNvPr id="433171" name="Picture 19"/>
            <p:cNvPicPr>
              <a:picLocks noChangeAspect="1" noChangeArrowheads="1"/>
            </p:cNvPicPr>
            <p:nvPr/>
          </p:nvPicPr>
          <p:blipFill>
            <a:blip r:embed="rId5" cstate="print"/>
            <a:srcRect/>
            <a:stretch>
              <a:fillRect/>
            </a:stretch>
          </p:blipFill>
          <p:spPr bwMode="auto">
            <a:xfrm>
              <a:off x="4388" y="1631"/>
              <a:ext cx="114" cy="106"/>
            </a:xfrm>
            <a:prstGeom prst="rect">
              <a:avLst/>
            </a:prstGeom>
            <a:noFill/>
            <a:ln w="9525">
              <a:noFill/>
              <a:miter lim="800000"/>
              <a:headEnd/>
              <a:tailEnd/>
            </a:ln>
          </p:spPr>
        </p:pic>
        <p:pic>
          <p:nvPicPr>
            <p:cNvPr id="433173" name="Picture 21"/>
            <p:cNvPicPr>
              <a:picLocks noChangeAspect="1" noChangeArrowheads="1"/>
            </p:cNvPicPr>
            <p:nvPr/>
          </p:nvPicPr>
          <p:blipFill>
            <a:blip r:embed="rId5" cstate="print"/>
            <a:srcRect/>
            <a:stretch>
              <a:fillRect/>
            </a:stretch>
          </p:blipFill>
          <p:spPr bwMode="auto">
            <a:xfrm>
              <a:off x="4388" y="1744"/>
              <a:ext cx="114" cy="107"/>
            </a:xfrm>
            <a:prstGeom prst="rect">
              <a:avLst/>
            </a:prstGeom>
            <a:noFill/>
            <a:ln w="9525">
              <a:noFill/>
              <a:miter lim="800000"/>
              <a:headEnd/>
              <a:tailEnd/>
            </a:ln>
          </p:spPr>
        </p:pic>
        <p:pic>
          <p:nvPicPr>
            <p:cNvPr id="433174" name="Picture 22"/>
            <p:cNvPicPr>
              <a:picLocks noChangeAspect="1" noChangeArrowheads="1"/>
            </p:cNvPicPr>
            <p:nvPr/>
          </p:nvPicPr>
          <p:blipFill>
            <a:blip r:embed="rId6" cstate="print"/>
            <a:srcRect/>
            <a:stretch>
              <a:fillRect/>
            </a:stretch>
          </p:blipFill>
          <p:spPr bwMode="auto">
            <a:xfrm>
              <a:off x="4388" y="1744"/>
              <a:ext cx="114" cy="107"/>
            </a:xfrm>
            <a:prstGeom prst="rect">
              <a:avLst/>
            </a:prstGeom>
            <a:noFill/>
            <a:ln w="9525">
              <a:noFill/>
              <a:miter lim="800000"/>
              <a:headEnd/>
              <a:tailEnd/>
            </a:ln>
          </p:spPr>
        </p:pic>
        <p:pic>
          <p:nvPicPr>
            <p:cNvPr id="433175" name="Picture 23"/>
            <p:cNvPicPr>
              <a:picLocks noChangeAspect="1" noChangeArrowheads="1"/>
            </p:cNvPicPr>
            <p:nvPr/>
          </p:nvPicPr>
          <p:blipFill>
            <a:blip r:embed="rId5" cstate="print"/>
            <a:srcRect/>
            <a:stretch>
              <a:fillRect/>
            </a:stretch>
          </p:blipFill>
          <p:spPr bwMode="auto">
            <a:xfrm>
              <a:off x="4388" y="1744"/>
              <a:ext cx="114" cy="107"/>
            </a:xfrm>
            <a:prstGeom prst="rect">
              <a:avLst/>
            </a:prstGeom>
            <a:noFill/>
            <a:ln w="9525">
              <a:noFill/>
              <a:miter lim="800000"/>
              <a:headEnd/>
              <a:tailEnd/>
            </a:ln>
          </p:spPr>
        </p:pic>
        <p:pic>
          <p:nvPicPr>
            <p:cNvPr id="433177" name="Picture 25"/>
            <p:cNvPicPr>
              <a:picLocks noChangeAspect="1" noChangeArrowheads="1"/>
            </p:cNvPicPr>
            <p:nvPr/>
          </p:nvPicPr>
          <p:blipFill>
            <a:blip r:embed="rId5" cstate="print"/>
            <a:srcRect/>
            <a:stretch>
              <a:fillRect/>
            </a:stretch>
          </p:blipFill>
          <p:spPr bwMode="auto">
            <a:xfrm>
              <a:off x="4388" y="1858"/>
              <a:ext cx="114" cy="106"/>
            </a:xfrm>
            <a:prstGeom prst="rect">
              <a:avLst/>
            </a:prstGeom>
            <a:noFill/>
            <a:ln w="9525">
              <a:noFill/>
              <a:miter lim="800000"/>
              <a:headEnd/>
              <a:tailEnd/>
            </a:ln>
          </p:spPr>
        </p:pic>
        <p:pic>
          <p:nvPicPr>
            <p:cNvPr id="433178" name="Picture 26"/>
            <p:cNvPicPr>
              <a:picLocks noChangeAspect="1" noChangeArrowheads="1"/>
            </p:cNvPicPr>
            <p:nvPr/>
          </p:nvPicPr>
          <p:blipFill>
            <a:blip r:embed="rId6" cstate="print"/>
            <a:srcRect/>
            <a:stretch>
              <a:fillRect/>
            </a:stretch>
          </p:blipFill>
          <p:spPr bwMode="auto">
            <a:xfrm>
              <a:off x="4388" y="1858"/>
              <a:ext cx="114" cy="106"/>
            </a:xfrm>
            <a:prstGeom prst="rect">
              <a:avLst/>
            </a:prstGeom>
            <a:noFill/>
            <a:ln w="9525">
              <a:noFill/>
              <a:miter lim="800000"/>
              <a:headEnd/>
              <a:tailEnd/>
            </a:ln>
          </p:spPr>
        </p:pic>
        <p:pic>
          <p:nvPicPr>
            <p:cNvPr id="433179" name="Picture 27"/>
            <p:cNvPicPr>
              <a:picLocks noChangeAspect="1" noChangeArrowheads="1"/>
            </p:cNvPicPr>
            <p:nvPr/>
          </p:nvPicPr>
          <p:blipFill>
            <a:blip r:embed="rId5" cstate="print"/>
            <a:srcRect/>
            <a:stretch>
              <a:fillRect/>
            </a:stretch>
          </p:blipFill>
          <p:spPr bwMode="auto">
            <a:xfrm>
              <a:off x="4388" y="1858"/>
              <a:ext cx="114" cy="106"/>
            </a:xfrm>
            <a:prstGeom prst="rect">
              <a:avLst/>
            </a:prstGeom>
            <a:noFill/>
            <a:ln w="9525">
              <a:noFill/>
              <a:miter lim="800000"/>
              <a:headEnd/>
              <a:tailEnd/>
            </a:ln>
          </p:spPr>
        </p:pic>
        <p:sp>
          <p:nvSpPr>
            <p:cNvPr id="433181" name="Rectangle 29"/>
            <p:cNvSpPr>
              <a:spLocks noChangeArrowheads="1"/>
            </p:cNvSpPr>
            <p:nvPr/>
          </p:nvSpPr>
          <p:spPr bwMode="auto">
            <a:xfrm>
              <a:off x="3863" y="2446"/>
              <a:ext cx="773" cy="765"/>
            </a:xfrm>
            <a:prstGeom prst="rect">
              <a:avLst/>
            </a:prstGeom>
            <a:solidFill>
              <a:srgbClr val="FFFFCC"/>
            </a:solidFill>
            <a:ln w="0">
              <a:solidFill>
                <a:srgbClr val="990033"/>
              </a:solidFill>
              <a:miter lim="800000"/>
              <a:headEnd/>
              <a:tailEnd/>
            </a:ln>
          </p:spPr>
          <p:txBody>
            <a:bodyPr/>
            <a:lstStyle/>
            <a:p>
              <a:endParaRPr lang="en-GB"/>
            </a:p>
          </p:txBody>
        </p:sp>
        <p:sp>
          <p:nvSpPr>
            <p:cNvPr id="433182" name="Rectangle 30"/>
            <p:cNvSpPr>
              <a:spLocks noChangeArrowheads="1"/>
            </p:cNvSpPr>
            <p:nvPr/>
          </p:nvSpPr>
          <p:spPr bwMode="auto">
            <a:xfrm>
              <a:off x="3920" y="2474"/>
              <a:ext cx="617" cy="115"/>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CheckAccount</a:t>
              </a:r>
              <a:endParaRPr lang="en-GB" sz="1800" b="1"/>
            </a:p>
          </p:txBody>
        </p:sp>
        <p:sp>
          <p:nvSpPr>
            <p:cNvPr id="433183" name="Rectangle 31"/>
            <p:cNvSpPr>
              <a:spLocks noChangeArrowheads="1"/>
            </p:cNvSpPr>
            <p:nvPr/>
          </p:nvSpPr>
          <p:spPr bwMode="auto">
            <a:xfrm>
              <a:off x="3863" y="2594"/>
              <a:ext cx="772" cy="617"/>
            </a:xfrm>
            <a:prstGeom prst="rect">
              <a:avLst/>
            </a:prstGeom>
            <a:noFill/>
            <a:ln w="0">
              <a:solidFill>
                <a:srgbClr val="990033"/>
              </a:solidFill>
              <a:miter lim="800000"/>
              <a:headEnd/>
              <a:tailEnd/>
            </a:ln>
          </p:spPr>
          <p:txBody>
            <a:bodyPr/>
            <a:lstStyle/>
            <a:p>
              <a:endParaRPr lang="en-GB"/>
            </a:p>
          </p:txBody>
        </p:sp>
        <p:sp>
          <p:nvSpPr>
            <p:cNvPr id="433184" name="Rectangle 32"/>
            <p:cNvSpPr>
              <a:spLocks noChangeArrowheads="1"/>
            </p:cNvSpPr>
            <p:nvPr/>
          </p:nvSpPr>
          <p:spPr bwMode="auto">
            <a:xfrm>
              <a:off x="3863" y="2651"/>
              <a:ext cx="772" cy="560"/>
            </a:xfrm>
            <a:prstGeom prst="rect">
              <a:avLst/>
            </a:prstGeom>
            <a:noFill/>
            <a:ln w="0">
              <a:solidFill>
                <a:srgbClr val="990033"/>
              </a:solidFill>
              <a:miter lim="800000"/>
              <a:headEnd/>
              <a:tailEnd/>
            </a:ln>
          </p:spPr>
          <p:txBody>
            <a:bodyPr/>
            <a:lstStyle/>
            <a:p>
              <a:endParaRPr lang="en-GB"/>
            </a:p>
          </p:txBody>
        </p:sp>
        <p:pic>
          <p:nvPicPr>
            <p:cNvPr id="433185" name="Picture 33"/>
            <p:cNvPicPr>
              <a:picLocks noChangeAspect="1" noChangeArrowheads="1"/>
            </p:cNvPicPr>
            <p:nvPr/>
          </p:nvPicPr>
          <p:blipFill>
            <a:blip r:embed="rId5" cstate="print"/>
            <a:srcRect/>
            <a:stretch>
              <a:fillRect/>
            </a:stretch>
          </p:blipFill>
          <p:spPr bwMode="auto">
            <a:xfrm>
              <a:off x="3885" y="2722"/>
              <a:ext cx="113" cy="106"/>
            </a:xfrm>
            <a:prstGeom prst="rect">
              <a:avLst/>
            </a:prstGeom>
            <a:noFill/>
            <a:ln w="9525">
              <a:noFill/>
              <a:miter lim="800000"/>
              <a:headEnd/>
              <a:tailEnd/>
            </a:ln>
          </p:spPr>
        </p:pic>
        <p:pic>
          <p:nvPicPr>
            <p:cNvPr id="433186" name="Picture 34"/>
            <p:cNvPicPr>
              <a:picLocks noChangeAspect="1" noChangeArrowheads="1"/>
            </p:cNvPicPr>
            <p:nvPr/>
          </p:nvPicPr>
          <p:blipFill>
            <a:blip r:embed="rId6" cstate="print"/>
            <a:srcRect/>
            <a:stretch>
              <a:fillRect/>
            </a:stretch>
          </p:blipFill>
          <p:spPr bwMode="auto">
            <a:xfrm>
              <a:off x="3885" y="2722"/>
              <a:ext cx="113" cy="106"/>
            </a:xfrm>
            <a:prstGeom prst="rect">
              <a:avLst/>
            </a:prstGeom>
            <a:noFill/>
            <a:ln w="9525">
              <a:noFill/>
              <a:miter lim="800000"/>
              <a:headEnd/>
              <a:tailEnd/>
            </a:ln>
          </p:spPr>
        </p:pic>
        <p:pic>
          <p:nvPicPr>
            <p:cNvPr id="433187" name="Picture 35"/>
            <p:cNvPicPr>
              <a:picLocks noChangeAspect="1" noChangeArrowheads="1"/>
            </p:cNvPicPr>
            <p:nvPr/>
          </p:nvPicPr>
          <p:blipFill>
            <a:blip r:embed="rId5" cstate="print"/>
            <a:srcRect/>
            <a:stretch>
              <a:fillRect/>
            </a:stretch>
          </p:blipFill>
          <p:spPr bwMode="auto">
            <a:xfrm>
              <a:off x="3885" y="2722"/>
              <a:ext cx="113" cy="106"/>
            </a:xfrm>
            <a:prstGeom prst="rect">
              <a:avLst/>
            </a:prstGeom>
            <a:noFill/>
            <a:ln w="9525">
              <a:noFill/>
              <a:miter lim="800000"/>
              <a:headEnd/>
              <a:tailEnd/>
            </a:ln>
          </p:spPr>
        </p:pic>
        <p:pic>
          <p:nvPicPr>
            <p:cNvPr id="433189" name="Picture 37"/>
            <p:cNvPicPr>
              <a:picLocks noChangeAspect="1" noChangeArrowheads="1"/>
            </p:cNvPicPr>
            <p:nvPr/>
          </p:nvPicPr>
          <p:blipFill>
            <a:blip r:embed="rId5" cstate="print"/>
            <a:srcRect/>
            <a:stretch>
              <a:fillRect/>
            </a:stretch>
          </p:blipFill>
          <p:spPr bwMode="auto">
            <a:xfrm>
              <a:off x="3885" y="2835"/>
              <a:ext cx="113" cy="107"/>
            </a:xfrm>
            <a:prstGeom prst="rect">
              <a:avLst/>
            </a:prstGeom>
            <a:noFill/>
            <a:ln w="9525">
              <a:noFill/>
              <a:miter lim="800000"/>
              <a:headEnd/>
              <a:tailEnd/>
            </a:ln>
          </p:spPr>
        </p:pic>
        <p:pic>
          <p:nvPicPr>
            <p:cNvPr id="433190" name="Picture 38"/>
            <p:cNvPicPr>
              <a:picLocks noChangeAspect="1" noChangeArrowheads="1"/>
            </p:cNvPicPr>
            <p:nvPr/>
          </p:nvPicPr>
          <p:blipFill>
            <a:blip r:embed="rId6" cstate="print"/>
            <a:srcRect/>
            <a:stretch>
              <a:fillRect/>
            </a:stretch>
          </p:blipFill>
          <p:spPr bwMode="auto">
            <a:xfrm>
              <a:off x="3885" y="2835"/>
              <a:ext cx="113" cy="107"/>
            </a:xfrm>
            <a:prstGeom prst="rect">
              <a:avLst/>
            </a:prstGeom>
            <a:noFill/>
            <a:ln w="9525">
              <a:noFill/>
              <a:miter lim="800000"/>
              <a:headEnd/>
              <a:tailEnd/>
            </a:ln>
          </p:spPr>
        </p:pic>
        <p:pic>
          <p:nvPicPr>
            <p:cNvPr id="433191" name="Picture 39"/>
            <p:cNvPicPr>
              <a:picLocks noChangeAspect="1" noChangeArrowheads="1"/>
            </p:cNvPicPr>
            <p:nvPr/>
          </p:nvPicPr>
          <p:blipFill>
            <a:blip r:embed="rId5" cstate="print"/>
            <a:srcRect/>
            <a:stretch>
              <a:fillRect/>
            </a:stretch>
          </p:blipFill>
          <p:spPr bwMode="auto">
            <a:xfrm>
              <a:off x="3885" y="2835"/>
              <a:ext cx="113" cy="107"/>
            </a:xfrm>
            <a:prstGeom prst="rect">
              <a:avLst/>
            </a:prstGeom>
            <a:noFill/>
            <a:ln w="9525">
              <a:noFill/>
              <a:miter lim="800000"/>
              <a:headEnd/>
              <a:tailEnd/>
            </a:ln>
          </p:spPr>
        </p:pic>
        <p:pic>
          <p:nvPicPr>
            <p:cNvPr id="433193" name="Picture 41"/>
            <p:cNvPicPr>
              <a:picLocks noChangeAspect="1" noChangeArrowheads="1"/>
            </p:cNvPicPr>
            <p:nvPr/>
          </p:nvPicPr>
          <p:blipFill>
            <a:blip r:embed="rId5" cstate="print"/>
            <a:srcRect/>
            <a:stretch>
              <a:fillRect/>
            </a:stretch>
          </p:blipFill>
          <p:spPr bwMode="auto">
            <a:xfrm>
              <a:off x="3885" y="2949"/>
              <a:ext cx="113" cy="106"/>
            </a:xfrm>
            <a:prstGeom prst="rect">
              <a:avLst/>
            </a:prstGeom>
            <a:noFill/>
            <a:ln w="9525">
              <a:noFill/>
              <a:miter lim="800000"/>
              <a:headEnd/>
              <a:tailEnd/>
            </a:ln>
          </p:spPr>
        </p:pic>
        <p:pic>
          <p:nvPicPr>
            <p:cNvPr id="433194" name="Picture 42"/>
            <p:cNvPicPr>
              <a:picLocks noChangeAspect="1" noChangeArrowheads="1"/>
            </p:cNvPicPr>
            <p:nvPr/>
          </p:nvPicPr>
          <p:blipFill>
            <a:blip r:embed="rId6" cstate="print"/>
            <a:srcRect/>
            <a:stretch>
              <a:fillRect/>
            </a:stretch>
          </p:blipFill>
          <p:spPr bwMode="auto">
            <a:xfrm>
              <a:off x="3885" y="2949"/>
              <a:ext cx="113" cy="106"/>
            </a:xfrm>
            <a:prstGeom prst="rect">
              <a:avLst/>
            </a:prstGeom>
            <a:noFill/>
            <a:ln w="9525">
              <a:noFill/>
              <a:miter lim="800000"/>
              <a:headEnd/>
              <a:tailEnd/>
            </a:ln>
          </p:spPr>
        </p:pic>
        <p:pic>
          <p:nvPicPr>
            <p:cNvPr id="433195" name="Picture 43"/>
            <p:cNvPicPr>
              <a:picLocks noChangeAspect="1" noChangeArrowheads="1"/>
            </p:cNvPicPr>
            <p:nvPr/>
          </p:nvPicPr>
          <p:blipFill>
            <a:blip r:embed="rId5" cstate="print"/>
            <a:srcRect/>
            <a:stretch>
              <a:fillRect/>
            </a:stretch>
          </p:blipFill>
          <p:spPr bwMode="auto">
            <a:xfrm>
              <a:off x="3885" y="2949"/>
              <a:ext cx="113" cy="106"/>
            </a:xfrm>
            <a:prstGeom prst="rect">
              <a:avLst/>
            </a:prstGeom>
            <a:noFill/>
            <a:ln w="9525">
              <a:noFill/>
              <a:miter lim="800000"/>
              <a:headEnd/>
              <a:tailEnd/>
            </a:ln>
          </p:spPr>
        </p:pic>
        <p:pic>
          <p:nvPicPr>
            <p:cNvPr id="433197" name="Picture 45"/>
            <p:cNvPicPr>
              <a:picLocks noChangeAspect="1" noChangeArrowheads="1"/>
            </p:cNvPicPr>
            <p:nvPr/>
          </p:nvPicPr>
          <p:blipFill>
            <a:blip r:embed="rId5" cstate="print"/>
            <a:srcRect/>
            <a:stretch>
              <a:fillRect/>
            </a:stretch>
          </p:blipFill>
          <p:spPr bwMode="auto">
            <a:xfrm>
              <a:off x="3885" y="3062"/>
              <a:ext cx="113" cy="106"/>
            </a:xfrm>
            <a:prstGeom prst="rect">
              <a:avLst/>
            </a:prstGeom>
            <a:noFill/>
            <a:ln w="9525">
              <a:noFill/>
              <a:miter lim="800000"/>
              <a:headEnd/>
              <a:tailEnd/>
            </a:ln>
          </p:spPr>
        </p:pic>
        <p:pic>
          <p:nvPicPr>
            <p:cNvPr id="433198" name="Picture 46"/>
            <p:cNvPicPr>
              <a:picLocks noChangeAspect="1" noChangeArrowheads="1"/>
            </p:cNvPicPr>
            <p:nvPr/>
          </p:nvPicPr>
          <p:blipFill>
            <a:blip r:embed="rId6" cstate="print"/>
            <a:srcRect/>
            <a:stretch>
              <a:fillRect/>
            </a:stretch>
          </p:blipFill>
          <p:spPr bwMode="auto">
            <a:xfrm>
              <a:off x="3885" y="3062"/>
              <a:ext cx="113" cy="106"/>
            </a:xfrm>
            <a:prstGeom prst="rect">
              <a:avLst/>
            </a:prstGeom>
            <a:noFill/>
            <a:ln w="9525">
              <a:noFill/>
              <a:miter lim="800000"/>
              <a:headEnd/>
              <a:tailEnd/>
            </a:ln>
          </p:spPr>
        </p:pic>
        <p:pic>
          <p:nvPicPr>
            <p:cNvPr id="433199" name="Picture 47"/>
            <p:cNvPicPr>
              <a:picLocks noChangeAspect="1" noChangeArrowheads="1"/>
            </p:cNvPicPr>
            <p:nvPr/>
          </p:nvPicPr>
          <p:blipFill>
            <a:blip r:embed="rId5" cstate="print"/>
            <a:srcRect/>
            <a:stretch>
              <a:fillRect/>
            </a:stretch>
          </p:blipFill>
          <p:spPr bwMode="auto">
            <a:xfrm>
              <a:off x="3885" y="3062"/>
              <a:ext cx="113" cy="106"/>
            </a:xfrm>
            <a:prstGeom prst="rect">
              <a:avLst/>
            </a:prstGeom>
            <a:noFill/>
            <a:ln w="9525">
              <a:noFill/>
              <a:miter lim="800000"/>
              <a:headEnd/>
              <a:tailEnd/>
            </a:ln>
          </p:spPr>
        </p:pic>
        <p:sp>
          <p:nvSpPr>
            <p:cNvPr id="433201" name="Rectangle 49"/>
            <p:cNvSpPr>
              <a:spLocks noChangeArrowheads="1"/>
            </p:cNvSpPr>
            <p:nvPr/>
          </p:nvSpPr>
          <p:spPr bwMode="auto">
            <a:xfrm>
              <a:off x="5034" y="2446"/>
              <a:ext cx="774" cy="765"/>
            </a:xfrm>
            <a:prstGeom prst="rect">
              <a:avLst/>
            </a:prstGeom>
            <a:solidFill>
              <a:srgbClr val="FFFFCC"/>
            </a:solidFill>
            <a:ln w="0">
              <a:solidFill>
                <a:srgbClr val="990033"/>
              </a:solidFill>
              <a:miter lim="800000"/>
              <a:headEnd/>
              <a:tailEnd/>
            </a:ln>
          </p:spPr>
          <p:txBody>
            <a:bodyPr/>
            <a:lstStyle/>
            <a:p>
              <a:endParaRPr lang="en-GB"/>
            </a:p>
          </p:txBody>
        </p:sp>
        <p:sp>
          <p:nvSpPr>
            <p:cNvPr id="433202" name="Rectangle 50"/>
            <p:cNvSpPr>
              <a:spLocks noChangeArrowheads="1"/>
            </p:cNvSpPr>
            <p:nvPr/>
          </p:nvSpPr>
          <p:spPr bwMode="auto">
            <a:xfrm>
              <a:off x="5091" y="2474"/>
              <a:ext cx="670" cy="115"/>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DepositAccount</a:t>
              </a:r>
              <a:endParaRPr lang="en-GB" sz="1800" b="1"/>
            </a:p>
          </p:txBody>
        </p:sp>
        <p:sp>
          <p:nvSpPr>
            <p:cNvPr id="433203" name="Rectangle 51"/>
            <p:cNvSpPr>
              <a:spLocks noChangeArrowheads="1"/>
            </p:cNvSpPr>
            <p:nvPr/>
          </p:nvSpPr>
          <p:spPr bwMode="auto">
            <a:xfrm>
              <a:off x="5034" y="2594"/>
              <a:ext cx="774" cy="617"/>
            </a:xfrm>
            <a:prstGeom prst="rect">
              <a:avLst/>
            </a:prstGeom>
            <a:noFill/>
            <a:ln w="0">
              <a:solidFill>
                <a:srgbClr val="990033"/>
              </a:solidFill>
              <a:miter lim="800000"/>
              <a:headEnd/>
              <a:tailEnd/>
            </a:ln>
          </p:spPr>
          <p:txBody>
            <a:bodyPr/>
            <a:lstStyle/>
            <a:p>
              <a:endParaRPr lang="en-GB"/>
            </a:p>
          </p:txBody>
        </p:sp>
        <p:sp>
          <p:nvSpPr>
            <p:cNvPr id="433204" name="Rectangle 52"/>
            <p:cNvSpPr>
              <a:spLocks noChangeArrowheads="1"/>
            </p:cNvSpPr>
            <p:nvPr/>
          </p:nvSpPr>
          <p:spPr bwMode="auto">
            <a:xfrm>
              <a:off x="5034" y="2651"/>
              <a:ext cx="774" cy="560"/>
            </a:xfrm>
            <a:prstGeom prst="rect">
              <a:avLst/>
            </a:prstGeom>
            <a:noFill/>
            <a:ln w="0">
              <a:solidFill>
                <a:srgbClr val="990033"/>
              </a:solidFill>
              <a:miter lim="800000"/>
              <a:headEnd/>
              <a:tailEnd/>
            </a:ln>
          </p:spPr>
          <p:txBody>
            <a:bodyPr/>
            <a:lstStyle/>
            <a:p>
              <a:endParaRPr lang="en-GB"/>
            </a:p>
          </p:txBody>
        </p:sp>
        <p:pic>
          <p:nvPicPr>
            <p:cNvPr id="433205" name="Picture 53"/>
            <p:cNvPicPr>
              <a:picLocks noChangeAspect="1" noChangeArrowheads="1"/>
            </p:cNvPicPr>
            <p:nvPr/>
          </p:nvPicPr>
          <p:blipFill>
            <a:blip r:embed="rId5" cstate="print"/>
            <a:srcRect/>
            <a:stretch>
              <a:fillRect/>
            </a:stretch>
          </p:blipFill>
          <p:spPr bwMode="auto">
            <a:xfrm>
              <a:off x="5055" y="2722"/>
              <a:ext cx="114" cy="106"/>
            </a:xfrm>
            <a:prstGeom prst="rect">
              <a:avLst/>
            </a:prstGeom>
            <a:noFill/>
            <a:ln w="9525">
              <a:noFill/>
              <a:miter lim="800000"/>
              <a:headEnd/>
              <a:tailEnd/>
            </a:ln>
          </p:spPr>
        </p:pic>
        <p:pic>
          <p:nvPicPr>
            <p:cNvPr id="433206" name="Picture 54"/>
            <p:cNvPicPr>
              <a:picLocks noChangeAspect="1" noChangeArrowheads="1"/>
            </p:cNvPicPr>
            <p:nvPr/>
          </p:nvPicPr>
          <p:blipFill>
            <a:blip r:embed="rId6" cstate="print"/>
            <a:srcRect/>
            <a:stretch>
              <a:fillRect/>
            </a:stretch>
          </p:blipFill>
          <p:spPr bwMode="auto">
            <a:xfrm>
              <a:off x="5055" y="2722"/>
              <a:ext cx="114" cy="106"/>
            </a:xfrm>
            <a:prstGeom prst="rect">
              <a:avLst/>
            </a:prstGeom>
            <a:noFill/>
            <a:ln w="9525">
              <a:noFill/>
              <a:miter lim="800000"/>
              <a:headEnd/>
              <a:tailEnd/>
            </a:ln>
          </p:spPr>
        </p:pic>
        <p:pic>
          <p:nvPicPr>
            <p:cNvPr id="433207" name="Picture 55"/>
            <p:cNvPicPr>
              <a:picLocks noChangeAspect="1" noChangeArrowheads="1"/>
            </p:cNvPicPr>
            <p:nvPr/>
          </p:nvPicPr>
          <p:blipFill>
            <a:blip r:embed="rId5" cstate="print"/>
            <a:srcRect/>
            <a:stretch>
              <a:fillRect/>
            </a:stretch>
          </p:blipFill>
          <p:spPr bwMode="auto">
            <a:xfrm>
              <a:off x="5055" y="2722"/>
              <a:ext cx="114" cy="106"/>
            </a:xfrm>
            <a:prstGeom prst="rect">
              <a:avLst/>
            </a:prstGeom>
            <a:noFill/>
            <a:ln w="9525">
              <a:noFill/>
              <a:miter lim="800000"/>
              <a:headEnd/>
              <a:tailEnd/>
            </a:ln>
          </p:spPr>
        </p:pic>
        <p:pic>
          <p:nvPicPr>
            <p:cNvPr id="433209" name="Picture 57"/>
            <p:cNvPicPr>
              <a:picLocks noChangeAspect="1" noChangeArrowheads="1"/>
            </p:cNvPicPr>
            <p:nvPr/>
          </p:nvPicPr>
          <p:blipFill>
            <a:blip r:embed="rId5" cstate="print"/>
            <a:srcRect/>
            <a:stretch>
              <a:fillRect/>
            </a:stretch>
          </p:blipFill>
          <p:spPr bwMode="auto">
            <a:xfrm>
              <a:off x="5055" y="2835"/>
              <a:ext cx="114" cy="107"/>
            </a:xfrm>
            <a:prstGeom prst="rect">
              <a:avLst/>
            </a:prstGeom>
            <a:noFill/>
            <a:ln w="9525">
              <a:noFill/>
              <a:miter lim="800000"/>
              <a:headEnd/>
              <a:tailEnd/>
            </a:ln>
          </p:spPr>
        </p:pic>
        <p:pic>
          <p:nvPicPr>
            <p:cNvPr id="433210" name="Picture 58"/>
            <p:cNvPicPr>
              <a:picLocks noChangeAspect="1" noChangeArrowheads="1"/>
            </p:cNvPicPr>
            <p:nvPr/>
          </p:nvPicPr>
          <p:blipFill>
            <a:blip r:embed="rId6" cstate="print"/>
            <a:srcRect/>
            <a:stretch>
              <a:fillRect/>
            </a:stretch>
          </p:blipFill>
          <p:spPr bwMode="auto">
            <a:xfrm>
              <a:off x="5055" y="2835"/>
              <a:ext cx="114" cy="107"/>
            </a:xfrm>
            <a:prstGeom prst="rect">
              <a:avLst/>
            </a:prstGeom>
            <a:noFill/>
            <a:ln w="9525">
              <a:noFill/>
              <a:miter lim="800000"/>
              <a:headEnd/>
              <a:tailEnd/>
            </a:ln>
          </p:spPr>
        </p:pic>
        <p:pic>
          <p:nvPicPr>
            <p:cNvPr id="433211" name="Picture 59"/>
            <p:cNvPicPr>
              <a:picLocks noChangeAspect="1" noChangeArrowheads="1"/>
            </p:cNvPicPr>
            <p:nvPr/>
          </p:nvPicPr>
          <p:blipFill>
            <a:blip r:embed="rId5" cstate="print"/>
            <a:srcRect/>
            <a:stretch>
              <a:fillRect/>
            </a:stretch>
          </p:blipFill>
          <p:spPr bwMode="auto">
            <a:xfrm>
              <a:off x="5055" y="2835"/>
              <a:ext cx="114" cy="107"/>
            </a:xfrm>
            <a:prstGeom prst="rect">
              <a:avLst/>
            </a:prstGeom>
            <a:noFill/>
            <a:ln w="9525">
              <a:noFill/>
              <a:miter lim="800000"/>
              <a:headEnd/>
              <a:tailEnd/>
            </a:ln>
          </p:spPr>
        </p:pic>
        <p:pic>
          <p:nvPicPr>
            <p:cNvPr id="433213" name="Picture 61"/>
            <p:cNvPicPr>
              <a:picLocks noChangeAspect="1" noChangeArrowheads="1"/>
            </p:cNvPicPr>
            <p:nvPr/>
          </p:nvPicPr>
          <p:blipFill>
            <a:blip r:embed="rId5" cstate="print"/>
            <a:srcRect/>
            <a:stretch>
              <a:fillRect/>
            </a:stretch>
          </p:blipFill>
          <p:spPr bwMode="auto">
            <a:xfrm>
              <a:off x="5055" y="2949"/>
              <a:ext cx="114" cy="106"/>
            </a:xfrm>
            <a:prstGeom prst="rect">
              <a:avLst/>
            </a:prstGeom>
            <a:noFill/>
            <a:ln w="9525">
              <a:noFill/>
              <a:miter lim="800000"/>
              <a:headEnd/>
              <a:tailEnd/>
            </a:ln>
          </p:spPr>
        </p:pic>
        <p:pic>
          <p:nvPicPr>
            <p:cNvPr id="433214" name="Picture 62"/>
            <p:cNvPicPr>
              <a:picLocks noChangeAspect="1" noChangeArrowheads="1"/>
            </p:cNvPicPr>
            <p:nvPr/>
          </p:nvPicPr>
          <p:blipFill>
            <a:blip r:embed="rId6" cstate="print"/>
            <a:srcRect/>
            <a:stretch>
              <a:fillRect/>
            </a:stretch>
          </p:blipFill>
          <p:spPr bwMode="auto">
            <a:xfrm>
              <a:off x="5055" y="2949"/>
              <a:ext cx="114" cy="106"/>
            </a:xfrm>
            <a:prstGeom prst="rect">
              <a:avLst/>
            </a:prstGeom>
            <a:noFill/>
            <a:ln w="9525">
              <a:noFill/>
              <a:miter lim="800000"/>
              <a:headEnd/>
              <a:tailEnd/>
            </a:ln>
          </p:spPr>
        </p:pic>
        <p:pic>
          <p:nvPicPr>
            <p:cNvPr id="433215" name="Picture 63"/>
            <p:cNvPicPr>
              <a:picLocks noChangeAspect="1" noChangeArrowheads="1"/>
            </p:cNvPicPr>
            <p:nvPr/>
          </p:nvPicPr>
          <p:blipFill>
            <a:blip r:embed="rId5" cstate="print"/>
            <a:srcRect/>
            <a:stretch>
              <a:fillRect/>
            </a:stretch>
          </p:blipFill>
          <p:spPr bwMode="auto">
            <a:xfrm>
              <a:off x="5055" y="2949"/>
              <a:ext cx="114" cy="106"/>
            </a:xfrm>
            <a:prstGeom prst="rect">
              <a:avLst/>
            </a:prstGeom>
            <a:noFill/>
            <a:ln w="9525">
              <a:noFill/>
              <a:miter lim="800000"/>
              <a:headEnd/>
              <a:tailEnd/>
            </a:ln>
          </p:spPr>
        </p:pic>
        <p:pic>
          <p:nvPicPr>
            <p:cNvPr id="433217" name="Picture 65"/>
            <p:cNvPicPr>
              <a:picLocks noChangeAspect="1" noChangeArrowheads="1"/>
            </p:cNvPicPr>
            <p:nvPr/>
          </p:nvPicPr>
          <p:blipFill>
            <a:blip r:embed="rId5" cstate="print"/>
            <a:srcRect/>
            <a:stretch>
              <a:fillRect/>
            </a:stretch>
          </p:blipFill>
          <p:spPr bwMode="auto">
            <a:xfrm>
              <a:off x="5055" y="3062"/>
              <a:ext cx="114" cy="106"/>
            </a:xfrm>
            <a:prstGeom prst="rect">
              <a:avLst/>
            </a:prstGeom>
            <a:noFill/>
            <a:ln w="9525">
              <a:noFill/>
              <a:miter lim="800000"/>
              <a:headEnd/>
              <a:tailEnd/>
            </a:ln>
          </p:spPr>
        </p:pic>
        <p:pic>
          <p:nvPicPr>
            <p:cNvPr id="433218" name="Picture 66"/>
            <p:cNvPicPr>
              <a:picLocks noChangeAspect="1" noChangeArrowheads="1"/>
            </p:cNvPicPr>
            <p:nvPr/>
          </p:nvPicPr>
          <p:blipFill>
            <a:blip r:embed="rId6" cstate="print"/>
            <a:srcRect/>
            <a:stretch>
              <a:fillRect/>
            </a:stretch>
          </p:blipFill>
          <p:spPr bwMode="auto">
            <a:xfrm>
              <a:off x="5055" y="3062"/>
              <a:ext cx="114" cy="106"/>
            </a:xfrm>
            <a:prstGeom prst="rect">
              <a:avLst/>
            </a:prstGeom>
            <a:noFill/>
            <a:ln w="9525">
              <a:noFill/>
              <a:miter lim="800000"/>
              <a:headEnd/>
              <a:tailEnd/>
            </a:ln>
          </p:spPr>
        </p:pic>
        <p:pic>
          <p:nvPicPr>
            <p:cNvPr id="433219" name="Picture 67"/>
            <p:cNvPicPr>
              <a:picLocks noChangeAspect="1" noChangeArrowheads="1"/>
            </p:cNvPicPr>
            <p:nvPr/>
          </p:nvPicPr>
          <p:blipFill>
            <a:blip r:embed="rId5" cstate="print"/>
            <a:srcRect/>
            <a:stretch>
              <a:fillRect/>
            </a:stretch>
          </p:blipFill>
          <p:spPr bwMode="auto">
            <a:xfrm>
              <a:off x="5055" y="3062"/>
              <a:ext cx="114" cy="106"/>
            </a:xfrm>
            <a:prstGeom prst="rect">
              <a:avLst/>
            </a:prstGeom>
            <a:noFill/>
            <a:ln w="9525">
              <a:noFill/>
              <a:miter lim="800000"/>
              <a:headEnd/>
              <a:tailEnd/>
            </a:ln>
          </p:spPr>
        </p:pic>
        <p:sp>
          <p:nvSpPr>
            <p:cNvPr id="433221" name="Line 69"/>
            <p:cNvSpPr>
              <a:spLocks noChangeShapeType="1"/>
            </p:cNvSpPr>
            <p:nvPr/>
          </p:nvSpPr>
          <p:spPr bwMode="auto">
            <a:xfrm flipV="1">
              <a:off x="4388" y="2007"/>
              <a:ext cx="192" cy="439"/>
            </a:xfrm>
            <a:prstGeom prst="line">
              <a:avLst/>
            </a:prstGeom>
            <a:noFill/>
            <a:ln w="0">
              <a:solidFill>
                <a:srgbClr val="990033"/>
              </a:solidFill>
              <a:round/>
              <a:headEnd/>
              <a:tailEnd/>
            </a:ln>
          </p:spPr>
          <p:txBody>
            <a:bodyPr/>
            <a:lstStyle/>
            <a:p>
              <a:endParaRPr lang="en-GB"/>
            </a:p>
          </p:txBody>
        </p:sp>
        <p:sp>
          <p:nvSpPr>
            <p:cNvPr id="433222" name="Freeform 70"/>
            <p:cNvSpPr>
              <a:spLocks/>
            </p:cNvSpPr>
            <p:nvPr/>
          </p:nvSpPr>
          <p:spPr bwMode="auto">
            <a:xfrm>
              <a:off x="4481" y="2007"/>
              <a:ext cx="99" cy="141"/>
            </a:xfrm>
            <a:custGeom>
              <a:avLst/>
              <a:gdLst/>
              <a:ahLst/>
              <a:cxnLst>
                <a:cxn ang="0">
                  <a:pos x="99" y="0"/>
                </a:cxn>
                <a:cxn ang="0">
                  <a:pos x="85" y="141"/>
                </a:cxn>
                <a:cxn ang="0">
                  <a:pos x="0" y="99"/>
                </a:cxn>
                <a:cxn ang="0">
                  <a:pos x="99" y="0"/>
                </a:cxn>
              </a:cxnLst>
              <a:rect l="0" t="0" r="r" b="b"/>
              <a:pathLst>
                <a:path w="99" h="141">
                  <a:moveTo>
                    <a:pt x="99" y="0"/>
                  </a:moveTo>
                  <a:lnTo>
                    <a:pt x="85" y="141"/>
                  </a:lnTo>
                  <a:lnTo>
                    <a:pt x="0" y="99"/>
                  </a:lnTo>
                  <a:lnTo>
                    <a:pt x="99" y="0"/>
                  </a:lnTo>
                  <a:close/>
                </a:path>
              </a:pathLst>
            </a:custGeom>
            <a:solidFill>
              <a:srgbClr val="FFFFFF"/>
            </a:solidFill>
            <a:ln w="0">
              <a:solidFill>
                <a:srgbClr val="990033"/>
              </a:solidFill>
              <a:prstDash val="solid"/>
              <a:round/>
              <a:headEnd/>
              <a:tailEnd/>
            </a:ln>
          </p:spPr>
          <p:txBody>
            <a:bodyPr/>
            <a:lstStyle/>
            <a:p>
              <a:endParaRPr lang="en-GB"/>
            </a:p>
          </p:txBody>
        </p:sp>
        <p:sp>
          <p:nvSpPr>
            <p:cNvPr id="433223" name="Line 71"/>
            <p:cNvSpPr>
              <a:spLocks noChangeShapeType="1"/>
            </p:cNvSpPr>
            <p:nvPr/>
          </p:nvSpPr>
          <p:spPr bwMode="auto">
            <a:xfrm flipH="1" flipV="1">
              <a:off x="4992" y="2007"/>
              <a:ext cx="227" cy="439"/>
            </a:xfrm>
            <a:prstGeom prst="line">
              <a:avLst/>
            </a:prstGeom>
            <a:noFill/>
            <a:ln w="0">
              <a:solidFill>
                <a:srgbClr val="990033"/>
              </a:solidFill>
              <a:round/>
              <a:headEnd/>
              <a:tailEnd/>
            </a:ln>
          </p:spPr>
          <p:txBody>
            <a:bodyPr/>
            <a:lstStyle/>
            <a:p>
              <a:endParaRPr lang="en-GB"/>
            </a:p>
          </p:txBody>
        </p:sp>
        <p:sp>
          <p:nvSpPr>
            <p:cNvPr id="433224" name="Freeform 72"/>
            <p:cNvSpPr>
              <a:spLocks/>
            </p:cNvSpPr>
            <p:nvPr/>
          </p:nvSpPr>
          <p:spPr bwMode="auto">
            <a:xfrm>
              <a:off x="4992" y="2007"/>
              <a:ext cx="106" cy="141"/>
            </a:xfrm>
            <a:custGeom>
              <a:avLst/>
              <a:gdLst/>
              <a:ahLst/>
              <a:cxnLst>
                <a:cxn ang="0">
                  <a:pos x="0" y="0"/>
                </a:cxn>
                <a:cxn ang="0">
                  <a:pos x="106" y="92"/>
                </a:cxn>
                <a:cxn ang="0">
                  <a:pos x="14" y="141"/>
                </a:cxn>
                <a:cxn ang="0">
                  <a:pos x="0" y="0"/>
                </a:cxn>
              </a:cxnLst>
              <a:rect l="0" t="0" r="r" b="b"/>
              <a:pathLst>
                <a:path w="106" h="141">
                  <a:moveTo>
                    <a:pt x="0" y="0"/>
                  </a:moveTo>
                  <a:lnTo>
                    <a:pt x="106" y="92"/>
                  </a:lnTo>
                  <a:lnTo>
                    <a:pt x="14" y="141"/>
                  </a:lnTo>
                  <a:lnTo>
                    <a:pt x="0" y="0"/>
                  </a:lnTo>
                  <a:close/>
                </a:path>
              </a:pathLst>
            </a:custGeom>
            <a:solidFill>
              <a:srgbClr val="FFFFFF"/>
            </a:solidFill>
            <a:ln w="0">
              <a:solidFill>
                <a:srgbClr val="990033"/>
              </a:solidFill>
              <a:prstDash val="solid"/>
              <a:round/>
              <a:headEnd/>
              <a:tailEnd/>
            </a:ln>
          </p:spPr>
          <p:txBody>
            <a:bodyPr/>
            <a:lstStyle/>
            <a:p>
              <a:endParaRPr lang="en-GB"/>
            </a:p>
          </p:txBody>
        </p:sp>
      </p:grpSp>
      <p:grpSp>
        <p:nvGrpSpPr>
          <p:cNvPr id="3" name="Group 73"/>
          <p:cNvGrpSpPr>
            <a:grpSpLocks/>
          </p:cNvGrpSpPr>
          <p:nvPr/>
        </p:nvGrpSpPr>
        <p:grpSpPr bwMode="auto">
          <a:xfrm>
            <a:off x="2871788" y="2590800"/>
            <a:ext cx="5770562" cy="3679825"/>
            <a:chOff x="1776" y="1632"/>
            <a:chExt cx="4122" cy="2318"/>
          </a:xfrm>
        </p:grpSpPr>
        <p:sp>
          <p:nvSpPr>
            <p:cNvPr id="433226" name="Line 74"/>
            <p:cNvSpPr>
              <a:spLocks noChangeShapeType="1"/>
            </p:cNvSpPr>
            <p:nvPr/>
          </p:nvSpPr>
          <p:spPr bwMode="auto">
            <a:xfrm flipH="1" flipV="1">
              <a:off x="1776" y="1728"/>
              <a:ext cx="912" cy="384"/>
            </a:xfrm>
            <a:prstGeom prst="line">
              <a:avLst/>
            </a:prstGeom>
            <a:noFill/>
            <a:ln w="12700">
              <a:solidFill>
                <a:srgbClr val="3366FF"/>
              </a:solidFill>
              <a:round/>
              <a:headEnd/>
              <a:tailEnd type="triangle" w="lg" len="lg"/>
            </a:ln>
            <a:effectLst/>
          </p:spPr>
          <p:txBody>
            <a:bodyPr/>
            <a:lstStyle/>
            <a:p>
              <a:endParaRPr lang="en-GB"/>
            </a:p>
          </p:txBody>
        </p:sp>
        <p:sp>
          <p:nvSpPr>
            <p:cNvPr id="433227" name="Oval 75"/>
            <p:cNvSpPr>
              <a:spLocks noChangeArrowheads="1"/>
            </p:cNvSpPr>
            <p:nvPr/>
          </p:nvSpPr>
          <p:spPr bwMode="auto">
            <a:xfrm>
              <a:off x="2544" y="1920"/>
              <a:ext cx="1536" cy="1248"/>
            </a:xfrm>
            <a:prstGeom prst="ellipse">
              <a:avLst/>
            </a:prstGeom>
            <a:noFill/>
            <a:ln w="12700">
              <a:solidFill>
                <a:srgbClr val="3366FF"/>
              </a:solidFill>
              <a:round/>
              <a:headEnd type="none" w="sm" len="sm"/>
              <a:tailEnd type="none" w="sm" len="sm"/>
            </a:ln>
            <a:effectLst/>
          </p:spPr>
          <p:txBody>
            <a:bodyPr wrap="none" anchor="ctr"/>
            <a:lstStyle/>
            <a:p>
              <a:endParaRPr lang="en-GB"/>
            </a:p>
          </p:txBody>
        </p:sp>
        <p:sp>
          <p:nvSpPr>
            <p:cNvPr id="433228" name="Text Box 76"/>
            <p:cNvSpPr txBox="1">
              <a:spLocks noChangeArrowheads="1"/>
            </p:cNvSpPr>
            <p:nvPr/>
          </p:nvSpPr>
          <p:spPr bwMode="auto">
            <a:xfrm>
              <a:off x="2729" y="2079"/>
              <a:ext cx="1261" cy="828"/>
            </a:xfrm>
            <a:prstGeom prst="rect">
              <a:avLst/>
            </a:prstGeom>
            <a:noFill/>
            <a:ln w="12700">
              <a:noFill/>
              <a:miter lim="800000"/>
              <a:headEnd type="none" w="sm" len="sm"/>
              <a:tailEnd type="none" w="sm" len="sm"/>
            </a:ln>
            <a:effectLst/>
          </p:spPr>
          <p:txBody>
            <a:bodyPr wrap="none">
              <a:spAutoFit/>
            </a:bodyPr>
            <a:lstStyle/>
            <a:p>
              <a:pPr algn="ctr" defTabSz="739775">
                <a:spcBef>
                  <a:spcPct val="0"/>
                </a:spcBef>
              </a:pPr>
              <a:r>
                <a:rPr lang="en-GB" sz="1600" b="1">
                  <a:solidFill>
                    <a:srgbClr val="0000FF"/>
                  </a:solidFill>
                </a:rPr>
                <a:t>You can’t create</a:t>
              </a:r>
            </a:p>
            <a:p>
              <a:pPr algn="ctr" defTabSz="739775">
                <a:spcBef>
                  <a:spcPct val="0"/>
                </a:spcBef>
              </a:pPr>
              <a:r>
                <a:rPr lang="en-GB" sz="1600" b="1">
                  <a:solidFill>
                    <a:srgbClr val="0000FF"/>
                  </a:solidFill>
                </a:rPr>
                <a:t>a mammal, or</a:t>
              </a:r>
            </a:p>
            <a:p>
              <a:pPr algn="ctr" defTabSz="739775">
                <a:spcBef>
                  <a:spcPct val="0"/>
                </a:spcBef>
              </a:pPr>
              <a:r>
                <a:rPr lang="en-GB" sz="1600" b="1">
                  <a:solidFill>
                    <a:srgbClr val="0000FF"/>
                  </a:solidFill>
                </a:rPr>
                <a:t>An Account.</a:t>
              </a:r>
            </a:p>
            <a:p>
              <a:pPr algn="ctr" defTabSz="739775">
                <a:spcBef>
                  <a:spcPct val="0"/>
                </a:spcBef>
              </a:pPr>
              <a:r>
                <a:rPr lang="en-GB" sz="1600" b="1">
                  <a:solidFill>
                    <a:srgbClr val="0000FF"/>
                  </a:solidFill>
                </a:rPr>
                <a:t>They are </a:t>
              </a:r>
            </a:p>
            <a:p>
              <a:pPr algn="ctr" defTabSz="739775">
                <a:spcBef>
                  <a:spcPct val="0"/>
                </a:spcBef>
              </a:pPr>
              <a:r>
                <a:rPr lang="en-GB" sz="1600" b="1">
                  <a:solidFill>
                    <a:srgbClr val="0000FF"/>
                  </a:solidFill>
                </a:rPr>
                <a:t>abstract classes</a:t>
              </a:r>
              <a:endParaRPr lang="en-US" sz="1600" b="1">
                <a:solidFill>
                  <a:srgbClr val="0000FF"/>
                </a:solidFill>
              </a:endParaRPr>
            </a:p>
          </p:txBody>
        </p:sp>
        <p:sp>
          <p:nvSpPr>
            <p:cNvPr id="433229" name="Line 77"/>
            <p:cNvSpPr>
              <a:spLocks noChangeShapeType="1"/>
            </p:cNvSpPr>
            <p:nvPr/>
          </p:nvSpPr>
          <p:spPr bwMode="auto">
            <a:xfrm flipV="1">
              <a:off x="3744" y="1632"/>
              <a:ext cx="576" cy="384"/>
            </a:xfrm>
            <a:prstGeom prst="line">
              <a:avLst/>
            </a:prstGeom>
            <a:noFill/>
            <a:ln w="12700">
              <a:solidFill>
                <a:srgbClr val="3366FF"/>
              </a:solidFill>
              <a:round/>
              <a:headEnd type="none" w="sm" len="sm"/>
              <a:tailEnd type="triangle" w="lg" len="lg"/>
            </a:ln>
            <a:effectLst/>
          </p:spPr>
          <p:txBody>
            <a:bodyPr/>
            <a:lstStyle/>
            <a:p>
              <a:endParaRPr lang="en-GB"/>
            </a:p>
          </p:txBody>
        </p:sp>
        <p:sp>
          <p:nvSpPr>
            <p:cNvPr id="433230" name="Text Box 78"/>
            <p:cNvSpPr txBox="1">
              <a:spLocks noChangeArrowheads="1"/>
            </p:cNvSpPr>
            <p:nvPr/>
          </p:nvSpPr>
          <p:spPr bwMode="auto">
            <a:xfrm>
              <a:off x="5702" y="3719"/>
              <a:ext cx="196" cy="231"/>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x</a:t>
              </a:r>
              <a:endParaRPr lang="en-US" sz="1800"/>
            </a:p>
          </p:txBody>
        </p:sp>
      </p:grpSp>
      <p:sp>
        <p:nvSpPr>
          <p:cNvPr id="433231" name="Oval 79"/>
          <p:cNvSpPr>
            <a:spLocks noChangeArrowheads="1"/>
          </p:cNvSpPr>
          <p:nvPr/>
        </p:nvSpPr>
        <p:spPr bwMode="auto">
          <a:xfrm>
            <a:off x="8370888" y="5943600"/>
            <a:ext cx="211137" cy="304800"/>
          </a:xfrm>
          <a:prstGeom prst="ellipse">
            <a:avLst/>
          </a:prstGeom>
          <a:noFill/>
          <a:ln w="12700">
            <a:solidFill>
              <a:schemeClr val="tx1"/>
            </a:solidFill>
            <a:round/>
            <a:headEnd type="none" w="sm" len="sm"/>
            <a:tailEnd type="none" w="sm" len="sm"/>
          </a:ln>
          <a:effectLst/>
        </p:spPr>
        <p:txBody>
          <a:bodyPr wrap="none" anchor="ctr"/>
          <a:lstStyle/>
          <a:p>
            <a:pPr algn="ctr" defTabSz="739775">
              <a:spcBef>
                <a:spcPct val="0"/>
              </a:spcBef>
            </a:pPr>
            <a:endParaRPr lang="en-US" sz="1800"/>
          </a:p>
        </p:txBody>
      </p:sp>
      <p:sp>
        <p:nvSpPr>
          <p:cNvPr id="433232" name="Rectangle 80"/>
          <p:cNvSpPr>
            <a:spLocks noChangeArrowheads="1"/>
          </p:cNvSpPr>
          <p:nvPr/>
        </p:nvSpPr>
        <p:spPr bwMode="auto">
          <a:xfrm>
            <a:off x="962025" y="2552700"/>
            <a:ext cx="1898650" cy="533400"/>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US" sz="1800"/>
          </a:p>
        </p:txBody>
      </p:sp>
      <p:sp>
        <p:nvSpPr>
          <p:cNvPr id="433233" name="Text Box 81"/>
          <p:cNvSpPr txBox="1">
            <a:spLocks noChangeArrowheads="1"/>
          </p:cNvSpPr>
          <p:nvPr/>
        </p:nvSpPr>
        <p:spPr bwMode="auto">
          <a:xfrm>
            <a:off x="1368425" y="2589213"/>
            <a:ext cx="1139825" cy="366712"/>
          </a:xfrm>
          <a:prstGeom prst="rect">
            <a:avLst/>
          </a:prstGeom>
          <a:noFill/>
          <a:ln w="12700">
            <a:noFill/>
            <a:miter lim="800000"/>
            <a:headEnd type="none" w="sm" len="sm"/>
            <a:tailEnd type="none" w="sm" len="sm"/>
          </a:ln>
          <a:effectLst/>
        </p:spPr>
        <p:txBody>
          <a:bodyPr>
            <a:spAutoFit/>
          </a:bodyPr>
          <a:lstStyle/>
          <a:p>
            <a:pPr defTabSz="739775">
              <a:spcBef>
                <a:spcPct val="0"/>
              </a:spcBef>
            </a:pPr>
            <a:r>
              <a:rPr lang="en-GB" sz="1800" i="1"/>
              <a:t>Mammal</a:t>
            </a:r>
            <a:endParaRPr lang="en-US" sz="1800" i="1"/>
          </a:p>
        </p:txBody>
      </p:sp>
      <p:sp>
        <p:nvSpPr>
          <p:cNvPr id="433234" name="Rectangle 82"/>
          <p:cNvSpPr>
            <a:spLocks noChangeArrowheads="1"/>
          </p:cNvSpPr>
          <p:nvPr/>
        </p:nvSpPr>
        <p:spPr bwMode="auto">
          <a:xfrm>
            <a:off x="976313" y="4649788"/>
            <a:ext cx="1898650" cy="533400"/>
          </a:xfrm>
          <a:prstGeom prst="rect">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US" sz="1800"/>
          </a:p>
        </p:txBody>
      </p:sp>
      <p:sp>
        <p:nvSpPr>
          <p:cNvPr id="433235" name="Text Box 83"/>
          <p:cNvSpPr txBox="1">
            <a:spLocks noChangeArrowheads="1"/>
          </p:cNvSpPr>
          <p:nvPr/>
        </p:nvSpPr>
        <p:spPr bwMode="auto">
          <a:xfrm>
            <a:off x="1600200" y="4686300"/>
            <a:ext cx="557213" cy="366713"/>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t>Dog</a:t>
            </a:r>
            <a:endParaRPr lang="en-US" sz="1800"/>
          </a:p>
        </p:txBody>
      </p:sp>
      <p:sp>
        <p:nvSpPr>
          <p:cNvPr id="433236" name="AutoShape 84"/>
          <p:cNvSpPr>
            <a:spLocks noChangeArrowheads="1"/>
          </p:cNvSpPr>
          <p:nvPr/>
        </p:nvSpPr>
        <p:spPr bwMode="auto">
          <a:xfrm>
            <a:off x="1735138" y="3086100"/>
            <a:ext cx="280987" cy="381000"/>
          </a:xfrm>
          <a:prstGeom prst="triangle">
            <a:avLst>
              <a:gd name="adj" fmla="val 50000"/>
            </a:avLst>
          </a:prstGeom>
          <a:noFill/>
          <a:ln w="12700">
            <a:solidFill>
              <a:schemeClr val="tx1"/>
            </a:solidFill>
            <a:miter lim="800000"/>
            <a:headEnd type="none" w="sm" len="sm"/>
            <a:tailEnd type="none" w="sm" len="sm"/>
          </a:ln>
          <a:effectLst/>
        </p:spPr>
        <p:txBody>
          <a:bodyPr wrap="none" anchor="ctr"/>
          <a:lstStyle/>
          <a:p>
            <a:pPr algn="ctr" defTabSz="739775">
              <a:spcBef>
                <a:spcPct val="0"/>
              </a:spcBef>
            </a:pPr>
            <a:endParaRPr lang="en-US" sz="1800"/>
          </a:p>
        </p:txBody>
      </p:sp>
      <p:sp>
        <p:nvSpPr>
          <p:cNvPr id="433237" name="Line 85"/>
          <p:cNvSpPr>
            <a:spLocks noChangeShapeType="1"/>
          </p:cNvSpPr>
          <p:nvPr/>
        </p:nvSpPr>
        <p:spPr bwMode="auto">
          <a:xfrm>
            <a:off x="1876425" y="3467100"/>
            <a:ext cx="0" cy="1143000"/>
          </a:xfrm>
          <a:prstGeom prst="line">
            <a:avLst/>
          </a:prstGeom>
          <a:noFill/>
          <a:ln w="12700">
            <a:solidFill>
              <a:schemeClr val="tx1"/>
            </a:solidFill>
            <a:round/>
            <a:headEnd type="none" w="sm" len="sm"/>
            <a:tailEnd type="none" w="sm" len="sm"/>
          </a:ln>
          <a:effectLst/>
        </p:spPr>
        <p:txBody>
          <a:bodyPr/>
          <a:lstStyle/>
          <a:p>
            <a:endParaRPr lang="en-GB"/>
          </a:p>
        </p:txBody>
      </p:sp>
      <p:sp>
        <p:nvSpPr>
          <p:cNvPr id="433238" name="Rectangle 86"/>
          <p:cNvSpPr>
            <a:spLocks noChangeArrowheads="1"/>
          </p:cNvSpPr>
          <p:nvPr/>
        </p:nvSpPr>
        <p:spPr bwMode="auto">
          <a:xfrm>
            <a:off x="23813" y="4038600"/>
            <a:ext cx="1406525" cy="304800"/>
          </a:xfrm>
          <a:prstGeom prst="rect">
            <a:avLst/>
          </a:prstGeom>
          <a:noFill/>
          <a:ln w="9525">
            <a:noFill/>
            <a:miter lim="800000"/>
            <a:headEnd/>
            <a:tailEnd/>
          </a:ln>
          <a:effectLst/>
        </p:spPr>
        <p:txBody>
          <a:bodyPr lIns="92075" tIns="46038" rIns="92075" bIns="46038">
            <a:spAutoFit/>
          </a:bodyPr>
          <a:lstStyle/>
          <a:p>
            <a:pPr algn="ctr" defTabSz="739775">
              <a:spcBef>
                <a:spcPct val="0"/>
              </a:spcBef>
            </a:pPr>
            <a:r>
              <a:rPr lang="en-GB" sz="1400" b="1" i="1">
                <a:solidFill>
                  <a:srgbClr val="000066"/>
                </a:solidFill>
              </a:rPr>
              <a:t>specialisation</a:t>
            </a:r>
          </a:p>
        </p:txBody>
      </p:sp>
      <p:sp>
        <p:nvSpPr>
          <p:cNvPr id="433239" name="Rectangle 87"/>
          <p:cNvSpPr>
            <a:spLocks noChangeArrowheads="1"/>
          </p:cNvSpPr>
          <p:nvPr/>
        </p:nvSpPr>
        <p:spPr bwMode="auto">
          <a:xfrm>
            <a:off x="23813" y="3200400"/>
            <a:ext cx="1406525" cy="304800"/>
          </a:xfrm>
          <a:prstGeom prst="rect">
            <a:avLst/>
          </a:prstGeom>
          <a:noFill/>
          <a:ln w="9525">
            <a:noFill/>
            <a:miter lim="800000"/>
            <a:headEnd/>
            <a:tailEnd/>
          </a:ln>
          <a:effectLst/>
        </p:spPr>
        <p:txBody>
          <a:bodyPr lIns="92075" tIns="46038" rIns="92075" bIns="46038">
            <a:spAutoFit/>
          </a:bodyPr>
          <a:lstStyle/>
          <a:p>
            <a:pPr algn="ctr" defTabSz="739775">
              <a:spcBef>
                <a:spcPct val="0"/>
              </a:spcBef>
            </a:pPr>
            <a:r>
              <a:rPr lang="en-GB" sz="1400" b="1" i="1">
                <a:solidFill>
                  <a:srgbClr val="000066"/>
                </a:solidFill>
              </a:rPr>
              <a:t>generalisation</a:t>
            </a:r>
          </a:p>
        </p:txBody>
      </p:sp>
      <p:sp>
        <p:nvSpPr>
          <p:cNvPr id="433240" name="Line 88"/>
          <p:cNvSpPr>
            <a:spLocks noChangeShapeType="1"/>
          </p:cNvSpPr>
          <p:nvPr/>
        </p:nvSpPr>
        <p:spPr bwMode="auto">
          <a:xfrm>
            <a:off x="727075" y="4419600"/>
            <a:ext cx="0" cy="685800"/>
          </a:xfrm>
          <a:prstGeom prst="line">
            <a:avLst/>
          </a:prstGeom>
          <a:noFill/>
          <a:ln w="57150">
            <a:solidFill>
              <a:srgbClr val="CC3300"/>
            </a:solidFill>
            <a:round/>
            <a:headEnd type="none" w="sm" len="sm"/>
            <a:tailEnd type="triangle" w="med" len="med"/>
          </a:ln>
          <a:effectLst/>
        </p:spPr>
        <p:txBody>
          <a:bodyPr wrap="none" anchor="ctr"/>
          <a:lstStyle/>
          <a:p>
            <a:endParaRPr lang="en-GB"/>
          </a:p>
        </p:txBody>
      </p:sp>
      <p:sp>
        <p:nvSpPr>
          <p:cNvPr id="433241" name="Line 89"/>
          <p:cNvSpPr>
            <a:spLocks noChangeShapeType="1"/>
          </p:cNvSpPr>
          <p:nvPr/>
        </p:nvSpPr>
        <p:spPr bwMode="auto">
          <a:xfrm flipV="1">
            <a:off x="727075" y="2514600"/>
            <a:ext cx="0" cy="685800"/>
          </a:xfrm>
          <a:prstGeom prst="line">
            <a:avLst/>
          </a:prstGeom>
          <a:noFill/>
          <a:ln w="57150">
            <a:solidFill>
              <a:srgbClr val="CC3300"/>
            </a:solidFill>
            <a:round/>
            <a:headEnd type="none" w="sm" len="sm"/>
            <a:tailEnd type="triangle" w="med" len="med"/>
          </a:ln>
          <a:effectLst/>
        </p:spPr>
        <p:txBody>
          <a:bodyPr wrap="none" anchor="ctr"/>
          <a:lstStyle/>
          <a:p>
            <a:endParaRPr lang="en-GB"/>
          </a:p>
        </p:txBody>
      </p:sp>
      <p:sp>
        <p:nvSpPr>
          <p:cNvPr id="90" name="Rectangle 23"/>
          <p:cNvSpPr>
            <a:spLocks noChangeArrowheads="1"/>
          </p:cNvSpPr>
          <p:nvPr/>
        </p:nvSpPr>
        <p:spPr bwMode="auto">
          <a:xfrm>
            <a:off x="6176738" y="4898119"/>
            <a:ext cx="794672"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91" name="Rectangle 27"/>
          <p:cNvSpPr>
            <a:spLocks noChangeArrowheads="1"/>
          </p:cNvSpPr>
          <p:nvPr/>
        </p:nvSpPr>
        <p:spPr bwMode="auto">
          <a:xfrm>
            <a:off x="6176738" y="5077506"/>
            <a:ext cx="665945"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92" name="Rectangle 31"/>
          <p:cNvSpPr>
            <a:spLocks noChangeArrowheads="1"/>
          </p:cNvSpPr>
          <p:nvPr/>
        </p:nvSpPr>
        <p:spPr bwMode="auto">
          <a:xfrm>
            <a:off x="6176738" y="5258481"/>
            <a:ext cx="950860"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93" name="Rectangle 35"/>
          <p:cNvSpPr>
            <a:spLocks noChangeArrowheads="1"/>
          </p:cNvSpPr>
          <p:nvPr/>
        </p:nvSpPr>
        <p:spPr bwMode="auto">
          <a:xfrm>
            <a:off x="6176738" y="5437869"/>
            <a:ext cx="528637"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94" name="Rectangle 23"/>
          <p:cNvSpPr>
            <a:spLocks noChangeArrowheads="1"/>
          </p:cNvSpPr>
          <p:nvPr/>
        </p:nvSpPr>
        <p:spPr bwMode="auto">
          <a:xfrm>
            <a:off x="7892143" y="4915353"/>
            <a:ext cx="794672"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95" name="Rectangle 27"/>
          <p:cNvSpPr>
            <a:spLocks noChangeArrowheads="1"/>
          </p:cNvSpPr>
          <p:nvPr/>
        </p:nvSpPr>
        <p:spPr bwMode="auto">
          <a:xfrm>
            <a:off x="7892143" y="5094740"/>
            <a:ext cx="665945"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96" name="Rectangle 31"/>
          <p:cNvSpPr>
            <a:spLocks noChangeArrowheads="1"/>
          </p:cNvSpPr>
          <p:nvPr/>
        </p:nvSpPr>
        <p:spPr bwMode="auto">
          <a:xfrm>
            <a:off x="7892143" y="5275715"/>
            <a:ext cx="950860"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97" name="Rectangle 35"/>
          <p:cNvSpPr>
            <a:spLocks noChangeArrowheads="1"/>
          </p:cNvSpPr>
          <p:nvPr/>
        </p:nvSpPr>
        <p:spPr bwMode="auto">
          <a:xfrm>
            <a:off x="7892143" y="5455103"/>
            <a:ext cx="528637"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98" name="Rectangle 23"/>
          <p:cNvSpPr>
            <a:spLocks noChangeArrowheads="1"/>
          </p:cNvSpPr>
          <p:nvPr/>
        </p:nvSpPr>
        <p:spPr bwMode="auto">
          <a:xfrm>
            <a:off x="6917192" y="2987221"/>
            <a:ext cx="794672"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99" name="Rectangle 27"/>
          <p:cNvSpPr>
            <a:spLocks noChangeArrowheads="1"/>
          </p:cNvSpPr>
          <p:nvPr/>
        </p:nvSpPr>
        <p:spPr bwMode="auto">
          <a:xfrm>
            <a:off x="6917192" y="3166608"/>
            <a:ext cx="665945"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100" name="Rectangle 31"/>
          <p:cNvSpPr>
            <a:spLocks noChangeArrowheads="1"/>
          </p:cNvSpPr>
          <p:nvPr/>
        </p:nvSpPr>
        <p:spPr bwMode="auto">
          <a:xfrm>
            <a:off x="6917192" y="3347583"/>
            <a:ext cx="950860"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101" name="Rectangle 35"/>
          <p:cNvSpPr>
            <a:spLocks noChangeArrowheads="1"/>
          </p:cNvSpPr>
          <p:nvPr/>
        </p:nvSpPr>
        <p:spPr bwMode="auto">
          <a:xfrm>
            <a:off x="6917192" y="3526971"/>
            <a:ext cx="528637"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Tree>
    <p:extLst>
      <p:ext uri="{BB962C8B-B14F-4D97-AF65-F5344CB8AC3E}">
        <p14:creationId xmlns:p14="http://schemas.microsoft.com/office/powerpoint/2010/main" val="3230417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lang="en-GB"/>
          </a:p>
        </p:txBody>
      </p:sp>
      <p:sp>
        <p:nvSpPr>
          <p:cNvPr id="435202" name="Rectangle 2"/>
          <p:cNvSpPr>
            <a:spLocks noGrp="1" noChangeArrowheads="1"/>
          </p:cNvSpPr>
          <p:nvPr>
            <p:ph type="title"/>
          </p:nvPr>
        </p:nvSpPr>
        <p:spPr/>
        <p:txBody>
          <a:bodyPr/>
          <a:lstStyle/>
          <a:p>
            <a:r>
              <a:rPr lang="en-GB"/>
              <a:t>What’s the Difference ?</a:t>
            </a:r>
          </a:p>
        </p:txBody>
      </p:sp>
      <p:grpSp>
        <p:nvGrpSpPr>
          <p:cNvPr id="2" name="Group 3"/>
          <p:cNvGrpSpPr>
            <a:grpSpLocks/>
          </p:cNvGrpSpPr>
          <p:nvPr/>
        </p:nvGrpSpPr>
        <p:grpSpPr bwMode="auto">
          <a:xfrm>
            <a:off x="5368925" y="1308100"/>
            <a:ext cx="2851150" cy="3306763"/>
            <a:chOff x="3863" y="1128"/>
            <a:chExt cx="1945" cy="2083"/>
          </a:xfrm>
        </p:grpSpPr>
        <p:sp>
          <p:nvSpPr>
            <p:cNvPr id="435204" name="Rectangle 4"/>
            <p:cNvSpPr>
              <a:spLocks noChangeArrowheads="1"/>
            </p:cNvSpPr>
            <p:nvPr/>
          </p:nvSpPr>
          <p:spPr bwMode="auto">
            <a:xfrm>
              <a:off x="4367" y="1128"/>
              <a:ext cx="802" cy="879"/>
            </a:xfrm>
            <a:prstGeom prst="rect">
              <a:avLst/>
            </a:prstGeom>
            <a:solidFill>
              <a:srgbClr val="FFFFCC"/>
            </a:solidFill>
            <a:ln w="0">
              <a:solidFill>
                <a:srgbClr val="990033"/>
              </a:solidFill>
              <a:miter lim="800000"/>
              <a:headEnd/>
              <a:tailEnd/>
            </a:ln>
          </p:spPr>
          <p:txBody>
            <a:bodyPr/>
            <a:lstStyle/>
            <a:p>
              <a:endParaRPr lang="en-GB"/>
            </a:p>
          </p:txBody>
        </p:sp>
        <p:sp>
          <p:nvSpPr>
            <p:cNvPr id="435205" name="Rectangle 5"/>
            <p:cNvSpPr>
              <a:spLocks noChangeArrowheads="1"/>
            </p:cNvSpPr>
            <p:nvPr/>
          </p:nvSpPr>
          <p:spPr bwMode="auto">
            <a:xfrm>
              <a:off x="4601" y="1157"/>
              <a:ext cx="346" cy="115"/>
            </a:xfrm>
            <a:prstGeom prst="rect">
              <a:avLst/>
            </a:prstGeom>
            <a:noFill/>
            <a:ln w="9525">
              <a:noFill/>
              <a:miter lim="800000"/>
              <a:headEnd/>
              <a:tailEnd/>
            </a:ln>
          </p:spPr>
          <p:txBody>
            <a:bodyPr wrap="none" lIns="0" tIns="0" rIns="0" bIns="0">
              <a:spAutoFit/>
            </a:bodyPr>
            <a:lstStyle/>
            <a:p>
              <a:pPr defTabSz="739775">
                <a:spcBef>
                  <a:spcPct val="0"/>
                </a:spcBef>
              </a:pPr>
              <a:r>
                <a:rPr lang="en-GB" sz="1200" i="1">
                  <a:solidFill>
                    <a:srgbClr val="000000"/>
                  </a:solidFill>
                </a:rPr>
                <a:t>Account</a:t>
              </a:r>
              <a:endParaRPr lang="en-GB" sz="1800" b="1" i="1"/>
            </a:p>
          </p:txBody>
        </p:sp>
        <p:sp>
          <p:nvSpPr>
            <p:cNvPr id="435206" name="Rectangle 6"/>
            <p:cNvSpPr>
              <a:spLocks noChangeArrowheads="1"/>
            </p:cNvSpPr>
            <p:nvPr/>
          </p:nvSpPr>
          <p:spPr bwMode="auto">
            <a:xfrm>
              <a:off x="4367" y="1277"/>
              <a:ext cx="802" cy="730"/>
            </a:xfrm>
            <a:prstGeom prst="rect">
              <a:avLst/>
            </a:prstGeom>
            <a:noFill/>
            <a:ln w="0">
              <a:solidFill>
                <a:srgbClr val="990033"/>
              </a:solidFill>
              <a:miter lim="800000"/>
              <a:headEnd/>
              <a:tailEnd/>
            </a:ln>
          </p:spPr>
          <p:txBody>
            <a:bodyPr/>
            <a:lstStyle/>
            <a:p>
              <a:endParaRPr lang="en-GB"/>
            </a:p>
          </p:txBody>
        </p:sp>
        <p:sp>
          <p:nvSpPr>
            <p:cNvPr id="435207" name="Rectangle 7"/>
            <p:cNvSpPr>
              <a:spLocks noChangeArrowheads="1"/>
            </p:cNvSpPr>
            <p:nvPr/>
          </p:nvSpPr>
          <p:spPr bwMode="auto">
            <a:xfrm>
              <a:off x="4367" y="1447"/>
              <a:ext cx="802" cy="560"/>
            </a:xfrm>
            <a:prstGeom prst="rect">
              <a:avLst/>
            </a:prstGeom>
            <a:noFill/>
            <a:ln w="0">
              <a:solidFill>
                <a:srgbClr val="990033"/>
              </a:solidFill>
              <a:miter lim="800000"/>
              <a:headEnd/>
              <a:tailEnd/>
            </a:ln>
          </p:spPr>
          <p:txBody>
            <a:bodyPr/>
            <a:lstStyle/>
            <a:p>
              <a:endParaRPr lang="en-GB"/>
            </a:p>
          </p:txBody>
        </p:sp>
        <p:pic>
          <p:nvPicPr>
            <p:cNvPr id="435208" name="Picture 8"/>
            <p:cNvPicPr>
              <a:picLocks noChangeAspect="1" noChangeArrowheads="1"/>
            </p:cNvPicPr>
            <p:nvPr/>
          </p:nvPicPr>
          <p:blipFill>
            <a:blip r:embed="rId3" cstate="print"/>
            <a:srcRect/>
            <a:stretch>
              <a:fillRect/>
            </a:stretch>
          </p:blipFill>
          <p:spPr bwMode="auto">
            <a:xfrm>
              <a:off x="4388" y="1291"/>
              <a:ext cx="114" cy="106"/>
            </a:xfrm>
            <a:prstGeom prst="rect">
              <a:avLst/>
            </a:prstGeom>
            <a:noFill/>
            <a:ln w="9525">
              <a:noFill/>
              <a:miter lim="800000"/>
              <a:headEnd/>
              <a:tailEnd/>
            </a:ln>
          </p:spPr>
        </p:pic>
        <p:pic>
          <p:nvPicPr>
            <p:cNvPr id="435209" name="Picture 9"/>
            <p:cNvPicPr>
              <a:picLocks noChangeAspect="1" noChangeArrowheads="1"/>
            </p:cNvPicPr>
            <p:nvPr/>
          </p:nvPicPr>
          <p:blipFill>
            <a:blip r:embed="rId4" cstate="print"/>
            <a:srcRect/>
            <a:stretch>
              <a:fillRect/>
            </a:stretch>
          </p:blipFill>
          <p:spPr bwMode="auto">
            <a:xfrm>
              <a:off x="4388" y="1291"/>
              <a:ext cx="114" cy="106"/>
            </a:xfrm>
            <a:prstGeom prst="rect">
              <a:avLst/>
            </a:prstGeom>
            <a:noFill/>
            <a:ln w="9525">
              <a:noFill/>
              <a:miter lim="800000"/>
              <a:headEnd/>
              <a:tailEnd/>
            </a:ln>
          </p:spPr>
        </p:pic>
        <p:pic>
          <p:nvPicPr>
            <p:cNvPr id="435210" name="Picture 10"/>
            <p:cNvPicPr>
              <a:picLocks noChangeAspect="1" noChangeArrowheads="1"/>
            </p:cNvPicPr>
            <p:nvPr/>
          </p:nvPicPr>
          <p:blipFill>
            <a:blip r:embed="rId3" cstate="print"/>
            <a:srcRect/>
            <a:stretch>
              <a:fillRect/>
            </a:stretch>
          </p:blipFill>
          <p:spPr bwMode="auto">
            <a:xfrm>
              <a:off x="4388" y="1291"/>
              <a:ext cx="114" cy="106"/>
            </a:xfrm>
            <a:prstGeom prst="rect">
              <a:avLst/>
            </a:prstGeom>
            <a:noFill/>
            <a:ln w="9525">
              <a:noFill/>
              <a:miter lim="800000"/>
              <a:headEnd/>
              <a:tailEnd/>
            </a:ln>
          </p:spPr>
        </p:pic>
        <p:sp>
          <p:nvSpPr>
            <p:cNvPr id="435211" name="Rectangle 11"/>
            <p:cNvSpPr>
              <a:spLocks noChangeArrowheads="1"/>
            </p:cNvSpPr>
            <p:nvPr/>
          </p:nvSpPr>
          <p:spPr bwMode="auto">
            <a:xfrm>
              <a:off x="4502" y="1291"/>
              <a:ext cx="675" cy="115"/>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accountNumber</a:t>
              </a:r>
              <a:endParaRPr lang="en-GB" sz="1800" b="1"/>
            </a:p>
          </p:txBody>
        </p:sp>
        <p:pic>
          <p:nvPicPr>
            <p:cNvPr id="435212" name="Picture 12"/>
            <p:cNvPicPr>
              <a:picLocks noChangeAspect="1" noChangeArrowheads="1"/>
            </p:cNvPicPr>
            <p:nvPr/>
          </p:nvPicPr>
          <p:blipFill>
            <a:blip r:embed="rId5" cstate="print"/>
            <a:srcRect/>
            <a:stretch>
              <a:fillRect/>
            </a:stretch>
          </p:blipFill>
          <p:spPr bwMode="auto">
            <a:xfrm>
              <a:off x="4388" y="1518"/>
              <a:ext cx="114" cy="106"/>
            </a:xfrm>
            <a:prstGeom prst="rect">
              <a:avLst/>
            </a:prstGeom>
            <a:noFill/>
            <a:ln w="9525">
              <a:noFill/>
              <a:miter lim="800000"/>
              <a:headEnd/>
              <a:tailEnd/>
            </a:ln>
          </p:spPr>
        </p:pic>
        <p:pic>
          <p:nvPicPr>
            <p:cNvPr id="435213" name="Picture 13"/>
            <p:cNvPicPr>
              <a:picLocks noChangeAspect="1" noChangeArrowheads="1"/>
            </p:cNvPicPr>
            <p:nvPr/>
          </p:nvPicPr>
          <p:blipFill>
            <a:blip r:embed="rId6" cstate="print"/>
            <a:srcRect/>
            <a:stretch>
              <a:fillRect/>
            </a:stretch>
          </p:blipFill>
          <p:spPr bwMode="auto">
            <a:xfrm>
              <a:off x="4388" y="1518"/>
              <a:ext cx="114" cy="106"/>
            </a:xfrm>
            <a:prstGeom prst="rect">
              <a:avLst/>
            </a:prstGeom>
            <a:noFill/>
            <a:ln w="9525">
              <a:noFill/>
              <a:miter lim="800000"/>
              <a:headEnd/>
              <a:tailEnd/>
            </a:ln>
          </p:spPr>
        </p:pic>
        <p:pic>
          <p:nvPicPr>
            <p:cNvPr id="435214" name="Picture 14"/>
            <p:cNvPicPr>
              <a:picLocks noChangeAspect="1" noChangeArrowheads="1"/>
            </p:cNvPicPr>
            <p:nvPr/>
          </p:nvPicPr>
          <p:blipFill>
            <a:blip r:embed="rId5" cstate="print"/>
            <a:srcRect/>
            <a:stretch>
              <a:fillRect/>
            </a:stretch>
          </p:blipFill>
          <p:spPr bwMode="auto">
            <a:xfrm>
              <a:off x="4388" y="1518"/>
              <a:ext cx="114" cy="106"/>
            </a:xfrm>
            <a:prstGeom prst="rect">
              <a:avLst/>
            </a:prstGeom>
            <a:noFill/>
            <a:ln w="9525">
              <a:noFill/>
              <a:miter lim="800000"/>
              <a:headEnd/>
              <a:tailEnd/>
            </a:ln>
          </p:spPr>
        </p:pic>
        <p:pic>
          <p:nvPicPr>
            <p:cNvPr id="435216" name="Picture 16"/>
            <p:cNvPicPr>
              <a:picLocks noChangeAspect="1" noChangeArrowheads="1"/>
            </p:cNvPicPr>
            <p:nvPr/>
          </p:nvPicPr>
          <p:blipFill>
            <a:blip r:embed="rId5" cstate="print"/>
            <a:srcRect/>
            <a:stretch>
              <a:fillRect/>
            </a:stretch>
          </p:blipFill>
          <p:spPr bwMode="auto">
            <a:xfrm>
              <a:off x="4388" y="1631"/>
              <a:ext cx="114" cy="106"/>
            </a:xfrm>
            <a:prstGeom prst="rect">
              <a:avLst/>
            </a:prstGeom>
            <a:noFill/>
            <a:ln w="9525">
              <a:noFill/>
              <a:miter lim="800000"/>
              <a:headEnd/>
              <a:tailEnd/>
            </a:ln>
          </p:spPr>
        </p:pic>
        <p:pic>
          <p:nvPicPr>
            <p:cNvPr id="435217" name="Picture 17"/>
            <p:cNvPicPr>
              <a:picLocks noChangeAspect="1" noChangeArrowheads="1"/>
            </p:cNvPicPr>
            <p:nvPr/>
          </p:nvPicPr>
          <p:blipFill>
            <a:blip r:embed="rId6" cstate="print"/>
            <a:srcRect/>
            <a:stretch>
              <a:fillRect/>
            </a:stretch>
          </p:blipFill>
          <p:spPr bwMode="auto">
            <a:xfrm>
              <a:off x="4388" y="1631"/>
              <a:ext cx="114" cy="106"/>
            </a:xfrm>
            <a:prstGeom prst="rect">
              <a:avLst/>
            </a:prstGeom>
            <a:noFill/>
            <a:ln w="9525">
              <a:noFill/>
              <a:miter lim="800000"/>
              <a:headEnd/>
              <a:tailEnd/>
            </a:ln>
          </p:spPr>
        </p:pic>
        <p:pic>
          <p:nvPicPr>
            <p:cNvPr id="435218" name="Picture 18"/>
            <p:cNvPicPr>
              <a:picLocks noChangeAspect="1" noChangeArrowheads="1"/>
            </p:cNvPicPr>
            <p:nvPr/>
          </p:nvPicPr>
          <p:blipFill>
            <a:blip r:embed="rId5" cstate="print"/>
            <a:srcRect/>
            <a:stretch>
              <a:fillRect/>
            </a:stretch>
          </p:blipFill>
          <p:spPr bwMode="auto">
            <a:xfrm>
              <a:off x="4388" y="1631"/>
              <a:ext cx="114" cy="106"/>
            </a:xfrm>
            <a:prstGeom prst="rect">
              <a:avLst/>
            </a:prstGeom>
            <a:noFill/>
            <a:ln w="9525">
              <a:noFill/>
              <a:miter lim="800000"/>
              <a:headEnd/>
              <a:tailEnd/>
            </a:ln>
          </p:spPr>
        </p:pic>
        <p:pic>
          <p:nvPicPr>
            <p:cNvPr id="435220" name="Picture 20"/>
            <p:cNvPicPr>
              <a:picLocks noChangeAspect="1" noChangeArrowheads="1"/>
            </p:cNvPicPr>
            <p:nvPr/>
          </p:nvPicPr>
          <p:blipFill>
            <a:blip r:embed="rId5" cstate="print"/>
            <a:srcRect/>
            <a:stretch>
              <a:fillRect/>
            </a:stretch>
          </p:blipFill>
          <p:spPr bwMode="auto">
            <a:xfrm>
              <a:off x="4388" y="1744"/>
              <a:ext cx="114" cy="107"/>
            </a:xfrm>
            <a:prstGeom prst="rect">
              <a:avLst/>
            </a:prstGeom>
            <a:noFill/>
            <a:ln w="9525">
              <a:noFill/>
              <a:miter lim="800000"/>
              <a:headEnd/>
              <a:tailEnd/>
            </a:ln>
          </p:spPr>
        </p:pic>
        <p:pic>
          <p:nvPicPr>
            <p:cNvPr id="435221" name="Picture 21"/>
            <p:cNvPicPr>
              <a:picLocks noChangeAspect="1" noChangeArrowheads="1"/>
            </p:cNvPicPr>
            <p:nvPr/>
          </p:nvPicPr>
          <p:blipFill>
            <a:blip r:embed="rId6" cstate="print"/>
            <a:srcRect/>
            <a:stretch>
              <a:fillRect/>
            </a:stretch>
          </p:blipFill>
          <p:spPr bwMode="auto">
            <a:xfrm>
              <a:off x="4388" y="1744"/>
              <a:ext cx="114" cy="107"/>
            </a:xfrm>
            <a:prstGeom prst="rect">
              <a:avLst/>
            </a:prstGeom>
            <a:noFill/>
            <a:ln w="9525">
              <a:noFill/>
              <a:miter lim="800000"/>
              <a:headEnd/>
              <a:tailEnd/>
            </a:ln>
          </p:spPr>
        </p:pic>
        <p:pic>
          <p:nvPicPr>
            <p:cNvPr id="435222" name="Picture 22"/>
            <p:cNvPicPr>
              <a:picLocks noChangeAspect="1" noChangeArrowheads="1"/>
            </p:cNvPicPr>
            <p:nvPr/>
          </p:nvPicPr>
          <p:blipFill>
            <a:blip r:embed="rId5" cstate="print"/>
            <a:srcRect/>
            <a:stretch>
              <a:fillRect/>
            </a:stretch>
          </p:blipFill>
          <p:spPr bwMode="auto">
            <a:xfrm>
              <a:off x="4388" y="1744"/>
              <a:ext cx="114" cy="107"/>
            </a:xfrm>
            <a:prstGeom prst="rect">
              <a:avLst/>
            </a:prstGeom>
            <a:noFill/>
            <a:ln w="9525">
              <a:noFill/>
              <a:miter lim="800000"/>
              <a:headEnd/>
              <a:tailEnd/>
            </a:ln>
          </p:spPr>
        </p:pic>
        <p:pic>
          <p:nvPicPr>
            <p:cNvPr id="435224" name="Picture 24"/>
            <p:cNvPicPr>
              <a:picLocks noChangeAspect="1" noChangeArrowheads="1"/>
            </p:cNvPicPr>
            <p:nvPr/>
          </p:nvPicPr>
          <p:blipFill>
            <a:blip r:embed="rId5" cstate="print"/>
            <a:srcRect/>
            <a:stretch>
              <a:fillRect/>
            </a:stretch>
          </p:blipFill>
          <p:spPr bwMode="auto">
            <a:xfrm>
              <a:off x="4388" y="1858"/>
              <a:ext cx="114" cy="106"/>
            </a:xfrm>
            <a:prstGeom prst="rect">
              <a:avLst/>
            </a:prstGeom>
            <a:noFill/>
            <a:ln w="9525">
              <a:noFill/>
              <a:miter lim="800000"/>
              <a:headEnd/>
              <a:tailEnd/>
            </a:ln>
          </p:spPr>
        </p:pic>
        <p:pic>
          <p:nvPicPr>
            <p:cNvPr id="435225" name="Picture 25"/>
            <p:cNvPicPr>
              <a:picLocks noChangeAspect="1" noChangeArrowheads="1"/>
            </p:cNvPicPr>
            <p:nvPr/>
          </p:nvPicPr>
          <p:blipFill>
            <a:blip r:embed="rId6" cstate="print"/>
            <a:srcRect/>
            <a:stretch>
              <a:fillRect/>
            </a:stretch>
          </p:blipFill>
          <p:spPr bwMode="auto">
            <a:xfrm>
              <a:off x="4388" y="1858"/>
              <a:ext cx="114" cy="106"/>
            </a:xfrm>
            <a:prstGeom prst="rect">
              <a:avLst/>
            </a:prstGeom>
            <a:noFill/>
            <a:ln w="9525">
              <a:noFill/>
              <a:miter lim="800000"/>
              <a:headEnd/>
              <a:tailEnd/>
            </a:ln>
          </p:spPr>
        </p:pic>
        <p:pic>
          <p:nvPicPr>
            <p:cNvPr id="435226" name="Picture 26"/>
            <p:cNvPicPr>
              <a:picLocks noChangeAspect="1" noChangeArrowheads="1"/>
            </p:cNvPicPr>
            <p:nvPr/>
          </p:nvPicPr>
          <p:blipFill>
            <a:blip r:embed="rId5" cstate="print"/>
            <a:srcRect/>
            <a:stretch>
              <a:fillRect/>
            </a:stretch>
          </p:blipFill>
          <p:spPr bwMode="auto">
            <a:xfrm>
              <a:off x="4388" y="1858"/>
              <a:ext cx="114" cy="106"/>
            </a:xfrm>
            <a:prstGeom prst="rect">
              <a:avLst/>
            </a:prstGeom>
            <a:noFill/>
            <a:ln w="9525">
              <a:noFill/>
              <a:miter lim="800000"/>
              <a:headEnd/>
              <a:tailEnd/>
            </a:ln>
          </p:spPr>
        </p:pic>
        <p:sp>
          <p:nvSpPr>
            <p:cNvPr id="435228" name="Rectangle 28"/>
            <p:cNvSpPr>
              <a:spLocks noChangeArrowheads="1"/>
            </p:cNvSpPr>
            <p:nvPr/>
          </p:nvSpPr>
          <p:spPr bwMode="auto">
            <a:xfrm>
              <a:off x="3863" y="2446"/>
              <a:ext cx="717" cy="765"/>
            </a:xfrm>
            <a:prstGeom prst="rect">
              <a:avLst/>
            </a:prstGeom>
            <a:solidFill>
              <a:srgbClr val="FFFFCC"/>
            </a:solidFill>
            <a:ln w="0">
              <a:solidFill>
                <a:srgbClr val="990033"/>
              </a:solidFill>
              <a:miter lim="800000"/>
              <a:headEnd/>
              <a:tailEnd/>
            </a:ln>
          </p:spPr>
          <p:txBody>
            <a:bodyPr/>
            <a:lstStyle/>
            <a:p>
              <a:endParaRPr lang="en-GB"/>
            </a:p>
          </p:txBody>
        </p:sp>
        <p:sp>
          <p:nvSpPr>
            <p:cNvPr id="435229" name="Rectangle 29"/>
            <p:cNvSpPr>
              <a:spLocks noChangeArrowheads="1"/>
            </p:cNvSpPr>
            <p:nvPr/>
          </p:nvSpPr>
          <p:spPr bwMode="auto">
            <a:xfrm>
              <a:off x="3920" y="2474"/>
              <a:ext cx="617" cy="115"/>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CheckAccount</a:t>
              </a:r>
              <a:endParaRPr lang="en-GB" sz="1800" b="1"/>
            </a:p>
          </p:txBody>
        </p:sp>
        <p:sp>
          <p:nvSpPr>
            <p:cNvPr id="435230" name="Rectangle 30"/>
            <p:cNvSpPr>
              <a:spLocks noChangeArrowheads="1"/>
            </p:cNvSpPr>
            <p:nvPr/>
          </p:nvSpPr>
          <p:spPr bwMode="auto">
            <a:xfrm>
              <a:off x="3863" y="2594"/>
              <a:ext cx="717" cy="617"/>
            </a:xfrm>
            <a:prstGeom prst="rect">
              <a:avLst/>
            </a:prstGeom>
            <a:noFill/>
            <a:ln w="0">
              <a:solidFill>
                <a:srgbClr val="990033"/>
              </a:solidFill>
              <a:miter lim="800000"/>
              <a:headEnd/>
              <a:tailEnd/>
            </a:ln>
          </p:spPr>
          <p:txBody>
            <a:bodyPr/>
            <a:lstStyle/>
            <a:p>
              <a:endParaRPr lang="en-GB"/>
            </a:p>
          </p:txBody>
        </p:sp>
        <p:sp>
          <p:nvSpPr>
            <p:cNvPr id="435231" name="Rectangle 31"/>
            <p:cNvSpPr>
              <a:spLocks noChangeArrowheads="1"/>
            </p:cNvSpPr>
            <p:nvPr/>
          </p:nvSpPr>
          <p:spPr bwMode="auto">
            <a:xfrm>
              <a:off x="3863" y="2651"/>
              <a:ext cx="717" cy="560"/>
            </a:xfrm>
            <a:prstGeom prst="rect">
              <a:avLst/>
            </a:prstGeom>
            <a:noFill/>
            <a:ln w="0">
              <a:solidFill>
                <a:srgbClr val="990033"/>
              </a:solidFill>
              <a:miter lim="800000"/>
              <a:headEnd/>
              <a:tailEnd/>
            </a:ln>
          </p:spPr>
          <p:txBody>
            <a:bodyPr/>
            <a:lstStyle/>
            <a:p>
              <a:endParaRPr lang="en-GB"/>
            </a:p>
          </p:txBody>
        </p:sp>
        <p:pic>
          <p:nvPicPr>
            <p:cNvPr id="435232" name="Picture 32"/>
            <p:cNvPicPr>
              <a:picLocks noChangeAspect="1" noChangeArrowheads="1"/>
            </p:cNvPicPr>
            <p:nvPr/>
          </p:nvPicPr>
          <p:blipFill>
            <a:blip r:embed="rId5" cstate="print"/>
            <a:srcRect/>
            <a:stretch>
              <a:fillRect/>
            </a:stretch>
          </p:blipFill>
          <p:spPr bwMode="auto">
            <a:xfrm>
              <a:off x="3885" y="2722"/>
              <a:ext cx="113" cy="106"/>
            </a:xfrm>
            <a:prstGeom prst="rect">
              <a:avLst/>
            </a:prstGeom>
            <a:noFill/>
            <a:ln w="9525">
              <a:noFill/>
              <a:miter lim="800000"/>
              <a:headEnd/>
              <a:tailEnd/>
            </a:ln>
          </p:spPr>
        </p:pic>
        <p:pic>
          <p:nvPicPr>
            <p:cNvPr id="435233" name="Picture 33"/>
            <p:cNvPicPr>
              <a:picLocks noChangeAspect="1" noChangeArrowheads="1"/>
            </p:cNvPicPr>
            <p:nvPr/>
          </p:nvPicPr>
          <p:blipFill>
            <a:blip r:embed="rId6" cstate="print"/>
            <a:srcRect/>
            <a:stretch>
              <a:fillRect/>
            </a:stretch>
          </p:blipFill>
          <p:spPr bwMode="auto">
            <a:xfrm>
              <a:off x="3885" y="2722"/>
              <a:ext cx="113" cy="106"/>
            </a:xfrm>
            <a:prstGeom prst="rect">
              <a:avLst/>
            </a:prstGeom>
            <a:noFill/>
            <a:ln w="9525">
              <a:noFill/>
              <a:miter lim="800000"/>
              <a:headEnd/>
              <a:tailEnd/>
            </a:ln>
          </p:spPr>
        </p:pic>
        <p:pic>
          <p:nvPicPr>
            <p:cNvPr id="435234" name="Picture 34"/>
            <p:cNvPicPr>
              <a:picLocks noChangeAspect="1" noChangeArrowheads="1"/>
            </p:cNvPicPr>
            <p:nvPr/>
          </p:nvPicPr>
          <p:blipFill>
            <a:blip r:embed="rId5" cstate="print"/>
            <a:srcRect/>
            <a:stretch>
              <a:fillRect/>
            </a:stretch>
          </p:blipFill>
          <p:spPr bwMode="auto">
            <a:xfrm>
              <a:off x="3885" y="2722"/>
              <a:ext cx="113" cy="106"/>
            </a:xfrm>
            <a:prstGeom prst="rect">
              <a:avLst/>
            </a:prstGeom>
            <a:noFill/>
            <a:ln w="9525">
              <a:noFill/>
              <a:miter lim="800000"/>
              <a:headEnd/>
              <a:tailEnd/>
            </a:ln>
          </p:spPr>
        </p:pic>
        <p:pic>
          <p:nvPicPr>
            <p:cNvPr id="435236" name="Picture 36"/>
            <p:cNvPicPr>
              <a:picLocks noChangeAspect="1" noChangeArrowheads="1"/>
            </p:cNvPicPr>
            <p:nvPr/>
          </p:nvPicPr>
          <p:blipFill>
            <a:blip r:embed="rId5" cstate="print"/>
            <a:srcRect/>
            <a:stretch>
              <a:fillRect/>
            </a:stretch>
          </p:blipFill>
          <p:spPr bwMode="auto">
            <a:xfrm>
              <a:off x="3885" y="2835"/>
              <a:ext cx="113" cy="107"/>
            </a:xfrm>
            <a:prstGeom prst="rect">
              <a:avLst/>
            </a:prstGeom>
            <a:noFill/>
            <a:ln w="9525">
              <a:noFill/>
              <a:miter lim="800000"/>
              <a:headEnd/>
              <a:tailEnd/>
            </a:ln>
          </p:spPr>
        </p:pic>
        <p:pic>
          <p:nvPicPr>
            <p:cNvPr id="435237" name="Picture 37"/>
            <p:cNvPicPr>
              <a:picLocks noChangeAspect="1" noChangeArrowheads="1"/>
            </p:cNvPicPr>
            <p:nvPr/>
          </p:nvPicPr>
          <p:blipFill>
            <a:blip r:embed="rId6" cstate="print"/>
            <a:srcRect/>
            <a:stretch>
              <a:fillRect/>
            </a:stretch>
          </p:blipFill>
          <p:spPr bwMode="auto">
            <a:xfrm>
              <a:off x="3885" y="2835"/>
              <a:ext cx="113" cy="107"/>
            </a:xfrm>
            <a:prstGeom prst="rect">
              <a:avLst/>
            </a:prstGeom>
            <a:noFill/>
            <a:ln w="9525">
              <a:noFill/>
              <a:miter lim="800000"/>
              <a:headEnd/>
              <a:tailEnd/>
            </a:ln>
          </p:spPr>
        </p:pic>
        <p:pic>
          <p:nvPicPr>
            <p:cNvPr id="435238" name="Picture 38"/>
            <p:cNvPicPr>
              <a:picLocks noChangeAspect="1" noChangeArrowheads="1"/>
            </p:cNvPicPr>
            <p:nvPr/>
          </p:nvPicPr>
          <p:blipFill>
            <a:blip r:embed="rId5" cstate="print"/>
            <a:srcRect/>
            <a:stretch>
              <a:fillRect/>
            </a:stretch>
          </p:blipFill>
          <p:spPr bwMode="auto">
            <a:xfrm>
              <a:off x="3885" y="2835"/>
              <a:ext cx="113" cy="107"/>
            </a:xfrm>
            <a:prstGeom prst="rect">
              <a:avLst/>
            </a:prstGeom>
            <a:noFill/>
            <a:ln w="9525">
              <a:noFill/>
              <a:miter lim="800000"/>
              <a:headEnd/>
              <a:tailEnd/>
            </a:ln>
          </p:spPr>
        </p:pic>
        <p:pic>
          <p:nvPicPr>
            <p:cNvPr id="435240" name="Picture 40"/>
            <p:cNvPicPr>
              <a:picLocks noChangeAspect="1" noChangeArrowheads="1"/>
            </p:cNvPicPr>
            <p:nvPr/>
          </p:nvPicPr>
          <p:blipFill>
            <a:blip r:embed="rId5" cstate="print"/>
            <a:srcRect/>
            <a:stretch>
              <a:fillRect/>
            </a:stretch>
          </p:blipFill>
          <p:spPr bwMode="auto">
            <a:xfrm>
              <a:off x="3885" y="2949"/>
              <a:ext cx="113" cy="106"/>
            </a:xfrm>
            <a:prstGeom prst="rect">
              <a:avLst/>
            </a:prstGeom>
            <a:noFill/>
            <a:ln w="9525">
              <a:noFill/>
              <a:miter lim="800000"/>
              <a:headEnd/>
              <a:tailEnd/>
            </a:ln>
          </p:spPr>
        </p:pic>
        <p:pic>
          <p:nvPicPr>
            <p:cNvPr id="435241" name="Picture 41"/>
            <p:cNvPicPr>
              <a:picLocks noChangeAspect="1" noChangeArrowheads="1"/>
            </p:cNvPicPr>
            <p:nvPr/>
          </p:nvPicPr>
          <p:blipFill>
            <a:blip r:embed="rId6" cstate="print"/>
            <a:srcRect/>
            <a:stretch>
              <a:fillRect/>
            </a:stretch>
          </p:blipFill>
          <p:spPr bwMode="auto">
            <a:xfrm>
              <a:off x="3885" y="2949"/>
              <a:ext cx="113" cy="106"/>
            </a:xfrm>
            <a:prstGeom prst="rect">
              <a:avLst/>
            </a:prstGeom>
            <a:noFill/>
            <a:ln w="9525">
              <a:noFill/>
              <a:miter lim="800000"/>
              <a:headEnd/>
              <a:tailEnd/>
            </a:ln>
          </p:spPr>
        </p:pic>
        <p:pic>
          <p:nvPicPr>
            <p:cNvPr id="435242" name="Picture 42"/>
            <p:cNvPicPr>
              <a:picLocks noChangeAspect="1" noChangeArrowheads="1"/>
            </p:cNvPicPr>
            <p:nvPr/>
          </p:nvPicPr>
          <p:blipFill>
            <a:blip r:embed="rId5" cstate="print"/>
            <a:srcRect/>
            <a:stretch>
              <a:fillRect/>
            </a:stretch>
          </p:blipFill>
          <p:spPr bwMode="auto">
            <a:xfrm>
              <a:off x="3885" y="2949"/>
              <a:ext cx="113" cy="106"/>
            </a:xfrm>
            <a:prstGeom prst="rect">
              <a:avLst/>
            </a:prstGeom>
            <a:noFill/>
            <a:ln w="9525">
              <a:noFill/>
              <a:miter lim="800000"/>
              <a:headEnd/>
              <a:tailEnd/>
            </a:ln>
          </p:spPr>
        </p:pic>
        <p:pic>
          <p:nvPicPr>
            <p:cNvPr id="435244" name="Picture 44"/>
            <p:cNvPicPr>
              <a:picLocks noChangeAspect="1" noChangeArrowheads="1"/>
            </p:cNvPicPr>
            <p:nvPr/>
          </p:nvPicPr>
          <p:blipFill>
            <a:blip r:embed="rId5" cstate="print"/>
            <a:srcRect/>
            <a:stretch>
              <a:fillRect/>
            </a:stretch>
          </p:blipFill>
          <p:spPr bwMode="auto">
            <a:xfrm>
              <a:off x="3885" y="3062"/>
              <a:ext cx="113" cy="106"/>
            </a:xfrm>
            <a:prstGeom prst="rect">
              <a:avLst/>
            </a:prstGeom>
            <a:noFill/>
            <a:ln w="9525">
              <a:noFill/>
              <a:miter lim="800000"/>
              <a:headEnd/>
              <a:tailEnd/>
            </a:ln>
          </p:spPr>
        </p:pic>
        <p:pic>
          <p:nvPicPr>
            <p:cNvPr id="435245" name="Picture 45"/>
            <p:cNvPicPr>
              <a:picLocks noChangeAspect="1" noChangeArrowheads="1"/>
            </p:cNvPicPr>
            <p:nvPr/>
          </p:nvPicPr>
          <p:blipFill>
            <a:blip r:embed="rId6" cstate="print"/>
            <a:srcRect/>
            <a:stretch>
              <a:fillRect/>
            </a:stretch>
          </p:blipFill>
          <p:spPr bwMode="auto">
            <a:xfrm>
              <a:off x="3885" y="3062"/>
              <a:ext cx="113" cy="106"/>
            </a:xfrm>
            <a:prstGeom prst="rect">
              <a:avLst/>
            </a:prstGeom>
            <a:noFill/>
            <a:ln w="9525">
              <a:noFill/>
              <a:miter lim="800000"/>
              <a:headEnd/>
              <a:tailEnd/>
            </a:ln>
          </p:spPr>
        </p:pic>
        <p:pic>
          <p:nvPicPr>
            <p:cNvPr id="435246" name="Picture 46"/>
            <p:cNvPicPr>
              <a:picLocks noChangeAspect="1" noChangeArrowheads="1"/>
            </p:cNvPicPr>
            <p:nvPr/>
          </p:nvPicPr>
          <p:blipFill>
            <a:blip r:embed="rId5" cstate="print"/>
            <a:srcRect/>
            <a:stretch>
              <a:fillRect/>
            </a:stretch>
          </p:blipFill>
          <p:spPr bwMode="auto">
            <a:xfrm>
              <a:off x="3885" y="3062"/>
              <a:ext cx="113" cy="106"/>
            </a:xfrm>
            <a:prstGeom prst="rect">
              <a:avLst/>
            </a:prstGeom>
            <a:noFill/>
            <a:ln w="9525">
              <a:noFill/>
              <a:miter lim="800000"/>
              <a:headEnd/>
              <a:tailEnd/>
            </a:ln>
          </p:spPr>
        </p:pic>
        <p:sp>
          <p:nvSpPr>
            <p:cNvPr id="435248" name="Rectangle 48"/>
            <p:cNvSpPr>
              <a:spLocks noChangeArrowheads="1"/>
            </p:cNvSpPr>
            <p:nvPr/>
          </p:nvSpPr>
          <p:spPr bwMode="auto">
            <a:xfrm>
              <a:off x="5034" y="2446"/>
              <a:ext cx="774" cy="765"/>
            </a:xfrm>
            <a:prstGeom prst="rect">
              <a:avLst/>
            </a:prstGeom>
            <a:solidFill>
              <a:srgbClr val="FFFFCC"/>
            </a:solidFill>
            <a:ln w="0">
              <a:solidFill>
                <a:srgbClr val="990033"/>
              </a:solidFill>
              <a:miter lim="800000"/>
              <a:headEnd/>
              <a:tailEnd/>
            </a:ln>
          </p:spPr>
          <p:txBody>
            <a:bodyPr/>
            <a:lstStyle/>
            <a:p>
              <a:endParaRPr lang="en-GB"/>
            </a:p>
          </p:txBody>
        </p:sp>
        <p:sp>
          <p:nvSpPr>
            <p:cNvPr id="435249" name="Rectangle 49"/>
            <p:cNvSpPr>
              <a:spLocks noChangeArrowheads="1"/>
            </p:cNvSpPr>
            <p:nvPr/>
          </p:nvSpPr>
          <p:spPr bwMode="auto">
            <a:xfrm>
              <a:off x="5091" y="2474"/>
              <a:ext cx="670" cy="115"/>
            </a:xfrm>
            <a:prstGeom prst="rect">
              <a:avLst/>
            </a:prstGeom>
            <a:noFill/>
            <a:ln w="9525">
              <a:noFill/>
              <a:miter lim="800000"/>
              <a:headEnd/>
              <a:tailEnd/>
            </a:ln>
          </p:spPr>
          <p:txBody>
            <a:bodyPr wrap="none" lIns="0" tIns="0" rIns="0" bIns="0">
              <a:spAutoFit/>
            </a:bodyPr>
            <a:lstStyle/>
            <a:p>
              <a:pPr defTabSz="739775">
                <a:spcBef>
                  <a:spcPct val="0"/>
                </a:spcBef>
              </a:pPr>
              <a:r>
                <a:rPr lang="en-GB" sz="1200">
                  <a:solidFill>
                    <a:srgbClr val="000000"/>
                  </a:solidFill>
                </a:rPr>
                <a:t>DepositAccount</a:t>
              </a:r>
              <a:endParaRPr lang="en-GB" sz="1800" b="1"/>
            </a:p>
          </p:txBody>
        </p:sp>
        <p:sp>
          <p:nvSpPr>
            <p:cNvPr id="435250" name="Rectangle 50"/>
            <p:cNvSpPr>
              <a:spLocks noChangeArrowheads="1"/>
            </p:cNvSpPr>
            <p:nvPr/>
          </p:nvSpPr>
          <p:spPr bwMode="auto">
            <a:xfrm>
              <a:off x="5034" y="2594"/>
              <a:ext cx="774" cy="617"/>
            </a:xfrm>
            <a:prstGeom prst="rect">
              <a:avLst/>
            </a:prstGeom>
            <a:noFill/>
            <a:ln w="0">
              <a:solidFill>
                <a:srgbClr val="990033"/>
              </a:solidFill>
              <a:miter lim="800000"/>
              <a:headEnd/>
              <a:tailEnd/>
            </a:ln>
          </p:spPr>
          <p:txBody>
            <a:bodyPr/>
            <a:lstStyle/>
            <a:p>
              <a:endParaRPr lang="en-GB"/>
            </a:p>
          </p:txBody>
        </p:sp>
        <p:sp>
          <p:nvSpPr>
            <p:cNvPr id="435251" name="Rectangle 51"/>
            <p:cNvSpPr>
              <a:spLocks noChangeArrowheads="1"/>
            </p:cNvSpPr>
            <p:nvPr/>
          </p:nvSpPr>
          <p:spPr bwMode="auto">
            <a:xfrm>
              <a:off x="5034" y="2651"/>
              <a:ext cx="774" cy="560"/>
            </a:xfrm>
            <a:prstGeom prst="rect">
              <a:avLst/>
            </a:prstGeom>
            <a:noFill/>
            <a:ln w="0">
              <a:solidFill>
                <a:srgbClr val="990033"/>
              </a:solidFill>
              <a:miter lim="800000"/>
              <a:headEnd/>
              <a:tailEnd/>
            </a:ln>
          </p:spPr>
          <p:txBody>
            <a:bodyPr/>
            <a:lstStyle/>
            <a:p>
              <a:endParaRPr lang="en-GB"/>
            </a:p>
          </p:txBody>
        </p:sp>
        <p:pic>
          <p:nvPicPr>
            <p:cNvPr id="435252" name="Picture 52"/>
            <p:cNvPicPr>
              <a:picLocks noChangeAspect="1" noChangeArrowheads="1"/>
            </p:cNvPicPr>
            <p:nvPr/>
          </p:nvPicPr>
          <p:blipFill>
            <a:blip r:embed="rId5" cstate="print"/>
            <a:srcRect/>
            <a:stretch>
              <a:fillRect/>
            </a:stretch>
          </p:blipFill>
          <p:spPr bwMode="auto">
            <a:xfrm>
              <a:off x="5055" y="2722"/>
              <a:ext cx="114" cy="106"/>
            </a:xfrm>
            <a:prstGeom prst="rect">
              <a:avLst/>
            </a:prstGeom>
            <a:noFill/>
            <a:ln w="9525">
              <a:noFill/>
              <a:miter lim="800000"/>
              <a:headEnd/>
              <a:tailEnd/>
            </a:ln>
          </p:spPr>
        </p:pic>
        <p:pic>
          <p:nvPicPr>
            <p:cNvPr id="435253" name="Picture 53"/>
            <p:cNvPicPr>
              <a:picLocks noChangeAspect="1" noChangeArrowheads="1"/>
            </p:cNvPicPr>
            <p:nvPr/>
          </p:nvPicPr>
          <p:blipFill>
            <a:blip r:embed="rId6" cstate="print"/>
            <a:srcRect/>
            <a:stretch>
              <a:fillRect/>
            </a:stretch>
          </p:blipFill>
          <p:spPr bwMode="auto">
            <a:xfrm>
              <a:off x="5055" y="2722"/>
              <a:ext cx="114" cy="106"/>
            </a:xfrm>
            <a:prstGeom prst="rect">
              <a:avLst/>
            </a:prstGeom>
            <a:noFill/>
            <a:ln w="9525">
              <a:noFill/>
              <a:miter lim="800000"/>
              <a:headEnd/>
              <a:tailEnd/>
            </a:ln>
          </p:spPr>
        </p:pic>
        <p:pic>
          <p:nvPicPr>
            <p:cNvPr id="435254" name="Picture 54"/>
            <p:cNvPicPr>
              <a:picLocks noChangeAspect="1" noChangeArrowheads="1"/>
            </p:cNvPicPr>
            <p:nvPr/>
          </p:nvPicPr>
          <p:blipFill>
            <a:blip r:embed="rId5" cstate="print"/>
            <a:srcRect/>
            <a:stretch>
              <a:fillRect/>
            </a:stretch>
          </p:blipFill>
          <p:spPr bwMode="auto">
            <a:xfrm>
              <a:off x="5055" y="2722"/>
              <a:ext cx="114" cy="106"/>
            </a:xfrm>
            <a:prstGeom prst="rect">
              <a:avLst/>
            </a:prstGeom>
            <a:noFill/>
            <a:ln w="9525">
              <a:noFill/>
              <a:miter lim="800000"/>
              <a:headEnd/>
              <a:tailEnd/>
            </a:ln>
          </p:spPr>
        </p:pic>
        <p:pic>
          <p:nvPicPr>
            <p:cNvPr id="435256" name="Picture 56"/>
            <p:cNvPicPr>
              <a:picLocks noChangeAspect="1" noChangeArrowheads="1"/>
            </p:cNvPicPr>
            <p:nvPr/>
          </p:nvPicPr>
          <p:blipFill>
            <a:blip r:embed="rId5" cstate="print"/>
            <a:srcRect/>
            <a:stretch>
              <a:fillRect/>
            </a:stretch>
          </p:blipFill>
          <p:spPr bwMode="auto">
            <a:xfrm>
              <a:off x="5055" y="2835"/>
              <a:ext cx="114" cy="107"/>
            </a:xfrm>
            <a:prstGeom prst="rect">
              <a:avLst/>
            </a:prstGeom>
            <a:noFill/>
            <a:ln w="9525">
              <a:noFill/>
              <a:miter lim="800000"/>
              <a:headEnd/>
              <a:tailEnd/>
            </a:ln>
          </p:spPr>
        </p:pic>
        <p:pic>
          <p:nvPicPr>
            <p:cNvPr id="435257" name="Picture 57"/>
            <p:cNvPicPr>
              <a:picLocks noChangeAspect="1" noChangeArrowheads="1"/>
            </p:cNvPicPr>
            <p:nvPr/>
          </p:nvPicPr>
          <p:blipFill>
            <a:blip r:embed="rId6" cstate="print"/>
            <a:srcRect/>
            <a:stretch>
              <a:fillRect/>
            </a:stretch>
          </p:blipFill>
          <p:spPr bwMode="auto">
            <a:xfrm>
              <a:off x="5055" y="2835"/>
              <a:ext cx="114" cy="107"/>
            </a:xfrm>
            <a:prstGeom prst="rect">
              <a:avLst/>
            </a:prstGeom>
            <a:noFill/>
            <a:ln w="9525">
              <a:noFill/>
              <a:miter lim="800000"/>
              <a:headEnd/>
              <a:tailEnd/>
            </a:ln>
          </p:spPr>
        </p:pic>
        <p:pic>
          <p:nvPicPr>
            <p:cNvPr id="435258" name="Picture 58"/>
            <p:cNvPicPr>
              <a:picLocks noChangeAspect="1" noChangeArrowheads="1"/>
            </p:cNvPicPr>
            <p:nvPr/>
          </p:nvPicPr>
          <p:blipFill>
            <a:blip r:embed="rId5" cstate="print"/>
            <a:srcRect/>
            <a:stretch>
              <a:fillRect/>
            </a:stretch>
          </p:blipFill>
          <p:spPr bwMode="auto">
            <a:xfrm>
              <a:off x="5055" y="2835"/>
              <a:ext cx="114" cy="107"/>
            </a:xfrm>
            <a:prstGeom prst="rect">
              <a:avLst/>
            </a:prstGeom>
            <a:noFill/>
            <a:ln w="9525">
              <a:noFill/>
              <a:miter lim="800000"/>
              <a:headEnd/>
              <a:tailEnd/>
            </a:ln>
          </p:spPr>
        </p:pic>
        <p:pic>
          <p:nvPicPr>
            <p:cNvPr id="435260" name="Picture 60"/>
            <p:cNvPicPr>
              <a:picLocks noChangeAspect="1" noChangeArrowheads="1"/>
            </p:cNvPicPr>
            <p:nvPr/>
          </p:nvPicPr>
          <p:blipFill>
            <a:blip r:embed="rId5" cstate="print"/>
            <a:srcRect/>
            <a:stretch>
              <a:fillRect/>
            </a:stretch>
          </p:blipFill>
          <p:spPr bwMode="auto">
            <a:xfrm>
              <a:off x="5055" y="2949"/>
              <a:ext cx="114" cy="106"/>
            </a:xfrm>
            <a:prstGeom prst="rect">
              <a:avLst/>
            </a:prstGeom>
            <a:noFill/>
            <a:ln w="9525">
              <a:noFill/>
              <a:miter lim="800000"/>
              <a:headEnd/>
              <a:tailEnd/>
            </a:ln>
          </p:spPr>
        </p:pic>
        <p:pic>
          <p:nvPicPr>
            <p:cNvPr id="435261" name="Picture 61"/>
            <p:cNvPicPr>
              <a:picLocks noChangeAspect="1" noChangeArrowheads="1"/>
            </p:cNvPicPr>
            <p:nvPr/>
          </p:nvPicPr>
          <p:blipFill>
            <a:blip r:embed="rId6" cstate="print"/>
            <a:srcRect/>
            <a:stretch>
              <a:fillRect/>
            </a:stretch>
          </p:blipFill>
          <p:spPr bwMode="auto">
            <a:xfrm>
              <a:off x="5055" y="2949"/>
              <a:ext cx="114" cy="106"/>
            </a:xfrm>
            <a:prstGeom prst="rect">
              <a:avLst/>
            </a:prstGeom>
            <a:noFill/>
            <a:ln w="9525">
              <a:noFill/>
              <a:miter lim="800000"/>
              <a:headEnd/>
              <a:tailEnd/>
            </a:ln>
          </p:spPr>
        </p:pic>
        <p:pic>
          <p:nvPicPr>
            <p:cNvPr id="435262" name="Picture 62"/>
            <p:cNvPicPr>
              <a:picLocks noChangeAspect="1" noChangeArrowheads="1"/>
            </p:cNvPicPr>
            <p:nvPr/>
          </p:nvPicPr>
          <p:blipFill>
            <a:blip r:embed="rId5" cstate="print"/>
            <a:srcRect/>
            <a:stretch>
              <a:fillRect/>
            </a:stretch>
          </p:blipFill>
          <p:spPr bwMode="auto">
            <a:xfrm>
              <a:off x="5055" y="2949"/>
              <a:ext cx="114" cy="106"/>
            </a:xfrm>
            <a:prstGeom prst="rect">
              <a:avLst/>
            </a:prstGeom>
            <a:noFill/>
            <a:ln w="9525">
              <a:noFill/>
              <a:miter lim="800000"/>
              <a:headEnd/>
              <a:tailEnd/>
            </a:ln>
          </p:spPr>
        </p:pic>
        <p:pic>
          <p:nvPicPr>
            <p:cNvPr id="435264" name="Picture 64"/>
            <p:cNvPicPr>
              <a:picLocks noChangeAspect="1" noChangeArrowheads="1"/>
            </p:cNvPicPr>
            <p:nvPr/>
          </p:nvPicPr>
          <p:blipFill>
            <a:blip r:embed="rId5" cstate="print"/>
            <a:srcRect/>
            <a:stretch>
              <a:fillRect/>
            </a:stretch>
          </p:blipFill>
          <p:spPr bwMode="auto">
            <a:xfrm>
              <a:off x="5055" y="3062"/>
              <a:ext cx="114" cy="106"/>
            </a:xfrm>
            <a:prstGeom prst="rect">
              <a:avLst/>
            </a:prstGeom>
            <a:noFill/>
            <a:ln w="9525">
              <a:noFill/>
              <a:miter lim="800000"/>
              <a:headEnd/>
              <a:tailEnd/>
            </a:ln>
          </p:spPr>
        </p:pic>
        <p:pic>
          <p:nvPicPr>
            <p:cNvPr id="435265" name="Picture 65"/>
            <p:cNvPicPr>
              <a:picLocks noChangeAspect="1" noChangeArrowheads="1"/>
            </p:cNvPicPr>
            <p:nvPr/>
          </p:nvPicPr>
          <p:blipFill>
            <a:blip r:embed="rId6" cstate="print"/>
            <a:srcRect/>
            <a:stretch>
              <a:fillRect/>
            </a:stretch>
          </p:blipFill>
          <p:spPr bwMode="auto">
            <a:xfrm>
              <a:off x="5055" y="3062"/>
              <a:ext cx="114" cy="106"/>
            </a:xfrm>
            <a:prstGeom prst="rect">
              <a:avLst/>
            </a:prstGeom>
            <a:noFill/>
            <a:ln w="9525">
              <a:noFill/>
              <a:miter lim="800000"/>
              <a:headEnd/>
              <a:tailEnd/>
            </a:ln>
          </p:spPr>
        </p:pic>
        <p:pic>
          <p:nvPicPr>
            <p:cNvPr id="435266" name="Picture 66"/>
            <p:cNvPicPr>
              <a:picLocks noChangeAspect="1" noChangeArrowheads="1"/>
            </p:cNvPicPr>
            <p:nvPr/>
          </p:nvPicPr>
          <p:blipFill>
            <a:blip r:embed="rId5" cstate="print"/>
            <a:srcRect/>
            <a:stretch>
              <a:fillRect/>
            </a:stretch>
          </p:blipFill>
          <p:spPr bwMode="auto">
            <a:xfrm>
              <a:off x="5055" y="3062"/>
              <a:ext cx="114" cy="106"/>
            </a:xfrm>
            <a:prstGeom prst="rect">
              <a:avLst/>
            </a:prstGeom>
            <a:noFill/>
            <a:ln w="9525">
              <a:noFill/>
              <a:miter lim="800000"/>
              <a:headEnd/>
              <a:tailEnd/>
            </a:ln>
          </p:spPr>
        </p:pic>
        <p:sp>
          <p:nvSpPr>
            <p:cNvPr id="435268" name="Line 68"/>
            <p:cNvSpPr>
              <a:spLocks noChangeShapeType="1"/>
            </p:cNvSpPr>
            <p:nvPr/>
          </p:nvSpPr>
          <p:spPr bwMode="auto">
            <a:xfrm flipV="1">
              <a:off x="4388" y="2007"/>
              <a:ext cx="192" cy="439"/>
            </a:xfrm>
            <a:prstGeom prst="line">
              <a:avLst/>
            </a:prstGeom>
            <a:noFill/>
            <a:ln w="0">
              <a:solidFill>
                <a:srgbClr val="990033"/>
              </a:solidFill>
              <a:round/>
              <a:headEnd/>
              <a:tailEnd/>
            </a:ln>
          </p:spPr>
          <p:txBody>
            <a:bodyPr/>
            <a:lstStyle/>
            <a:p>
              <a:endParaRPr lang="en-GB"/>
            </a:p>
          </p:txBody>
        </p:sp>
        <p:sp>
          <p:nvSpPr>
            <p:cNvPr id="435269" name="Freeform 69"/>
            <p:cNvSpPr>
              <a:spLocks/>
            </p:cNvSpPr>
            <p:nvPr/>
          </p:nvSpPr>
          <p:spPr bwMode="auto">
            <a:xfrm>
              <a:off x="4481" y="2007"/>
              <a:ext cx="99" cy="141"/>
            </a:xfrm>
            <a:custGeom>
              <a:avLst/>
              <a:gdLst/>
              <a:ahLst/>
              <a:cxnLst>
                <a:cxn ang="0">
                  <a:pos x="99" y="0"/>
                </a:cxn>
                <a:cxn ang="0">
                  <a:pos x="85" y="141"/>
                </a:cxn>
                <a:cxn ang="0">
                  <a:pos x="0" y="99"/>
                </a:cxn>
                <a:cxn ang="0">
                  <a:pos x="99" y="0"/>
                </a:cxn>
              </a:cxnLst>
              <a:rect l="0" t="0" r="r" b="b"/>
              <a:pathLst>
                <a:path w="99" h="141">
                  <a:moveTo>
                    <a:pt x="99" y="0"/>
                  </a:moveTo>
                  <a:lnTo>
                    <a:pt x="85" y="141"/>
                  </a:lnTo>
                  <a:lnTo>
                    <a:pt x="0" y="99"/>
                  </a:lnTo>
                  <a:lnTo>
                    <a:pt x="99" y="0"/>
                  </a:lnTo>
                  <a:close/>
                </a:path>
              </a:pathLst>
            </a:custGeom>
            <a:solidFill>
              <a:srgbClr val="FFFFFF"/>
            </a:solidFill>
            <a:ln w="0">
              <a:solidFill>
                <a:srgbClr val="990033"/>
              </a:solidFill>
              <a:prstDash val="solid"/>
              <a:round/>
              <a:headEnd/>
              <a:tailEnd/>
            </a:ln>
          </p:spPr>
          <p:txBody>
            <a:bodyPr/>
            <a:lstStyle/>
            <a:p>
              <a:endParaRPr lang="en-GB"/>
            </a:p>
          </p:txBody>
        </p:sp>
        <p:sp>
          <p:nvSpPr>
            <p:cNvPr id="435270" name="Line 70"/>
            <p:cNvSpPr>
              <a:spLocks noChangeShapeType="1"/>
            </p:cNvSpPr>
            <p:nvPr/>
          </p:nvSpPr>
          <p:spPr bwMode="auto">
            <a:xfrm flipH="1" flipV="1">
              <a:off x="4992" y="2007"/>
              <a:ext cx="227" cy="439"/>
            </a:xfrm>
            <a:prstGeom prst="line">
              <a:avLst/>
            </a:prstGeom>
            <a:noFill/>
            <a:ln w="0">
              <a:solidFill>
                <a:srgbClr val="990033"/>
              </a:solidFill>
              <a:round/>
              <a:headEnd/>
              <a:tailEnd/>
            </a:ln>
          </p:spPr>
          <p:txBody>
            <a:bodyPr/>
            <a:lstStyle/>
            <a:p>
              <a:endParaRPr lang="en-GB"/>
            </a:p>
          </p:txBody>
        </p:sp>
        <p:sp>
          <p:nvSpPr>
            <p:cNvPr id="435271" name="Freeform 71"/>
            <p:cNvSpPr>
              <a:spLocks/>
            </p:cNvSpPr>
            <p:nvPr/>
          </p:nvSpPr>
          <p:spPr bwMode="auto">
            <a:xfrm>
              <a:off x="4992" y="2007"/>
              <a:ext cx="106" cy="141"/>
            </a:xfrm>
            <a:custGeom>
              <a:avLst/>
              <a:gdLst/>
              <a:ahLst/>
              <a:cxnLst>
                <a:cxn ang="0">
                  <a:pos x="0" y="0"/>
                </a:cxn>
                <a:cxn ang="0">
                  <a:pos x="106" y="92"/>
                </a:cxn>
                <a:cxn ang="0">
                  <a:pos x="14" y="141"/>
                </a:cxn>
                <a:cxn ang="0">
                  <a:pos x="0" y="0"/>
                </a:cxn>
              </a:cxnLst>
              <a:rect l="0" t="0" r="r" b="b"/>
              <a:pathLst>
                <a:path w="106" h="141">
                  <a:moveTo>
                    <a:pt x="0" y="0"/>
                  </a:moveTo>
                  <a:lnTo>
                    <a:pt x="106" y="92"/>
                  </a:lnTo>
                  <a:lnTo>
                    <a:pt x="14" y="141"/>
                  </a:lnTo>
                  <a:lnTo>
                    <a:pt x="0" y="0"/>
                  </a:lnTo>
                  <a:close/>
                </a:path>
              </a:pathLst>
            </a:custGeom>
            <a:solidFill>
              <a:srgbClr val="FFFFFF"/>
            </a:solidFill>
            <a:ln w="0">
              <a:solidFill>
                <a:srgbClr val="990033"/>
              </a:solidFill>
              <a:prstDash val="solid"/>
              <a:round/>
              <a:headEnd/>
              <a:tailEnd/>
            </a:ln>
          </p:spPr>
          <p:txBody>
            <a:bodyPr/>
            <a:lstStyle/>
            <a:p>
              <a:endParaRPr lang="en-GB"/>
            </a:p>
          </p:txBody>
        </p:sp>
      </p:grpSp>
      <p:sp>
        <p:nvSpPr>
          <p:cNvPr id="435272" name="Oval 72"/>
          <p:cNvSpPr>
            <a:spLocks noChangeArrowheads="1"/>
          </p:cNvSpPr>
          <p:nvPr/>
        </p:nvSpPr>
        <p:spPr bwMode="auto">
          <a:xfrm>
            <a:off x="1101725" y="1955800"/>
            <a:ext cx="563563" cy="609600"/>
          </a:xfrm>
          <a:prstGeom prst="ellipse">
            <a:avLst/>
          </a:prstGeom>
          <a:noFill/>
          <a:ln w="38100">
            <a:solidFill>
              <a:srgbClr val="0000FF"/>
            </a:solidFill>
            <a:round/>
            <a:headEnd type="none" w="sm" len="sm"/>
            <a:tailEnd type="none" w="sm" len="sm"/>
          </a:ln>
          <a:effectLst/>
        </p:spPr>
        <p:txBody>
          <a:bodyPr wrap="none" anchor="ctr"/>
          <a:lstStyle/>
          <a:p>
            <a:pPr algn="ctr" defTabSz="739775">
              <a:spcBef>
                <a:spcPct val="0"/>
              </a:spcBef>
            </a:pPr>
            <a:endParaRPr lang="en-US" sz="1800"/>
          </a:p>
        </p:txBody>
      </p:sp>
      <p:sp>
        <p:nvSpPr>
          <p:cNvPr id="435273" name="Line 73"/>
          <p:cNvSpPr>
            <a:spLocks noChangeShapeType="1"/>
          </p:cNvSpPr>
          <p:nvPr/>
        </p:nvSpPr>
        <p:spPr bwMode="auto">
          <a:xfrm>
            <a:off x="1652588" y="2260600"/>
            <a:ext cx="1970087" cy="0"/>
          </a:xfrm>
          <a:prstGeom prst="line">
            <a:avLst/>
          </a:prstGeom>
          <a:noFill/>
          <a:ln w="38100">
            <a:solidFill>
              <a:srgbClr val="0000FF"/>
            </a:solidFill>
            <a:round/>
            <a:headEnd type="none" w="sm" len="sm"/>
            <a:tailEnd type="none" w="sm" len="sm"/>
          </a:ln>
          <a:effectLst/>
        </p:spPr>
        <p:txBody>
          <a:bodyPr/>
          <a:lstStyle/>
          <a:p>
            <a:endParaRPr lang="en-GB"/>
          </a:p>
        </p:txBody>
      </p:sp>
      <p:sp>
        <p:nvSpPr>
          <p:cNvPr id="435274" name="Text Box 74"/>
          <p:cNvSpPr txBox="1">
            <a:spLocks noChangeArrowheads="1"/>
          </p:cNvSpPr>
          <p:nvPr/>
        </p:nvSpPr>
        <p:spPr bwMode="auto">
          <a:xfrm>
            <a:off x="1797050" y="2271713"/>
            <a:ext cx="1412875" cy="379412"/>
          </a:xfrm>
          <a:prstGeom prst="rect">
            <a:avLst/>
          </a:prstGeom>
          <a:noFill/>
          <a:ln w="12700">
            <a:solidFill>
              <a:srgbClr val="0000FF"/>
            </a:solidFill>
            <a:miter lim="800000"/>
            <a:headEnd type="none" w="sm" len="sm"/>
            <a:tailEnd type="none" w="sm" len="sm"/>
          </a:ln>
          <a:effectLst/>
        </p:spPr>
        <p:txBody>
          <a:bodyPr>
            <a:spAutoFit/>
          </a:bodyPr>
          <a:lstStyle/>
          <a:p>
            <a:pPr defTabSz="739775"/>
            <a:r>
              <a:rPr lang="en-GB" sz="1800" dirty="0"/>
              <a:t>W</a:t>
            </a:r>
            <a:r>
              <a:rPr lang="en-GB" sz="1800" dirty="0" smtClean="0"/>
              <a:t>ithdraw</a:t>
            </a:r>
            <a:endParaRPr lang="en-GB" sz="1800" dirty="0"/>
          </a:p>
        </p:txBody>
      </p:sp>
      <p:sp>
        <p:nvSpPr>
          <p:cNvPr id="435275" name="Text Box 75"/>
          <p:cNvSpPr txBox="1">
            <a:spLocks noChangeArrowheads="1"/>
          </p:cNvSpPr>
          <p:nvPr/>
        </p:nvSpPr>
        <p:spPr bwMode="auto">
          <a:xfrm>
            <a:off x="1797050" y="2665413"/>
            <a:ext cx="1412875" cy="379412"/>
          </a:xfrm>
          <a:prstGeom prst="rect">
            <a:avLst/>
          </a:prstGeom>
          <a:noFill/>
          <a:ln w="12700">
            <a:solidFill>
              <a:srgbClr val="0000FF"/>
            </a:solidFill>
            <a:miter lim="800000"/>
            <a:headEnd type="none" w="sm" len="sm"/>
            <a:tailEnd type="none" w="sm" len="sm"/>
          </a:ln>
          <a:effectLst/>
        </p:spPr>
        <p:txBody>
          <a:bodyPr>
            <a:spAutoFit/>
          </a:bodyPr>
          <a:lstStyle/>
          <a:p>
            <a:pPr defTabSz="739775"/>
            <a:r>
              <a:rPr lang="en-GB" sz="1800" dirty="0"/>
              <a:t>D</a:t>
            </a:r>
            <a:r>
              <a:rPr lang="en-GB" sz="1800" dirty="0" smtClean="0"/>
              <a:t>eposit</a:t>
            </a:r>
            <a:endParaRPr lang="en-GB" sz="1800" dirty="0"/>
          </a:p>
        </p:txBody>
      </p:sp>
      <p:sp>
        <p:nvSpPr>
          <p:cNvPr id="435276" name="Text Box 76"/>
          <p:cNvSpPr txBox="1">
            <a:spLocks noChangeArrowheads="1"/>
          </p:cNvSpPr>
          <p:nvPr/>
        </p:nvSpPr>
        <p:spPr bwMode="auto">
          <a:xfrm>
            <a:off x="1797050" y="3059113"/>
            <a:ext cx="1412875" cy="379412"/>
          </a:xfrm>
          <a:prstGeom prst="rect">
            <a:avLst/>
          </a:prstGeom>
          <a:noFill/>
          <a:ln w="12700">
            <a:solidFill>
              <a:srgbClr val="0000FF"/>
            </a:solidFill>
            <a:miter lim="800000"/>
            <a:headEnd type="none" w="sm" len="sm"/>
            <a:tailEnd type="none" w="sm" len="sm"/>
          </a:ln>
          <a:effectLst/>
        </p:spPr>
        <p:txBody>
          <a:bodyPr>
            <a:spAutoFit/>
          </a:bodyPr>
          <a:lstStyle/>
          <a:p>
            <a:pPr defTabSz="739775"/>
            <a:r>
              <a:rPr lang="en-GB" sz="1800" dirty="0" err="1"/>
              <a:t>A</a:t>
            </a:r>
            <a:r>
              <a:rPr lang="en-GB" sz="1800" dirty="0" err="1" smtClean="0"/>
              <a:t>ddInterest</a:t>
            </a:r>
            <a:endParaRPr lang="en-GB" sz="1800" dirty="0"/>
          </a:p>
        </p:txBody>
      </p:sp>
      <p:sp>
        <p:nvSpPr>
          <p:cNvPr id="435277" name="Text Box 77"/>
          <p:cNvSpPr txBox="1">
            <a:spLocks noChangeArrowheads="1"/>
          </p:cNvSpPr>
          <p:nvPr/>
        </p:nvSpPr>
        <p:spPr bwMode="auto">
          <a:xfrm>
            <a:off x="1797050" y="3452813"/>
            <a:ext cx="1412875" cy="379412"/>
          </a:xfrm>
          <a:prstGeom prst="rect">
            <a:avLst/>
          </a:prstGeom>
          <a:noFill/>
          <a:ln w="12700">
            <a:solidFill>
              <a:srgbClr val="0000FF"/>
            </a:solidFill>
            <a:miter lim="800000"/>
            <a:headEnd type="none" w="sm" len="sm"/>
            <a:tailEnd type="none" w="sm" len="sm"/>
          </a:ln>
          <a:effectLst/>
        </p:spPr>
        <p:txBody>
          <a:bodyPr>
            <a:spAutoFit/>
          </a:bodyPr>
          <a:lstStyle/>
          <a:p>
            <a:pPr defTabSz="739775"/>
            <a:r>
              <a:rPr lang="en-GB" sz="1800" dirty="0"/>
              <a:t>C</a:t>
            </a:r>
            <a:r>
              <a:rPr lang="en-GB" sz="1800" dirty="0" smtClean="0"/>
              <a:t>lose</a:t>
            </a:r>
            <a:endParaRPr lang="en-GB" sz="1800" dirty="0"/>
          </a:p>
        </p:txBody>
      </p:sp>
      <p:sp>
        <p:nvSpPr>
          <p:cNvPr id="435278" name="Text Box 78"/>
          <p:cNvSpPr txBox="1">
            <a:spLocks noChangeArrowheads="1"/>
          </p:cNvSpPr>
          <p:nvPr/>
        </p:nvSpPr>
        <p:spPr bwMode="auto">
          <a:xfrm>
            <a:off x="1330099" y="5176385"/>
            <a:ext cx="2374900"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t>Inheritance Of Interface</a:t>
            </a:r>
          </a:p>
        </p:txBody>
      </p:sp>
      <p:sp>
        <p:nvSpPr>
          <p:cNvPr id="435279" name="Text Box 79"/>
          <p:cNvSpPr txBox="1">
            <a:spLocks noChangeArrowheads="1"/>
          </p:cNvSpPr>
          <p:nvPr/>
        </p:nvSpPr>
        <p:spPr bwMode="auto">
          <a:xfrm>
            <a:off x="5254170" y="5038238"/>
            <a:ext cx="3248480" cy="915987"/>
          </a:xfrm>
          <a:prstGeom prst="rect">
            <a:avLst/>
          </a:prstGeom>
          <a:noFill/>
          <a:ln w="12700">
            <a:noFill/>
            <a:miter lim="800000"/>
            <a:headEnd type="none" w="sm" len="sm"/>
            <a:tailEnd type="none" w="sm" len="sm"/>
          </a:ln>
          <a:effectLst/>
        </p:spPr>
        <p:txBody>
          <a:bodyPr wrap="square">
            <a:spAutoFit/>
          </a:bodyPr>
          <a:lstStyle/>
          <a:p>
            <a:pPr defTabSz="739775">
              <a:spcBef>
                <a:spcPct val="0"/>
              </a:spcBef>
            </a:pPr>
            <a:r>
              <a:rPr lang="en-GB" sz="1800" dirty="0"/>
              <a:t>Inheritance Of Interface</a:t>
            </a:r>
          </a:p>
          <a:p>
            <a:pPr defTabSz="739775">
              <a:spcBef>
                <a:spcPct val="0"/>
              </a:spcBef>
            </a:pPr>
            <a:r>
              <a:rPr lang="en-GB" sz="1800" dirty="0"/>
              <a:t>And</a:t>
            </a:r>
          </a:p>
          <a:p>
            <a:pPr defTabSz="739775">
              <a:spcBef>
                <a:spcPct val="0"/>
              </a:spcBef>
            </a:pPr>
            <a:r>
              <a:rPr lang="en-GB" sz="1800" dirty="0"/>
              <a:t>Inheritance Of Implementation</a:t>
            </a:r>
          </a:p>
        </p:txBody>
      </p:sp>
      <p:sp>
        <p:nvSpPr>
          <p:cNvPr id="435280" name="Rectangle 80"/>
          <p:cNvSpPr>
            <a:spLocks noChangeArrowheads="1"/>
          </p:cNvSpPr>
          <p:nvPr/>
        </p:nvSpPr>
        <p:spPr bwMode="auto">
          <a:xfrm>
            <a:off x="3646487" y="2006600"/>
            <a:ext cx="1607683" cy="1193800"/>
          </a:xfrm>
          <a:prstGeom prst="rect">
            <a:avLst/>
          </a:prstGeom>
          <a:noFill/>
          <a:ln w="28575">
            <a:solidFill>
              <a:srgbClr val="0000FF"/>
            </a:solidFill>
            <a:miter lim="800000"/>
            <a:headEnd type="none" w="sm" len="sm"/>
            <a:tailEnd type="none" w="sm" len="sm"/>
          </a:ln>
          <a:effectLst/>
        </p:spPr>
        <p:txBody>
          <a:bodyPr wrap="none"/>
          <a:lstStyle/>
          <a:p>
            <a:pPr algn="ctr" defTabSz="739775">
              <a:spcBef>
                <a:spcPct val="0"/>
              </a:spcBef>
            </a:pPr>
            <a:r>
              <a:rPr lang="en-GB" sz="1800"/>
              <a:t>CheckAccount</a:t>
            </a:r>
          </a:p>
        </p:txBody>
      </p:sp>
      <p:sp>
        <p:nvSpPr>
          <p:cNvPr id="81" name="Rectangle 23"/>
          <p:cNvSpPr>
            <a:spLocks noChangeArrowheads="1"/>
          </p:cNvSpPr>
          <p:nvPr/>
        </p:nvSpPr>
        <p:spPr bwMode="auto">
          <a:xfrm>
            <a:off x="5574620" y="3792765"/>
            <a:ext cx="794672"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82" name="Rectangle 27"/>
          <p:cNvSpPr>
            <a:spLocks noChangeArrowheads="1"/>
          </p:cNvSpPr>
          <p:nvPr/>
        </p:nvSpPr>
        <p:spPr bwMode="auto">
          <a:xfrm>
            <a:off x="5574620" y="3972152"/>
            <a:ext cx="665945"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83" name="Rectangle 31"/>
          <p:cNvSpPr>
            <a:spLocks noChangeArrowheads="1"/>
          </p:cNvSpPr>
          <p:nvPr/>
        </p:nvSpPr>
        <p:spPr bwMode="auto">
          <a:xfrm>
            <a:off x="5574620" y="4153127"/>
            <a:ext cx="950860"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84" name="Rectangle 35"/>
          <p:cNvSpPr>
            <a:spLocks noChangeArrowheads="1"/>
          </p:cNvSpPr>
          <p:nvPr/>
        </p:nvSpPr>
        <p:spPr bwMode="auto">
          <a:xfrm>
            <a:off x="5574620" y="4332515"/>
            <a:ext cx="528637"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85" name="Rectangle 23"/>
          <p:cNvSpPr>
            <a:spLocks noChangeArrowheads="1"/>
          </p:cNvSpPr>
          <p:nvPr/>
        </p:nvSpPr>
        <p:spPr bwMode="auto">
          <a:xfrm>
            <a:off x="7294563" y="3800022"/>
            <a:ext cx="794672"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86" name="Rectangle 27"/>
          <p:cNvSpPr>
            <a:spLocks noChangeArrowheads="1"/>
          </p:cNvSpPr>
          <p:nvPr/>
        </p:nvSpPr>
        <p:spPr bwMode="auto">
          <a:xfrm>
            <a:off x="7294563" y="3979409"/>
            <a:ext cx="665945"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87" name="Rectangle 31"/>
          <p:cNvSpPr>
            <a:spLocks noChangeArrowheads="1"/>
          </p:cNvSpPr>
          <p:nvPr/>
        </p:nvSpPr>
        <p:spPr bwMode="auto">
          <a:xfrm>
            <a:off x="7294563" y="4160384"/>
            <a:ext cx="950860"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88" name="Rectangle 35"/>
          <p:cNvSpPr>
            <a:spLocks noChangeArrowheads="1"/>
          </p:cNvSpPr>
          <p:nvPr/>
        </p:nvSpPr>
        <p:spPr bwMode="auto">
          <a:xfrm>
            <a:off x="7294563" y="4339772"/>
            <a:ext cx="528637"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
        <p:nvSpPr>
          <p:cNvPr id="89" name="Rectangle 23"/>
          <p:cNvSpPr>
            <a:spLocks noChangeArrowheads="1"/>
          </p:cNvSpPr>
          <p:nvPr/>
        </p:nvSpPr>
        <p:spPr bwMode="auto">
          <a:xfrm>
            <a:off x="6314848" y="1891393"/>
            <a:ext cx="794672"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Withdraw</a:t>
            </a:r>
            <a:r>
              <a:rPr lang="en-GB" sz="1200" dirty="0">
                <a:solidFill>
                  <a:srgbClr val="000000"/>
                </a:solidFill>
              </a:rPr>
              <a:t>()</a:t>
            </a:r>
            <a:endParaRPr lang="en-GB" sz="1800" b="1" dirty="0"/>
          </a:p>
        </p:txBody>
      </p:sp>
      <p:sp>
        <p:nvSpPr>
          <p:cNvPr id="90" name="Rectangle 27"/>
          <p:cNvSpPr>
            <a:spLocks noChangeArrowheads="1"/>
          </p:cNvSpPr>
          <p:nvPr/>
        </p:nvSpPr>
        <p:spPr bwMode="auto">
          <a:xfrm>
            <a:off x="6314848" y="2070780"/>
            <a:ext cx="665945"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Deposit</a:t>
            </a:r>
            <a:r>
              <a:rPr lang="en-GB" sz="1200" dirty="0">
                <a:solidFill>
                  <a:srgbClr val="000000"/>
                </a:solidFill>
              </a:rPr>
              <a:t>()</a:t>
            </a:r>
            <a:endParaRPr lang="en-GB" sz="1800" b="1" dirty="0"/>
          </a:p>
        </p:txBody>
      </p:sp>
      <p:sp>
        <p:nvSpPr>
          <p:cNvPr id="91" name="Rectangle 31"/>
          <p:cNvSpPr>
            <a:spLocks noChangeArrowheads="1"/>
          </p:cNvSpPr>
          <p:nvPr/>
        </p:nvSpPr>
        <p:spPr bwMode="auto">
          <a:xfrm>
            <a:off x="6314848" y="2251755"/>
            <a:ext cx="950860"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err="1" smtClean="0">
                <a:solidFill>
                  <a:srgbClr val="000000"/>
                </a:solidFill>
              </a:rPr>
              <a:t>AddInterest</a:t>
            </a:r>
            <a:r>
              <a:rPr lang="en-GB" sz="1200" dirty="0">
                <a:solidFill>
                  <a:srgbClr val="000000"/>
                </a:solidFill>
              </a:rPr>
              <a:t>()</a:t>
            </a:r>
            <a:endParaRPr lang="en-GB" sz="1800" b="1" dirty="0"/>
          </a:p>
        </p:txBody>
      </p:sp>
      <p:sp>
        <p:nvSpPr>
          <p:cNvPr id="92" name="Rectangle 35"/>
          <p:cNvSpPr>
            <a:spLocks noChangeArrowheads="1"/>
          </p:cNvSpPr>
          <p:nvPr/>
        </p:nvSpPr>
        <p:spPr bwMode="auto">
          <a:xfrm>
            <a:off x="6314848" y="2431143"/>
            <a:ext cx="528637" cy="184666"/>
          </a:xfrm>
          <a:prstGeom prst="rect">
            <a:avLst/>
          </a:prstGeom>
          <a:noFill/>
          <a:ln w="9525">
            <a:noFill/>
            <a:miter lim="800000"/>
            <a:headEnd/>
            <a:tailEnd/>
          </a:ln>
        </p:spPr>
        <p:txBody>
          <a:bodyPr wrap="square" lIns="0" tIns="0" rIns="0" bIns="0">
            <a:spAutoFit/>
          </a:bodyPr>
          <a:lstStyle/>
          <a:p>
            <a:pPr defTabSz="739775">
              <a:spcBef>
                <a:spcPct val="0"/>
              </a:spcBef>
            </a:pPr>
            <a:r>
              <a:rPr lang="en-GB" sz="1200" dirty="0" smtClean="0">
                <a:solidFill>
                  <a:srgbClr val="000000"/>
                </a:solidFill>
              </a:rPr>
              <a:t>Close</a:t>
            </a:r>
            <a:r>
              <a:rPr lang="en-GB" sz="1200" dirty="0">
                <a:solidFill>
                  <a:srgbClr val="000000"/>
                </a:solidFill>
              </a:rPr>
              <a:t>()</a:t>
            </a:r>
            <a:endParaRPr lang="en-GB" sz="1800" b="1" dirty="0"/>
          </a:p>
        </p:txBody>
      </p:sp>
    </p:spTree>
    <p:extLst>
      <p:ext uri="{BB962C8B-B14F-4D97-AF65-F5344CB8AC3E}">
        <p14:creationId xmlns:p14="http://schemas.microsoft.com/office/powerpoint/2010/main" val="17364668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9" name="Rectangle 5"/>
          <p:cNvSpPr>
            <a:spLocks noChangeArrowheads="1"/>
          </p:cNvSpPr>
          <p:nvPr/>
        </p:nvSpPr>
        <p:spPr bwMode="auto">
          <a:xfrm>
            <a:off x="3165475" y="6896788"/>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8" name="Text Placeholder 7"/>
          <p:cNvSpPr>
            <a:spLocks noGrp="1"/>
          </p:cNvSpPr>
          <p:nvPr>
            <p:ph type="body" sz="quarter" idx="15"/>
          </p:nvPr>
        </p:nvSpPr>
        <p:spPr/>
        <p:txBody>
          <a:bodyPr/>
          <a:lstStyle/>
          <a:p>
            <a:r>
              <a:rPr lang="en-GB" dirty="0"/>
              <a:t>The arrow and the names of the propagated operations can only be used with aggregation (and composition, which we'll discuss later</a:t>
            </a:r>
            <a:r>
              <a:rPr lang="en-GB" dirty="0" smtClean="0"/>
              <a:t>)</a:t>
            </a:r>
          </a:p>
          <a:p>
            <a:endParaRPr lang="en-GB" dirty="0"/>
          </a:p>
          <a:p>
            <a:endParaRPr lang="en-GB" dirty="0" smtClean="0"/>
          </a:p>
          <a:p>
            <a:endParaRPr lang="en-GB" dirty="0"/>
          </a:p>
          <a:p>
            <a:endParaRPr lang="en-GB" dirty="0" smtClean="0"/>
          </a:p>
          <a:p>
            <a:r>
              <a:rPr lang="en-GB" dirty="0" smtClean="0"/>
              <a:t>In the above example, a customer can have zero to many accounts</a:t>
            </a:r>
          </a:p>
          <a:p>
            <a:r>
              <a:rPr lang="en-GB" dirty="0" smtClean="0"/>
              <a:t>You can use numbers to restrict creating of </a:t>
            </a:r>
            <a:r>
              <a:rPr lang="en-GB" dirty="0" err="1" smtClean="0"/>
              <a:t>BankAccounts</a:t>
            </a:r>
            <a:endParaRPr lang="en-GB" dirty="0"/>
          </a:p>
        </p:txBody>
      </p:sp>
      <p:sp>
        <p:nvSpPr>
          <p:cNvPr id="441350" name="Rectangle 6"/>
          <p:cNvSpPr>
            <a:spLocks noGrp="1" noChangeArrowheads="1"/>
          </p:cNvSpPr>
          <p:nvPr>
            <p:ph type="title"/>
          </p:nvPr>
        </p:nvSpPr>
        <p:spPr/>
        <p:txBody>
          <a:bodyPr/>
          <a:lstStyle/>
          <a:p>
            <a:r>
              <a:rPr lang="en-GB" dirty="0" smtClean="0"/>
              <a:t>Aggregation</a:t>
            </a:r>
            <a:endParaRPr lang="en-GB" dirty="0"/>
          </a:p>
        </p:txBody>
      </p:sp>
      <p:grpSp>
        <p:nvGrpSpPr>
          <p:cNvPr id="2" name="Group 10"/>
          <p:cNvGrpSpPr>
            <a:grpSpLocks/>
          </p:cNvGrpSpPr>
          <p:nvPr/>
        </p:nvGrpSpPr>
        <p:grpSpPr bwMode="auto">
          <a:xfrm>
            <a:off x="5280025" y="1873938"/>
            <a:ext cx="3581342" cy="690563"/>
            <a:chOff x="724" y="772"/>
            <a:chExt cx="1973" cy="435"/>
          </a:xfrm>
        </p:grpSpPr>
        <p:sp>
          <p:nvSpPr>
            <p:cNvPr id="441355" name="Rectangle 11"/>
            <p:cNvSpPr>
              <a:spLocks noChangeArrowheads="1"/>
            </p:cNvSpPr>
            <p:nvPr/>
          </p:nvSpPr>
          <p:spPr bwMode="auto">
            <a:xfrm>
              <a:off x="724" y="772"/>
              <a:ext cx="1973" cy="435"/>
            </a:xfrm>
            <a:prstGeom prst="rect">
              <a:avLst/>
            </a:prstGeom>
            <a:noFill/>
            <a:ln w="12700">
              <a:solidFill>
                <a:schemeClr val="tx1"/>
              </a:solidFill>
              <a:miter lim="800000"/>
              <a:headEnd/>
              <a:tailEnd/>
            </a:ln>
            <a:effectLst/>
          </p:spPr>
          <p:txBody>
            <a:bodyPr wrap="none" lIns="90488" tIns="44450" rIns="90488" bIns="44450" anchorCtr="1"/>
            <a:lstStyle/>
            <a:p>
              <a:pPr algn="ctr">
                <a:spcBef>
                  <a:spcPct val="0"/>
                </a:spcBef>
              </a:pPr>
              <a:r>
                <a:rPr lang="en-GB" sz="2000" b="1"/>
                <a:t>BankAccount</a:t>
              </a:r>
            </a:p>
          </p:txBody>
        </p:sp>
        <p:sp>
          <p:nvSpPr>
            <p:cNvPr id="441356" name="Line 12"/>
            <p:cNvSpPr>
              <a:spLocks noChangeShapeType="1"/>
            </p:cNvSpPr>
            <p:nvPr/>
          </p:nvSpPr>
          <p:spPr bwMode="auto">
            <a:xfrm>
              <a:off x="724" y="1008"/>
              <a:ext cx="1973" cy="0"/>
            </a:xfrm>
            <a:prstGeom prst="line">
              <a:avLst/>
            </a:prstGeom>
            <a:noFill/>
            <a:ln w="12700">
              <a:solidFill>
                <a:schemeClr val="tx1"/>
              </a:solidFill>
              <a:round/>
              <a:headEnd/>
              <a:tailEnd/>
            </a:ln>
            <a:effectLst/>
          </p:spPr>
          <p:txBody>
            <a:bodyPr wrap="none" anchor="ctr"/>
            <a:lstStyle/>
            <a:p>
              <a:endParaRPr lang="en-GB"/>
            </a:p>
          </p:txBody>
        </p:sp>
        <p:sp>
          <p:nvSpPr>
            <p:cNvPr id="441357" name="Rectangle 13"/>
            <p:cNvSpPr>
              <a:spLocks noChangeArrowheads="1"/>
            </p:cNvSpPr>
            <p:nvPr/>
          </p:nvSpPr>
          <p:spPr bwMode="auto">
            <a:xfrm>
              <a:off x="729" y="989"/>
              <a:ext cx="1920" cy="21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ConvertCurrency(newCurrency)</a:t>
              </a:r>
            </a:p>
          </p:txBody>
        </p:sp>
      </p:grpSp>
      <p:grpSp>
        <p:nvGrpSpPr>
          <p:cNvPr id="5" name="Group 26"/>
          <p:cNvGrpSpPr>
            <a:grpSpLocks/>
          </p:cNvGrpSpPr>
          <p:nvPr/>
        </p:nvGrpSpPr>
        <p:grpSpPr bwMode="auto">
          <a:xfrm>
            <a:off x="773113" y="1867588"/>
            <a:ext cx="2892425" cy="690563"/>
            <a:chOff x="724" y="772"/>
            <a:chExt cx="1973" cy="435"/>
          </a:xfrm>
        </p:grpSpPr>
        <p:sp>
          <p:nvSpPr>
            <p:cNvPr id="441371" name="Rectangle 27"/>
            <p:cNvSpPr>
              <a:spLocks noChangeArrowheads="1"/>
            </p:cNvSpPr>
            <p:nvPr/>
          </p:nvSpPr>
          <p:spPr bwMode="auto">
            <a:xfrm>
              <a:off x="724" y="772"/>
              <a:ext cx="1973" cy="435"/>
            </a:xfrm>
            <a:prstGeom prst="rect">
              <a:avLst/>
            </a:prstGeom>
            <a:noFill/>
            <a:ln w="12700">
              <a:solidFill>
                <a:schemeClr val="tx1"/>
              </a:solidFill>
              <a:miter lim="800000"/>
              <a:headEnd/>
              <a:tailEnd/>
            </a:ln>
            <a:effectLst/>
          </p:spPr>
          <p:txBody>
            <a:bodyPr wrap="none" lIns="90488" tIns="44450" rIns="90488" bIns="44450" anchorCtr="1"/>
            <a:lstStyle/>
            <a:p>
              <a:pPr algn="ctr">
                <a:spcBef>
                  <a:spcPct val="0"/>
                </a:spcBef>
              </a:pPr>
              <a:r>
                <a:rPr lang="en-GB" sz="2000" b="1"/>
                <a:t>Customer</a:t>
              </a:r>
            </a:p>
          </p:txBody>
        </p:sp>
        <p:sp>
          <p:nvSpPr>
            <p:cNvPr id="441372" name="Line 28"/>
            <p:cNvSpPr>
              <a:spLocks noChangeShapeType="1"/>
            </p:cNvSpPr>
            <p:nvPr/>
          </p:nvSpPr>
          <p:spPr bwMode="auto">
            <a:xfrm>
              <a:off x="724" y="1008"/>
              <a:ext cx="1973" cy="0"/>
            </a:xfrm>
            <a:prstGeom prst="line">
              <a:avLst/>
            </a:prstGeom>
            <a:noFill/>
            <a:ln w="12700">
              <a:solidFill>
                <a:schemeClr val="tx1"/>
              </a:solidFill>
              <a:round/>
              <a:headEnd/>
              <a:tailEnd/>
            </a:ln>
            <a:effectLst/>
          </p:spPr>
          <p:txBody>
            <a:bodyPr wrap="none" anchor="ctr"/>
            <a:lstStyle/>
            <a:p>
              <a:endParaRPr lang="en-GB"/>
            </a:p>
          </p:txBody>
        </p:sp>
        <p:sp>
          <p:nvSpPr>
            <p:cNvPr id="441373" name="Rectangle 29"/>
            <p:cNvSpPr>
              <a:spLocks noChangeArrowheads="1"/>
            </p:cNvSpPr>
            <p:nvPr/>
          </p:nvSpPr>
          <p:spPr bwMode="auto">
            <a:xfrm>
              <a:off x="729" y="989"/>
              <a:ext cx="114" cy="210"/>
            </a:xfrm>
            <a:prstGeom prst="rect">
              <a:avLst/>
            </a:prstGeom>
            <a:noFill/>
            <a:ln w="12700">
              <a:noFill/>
              <a:miter lim="800000"/>
              <a:headEnd/>
              <a:tailEnd/>
            </a:ln>
            <a:effectLst/>
          </p:spPr>
          <p:txBody>
            <a:bodyPr wrap="none" lIns="90488" tIns="44450" rIns="90488" bIns="44450">
              <a:spAutoFit/>
            </a:bodyPr>
            <a:lstStyle/>
            <a:p>
              <a:pPr>
                <a:spcBef>
                  <a:spcPct val="0"/>
                </a:spcBef>
              </a:pPr>
              <a:endParaRPr lang="en-US" sz="1600"/>
            </a:p>
          </p:txBody>
        </p:sp>
      </p:grpSp>
      <p:sp>
        <p:nvSpPr>
          <p:cNvPr id="441374" name="Line 30"/>
          <p:cNvSpPr>
            <a:spLocks noChangeShapeType="1"/>
          </p:cNvSpPr>
          <p:nvPr/>
        </p:nvSpPr>
        <p:spPr bwMode="auto">
          <a:xfrm>
            <a:off x="3657600" y="2172388"/>
            <a:ext cx="1617663" cy="0"/>
          </a:xfrm>
          <a:prstGeom prst="line">
            <a:avLst/>
          </a:prstGeom>
          <a:noFill/>
          <a:ln w="12700">
            <a:solidFill>
              <a:schemeClr val="tx1"/>
            </a:solidFill>
            <a:round/>
            <a:headEnd type="none" w="sm" len="sm"/>
            <a:tailEnd type="none" w="sm" len="sm"/>
          </a:ln>
          <a:effectLst/>
        </p:spPr>
        <p:txBody>
          <a:bodyPr/>
          <a:lstStyle/>
          <a:p>
            <a:endParaRPr lang="en-GB"/>
          </a:p>
        </p:txBody>
      </p:sp>
      <p:sp>
        <p:nvSpPr>
          <p:cNvPr id="441375" name="Rectangle 31"/>
          <p:cNvSpPr>
            <a:spLocks noChangeArrowheads="1"/>
          </p:cNvSpPr>
          <p:nvPr/>
        </p:nvSpPr>
        <p:spPr bwMode="auto">
          <a:xfrm>
            <a:off x="4921250" y="1758138"/>
            <a:ext cx="387928" cy="582211"/>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3200" b="1" dirty="0">
                <a:latin typeface="Times New Roman" pitchFamily="18" charset="0"/>
              </a:rPr>
              <a:t>*</a:t>
            </a:r>
            <a:endParaRPr lang="en-GB" sz="2000" b="1" dirty="0">
              <a:latin typeface="Times New Roman" pitchFamily="18" charset="0"/>
            </a:endParaRPr>
          </a:p>
        </p:txBody>
      </p:sp>
      <p:grpSp>
        <p:nvGrpSpPr>
          <p:cNvPr id="40" name="Group 10"/>
          <p:cNvGrpSpPr>
            <a:grpSpLocks/>
          </p:cNvGrpSpPr>
          <p:nvPr/>
        </p:nvGrpSpPr>
        <p:grpSpPr bwMode="auto">
          <a:xfrm>
            <a:off x="5299422" y="4486890"/>
            <a:ext cx="3581342" cy="690563"/>
            <a:chOff x="724" y="772"/>
            <a:chExt cx="1973" cy="435"/>
          </a:xfrm>
        </p:grpSpPr>
        <p:sp>
          <p:nvSpPr>
            <p:cNvPr id="41" name="Rectangle 11"/>
            <p:cNvSpPr>
              <a:spLocks noChangeArrowheads="1"/>
            </p:cNvSpPr>
            <p:nvPr/>
          </p:nvSpPr>
          <p:spPr bwMode="auto">
            <a:xfrm>
              <a:off x="724" y="772"/>
              <a:ext cx="1973" cy="435"/>
            </a:xfrm>
            <a:prstGeom prst="rect">
              <a:avLst/>
            </a:prstGeom>
            <a:noFill/>
            <a:ln w="12700">
              <a:solidFill>
                <a:schemeClr val="tx1"/>
              </a:solidFill>
              <a:miter lim="800000"/>
              <a:headEnd/>
              <a:tailEnd/>
            </a:ln>
            <a:effectLst/>
          </p:spPr>
          <p:txBody>
            <a:bodyPr wrap="none" lIns="90488" tIns="44450" rIns="90488" bIns="44450" anchorCtr="1"/>
            <a:lstStyle/>
            <a:p>
              <a:pPr algn="ctr">
                <a:spcBef>
                  <a:spcPct val="0"/>
                </a:spcBef>
              </a:pPr>
              <a:r>
                <a:rPr lang="en-GB" sz="2000" b="1"/>
                <a:t>BankAccount</a:t>
              </a:r>
            </a:p>
          </p:txBody>
        </p:sp>
        <p:sp>
          <p:nvSpPr>
            <p:cNvPr id="42" name="Line 12"/>
            <p:cNvSpPr>
              <a:spLocks noChangeShapeType="1"/>
            </p:cNvSpPr>
            <p:nvPr/>
          </p:nvSpPr>
          <p:spPr bwMode="auto">
            <a:xfrm>
              <a:off x="724" y="1008"/>
              <a:ext cx="1973" cy="0"/>
            </a:xfrm>
            <a:prstGeom prst="line">
              <a:avLst/>
            </a:prstGeom>
            <a:noFill/>
            <a:ln w="12700">
              <a:solidFill>
                <a:schemeClr val="tx1"/>
              </a:solidFill>
              <a:round/>
              <a:headEnd/>
              <a:tailEnd/>
            </a:ln>
            <a:effectLst/>
          </p:spPr>
          <p:txBody>
            <a:bodyPr wrap="none" anchor="ctr"/>
            <a:lstStyle/>
            <a:p>
              <a:endParaRPr lang="en-GB"/>
            </a:p>
          </p:txBody>
        </p:sp>
        <p:sp>
          <p:nvSpPr>
            <p:cNvPr id="43" name="Rectangle 13"/>
            <p:cNvSpPr>
              <a:spLocks noChangeArrowheads="1"/>
            </p:cNvSpPr>
            <p:nvPr/>
          </p:nvSpPr>
          <p:spPr bwMode="auto">
            <a:xfrm>
              <a:off x="729" y="989"/>
              <a:ext cx="1920" cy="21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ConvertCurrency(newCurrency)</a:t>
              </a:r>
            </a:p>
          </p:txBody>
        </p:sp>
      </p:grpSp>
      <p:grpSp>
        <p:nvGrpSpPr>
          <p:cNvPr id="44" name="Group 26"/>
          <p:cNvGrpSpPr>
            <a:grpSpLocks/>
          </p:cNvGrpSpPr>
          <p:nvPr/>
        </p:nvGrpSpPr>
        <p:grpSpPr bwMode="auto">
          <a:xfrm>
            <a:off x="792510" y="4480540"/>
            <a:ext cx="2892425" cy="690563"/>
            <a:chOff x="724" y="772"/>
            <a:chExt cx="1973" cy="435"/>
          </a:xfrm>
        </p:grpSpPr>
        <p:sp>
          <p:nvSpPr>
            <p:cNvPr id="45" name="Rectangle 27"/>
            <p:cNvSpPr>
              <a:spLocks noChangeArrowheads="1"/>
            </p:cNvSpPr>
            <p:nvPr/>
          </p:nvSpPr>
          <p:spPr bwMode="auto">
            <a:xfrm>
              <a:off x="724" y="772"/>
              <a:ext cx="1973" cy="435"/>
            </a:xfrm>
            <a:prstGeom prst="rect">
              <a:avLst/>
            </a:prstGeom>
            <a:noFill/>
            <a:ln w="12700">
              <a:solidFill>
                <a:schemeClr val="tx1"/>
              </a:solidFill>
              <a:miter lim="800000"/>
              <a:headEnd/>
              <a:tailEnd/>
            </a:ln>
            <a:effectLst/>
          </p:spPr>
          <p:txBody>
            <a:bodyPr wrap="none" lIns="90488" tIns="44450" rIns="90488" bIns="44450" anchorCtr="1"/>
            <a:lstStyle/>
            <a:p>
              <a:pPr algn="ctr">
                <a:spcBef>
                  <a:spcPct val="0"/>
                </a:spcBef>
              </a:pPr>
              <a:r>
                <a:rPr lang="en-GB" sz="2000" b="1"/>
                <a:t>Customer</a:t>
              </a:r>
            </a:p>
          </p:txBody>
        </p:sp>
        <p:sp>
          <p:nvSpPr>
            <p:cNvPr id="46" name="Line 28"/>
            <p:cNvSpPr>
              <a:spLocks noChangeShapeType="1"/>
            </p:cNvSpPr>
            <p:nvPr/>
          </p:nvSpPr>
          <p:spPr bwMode="auto">
            <a:xfrm>
              <a:off x="724" y="1008"/>
              <a:ext cx="1973" cy="0"/>
            </a:xfrm>
            <a:prstGeom prst="line">
              <a:avLst/>
            </a:prstGeom>
            <a:noFill/>
            <a:ln w="12700">
              <a:solidFill>
                <a:schemeClr val="tx1"/>
              </a:solidFill>
              <a:round/>
              <a:headEnd/>
              <a:tailEnd/>
            </a:ln>
            <a:effectLst/>
          </p:spPr>
          <p:txBody>
            <a:bodyPr wrap="none" anchor="ctr"/>
            <a:lstStyle/>
            <a:p>
              <a:endParaRPr lang="en-GB"/>
            </a:p>
          </p:txBody>
        </p:sp>
        <p:sp>
          <p:nvSpPr>
            <p:cNvPr id="47" name="Rectangle 29"/>
            <p:cNvSpPr>
              <a:spLocks noChangeArrowheads="1"/>
            </p:cNvSpPr>
            <p:nvPr/>
          </p:nvSpPr>
          <p:spPr bwMode="auto">
            <a:xfrm>
              <a:off x="729" y="989"/>
              <a:ext cx="114" cy="210"/>
            </a:xfrm>
            <a:prstGeom prst="rect">
              <a:avLst/>
            </a:prstGeom>
            <a:noFill/>
            <a:ln w="12700">
              <a:noFill/>
              <a:miter lim="800000"/>
              <a:headEnd/>
              <a:tailEnd/>
            </a:ln>
            <a:effectLst/>
          </p:spPr>
          <p:txBody>
            <a:bodyPr wrap="none" lIns="90488" tIns="44450" rIns="90488" bIns="44450">
              <a:spAutoFit/>
            </a:bodyPr>
            <a:lstStyle/>
            <a:p>
              <a:pPr>
                <a:spcBef>
                  <a:spcPct val="0"/>
                </a:spcBef>
              </a:pPr>
              <a:endParaRPr lang="en-US" sz="1600"/>
            </a:p>
          </p:txBody>
        </p:sp>
      </p:grpSp>
      <p:sp>
        <p:nvSpPr>
          <p:cNvPr id="48" name="Line 30"/>
          <p:cNvSpPr>
            <a:spLocks noChangeShapeType="1"/>
          </p:cNvSpPr>
          <p:nvPr/>
        </p:nvSpPr>
        <p:spPr bwMode="auto">
          <a:xfrm>
            <a:off x="3676997" y="4785340"/>
            <a:ext cx="1617663" cy="0"/>
          </a:xfrm>
          <a:prstGeom prst="line">
            <a:avLst/>
          </a:prstGeom>
          <a:noFill/>
          <a:ln w="12700">
            <a:solidFill>
              <a:schemeClr val="tx1"/>
            </a:solidFill>
            <a:round/>
            <a:headEnd type="none" w="sm" len="sm"/>
            <a:tailEnd type="none" w="sm" len="sm"/>
          </a:ln>
          <a:effectLst/>
        </p:spPr>
        <p:txBody>
          <a:bodyPr/>
          <a:lstStyle/>
          <a:p>
            <a:endParaRPr lang="en-GB"/>
          </a:p>
        </p:txBody>
      </p:sp>
      <p:sp>
        <p:nvSpPr>
          <p:cNvPr id="49" name="Rectangle 31"/>
          <p:cNvSpPr>
            <a:spLocks noChangeArrowheads="1"/>
          </p:cNvSpPr>
          <p:nvPr/>
        </p:nvSpPr>
        <p:spPr bwMode="auto">
          <a:xfrm>
            <a:off x="4674642" y="4404340"/>
            <a:ext cx="567464" cy="39754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dirty="0" smtClean="0">
                <a:latin typeface="Times New Roman" pitchFamily="18" charset="0"/>
              </a:rPr>
              <a:t>1..3</a:t>
            </a:r>
            <a:endParaRPr lang="en-GB" sz="2000" b="1" dirty="0">
              <a:latin typeface="Times New Roman" pitchFamily="18" charset="0"/>
            </a:endParaRPr>
          </a:p>
        </p:txBody>
      </p:sp>
    </p:spTree>
    <p:extLst>
      <p:ext uri="{BB962C8B-B14F-4D97-AF65-F5344CB8AC3E}">
        <p14:creationId xmlns:p14="http://schemas.microsoft.com/office/powerpoint/2010/main" val="1395582012"/>
      </p:ext>
    </p:extLst>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ChangeArrowheads="1"/>
          </p:cNvSpPr>
          <p:nvPr/>
        </p:nvSpPr>
        <p:spPr bwMode="auto">
          <a:xfrm>
            <a:off x="703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1347" name="Rectangle 3"/>
          <p:cNvSpPr>
            <a:spLocks noChangeArrowheads="1"/>
          </p:cNvSpPr>
          <p:nvPr/>
        </p:nvSpPr>
        <p:spPr bwMode="auto">
          <a:xfrm>
            <a:off x="3165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1348" name="Rectangle 4"/>
          <p:cNvSpPr>
            <a:spLocks noChangeArrowheads="1"/>
          </p:cNvSpPr>
          <p:nvPr/>
        </p:nvSpPr>
        <p:spPr bwMode="auto">
          <a:xfrm>
            <a:off x="703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1349" name="Rectangle 5"/>
          <p:cNvSpPr>
            <a:spLocks noChangeArrowheads="1"/>
          </p:cNvSpPr>
          <p:nvPr/>
        </p:nvSpPr>
        <p:spPr bwMode="auto">
          <a:xfrm>
            <a:off x="3165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8" name="Text Placeholder 7"/>
          <p:cNvSpPr>
            <a:spLocks noGrp="1"/>
          </p:cNvSpPr>
          <p:nvPr>
            <p:ph type="body" sz="quarter" idx="15"/>
          </p:nvPr>
        </p:nvSpPr>
        <p:spPr/>
        <p:txBody>
          <a:bodyPr/>
          <a:lstStyle/>
          <a:p>
            <a:r>
              <a:rPr lang="en-GB" dirty="0"/>
              <a:t>The arrow and the names of the propagated operations can only be used with aggregation (and composition, which we'll discuss later)</a:t>
            </a:r>
          </a:p>
        </p:txBody>
      </p:sp>
      <p:sp>
        <p:nvSpPr>
          <p:cNvPr id="441350" name="Rectangle 6"/>
          <p:cNvSpPr>
            <a:spLocks noGrp="1" noChangeArrowheads="1"/>
          </p:cNvSpPr>
          <p:nvPr>
            <p:ph type="title"/>
          </p:nvPr>
        </p:nvSpPr>
        <p:spPr/>
        <p:txBody>
          <a:bodyPr>
            <a:normAutofit/>
          </a:bodyPr>
          <a:lstStyle/>
          <a:p>
            <a:r>
              <a:rPr lang="en-GB" dirty="0" smtClean="0"/>
              <a:t>Composition – Delegation of work to other objects</a:t>
            </a:r>
            <a:endParaRPr lang="en-GB" dirty="0"/>
          </a:p>
        </p:txBody>
      </p:sp>
      <p:sp>
        <p:nvSpPr>
          <p:cNvPr id="441351" name="Rectangle 7"/>
          <p:cNvSpPr>
            <a:spLocks noChangeArrowheads="1"/>
          </p:cNvSpPr>
          <p:nvPr/>
        </p:nvSpPr>
        <p:spPr bwMode="auto">
          <a:xfrm>
            <a:off x="6875463" y="2733093"/>
            <a:ext cx="284162" cy="39370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1</a:t>
            </a:r>
          </a:p>
        </p:txBody>
      </p:sp>
      <p:sp>
        <p:nvSpPr>
          <p:cNvPr id="441352" name="Rectangle 8"/>
          <p:cNvSpPr>
            <a:spLocks noChangeArrowheads="1"/>
          </p:cNvSpPr>
          <p:nvPr/>
        </p:nvSpPr>
        <p:spPr bwMode="auto">
          <a:xfrm>
            <a:off x="6875463" y="4180893"/>
            <a:ext cx="519112" cy="39370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1..*</a:t>
            </a:r>
          </a:p>
        </p:txBody>
      </p:sp>
      <p:sp>
        <p:nvSpPr>
          <p:cNvPr id="441353" name="Freeform 9"/>
          <p:cNvSpPr>
            <a:spLocks/>
          </p:cNvSpPr>
          <p:nvPr/>
        </p:nvSpPr>
        <p:spPr bwMode="auto">
          <a:xfrm>
            <a:off x="6583363" y="2764843"/>
            <a:ext cx="284162" cy="496888"/>
          </a:xfrm>
          <a:custGeom>
            <a:avLst/>
            <a:gdLst/>
            <a:ahLst/>
            <a:cxnLst>
              <a:cxn ang="0">
                <a:pos x="96" y="312"/>
              </a:cxn>
              <a:cxn ang="0">
                <a:pos x="192" y="156"/>
              </a:cxn>
              <a:cxn ang="0">
                <a:pos x="96" y="0"/>
              </a:cxn>
              <a:cxn ang="0">
                <a:pos x="0" y="156"/>
              </a:cxn>
              <a:cxn ang="0">
                <a:pos x="96" y="312"/>
              </a:cxn>
            </a:cxnLst>
            <a:rect l="0" t="0" r="r" b="b"/>
            <a:pathLst>
              <a:path w="193" h="313">
                <a:moveTo>
                  <a:pt x="96" y="312"/>
                </a:moveTo>
                <a:lnTo>
                  <a:pt x="192" y="156"/>
                </a:lnTo>
                <a:lnTo>
                  <a:pt x="96" y="0"/>
                </a:lnTo>
                <a:lnTo>
                  <a:pt x="0" y="156"/>
                </a:lnTo>
                <a:lnTo>
                  <a:pt x="96" y="312"/>
                </a:lnTo>
              </a:path>
            </a:pathLst>
          </a:custGeom>
          <a:solidFill>
            <a:schemeClr val="bg1"/>
          </a:solidFill>
          <a:ln w="12700" cap="rnd" cmpd="sng">
            <a:solidFill>
              <a:schemeClr val="tx1"/>
            </a:solidFill>
            <a:prstDash val="solid"/>
            <a:round/>
            <a:headEnd type="none" w="med" len="med"/>
            <a:tailEnd type="none" w="med" len="med"/>
          </a:ln>
          <a:effectLst/>
        </p:spPr>
        <p:txBody>
          <a:bodyPr/>
          <a:lstStyle/>
          <a:p>
            <a:endParaRPr lang="en-GB"/>
          </a:p>
        </p:txBody>
      </p:sp>
      <p:grpSp>
        <p:nvGrpSpPr>
          <p:cNvPr id="2" name="Group 10"/>
          <p:cNvGrpSpPr>
            <a:grpSpLocks/>
          </p:cNvGrpSpPr>
          <p:nvPr/>
        </p:nvGrpSpPr>
        <p:grpSpPr bwMode="auto">
          <a:xfrm>
            <a:off x="5280025" y="2056818"/>
            <a:ext cx="2890838" cy="690563"/>
            <a:chOff x="724" y="772"/>
            <a:chExt cx="1973" cy="435"/>
          </a:xfrm>
        </p:grpSpPr>
        <p:sp>
          <p:nvSpPr>
            <p:cNvPr id="441355" name="Rectangle 11"/>
            <p:cNvSpPr>
              <a:spLocks noChangeArrowheads="1"/>
            </p:cNvSpPr>
            <p:nvPr/>
          </p:nvSpPr>
          <p:spPr bwMode="auto">
            <a:xfrm>
              <a:off x="724" y="772"/>
              <a:ext cx="1973" cy="435"/>
            </a:xfrm>
            <a:prstGeom prst="rect">
              <a:avLst/>
            </a:prstGeom>
            <a:noFill/>
            <a:ln w="12700">
              <a:solidFill>
                <a:schemeClr val="tx1"/>
              </a:solidFill>
              <a:miter lim="800000"/>
              <a:headEnd/>
              <a:tailEnd/>
            </a:ln>
            <a:effectLst/>
          </p:spPr>
          <p:txBody>
            <a:bodyPr wrap="none" lIns="90488" tIns="44450" rIns="90488" bIns="44450" anchorCtr="1"/>
            <a:lstStyle/>
            <a:p>
              <a:pPr algn="ctr">
                <a:spcBef>
                  <a:spcPct val="0"/>
                </a:spcBef>
              </a:pPr>
              <a:r>
                <a:rPr lang="en-GB" sz="2000" b="1"/>
                <a:t>BankAccount</a:t>
              </a:r>
            </a:p>
          </p:txBody>
        </p:sp>
        <p:sp>
          <p:nvSpPr>
            <p:cNvPr id="441356" name="Line 12"/>
            <p:cNvSpPr>
              <a:spLocks noChangeShapeType="1"/>
            </p:cNvSpPr>
            <p:nvPr/>
          </p:nvSpPr>
          <p:spPr bwMode="auto">
            <a:xfrm>
              <a:off x="724" y="1008"/>
              <a:ext cx="1973" cy="0"/>
            </a:xfrm>
            <a:prstGeom prst="line">
              <a:avLst/>
            </a:prstGeom>
            <a:noFill/>
            <a:ln w="12700">
              <a:solidFill>
                <a:schemeClr val="tx1"/>
              </a:solidFill>
              <a:round/>
              <a:headEnd/>
              <a:tailEnd/>
            </a:ln>
            <a:effectLst/>
          </p:spPr>
          <p:txBody>
            <a:bodyPr wrap="none" anchor="ctr"/>
            <a:lstStyle/>
            <a:p>
              <a:endParaRPr lang="en-GB"/>
            </a:p>
          </p:txBody>
        </p:sp>
        <p:sp>
          <p:nvSpPr>
            <p:cNvPr id="441357" name="Rectangle 13"/>
            <p:cNvSpPr>
              <a:spLocks noChangeArrowheads="1"/>
            </p:cNvSpPr>
            <p:nvPr/>
          </p:nvSpPr>
          <p:spPr bwMode="auto">
            <a:xfrm>
              <a:off x="729" y="989"/>
              <a:ext cx="1920" cy="21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ConvertCurrency(newCurrency)</a:t>
              </a:r>
            </a:p>
          </p:txBody>
        </p:sp>
      </p:grpSp>
      <p:grpSp>
        <p:nvGrpSpPr>
          <p:cNvPr id="3" name="Group 14"/>
          <p:cNvGrpSpPr>
            <a:grpSpLocks/>
          </p:cNvGrpSpPr>
          <p:nvPr/>
        </p:nvGrpSpPr>
        <p:grpSpPr bwMode="auto">
          <a:xfrm>
            <a:off x="5280025" y="4647618"/>
            <a:ext cx="2890838" cy="690563"/>
            <a:chOff x="724" y="2404"/>
            <a:chExt cx="1973" cy="435"/>
          </a:xfrm>
        </p:grpSpPr>
        <p:sp>
          <p:nvSpPr>
            <p:cNvPr id="441359" name="Rectangle 15"/>
            <p:cNvSpPr>
              <a:spLocks noChangeArrowheads="1"/>
            </p:cNvSpPr>
            <p:nvPr/>
          </p:nvSpPr>
          <p:spPr bwMode="auto">
            <a:xfrm>
              <a:off x="724" y="2404"/>
              <a:ext cx="1973" cy="435"/>
            </a:xfrm>
            <a:prstGeom prst="rect">
              <a:avLst/>
            </a:prstGeom>
            <a:noFill/>
            <a:ln w="12700">
              <a:solidFill>
                <a:schemeClr val="tx1"/>
              </a:solidFill>
              <a:miter lim="800000"/>
              <a:headEnd/>
              <a:tailEnd/>
            </a:ln>
            <a:effectLst/>
          </p:spPr>
          <p:txBody>
            <a:bodyPr wrap="none" lIns="90488" tIns="44450" rIns="90488" bIns="44450" anchorCtr="1"/>
            <a:lstStyle/>
            <a:p>
              <a:pPr algn="ctr">
                <a:spcBef>
                  <a:spcPct val="0"/>
                </a:spcBef>
              </a:pPr>
              <a:r>
                <a:rPr lang="en-GB" sz="2000" b="1"/>
                <a:t>Transaction</a:t>
              </a:r>
            </a:p>
          </p:txBody>
        </p:sp>
        <p:sp>
          <p:nvSpPr>
            <p:cNvPr id="441360" name="Line 16"/>
            <p:cNvSpPr>
              <a:spLocks noChangeShapeType="1"/>
            </p:cNvSpPr>
            <p:nvPr/>
          </p:nvSpPr>
          <p:spPr bwMode="auto">
            <a:xfrm>
              <a:off x="724" y="2640"/>
              <a:ext cx="1973" cy="0"/>
            </a:xfrm>
            <a:prstGeom prst="line">
              <a:avLst/>
            </a:prstGeom>
            <a:noFill/>
            <a:ln w="12700">
              <a:solidFill>
                <a:schemeClr val="tx1"/>
              </a:solidFill>
              <a:round/>
              <a:headEnd/>
              <a:tailEnd/>
            </a:ln>
            <a:effectLst/>
          </p:spPr>
          <p:txBody>
            <a:bodyPr wrap="none" anchor="ctr"/>
            <a:lstStyle/>
            <a:p>
              <a:endParaRPr lang="en-GB"/>
            </a:p>
          </p:txBody>
        </p:sp>
        <p:sp>
          <p:nvSpPr>
            <p:cNvPr id="441361" name="Rectangle 17"/>
            <p:cNvSpPr>
              <a:spLocks noChangeArrowheads="1"/>
            </p:cNvSpPr>
            <p:nvPr/>
          </p:nvSpPr>
          <p:spPr bwMode="auto">
            <a:xfrm>
              <a:off x="730" y="2621"/>
              <a:ext cx="1686" cy="21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ConvertCurrency(Currency)</a:t>
              </a:r>
            </a:p>
          </p:txBody>
        </p:sp>
      </p:grpSp>
      <p:sp>
        <p:nvSpPr>
          <p:cNvPr id="441362" name="Rectangle 18"/>
          <p:cNvSpPr>
            <a:spLocks noChangeArrowheads="1"/>
          </p:cNvSpPr>
          <p:nvPr/>
        </p:nvSpPr>
        <p:spPr bwMode="auto">
          <a:xfrm>
            <a:off x="4921250" y="3636381"/>
            <a:ext cx="1584325" cy="333375"/>
          </a:xfrm>
          <a:prstGeom prst="rect">
            <a:avLst/>
          </a:prstGeom>
          <a:noFill/>
          <a:ln w="12700">
            <a:noFill/>
            <a:miter lim="800000"/>
            <a:headEnd/>
            <a:tailEnd/>
          </a:ln>
          <a:effectLst/>
        </p:spPr>
        <p:txBody>
          <a:bodyPr wrap="none" lIns="90488" tIns="44450" rIns="90488" bIns="44450">
            <a:spAutoFit/>
          </a:bodyPr>
          <a:lstStyle/>
          <a:p>
            <a:pPr algn="r" defTabSz="739775">
              <a:spcBef>
                <a:spcPct val="0"/>
              </a:spcBef>
            </a:pPr>
            <a:r>
              <a:rPr lang="en-GB" sz="1600"/>
              <a:t>ConvertCurrency</a:t>
            </a:r>
          </a:p>
        </p:txBody>
      </p:sp>
      <p:sp>
        <p:nvSpPr>
          <p:cNvPr id="441363" name="Line 19"/>
          <p:cNvSpPr>
            <a:spLocks noChangeShapeType="1"/>
          </p:cNvSpPr>
          <p:nvPr/>
        </p:nvSpPr>
        <p:spPr bwMode="auto">
          <a:xfrm>
            <a:off x="6724650" y="3276018"/>
            <a:ext cx="0" cy="1358900"/>
          </a:xfrm>
          <a:prstGeom prst="line">
            <a:avLst/>
          </a:prstGeom>
          <a:noFill/>
          <a:ln w="12700">
            <a:solidFill>
              <a:schemeClr val="tx1"/>
            </a:solidFill>
            <a:round/>
            <a:headEnd/>
            <a:tailEnd/>
          </a:ln>
          <a:effectLst/>
        </p:spPr>
        <p:txBody>
          <a:bodyPr wrap="none" anchor="ctr"/>
          <a:lstStyle/>
          <a:p>
            <a:endParaRPr lang="en-GB"/>
          </a:p>
        </p:txBody>
      </p:sp>
      <p:sp>
        <p:nvSpPr>
          <p:cNvPr id="441364" name="Line 20"/>
          <p:cNvSpPr>
            <a:spLocks noChangeShapeType="1"/>
          </p:cNvSpPr>
          <p:nvPr/>
        </p:nvSpPr>
        <p:spPr bwMode="auto">
          <a:xfrm>
            <a:off x="6469063" y="3428418"/>
            <a:ext cx="0" cy="749300"/>
          </a:xfrm>
          <a:prstGeom prst="line">
            <a:avLst/>
          </a:prstGeom>
          <a:noFill/>
          <a:ln w="12700">
            <a:solidFill>
              <a:schemeClr val="tx1"/>
            </a:solidFill>
            <a:round/>
            <a:headEnd/>
            <a:tailEnd type="triangle" w="med" len="med"/>
          </a:ln>
          <a:effectLst/>
        </p:spPr>
        <p:txBody>
          <a:bodyPr wrap="none" anchor="ctr"/>
          <a:lstStyle/>
          <a:p>
            <a:endParaRPr lang="en-GB"/>
          </a:p>
        </p:txBody>
      </p:sp>
      <p:grpSp>
        <p:nvGrpSpPr>
          <p:cNvPr id="5" name="Group 26"/>
          <p:cNvGrpSpPr>
            <a:grpSpLocks/>
          </p:cNvGrpSpPr>
          <p:nvPr/>
        </p:nvGrpSpPr>
        <p:grpSpPr bwMode="auto">
          <a:xfrm>
            <a:off x="773113" y="2050468"/>
            <a:ext cx="2892425" cy="690563"/>
            <a:chOff x="724" y="772"/>
            <a:chExt cx="1973" cy="435"/>
          </a:xfrm>
        </p:grpSpPr>
        <p:sp>
          <p:nvSpPr>
            <p:cNvPr id="441371" name="Rectangle 27"/>
            <p:cNvSpPr>
              <a:spLocks noChangeArrowheads="1"/>
            </p:cNvSpPr>
            <p:nvPr/>
          </p:nvSpPr>
          <p:spPr bwMode="auto">
            <a:xfrm>
              <a:off x="724" y="772"/>
              <a:ext cx="1973" cy="435"/>
            </a:xfrm>
            <a:prstGeom prst="rect">
              <a:avLst/>
            </a:prstGeom>
            <a:noFill/>
            <a:ln w="12700">
              <a:solidFill>
                <a:schemeClr val="tx1"/>
              </a:solidFill>
              <a:miter lim="800000"/>
              <a:headEnd/>
              <a:tailEnd/>
            </a:ln>
            <a:effectLst/>
          </p:spPr>
          <p:txBody>
            <a:bodyPr wrap="none" lIns="90488" tIns="44450" rIns="90488" bIns="44450" anchorCtr="1"/>
            <a:lstStyle/>
            <a:p>
              <a:pPr algn="ctr">
                <a:spcBef>
                  <a:spcPct val="0"/>
                </a:spcBef>
              </a:pPr>
              <a:r>
                <a:rPr lang="en-GB" sz="2000" b="1"/>
                <a:t>Customer</a:t>
              </a:r>
            </a:p>
          </p:txBody>
        </p:sp>
        <p:sp>
          <p:nvSpPr>
            <p:cNvPr id="441372" name="Line 28"/>
            <p:cNvSpPr>
              <a:spLocks noChangeShapeType="1"/>
            </p:cNvSpPr>
            <p:nvPr/>
          </p:nvSpPr>
          <p:spPr bwMode="auto">
            <a:xfrm>
              <a:off x="724" y="1008"/>
              <a:ext cx="1973" cy="0"/>
            </a:xfrm>
            <a:prstGeom prst="line">
              <a:avLst/>
            </a:prstGeom>
            <a:noFill/>
            <a:ln w="12700">
              <a:solidFill>
                <a:schemeClr val="tx1"/>
              </a:solidFill>
              <a:round/>
              <a:headEnd/>
              <a:tailEnd/>
            </a:ln>
            <a:effectLst/>
          </p:spPr>
          <p:txBody>
            <a:bodyPr wrap="none" anchor="ctr"/>
            <a:lstStyle/>
            <a:p>
              <a:endParaRPr lang="en-GB"/>
            </a:p>
          </p:txBody>
        </p:sp>
        <p:sp>
          <p:nvSpPr>
            <p:cNvPr id="441373" name="Rectangle 29"/>
            <p:cNvSpPr>
              <a:spLocks noChangeArrowheads="1"/>
            </p:cNvSpPr>
            <p:nvPr/>
          </p:nvSpPr>
          <p:spPr bwMode="auto">
            <a:xfrm>
              <a:off x="729" y="989"/>
              <a:ext cx="114" cy="210"/>
            </a:xfrm>
            <a:prstGeom prst="rect">
              <a:avLst/>
            </a:prstGeom>
            <a:noFill/>
            <a:ln w="12700">
              <a:noFill/>
              <a:miter lim="800000"/>
              <a:headEnd/>
              <a:tailEnd/>
            </a:ln>
            <a:effectLst/>
          </p:spPr>
          <p:txBody>
            <a:bodyPr wrap="none" lIns="90488" tIns="44450" rIns="90488" bIns="44450">
              <a:spAutoFit/>
            </a:bodyPr>
            <a:lstStyle/>
            <a:p>
              <a:pPr>
                <a:spcBef>
                  <a:spcPct val="0"/>
                </a:spcBef>
              </a:pPr>
              <a:endParaRPr lang="en-US" sz="1600"/>
            </a:p>
          </p:txBody>
        </p:sp>
      </p:grpSp>
      <p:sp>
        <p:nvSpPr>
          <p:cNvPr id="441374" name="Line 30"/>
          <p:cNvSpPr>
            <a:spLocks noChangeShapeType="1"/>
          </p:cNvSpPr>
          <p:nvPr/>
        </p:nvSpPr>
        <p:spPr bwMode="auto">
          <a:xfrm>
            <a:off x="3657600" y="2355268"/>
            <a:ext cx="1617663" cy="0"/>
          </a:xfrm>
          <a:prstGeom prst="line">
            <a:avLst/>
          </a:prstGeom>
          <a:noFill/>
          <a:ln w="12700">
            <a:solidFill>
              <a:schemeClr val="tx1"/>
            </a:solidFill>
            <a:round/>
            <a:headEnd type="none" w="sm" len="sm"/>
            <a:tailEnd type="none" w="sm" len="sm"/>
          </a:ln>
          <a:effectLst/>
        </p:spPr>
        <p:txBody>
          <a:bodyPr/>
          <a:lstStyle/>
          <a:p>
            <a:endParaRPr lang="en-GB"/>
          </a:p>
        </p:txBody>
      </p:sp>
      <p:sp>
        <p:nvSpPr>
          <p:cNvPr id="441375" name="Rectangle 31"/>
          <p:cNvSpPr>
            <a:spLocks noChangeArrowheads="1"/>
          </p:cNvSpPr>
          <p:nvPr/>
        </p:nvSpPr>
        <p:spPr bwMode="auto">
          <a:xfrm>
            <a:off x="4921250" y="1974268"/>
            <a:ext cx="284163" cy="39370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a:t>
            </a:r>
          </a:p>
        </p:txBody>
      </p:sp>
      <p:sp>
        <p:nvSpPr>
          <p:cNvPr id="6" name="Flowchart: Card 5"/>
          <p:cNvSpPr/>
          <p:nvPr/>
        </p:nvSpPr>
        <p:spPr>
          <a:xfrm>
            <a:off x="1396538" y="5453881"/>
            <a:ext cx="7414953" cy="1230230"/>
          </a:xfrm>
          <a:prstGeom prst="flowChartPunchedCard">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Sending message </a:t>
            </a:r>
            <a:r>
              <a:rPr lang="en-GB" sz="1600" dirty="0" err="1">
                <a:solidFill>
                  <a:schemeClr val="tx1"/>
                </a:solidFill>
              </a:rPr>
              <a:t>ConvertCurrency</a:t>
            </a:r>
            <a:r>
              <a:rPr lang="en-GB" sz="1600" dirty="0">
                <a:solidFill>
                  <a:schemeClr val="tx1"/>
                </a:solidFill>
              </a:rPr>
              <a:t> to a </a:t>
            </a:r>
            <a:r>
              <a:rPr lang="en-GB" sz="1600" dirty="0" err="1">
                <a:solidFill>
                  <a:schemeClr val="tx1"/>
                </a:solidFill>
              </a:rPr>
              <a:t>BankAccount</a:t>
            </a:r>
            <a:r>
              <a:rPr lang="en-GB" sz="1600" dirty="0">
                <a:solidFill>
                  <a:schemeClr val="tx1"/>
                </a:solidFill>
              </a:rPr>
              <a:t> object, causes the message to be propagated to the transactions of the </a:t>
            </a:r>
            <a:r>
              <a:rPr lang="en-GB" sz="1600" dirty="0" err="1">
                <a:solidFill>
                  <a:schemeClr val="tx1"/>
                </a:solidFill>
              </a:rPr>
              <a:t>BankAccount</a:t>
            </a:r>
            <a:endParaRPr lang="en-GB" sz="1600" dirty="0">
              <a:solidFill>
                <a:schemeClr val="tx1"/>
              </a:solidFill>
            </a:endParaRPr>
          </a:p>
          <a:p>
            <a:pPr algn="ctr"/>
            <a:endParaRPr lang="en-GB" sz="1600" dirty="0" smtClean="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20655680"/>
      </p:ext>
    </p:extLst>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ChangeArrowheads="1"/>
          </p:cNvSpPr>
          <p:nvPr/>
        </p:nvSpPr>
        <p:spPr bwMode="auto">
          <a:xfrm>
            <a:off x="703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3395" name="Rectangle 3"/>
          <p:cNvSpPr>
            <a:spLocks noChangeArrowheads="1"/>
          </p:cNvSpPr>
          <p:nvPr/>
        </p:nvSpPr>
        <p:spPr bwMode="auto">
          <a:xfrm>
            <a:off x="3165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3396" name="Rectangle 4"/>
          <p:cNvSpPr>
            <a:spLocks noChangeArrowheads="1"/>
          </p:cNvSpPr>
          <p:nvPr/>
        </p:nvSpPr>
        <p:spPr bwMode="auto">
          <a:xfrm>
            <a:off x="703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3397" name="Rectangle 5"/>
          <p:cNvSpPr>
            <a:spLocks noChangeArrowheads="1"/>
          </p:cNvSpPr>
          <p:nvPr/>
        </p:nvSpPr>
        <p:spPr bwMode="auto">
          <a:xfrm>
            <a:off x="3165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3398" name="Rectangle 6"/>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3399" name="Rectangle 7"/>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2" name="Text Placeholder 1"/>
          <p:cNvSpPr>
            <a:spLocks noGrp="1"/>
          </p:cNvSpPr>
          <p:nvPr>
            <p:ph type="body" sz="quarter" idx="15"/>
          </p:nvPr>
        </p:nvSpPr>
        <p:spPr/>
        <p:txBody>
          <a:bodyPr/>
          <a:lstStyle/>
          <a:p>
            <a:endParaRPr lang="en-GB"/>
          </a:p>
        </p:txBody>
      </p:sp>
      <p:sp>
        <p:nvSpPr>
          <p:cNvPr id="443400" name="Rectangle 8"/>
          <p:cNvSpPr>
            <a:spLocks noGrp="1" noChangeArrowheads="1"/>
          </p:cNvSpPr>
          <p:nvPr>
            <p:ph type="title"/>
          </p:nvPr>
        </p:nvSpPr>
        <p:spPr/>
        <p:txBody>
          <a:bodyPr/>
          <a:lstStyle/>
          <a:p>
            <a:r>
              <a:rPr lang="en-GB"/>
              <a:t>Aggregation – look for delegation</a:t>
            </a:r>
          </a:p>
        </p:txBody>
      </p:sp>
      <p:sp>
        <p:nvSpPr>
          <p:cNvPr id="443401" name="Line 9"/>
          <p:cNvSpPr>
            <a:spLocks noChangeShapeType="1"/>
          </p:cNvSpPr>
          <p:nvPr/>
        </p:nvSpPr>
        <p:spPr bwMode="auto">
          <a:xfrm>
            <a:off x="433388" y="2085975"/>
            <a:ext cx="2233612" cy="0"/>
          </a:xfrm>
          <a:prstGeom prst="line">
            <a:avLst/>
          </a:prstGeom>
          <a:noFill/>
          <a:ln w="12700">
            <a:solidFill>
              <a:schemeClr val="tx1"/>
            </a:solidFill>
            <a:round/>
            <a:headEnd/>
            <a:tailEnd/>
          </a:ln>
          <a:effectLst/>
        </p:spPr>
        <p:txBody>
          <a:bodyPr wrap="none" anchor="ctr"/>
          <a:lstStyle/>
          <a:p>
            <a:endParaRPr lang="en-GB"/>
          </a:p>
        </p:txBody>
      </p:sp>
      <p:sp>
        <p:nvSpPr>
          <p:cNvPr id="443402" name="Rectangle 10"/>
          <p:cNvSpPr>
            <a:spLocks noChangeArrowheads="1"/>
          </p:cNvSpPr>
          <p:nvPr/>
        </p:nvSpPr>
        <p:spPr bwMode="auto">
          <a:xfrm>
            <a:off x="441325" y="2173288"/>
            <a:ext cx="1809750"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balance: Money = 0</a:t>
            </a:r>
          </a:p>
        </p:txBody>
      </p:sp>
      <p:sp>
        <p:nvSpPr>
          <p:cNvPr id="443403" name="Line 11"/>
          <p:cNvSpPr>
            <a:spLocks noChangeShapeType="1"/>
          </p:cNvSpPr>
          <p:nvPr/>
        </p:nvSpPr>
        <p:spPr bwMode="auto">
          <a:xfrm>
            <a:off x="6254750" y="2085975"/>
            <a:ext cx="2232025" cy="0"/>
          </a:xfrm>
          <a:prstGeom prst="line">
            <a:avLst/>
          </a:prstGeom>
          <a:noFill/>
          <a:ln w="12700">
            <a:solidFill>
              <a:schemeClr val="tx1"/>
            </a:solidFill>
            <a:round/>
            <a:headEnd/>
            <a:tailEnd/>
          </a:ln>
          <a:effectLst/>
        </p:spPr>
        <p:txBody>
          <a:bodyPr wrap="none" anchor="ctr"/>
          <a:lstStyle/>
          <a:p>
            <a:endParaRPr lang="en-GB"/>
          </a:p>
        </p:txBody>
      </p:sp>
      <p:sp>
        <p:nvSpPr>
          <p:cNvPr id="443404" name="Rectangle 12"/>
          <p:cNvSpPr>
            <a:spLocks noChangeArrowheads="1"/>
          </p:cNvSpPr>
          <p:nvPr/>
        </p:nvSpPr>
        <p:spPr bwMode="auto">
          <a:xfrm>
            <a:off x="6257925" y="2174875"/>
            <a:ext cx="1462088"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amount: Money</a:t>
            </a:r>
          </a:p>
        </p:txBody>
      </p:sp>
      <p:sp>
        <p:nvSpPr>
          <p:cNvPr id="443405" name="Line 13"/>
          <p:cNvSpPr>
            <a:spLocks noChangeShapeType="1"/>
          </p:cNvSpPr>
          <p:nvPr/>
        </p:nvSpPr>
        <p:spPr bwMode="auto">
          <a:xfrm>
            <a:off x="3159125" y="2105025"/>
            <a:ext cx="3082925" cy="0"/>
          </a:xfrm>
          <a:prstGeom prst="line">
            <a:avLst/>
          </a:prstGeom>
          <a:noFill/>
          <a:ln w="12700">
            <a:solidFill>
              <a:schemeClr val="tx1"/>
            </a:solidFill>
            <a:round/>
            <a:headEnd/>
            <a:tailEnd/>
          </a:ln>
          <a:effectLst/>
        </p:spPr>
        <p:txBody>
          <a:bodyPr wrap="none" anchor="ctr"/>
          <a:lstStyle/>
          <a:p>
            <a:endParaRPr lang="en-GB"/>
          </a:p>
        </p:txBody>
      </p:sp>
      <p:sp>
        <p:nvSpPr>
          <p:cNvPr id="443406" name="Rectangle 14"/>
          <p:cNvSpPr>
            <a:spLocks noChangeArrowheads="1"/>
          </p:cNvSpPr>
          <p:nvPr/>
        </p:nvSpPr>
        <p:spPr bwMode="auto">
          <a:xfrm>
            <a:off x="5934075" y="1636713"/>
            <a:ext cx="284163" cy="39370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a:t>
            </a:r>
          </a:p>
        </p:txBody>
      </p:sp>
      <p:sp>
        <p:nvSpPr>
          <p:cNvPr id="443407" name="Freeform 15"/>
          <p:cNvSpPr>
            <a:spLocks/>
          </p:cNvSpPr>
          <p:nvPr/>
        </p:nvSpPr>
        <p:spPr bwMode="auto">
          <a:xfrm>
            <a:off x="2690813" y="1952625"/>
            <a:ext cx="458787"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12700" cap="rnd" cmpd="sng">
            <a:solidFill>
              <a:schemeClr val="tx1"/>
            </a:solidFill>
            <a:prstDash val="solid"/>
            <a:round/>
            <a:headEnd type="none" w="med" len="med"/>
            <a:tailEnd type="none" w="med" len="med"/>
          </a:ln>
          <a:effectLst/>
        </p:spPr>
        <p:txBody>
          <a:bodyPr/>
          <a:lstStyle/>
          <a:p>
            <a:endParaRPr lang="en-GB"/>
          </a:p>
        </p:txBody>
      </p:sp>
      <p:sp>
        <p:nvSpPr>
          <p:cNvPr id="443408" name="Rectangle 16"/>
          <p:cNvSpPr>
            <a:spLocks noChangeArrowheads="1"/>
          </p:cNvSpPr>
          <p:nvPr/>
        </p:nvSpPr>
        <p:spPr bwMode="auto">
          <a:xfrm>
            <a:off x="433388" y="1711325"/>
            <a:ext cx="2233612"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BankAccount</a:t>
            </a:r>
          </a:p>
        </p:txBody>
      </p:sp>
      <p:sp>
        <p:nvSpPr>
          <p:cNvPr id="443409" name="Rectangle 17"/>
          <p:cNvSpPr>
            <a:spLocks noChangeArrowheads="1"/>
          </p:cNvSpPr>
          <p:nvPr/>
        </p:nvSpPr>
        <p:spPr bwMode="auto">
          <a:xfrm>
            <a:off x="6254750" y="1711325"/>
            <a:ext cx="2232025"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Transaction</a:t>
            </a:r>
          </a:p>
        </p:txBody>
      </p:sp>
      <p:sp>
        <p:nvSpPr>
          <p:cNvPr id="443410" name="Text Box 18"/>
          <p:cNvSpPr txBox="1">
            <a:spLocks noChangeArrowheads="1"/>
          </p:cNvSpPr>
          <p:nvPr/>
        </p:nvSpPr>
        <p:spPr bwMode="auto">
          <a:xfrm>
            <a:off x="3643313" y="2220913"/>
            <a:ext cx="1552575"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solidFill>
                  <a:srgbClr val="0000FF"/>
                </a:solidFill>
              </a:rPr>
              <a:t>create, archive</a:t>
            </a:r>
          </a:p>
        </p:txBody>
      </p:sp>
      <p:sp>
        <p:nvSpPr>
          <p:cNvPr id="443411" name="Line 19"/>
          <p:cNvSpPr>
            <a:spLocks noChangeShapeType="1"/>
          </p:cNvSpPr>
          <p:nvPr/>
        </p:nvSpPr>
        <p:spPr bwMode="auto">
          <a:xfrm>
            <a:off x="5326740" y="2400300"/>
            <a:ext cx="539750" cy="0"/>
          </a:xfrm>
          <a:prstGeom prst="line">
            <a:avLst/>
          </a:prstGeom>
          <a:noFill/>
          <a:ln w="28575">
            <a:solidFill>
              <a:srgbClr val="0000FF"/>
            </a:solidFill>
            <a:round/>
            <a:headEnd type="none" w="sm" len="sm"/>
            <a:tailEnd type="triangle" w="med" len="med"/>
          </a:ln>
          <a:effectLst/>
        </p:spPr>
        <p:txBody>
          <a:bodyPr/>
          <a:lstStyle/>
          <a:p>
            <a:endParaRPr lang="en-GB"/>
          </a:p>
        </p:txBody>
      </p:sp>
      <p:sp>
        <p:nvSpPr>
          <p:cNvPr id="443412" name="Line 20"/>
          <p:cNvSpPr>
            <a:spLocks noChangeShapeType="1"/>
          </p:cNvSpPr>
          <p:nvPr/>
        </p:nvSpPr>
        <p:spPr bwMode="auto">
          <a:xfrm>
            <a:off x="468313" y="3305175"/>
            <a:ext cx="2233612" cy="0"/>
          </a:xfrm>
          <a:prstGeom prst="line">
            <a:avLst/>
          </a:prstGeom>
          <a:noFill/>
          <a:ln w="12700">
            <a:solidFill>
              <a:schemeClr val="tx1"/>
            </a:solidFill>
            <a:round/>
            <a:headEnd/>
            <a:tailEnd/>
          </a:ln>
          <a:effectLst/>
        </p:spPr>
        <p:txBody>
          <a:bodyPr wrap="none" anchor="ctr"/>
          <a:lstStyle/>
          <a:p>
            <a:endParaRPr lang="en-GB"/>
          </a:p>
        </p:txBody>
      </p:sp>
      <p:sp>
        <p:nvSpPr>
          <p:cNvPr id="443413" name="Rectangle 21"/>
          <p:cNvSpPr>
            <a:spLocks noChangeArrowheads="1"/>
          </p:cNvSpPr>
          <p:nvPr/>
        </p:nvSpPr>
        <p:spPr bwMode="auto">
          <a:xfrm>
            <a:off x="476250" y="3392488"/>
            <a:ext cx="1809750"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balance: Money = 0</a:t>
            </a:r>
          </a:p>
        </p:txBody>
      </p:sp>
      <p:sp>
        <p:nvSpPr>
          <p:cNvPr id="443414" name="Line 22"/>
          <p:cNvSpPr>
            <a:spLocks noChangeShapeType="1"/>
          </p:cNvSpPr>
          <p:nvPr/>
        </p:nvSpPr>
        <p:spPr bwMode="auto">
          <a:xfrm>
            <a:off x="6289675" y="3305175"/>
            <a:ext cx="2233613" cy="0"/>
          </a:xfrm>
          <a:prstGeom prst="line">
            <a:avLst/>
          </a:prstGeom>
          <a:noFill/>
          <a:ln w="12700">
            <a:solidFill>
              <a:schemeClr val="tx1"/>
            </a:solidFill>
            <a:round/>
            <a:headEnd/>
            <a:tailEnd/>
          </a:ln>
          <a:effectLst/>
        </p:spPr>
        <p:txBody>
          <a:bodyPr wrap="none" anchor="ctr"/>
          <a:lstStyle/>
          <a:p>
            <a:endParaRPr lang="en-GB"/>
          </a:p>
        </p:txBody>
      </p:sp>
      <p:sp>
        <p:nvSpPr>
          <p:cNvPr id="443415" name="Rectangle 23"/>
          <p:cNvSpPr>
            <a:spLocks noChangeArrowheads="1"/>
          </p:cNvSpPr>
          <p:nvPr/>
        </p:nvSpPr>
        <p:spPr bwMode="auto">
          <a:xfrm>
            <a:off x="6294438" y="3394075"/>
            <a:ext cx="1460500"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amount: Money</a:t>
            </a:r>
          </a:p>
        </p:txBody>
      </p:sp>
      <p:sp>
        <p:nvSpPr>
          <p:cNvPr id="443416" name="Line 24"/>
          <p:cNvSpPr>
            <a:spLocks noChangeShapeType="1"/>
          </p:cNvSpPr>
          <p:nvPr/>
        </p:nvSpPr>
        <p:spPr bwMode="auto">
          <a:xfrm>
            <a:off x="3194050" y="3324225"/>
            <a:ext cx="3082925" cy="0"/>
          </a:xfrm>
          <a:prstGeom prst="line">
            <a:avLst/>
          </a:prstGeom>
          <a:noFill/>
          <a:ln w="12700">
            <a:solidFill>
              <a:schemeClr val="tx1"/>
            </a:solidFill>
            <a:round/>
            <a:headEnd/>
            <a:tailEnd/>
          </a:ln>
          <a:effectLst/>
        </p:spPr>
        <p:txBody>
          <a:bodyPr wrap="none" anchor="ctr"/>
          <a:lstStyle/>
          <a:p>
            <a:endParaRPr lang="en-GB"/>
          </a:p>
        </p:txBody>
      </p:sp>
      <p:sp>
        <p:nvSpPr>
          <p:cNvPr id="443417" name="Rectangle 25"/>
          <p:cNvSpPr>
            <a:spLocks noChangeArrowheads="1"/>
          </p:cNvSpPr>
          <p:nvPr/>
        </p:nvSpPr>
        <p:spPr bwMode="auto">
          <a:xfrm>
            <a:off x="5768975" y="2817813"/>
            <a:ext cx="460375" cy="39370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0,1</a:t>
            </a:r>
          </a:p>
        </p:txBody>
      </p:sp>
      <p:sp>
        <p:nvSpPr>
          <p:cNvPr id="443418" name="Freeform 26"/>
          <p:cNvSpPr>
            <a:spLocks/>
          </p:cNvSpPr>
          <p:nvPr/>
        </p:nvSpPr>
        <p:spPr bwMode="auto">
          <a:xfrm>
            <a:off x="2725738" y="3171825"/>
            <a:ext cx="458787"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12700" cap="rnd" cmpd="sng">
            <a:solidFill>
              <a:schemeClr val="tx1"/>
            </a:solidFill>
            <a:prstDash val="solid"/>
            <a:round/>
            <a:headEnd type="none" w="med" len="med"/>
            <a:tailEnd type="none" w="med" len="med"/>
          </a:ln>
          <a:effectLst/>
        </p:spPr>
        <p:txBody>
          <a:bodyPr/>
          <a:lstStyle/>
          <a:p>
            <a:endParaRPr lang="en-GB"/>
          </a:p>
        </p:txBody>
      </p:sp>
      <p:sp>
        <p:nvSpPr>
          <p:cNvPr id="443419" name="Rectangle 27"/>
          <p:cNvSpPr>
            <a:spLocks noChangeArrowheads="1"/>
          </p:cNvSpPr>
          <p:nvPr/>
        </p:nvSpPr>
        <p:spPr bwMode="auto">
          <a:xfrm>
            <a:off x="468313" y="2930525"/>
            <a:ext cx="2233612"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Dog</a:t>
            </a:r>
          </a:p>
        </p:txBody>
      </p:sp>
      <p:sp>
        <p:nvSpPr>
          <p:cNvPr id="443420" name="Rectangle 28"/>
          <p:cNvSpPr>
            <a:spLocks noChangeArrowheads="1"/>
          </p:cNvSpPr>
          <p:nvPr/>
        </p:nvSpPr>
        <p:spPr bwMode="auto">
          <a:xfrm>
            <a:off x="6289675" y="2930525"/>
            <a:ext cx="2233613"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Tail</a:t>
            </a:r>
          </a:p>
        </p:txBody>
      </p:sp>
      <p:sp>
        <p:nvSpPr>
          <p:cNvPr id="443421" name="Text Box 29"/>
          <p:cNvSpPr txBox="1">
            <a:spLocks noChangeArrowheads="1"/>
          </p:cNvSpPr>
          <p:nvPr/>
        </p:nvSpPr>
        <p:spPr bwMode="auto">
          <a:xfrm>
            <a:off x="3678238" y="3440113"/>
            <a:ext cx="1916112"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solidFill>
                  <a:srgbClr val="0000FF"/>
                </a:solidFill>
              </a:rPr>
              <a:t>create, wag, droop</a:t>
            </a:r>
          </a:p>
        </p:txBody>
      </p:sp>
      <p:sp>
        <p:nvSpPr>
          <p:cNvPr id="443422" name="Line 30"/>
          <p:cNvSpPr>
            <a:spLocks noChangeShapeType="1"/>
          </p:cNvSpPr>
          <p:nvPr/>
        </p:nvSpPr>
        <p:spPr bwMode="auto">
          <a:xfrm>
            <a:off x="5685062" y="3621314"/>
            <a:ext cx="538163" cy="0"/>
          </a:xfrm>
          <a:prstGeom prst="line">
            <a:avLst/>
          </a:prstGeom>
          <a:noFill/>
          <a:ln w="28575">
            <a:solidFill>
              <a:srgbClr val="0000FF"/>
            </a:solidFill>
            <a:round/>
            <a:headEnd type="none" w="sm" len="sm"/>
            <a:tailEnd type="triangle" w="med" len="med"/>
          </a:ln>
          <a:effectLst/>
        </p:spPr>
        <p:txBody>
          <a:bodyPr/>
          <a:lstStyle/>
          <a:p>
            <a:endParaRPr lang="en-GB"/>
          </a:p>
        </p:txBody>
      </p:sp>
      <p:sp>
        <p:nvSpPr>
          <p:cNvPr id="443423" name="Line 31"/>
          <p:cNvSpPr>
            <a:spLocks noChangeShapeType="1"/>
          </p:cNvSpPr>
          <p:nvPr/>
        </p:nvSpPr>
        <p:spPr bwMode="auto">
          <a:xfrm>
            <a:off x="492125" y="4460875"/>
            <a:ext cx="2233613" cy="0"/>
          </a:xfrm>
          <a:prstGeom prst="line">
            <a:avLst/>
          </a:prstGeom>
          <a:noFill/>
          <a:ln w="12700">
            <a:solidFill>
              <a:schemeClr val="tx1"/>
            </a:solidFill>
            <a:round/>
            <a:headEnd/>
            <a:tailEnd/>
          </a:ln>
          <a:effectLst/>
        </p:spPr>
        <p:txBody>
          <a:bodyPr wrap="none" anchor="ctr"/>
          <a:lstStyle/>
          <a:p>
            <a:endParaRPr lang="en-GB"/>
          </a:p>
        </p:txBody>
      </p:sp>
      <p:sp>
        <p:nvSpPr>
          <p:cNvPr id="443424" name="Rectangle 32"/>
          <p:cNvSpPr>
            <a:spLocks noChangeArrowheads="1"/>
          </p:cNvSpPr>
          <p:nvPr/>
        </p:nvSpPr>
        <p:spPr bwMode="auto">
          <a:xfrm>
            <a:off x="500063" y="4548188"/>
            <a:ext cx="1809750"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balance: Money = 0</a:t>
            </a:r>
          </a:p>
        </p:txBody>
      </p:sp>
      <p:sp>
        <p:nvSpPr>
          <p:cNvPr id="443425" name="Line 33"/>
          <p:cNvSpPr>
            <a:spLocks noChangeShapeType="1"/>
          </p:cNvSpPr>
          <p:nvPr/>
        </p:nvSpPr>
        <p:spPr bwMode="auto">
          <a:xfrm>
            <a:off x="6313488" y="4460875"/>
            <a:ext cx="2232025" cy="0"/>
          </a:xfrm>
          <a:prstGeom prst="line">
            <a:avLst/>
          </a:prstGeom>
          <a:noFill/>
          <a:ln w="12700">
            <a:solidFill>
              <a:schemeClr val="tx1"/>
            </a:solidFill>
            <a:round/>
            <a:headEnd/>
            <a:tailEnd/>
          </a:ln>
          <a:effectLst/>
        </p:spPr>
        <p:txBody>
          <a:bodyPr wrap="none" anchor="ctr"/>
          <a:lstStyle/>
          <a:p>
            <a:endParaRPr lang="en-GB"/>
          </a:p>
        </p:txBody>
      </p:sp>
      <p:sp>
        <p:nvSpPr>
          <p:cNvPr id="443426" name="Rectangle 34"/>
          <p:cNvSpPr>
            <a:spLocks noChangeArrowheads="1"/>
          </p:cNvSpPr>
          <p:nvPr/>
        </p:nvSpPr>
        <p:spPr bwMode="auto">
          <a:xfrm>
            <a:off x="6316663" y="4549775"/>
            <a:ext cx="1462087"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amount: Money</a:t>
            </a:r>
          </a:p>
        </p:txBody>
      </p:sp>
      <p:sp>
        <p:nvSpPr>
          <p:cNvPr id="443427" name="Line 35"/>
          <p:cNvSpPr>
            <a:spLocks noChangeShapeType="1"/>
          </p:cNvSpPr>
          <p:nvPr/>
        </p:nvSpPr>
        <p:spPr bwMode="auto">
          <a:xfrm>
            <a:off x="3217863" y="4479925"/>
            <a:ext cx="3082925" cy="0"/>
          </a:xfrm>
          <a:prstGeom prst="line">
            <a:avLst/>
          </a:prstGeom>
          <a:noFill/>
          <a:ln w="12700">
            <a:solidFill>
              <a:schemeClr val="tx1"/>
            </a:solidFill>
            <a:round/>
            <a:headEnd/>
            <a:tailEnd/>
          </a:ln>
          <a:effectLst/>
        </p:spPr>
        <p:txBody>
          <a:bodyPr wrap="none" anchor="ctr"/>
          <a:lstStyle/>
          <a:p>
            <a:endParaRPr lang="en-GB"/>
          </a:p>
        </p:txBody>
      </p:sp>
      <p:sp>
        <p:nvSpPr>
          <p:cNvPr id="443428" name="Rectangle 36"/>
          <p:cNvSpPr>
            <a:spLocks noChangeArrowheads="1"/>
          </p:cNvSpPr>
          <p:nvPr/>
        </p:nvSpPr>
        <p:spPr bwMode="auto">
          <a:xfrm>
            <a:off x="5991225" y="4011613"/>
            <a:ext cx="285750" cy="39370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a:t>
            </a:r>
          </a:p>
        </p:txBody>
      </p:sp>
      <p:sp>
        <p:nvSpPr>
          <p:cNvPr id="443429" name="Freeform 37"/>
          <p:cNvSpPr>
            <a:spLocks/>
          </p:cNvSpPr>
          <p:nvPr/>
        </p:nvSpPr>
        <p:spPr bwMode="auto">
          <a:xfrm>
            <a:off x="2749550" y="4327525"/>
            <a:ext cx="458788"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12700" cap="rnd" cmpd="sng">
            <a:solidFill>
              <a:schemeClr val="tx1"/>
            </a:solidFill>
            <a:prstDash val="solid"/>
            <a:round/>
            <a:headEnd type="none" w="med" len="med"/>
            <a:tailEnd type="none" w="med" len="med"/>
          </a:ln>
          <a:effectLst/>
        </p:spPr>
        <p:txBody>
          <a:bodyPr/>
          <a:lstStyle/>
          <a:p>
            <a:endParaRPr lang="en-GB"/>
          </a:p>
        </p:txBody>
      </p:sp>
      <p:sp>
        <p:nvSpPr>
          <p:cNvPr id="443430" name="Rectangle 38"/>
          <p:cNvSpPr>
            <a:spLocks noChangeArrowheads="1"/>
          </p:cNvSpPr>
          <p:nvPr/>
        </p:nvSpPr>
        <p:spPr bwMode="auto">
          <a:xfrm>
            <a:off x="492125" y="4086225"/>
            <a:ext cx="2233613"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Car</a:t>
            </a:r>
          </a:p>
        </p:txBody>
      </p:sp>
      <p:sp>
        <p:nvSpPr>
          <p:cNvPr id="443431" name="Rectangle 39"/>
          <p:cNvSpPr>
            <a:spLocks noChangeArrowheads="1"/>
          </p:cNvSpPr>
          <p:nvPr/>
        </p:nvSpPr>
        <p:spPr bwMode="auto">
          <a:xfrm>
            <a:off x="6313488" y="4086225"/>
            <a:ext cx="2232025"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Engine</a:t>
            </a:r>
          </a:p>
        </p:txBody>
      </p:sp>
      <p:sp>
        <p:nvSpPr>
          <p:cNvPr id="443432" name="Text Box 40"/>
          <p:cNvSpPr txBox="1">
            <a:spLocks noChangeArrowheads="1"/>
          </p:cNvSpPr>
          <p:nvPr/>
        </p:nvSpPr>
        <p:spPr bwMode="auto">
          <a:xfrm>
            <a:off x="3702050" y="4595813"/>
            <a:ext cx="2056973"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solidFill>
                  <a:srgbClr val="0000FF"/>
                </a:solidFill>
              </a:rPr>
              <a:t>s</a:t>
            </a:r>
            <a:r>
              <a:rPr lang="en-GB" sz="1800" dirty="0" smtClean="0">
                <a:solidFill>
                  <a:srgbClr val="0000FF"/>
                </a:solidFill>
              </a:rPr>
              <a:t>tart</a:t>
            </a:r>
            <a:r>
              <a:rPr lang="en-GB" sz="1800" dirty="0">
                <a:solidFill>
                  <a:srgbClr val="0000FF"/>
                </a:solidFill>
              </a:rPr>
              <a:t>, stop, service</a:t>
            </a:r>
          </a:p>
        </p:txBody>
      </p:sp>
      <p:sp>
        <p:nvSpPr>
          <p:cNvPr id="443433" name="Line 41"/>
          <p:cNvSpPr>
            <a:spLocks noChangeShapeType="1"/>
          </p:cNvSpPr>
          <p:nvPr/>
        </p:nvSpPr>
        <p:spPr bwMode="auto">
          <a:xfrm>
            <a:off x="5663745" y="4791528"/>
            <a:ext cx="539750" cy="0"/>
          </a:xfrm>
          <a:prstGeom prst="line">
            <a:avLst/>
          </a:prstGeom>
          <a:noFill/>
          <a:ln w="28575">
            <a:solidFill>
              <a:srgbClr val="0000FF"/>
            </a:solidFill>
            <a:round/>
            <a:headEnd type="none" w="sm" len="sm"/>
            <a:tailEnd type="triangle" w="med" len="med"/>
          </a:ln>
          <a:effectLst/>
        </p:spPr>
        <p:txBody>
          <a:bodyPr/>
          <a:lstStyle/>
          <a:p>
            <a:endParaRPr lang="en-GB"/>
          </a:p>
        </p:txBody>
      </p:sp>
      <p:sp>
        <p:nvSpPr>
          <p:cNvPr id="443434" name="Line 42"/>
          <p:cNvSpPr>
            <a:spLocks noChangeShapeType="1"/>
          </p:cNvSpPr>
          <p:nvPr/>
        </p:nvSpPr>
        <p:spPr bwMode="auto">
          <a:xfrm>
            <a:off x="504825" y="5667375"/>
            <a:ext cx="2232025" cy="0"/>
          </a:xfrm>
          <a:prstGeom prst="line">
            <a:avLst/>
          </a:prstGeom>
          <a:noFill/>
          <a:ln w="12700">
            <a:solidFill>
              <a:schemeClr val="tx1"/>
            </a:solidFill>
            <a:round/>
            <a:headEnd/>
            <a:tailEnd/>
          </a:ln>
          <a:effectLst/>
        </p:spPr>
        <p:txBody>
          <a:bodyPr wrap="none" anchor="ctr"/>
          <a:lstStyle/>
          <a:p>
            <a:endParaRPr lang="en-GB"/>
          </a:p>
        </p:txBody>
      </p:sp>
      <p:sp>
        <p:nvSpPr>
          <p:cNvPr id="443435" name="Rectangle 43"/>
          <p:cNvSpPr>
            <a:spLocks noChangeArrowheads="1"/>
          </p:cNvSpPr>
          <p:nvPr/>
        </p:nvSpPr>
        <p:spPr bwMode="auto">
          <a:xfrm>
            <a:off x="511175" y="5754688"/>
            <a:ext cx="1809750"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balance: Money = 0</a:t>
            </a:r>
          </a:p>
        </p:txBody>
      </p:sp>
      <p:sp>
        <p:nvSpPr>
          <p:cNvPr id="443436" name="Line 44"/>
          <p:cNvSpPr>
            <a:spLocks noChangeShapeType="1"/>
          </p:cNvSpPr>
          <p:nvPr/>
        </p:nvSpPr>
        <p:spPr bwMode="auto">
          <a:xfrm>
            <a:off x="6324600" y="5667375"/>
            <a:ext cx="2233613" cy="0"/>
          </a:xfrm>
          <a:prstGeom prst="line">
            <a:avLst/>
          </a:prstGeom>
          <a:noFill/>
          <a:ln w="12700">
            <a:solidFill>
              <a:schemeClr val="tx1"/>
            </a:solidFill>
            <a:round/>
            <a:headEnd/>
            <a:tailEnd/>
          </a:ln>
          <a:effectLst/>
        </p:spPr>
        <p:txBody>
          <a:bodyPr wrap="none" anchor="ctr"/>
          <a:lstStyle/>
          <a:p>
            <a:endParaRPr lang="en-GB"/>
          </a:p>
        </p:txBody>
      </p:sp>
      <p:sp>
        <p:nvSpPr>
          <p:cNvPr id="443437" name="Rectangle 45"/>
          <p:cNvSpPr>
            <a:spLocks noChangeArrowheads="1"/>
          </p:cNvSpPr>
          <p:nvPr/>
        </p:nvSpPr>
        <p:spPr bwMode="auto">
          <a:xfrm>
            <a:off x="6329363" y="5756275"/>
            <a:ext cx="1460500" cy="33337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1600"/>
              <a:t>amount: Money</a:t>
            </a:r>
          </a:p>
        </p:txBody>
      </p:sp>
      <p:sp>
        <p:nvSpPr>
          <p:cNvPr id="443438" name="Line 46"/>
          <p:cNvSpPr>
            <a:spLocks noChangeShapeType="1"/>
          </p:cNvSpPr>
          <p:nvPr/>
        </p:nvSpPr>
        <p:spPr bwMode="auto">
          <a:xfrm>
            <a:off x="3228975" y="5686425"/>
            <a:ext cx="3084513" cy="0"/>
          </a:xfrm>
          <a:prstGeom prst="line">
            <a:avLst/>
          </a:prstGeom>
          <a:noFill/>
          <a:ln w="12700">
            <a:solidFill>
              <a:schemeClr val="tx1"/>
            </a:solidFill>
            <a:round/>
            <a:headEnd/>
            <a:tailEnd/>
          </a:ln>
          <a:effectLst/>
        </p:spPr>
        <p:txBody>
          <a:bodyPr wrap="none" anchor="ctr"/>
          <a:lstStyle/>
          <a:p>
            <a:endParaRPr lang="en-GB"/>
          </a:p>
        </p:txBody>
      </p:sp>
      <p:sp>
        <p:nvSpPr>
          <p:cNvPr id="443439" name="Rectangle 47"/>
          <p:cNvSpPr>
            <a:spLocks noChangeArrowheads="1"/>
          </p:cNvSpPr>
          <p:nvPr/>
        </p:nvSpPr>
        <p:spPr bwMode="auto">
          <a:xfrm>
            <a:off x="6003925" y="5218113"/>
            <a:ext cx="284163" cy="393700"/>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a:t>
            </a:r>
          </a:p>
        </p:txBody>
      </p:sp>
      <p:sp>
        <p:nvSpPr>
          <p:cNvPr id="443440" name="Freeform 48"/>
          <p:cNvSpPr>
            <a:spLocks/>
          </p:cNvSpPr>
          <p:nvPr/>
        </p:nvSpPr>
        <p:spPr bwMode="auto">
          <a:xfrm>
            <a:off x="2760663" y="5534025"/>
            <a:ext cx="458787"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12700" cap="rnd" cmpd="sng">
            <a:solidFill>
              <a:schemeClr val="tx1"/>
            </a:solidFill>
            <a:prstDash val="solid"/>
            <a:round/>
            <a:headEnd type="none" w="med" len="med"/>
            <a:tailEnd type="none" w="med" len="med"/>
          </a:ln>
          <a:effectLst/>
        </p:spPr>
        <p:txBody>
          <a:bodyPr/>
          <a:lstStyle/>
          <a:p>
            <a:endParaRPr lang="en-GB"/>
          </a:p>
        </p:txBody>
      </p:sp>
      <p:sp>
        <p:nvSpPr>
          <p:cNvPr id="443441" name="Rectangle 49"/>
          <p:cNvSpPr>
            <a:spLocks noChangeArrowheads="1"/>
          </p:cNvSpPr>
          <p:nvPr/>
        </p:nvSpPr>
        <p:spPr bwMode="auto">
          <a:xfrm>
            <a:off x="504825" y="5292725"/>
            <a:ext cx="2232025"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Boss</a:t>
            </a:r>
          </a:p>
        </p:txBody>
      </p:sp>
      <p:sp>
        <p:nvSpPr>
          <p:cNvPr id="443442" name="Rectangle 50"/>
          <p:cNvSpPr>
            <a:spLocks noChangeArrowheads="1"/>
          </p:cNvSpPr>
          <p:nvPr/>
        </p:nvSpPr>
        <p:spPr bwMode="auto">
          <a:xfrm>
            <a:off x="6324600" y="5292725"/>
            <a:ext cx="2233613" cy="749300"/>
          </a:xfrm>
          <a:prstGeom prst="rect">
            <a:avLst/>
          </a:prstGeom>
          <a:solidFill>
            <a:schemeClr val="bg1"/>
          </a:solidFill>
          <a:ln w="12700">
            <a:solidFill>
              <a:schemeClr val="tx1"/>
            </a:solidFill>
            <a:miter lim="800000"/>
            <a:headEnd/>
            <a:tailEnd/>
          </a:ln>
          <a:effectLst/>
        </p:spPr>
        <p:txBody>
          <a:bodyPr wrap="none" lIns="90488" tIns="44450" rIns="90488" bIns="44450" anchorCtr="1"/>
          <a:lstStyle/>
          <a:p>
            <a:pPr algn="ctr">
              <a:spcBef>
                <a:spcPct val="0"/>
              </a:spcBef>
            </a:pPr>
            <a:r>
              <a:rPr lang="en-GB" sz="2000" b="1"/>
              <a:t>Employee</a:t>
            </a:r>
          </a:p>
        </p:txBody>
      </p:sp>
      <p:sp>
        <p:nvSpPr>
          <p:cNvPr id="443443" name="Text Box 51"/>
          <p:cNvSpPr txBox="1">
            <a:spLocks noChangeArrowheads="1"/>
          </p:cNvSpPr>
          <p:nvPr/>
        </p:nvSpPr>
        <p:spPr bwMode="auto">
          <a:xfrm>
            <a:off x="3713163" y="5802313"/>
            <a:ext cx="1043876"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dirty="0">
                <a:solidFill>
                  <a:srgbClr val="0000FF"/>
                </a:solidFill>
              </a:rPr>
              <a:t>j</a:t>
            </a:r>
            <a:r>
              <a:rPr lang="en-GB" sz="1800" dirty="0" smtClean="0">
                <a:solidFill>
                  <a:srgbClr val="0000FF"/>
                </a:solidFill>
              </a:rPr>
              <a:t>ust </a:t>
            </a:r>
            <a:r>
              <a:rPr lang="en-GB" sz="1800" dirty="0">
                <a:solidFill>
                  <a:srgbClr val="0000FF"/>
                </a:solidFill>
              </a:rPr>
              <a:t>d</a:t>
            </a:r>
            <a:r>
              <a:rPr lang="en-GB" sz="1800" dirty="0" smtClean="0">
                <a:solidFill>
                  <a:srgbClr val="0000FF"/>
                </a:solidFill>
              </a:rPr>
              <a:t>o </a:t>
            </a:r>
            <a:r>
              <a:rPr lang="en-GB" sz="1800" dirty="0">
                <a:solidFill>
                  <a:srgbClr val="0000FF"/>
                </a:solidFill>
              </a:rPr>
              <a:t>i</a:t>
            </a:r>
            <a:r>
              <a:rPr lang="en-GB" sz="1800" dirty="0" smtClean="0">
                <a:solidFill>
                  <a:srgbClr val="0000FF"/>
                </a:solidFill>
              </a:rPr>
              <a:t>t</a:t>
            </a:r>
            <a:endParaRPr lang="en-GB" sz="1800" dirty="0">
              <a:solidFill>
                <a:srgbClr val="0000FF"/>
              </a:solidFill>
            </a:endParaRPr>
          </a:p>
        </p:txBody>
      </p:sp>
      <p:sp>
        <p:nvSpPr>
          <p:cNvPr id="443444" name="Line 52"/>
          <p:cNvSpPr>
            <a:spLocks noChangeShapeType="1"/>
          </p:cNvSpPr>
          <p:nvPr/>
        </p:nvSpPr>
        <p:spPr bwMode="auto">
          <a:xfrm>
            <a:off x="4759325" y="5981700"/>
            <a:ext cx="539750" cy="0"/>
          </a:xfrm>
          <a:prstGeom prst="line">
            <a:avLst/>
          </a:prstGeom>
          <a:noFill/>
          <a:ln w="28575">
            <a:solidFill>
              <a:srgbClr val="0000FF"/>
            </a:solidFill>
            <a:round/>
            <a:headEnd type="none" w="sm" len="sm"/>
            <a:tailEnd type="triangle" w="med" len="med"/>
          </a:ln>
          <a:effectLst/>
        </p:spPr>
        <p:txBody>
          <a:bodyPr/>
          <a:lstStyle/>
          <a:p>
            <a:endParaRPr lang="en-GB"/>
          </a:p>
        </p:txBody>
      </p:sp>
      <p:sp>
        <p:nvSpPr>
          <p:cNvPr id="443445" name="Text Box 53"/>
          <p:cNvSpPr txBox="1">
            <a:spLocks noChangeArrowheads="1"/>
          </p:cNvSpPr>
          <p:nvPr/>
        </p:nvSpPr>
        <p:spPr bwMode="auto">
          <a:xfrm>
            <a:off x="3079750" y="1103313"/>
            <a:ext cx="2984500" cy="36671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800">
                <a:solidFill>
                  <a:srgbClr val="0000FF"/>
                </a:solidFill>
              </a:rPr>
              <a:t>Its an Asymmetric relationship</a:t>
            </a:r>
          </a:p>
        </p:txBody>
      </p:sp>
    </p:spTree>
    <p:extLst>
      <p:ext uri="{BB962C8B-B14F-4D97-AF65-F5344CB8AC3E}">
        <p14:creationId xmlns:p14="http://schemas.microsoft.com/office/powerpoint/2010/main" val="2244328199"/>
      </p:ext>
    </p:extLst>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ChangeArrowheads="1"/>
          </p:cNvSpPr>
          <p:nvPr/>
        </p:nvSpPr>
        <p:spPr bwMode="auto">
          <a:xfrm>
            <a:off x="703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5443" name="Rectangle 3"/>
          <p:cNvSpPr>
            <a:spLocks noChangeArrowheads="1"/>
          </p:cNvSpPr>
          <p:nvPr/>
        </p:nvSpPr>
        <p:spPr bwMode="auto">
          <a:xfrm>
            <a:off x="3165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5444" name="Rectangle 4"/>
          <p:cNvSpPr>
            <a:spLocks noChangeArrowheads="1"/>
          </p:cNvSpPr>
          <p:nvPr/>
        </p:nvSpPr>
        <p:spPr bwMode="auto">
          <a:xfrm>
            <a:off x="703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5445" name="Rectangle 5"/>
          <p:cNvSpPr>
            <a:spLocks noChangeArrowheads="1"/>
          </p:cNvSpPr>
          <p:nvPr/>
        </p:nvSpPr>
        <p:spPr bwMode="auto">
          <a:xfrm>
            <a:off x="3165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5446" name="Rectangle 6"/>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5447" name="Rectangle 7"/>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pPr algn="ctr" defTabSz="739775">
              <a:spcBef>
                <a:spcPct val="0"/>
              </a:spcBef>
            </a:pPr>
            <a:endParaRPr lang="en-US" sz="1800"/>
          </a:p>
        </p:txBody>
      </p:sp>
      <p:sp>
        <p:nvSpPr>
          <p:cNvPr id="445449" name="Rectangle 9"/>
          <p:cNvSpPr>
            <a:spLocks noGrp="1" noChangeArrowheads="1"/>
          </p:cNvSpPr>
          <p:nvPr>
            <p:ph type="body" sz="quarter" idx="15"/>
          </p:nvPr>
        </p:nvSpPr>
        <p:spPr/>
        <p:txBody>
          <a:bodyPr/>
          <a:lstStyle/>
          <a:p>
            <a:r>
              <a:rPr lang="en-GB" dirty="0"/>
              <a:t>Objective</a:t>
            </a:r>
          </a:p>
          <a:p>
            <a:pPr lvl="1"/>
            <a:r>
              <a:rPr lang="en-GB" dirty="0"/>
              <a:t>To practice differentiating aggregation from association</a:t>
            </a:r>
          </a:p>
          <a:p>
            <a:r>
              <a:rPr lang="en-GB" dirty="0"/>
              <a:t>Task:</a:t>
            </a:r>
          </a:p>
          <a:p>
            <a:pPr lvl="1"/>
            <a:r>
              <a:rPr lang="en-GB" dirty="0"/>
              <a:t>As a group </a:t>
            </a:r>
            <a:r>
              <a:rPr lang="en-GB" dirty="0" smtClean="0"/>
              <a:t>, decide </a:t>
            </a:r>
            <a:r>
              <a:rPr lang="en-GB" dirty="0"/>
              <a:t>for each of the following whether each aggregation or association would be most appropriate</a:t>
            </a:r>
          </a:p>
          <a:p>
            <a:endParaRPr lang="en-GB" dirty="0"/>
          </a:p>
        </p:txBody>
      </p:sp>
      <p:sp>
        <p:nvSpPr>
          <p:cNvPr id="445448" name="Rectangle 8"/>
          <p:cNvSpPr>
            <a:spLocks noGrp="1" noChangeArrowheads="1"/>
          </p:cNvSpPr>
          <p:nvPr>
            <p:ph type="title"/>
          </p:nvPr>
        </p:nvSpPr>
        <p:spPr/>
        <p:txBody>
          <a:bodyPr/>
          <a:lstStyle/>
          <a:p>
            <a:r>
              <a:rPr lang="en-GB"/>
              <a:t>Aggregation In-Situ Exercise</a:t>
            </a:r>
          </a:p>
        </p:txBody>
      </p:sp>
      <p:sp>
        <p:nvSpPr>
          <p:cNvPr id="445450" name="Rectangle 10"/>
          <p:cNvSpPr>
            <a:spLocks noChangeArrowheads="1"/>
          </p:cNvSpPr>
          <p:nvPr/>
        </p:nvSpPr>
        <p:spPr bwMode="auto">
          <a:xfrm>
            <a:off x="1055688" y="3410850"/>
            <a:ext cx="7243762" cy="2028761"/>
          </a:xfrm>
          <a:prstGeom prst="rect">
            <a:avLst/>
          </a:prstGeom>
          <a:solidFill>
            <a:srgbClr val="FCFEB9"/>
          </a:solidFill>
          <a:ln w="12700">
            <a:noFill/>
            <a:miter lim="800000"/>
            <a:headEnd/>
            <a:tailEnd/>
          </a:ln>
          <a:effectLst/>
        </p:spPr>
        <p:txBody>
          <a:bodyPr lIns="90488" tIns="44450" rIns="90488" bIns="44450">
            <a:spAutoFit/>
          </a:bodyPr>
          <a:lstStyle/>
          <a:p>
            <a:pPr>
              <a:buFontTx/>
              <a:buChar char="–"/>
            </a:pPr>
            <a:r>
              <a:rPr lang="en-GB" sz="1800" b="1" dirty="0"/>
              <a:t> A track on a CD</a:t>
            </a:r>
          </a:p>
          <a:p>
            <a:pPr>
              <a:buFontTx/>
              <a:buChar char="–"/>
            </a:pPr>
            <a:r>
              <a:rPr lang="en-GB" sz="1800" b="1" dirty="0"/>
              <a:t> A mobile phone has a battery</a:t>
            </a:r>
          </a:p>
          <a:p>
            <a:pPr>
              <a:buFontTx/>
              <a:buChar char="–"/>
            </a:pPr>
            <a:r>
              <a:rPr lang="en-GB" sz="1800" b="1" dirty="0"/>
              <a:t> A portfolio contains assets</a:t>
            </a:r>
          </a:p>
          <a:p>
            <a:pPr>
              <a:buFontTx/>
              <a:buChar char="–"/>
            </a:pPr>
            <a:r>
              <a:rPr lang="en-GB" sz="1800" b="1" dirty="0"/>
              <a:t> A car parked in a car park</a:t>
            </a:r>
          </a:p>
          <a:p>
            <a:pPr>
              <a:buFontTx/>
              <a:buChar char="–"/>
            </a:pPr>
            <a:r>
              <a:rPr lang="en-GB" sz="1800" b="1" dirty="0"/>
              <a:t> An organisation has many departments</a:t>
            </a:r>
          </a:p>
          <a:p>
            <a:pPr>
              <a:buFontTx/>
              <a:buChar char="–"/>
            </a:pPr>
            <a:r>
              <a:rPr lang="en-GB" sz="1800" b="1" dirty="0" smtClean="0"/>
              <a:t> A </a:t>
            </a:r>
            <a:r>
              <a:rPr lang="en-GB" sz="1800" b="1" dirty="0"/>
              <a:t>person driving a car</a:t>
            </a:r>
          </a:p>
          <a:p>
            <a:pPr>
              <a:buFontTx/>
              <a:buChar char="–"/>
            </a:pPr>
            <a:r>
              <a:rPr lang="en-GB" sz="1800" b="1" dirty="0"/>
              <a:t> A guitar has strings</a:t>
            </a:r>
          </a:p>
        </p:txBody>
      </p:sp>
    </p:spTree>
    <p:extLst>
      <p:ext uri="{BB962C8B-B14F-4D97-AF65-F5344CB8AC3E}">
        <p14:creationId xmlns:p14="http://schemas.microsoft.com/office/powerpoint/2010/main" val="3317411926"/>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fontScale="90000"/>
          </a:bodyPr>
          <a:lstStyle/>
          <a:p>
            <a:pPr algn="ctr"/>
            <a:r>
              <a:rPr lang="en-US" sz="6600" dirty="0" smtClean="0"/>
              <a:t>Advanced Design Concepts</a:t>
            </a:r>
            <a:endParaRPr lang="en-GB" sz="6600" dirty="0">
              <a:latin typeface="Arial" pitchFamily="34" charset="0"/>
              <a:cs typeface="Arial" pitchFamily="34" charset="0"/>
            </a:endParaRPr>
          </a:p>
        </p:txBody>
      </p:sp>
    </p:spTree>
    <p:extLst>
      <p:ext uri="{BB962C8B-B14F-4D97-AF65-F5344CB8AC3E}">
        <p14:creationId xmlns:p14="http://schemas.microsoft.com/office/powerpoint/2010/main" val="18301298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a:xfrm>
            <a:off x="180000" y="900000"/>
            <a:ext cx="8820000" cy="5220000"/>
          </a:xfrm>
        </p:spPr>
        <p:txBody>
          <a:bodyPr lIns="64291" tIns="32146" rIns="64291" bIns="32146"/>
          <a:lstStyle/>
          <a:p>
            <a:r>
              <a:rPr lang="en-GB" i="1" dirty="0" smtClean="0"/>
              <a:t>What do we mean by a bad design</a:t>
            </a:r>
            <a:endParaRPr lang="en-GB" i="1" dirty="0"/>
          </a:p>
          <a:p>
            <a:pPr lvl="1"/>
            <a:r>
              <a:rPr lang="en-GB" b="1" i="1" dirty="0" smtClean="0"/>
              <a:t>Rigid</a:t>
            </a:r>
            <a:r>
              <a:rPr lang="en-GB" i="1" dirty="0" smtClean="0"/>
              <a:t>: </a:t>
            </a:r>
          </a:p>
          <a:p>
            <a:pPr lvl="2"/>
            <a:r>
              <a:rPr lang="en-GB" i="1" dirty="0" smtClean="0"/>
              <a:t>Hard to make changes.</a:t>
            </a:r>
          </a:p>
          <a:p>
            <a:pPr lvl="2"/>
            <a:r>
              <a:rPr lang="en-GB" i="1" dirty="0" smtClean="0"/>
              <a:t>To change the length of an ID from 4 characters to 5 takes months!</a:t>
            </a:r>
          </a:p>
          <a:p>
            <a:pPr lvl="1"/>
            <a:r>
              <a:rPr lang="en-GB" b="1" i="1" dirty="0" smtClean="0"/>
              <a:t>Fragile</a:t>
            </a:r>
            <a:r>
              <a:rPr lang="en-GB" i="1" dirty="0" smtClean="0"/>
              <a:t>: </a:t>
            </a:r>
            <a:endParaRPr lang="en-GB" i="1" dirty="0"/>
          </a:p>
          <a:p>
            <a:pPr lvl="2"/>
            <a:r>
              <a:rPr lang="en-GB" i="1" dirty="0" smtClean="0"/>
              <a:t>Changes that are made cause undesirable consequences</a:t>
            </a:r>
          </a:p>
          <a:p>
            <a:pPr lvl="2"/>
            <a:r>
              <a:rPr lang="en-GB" i="1" dirty="0" smtClean="0"/>
              <a:t>So badly put together than even a small change may have bad/catastrophic consequences</a:t>
            </a:r>
          </a:p>
          <a:p>
            <a:pPr lvl="1"/>
            <a:r>
              <a:rPr lang="en-GB" b="1" i="1" dirty="0" smtClean="0"/>
              <a:t>Immobile</a:t>
            </a:r>
            <a:r>
              <a:rPr lang="en-GB" i="1" dirty="0" smtClean="0"/>
              <a:t>: </a:t>
            </a:r>
            <a:endParaRPr lang="en-GB" i="1" dirty="0"/>
          </a:p>
          <a:p>
            <a:pPr lvl="2"/>
            <a:r>
              <a:rPr lang="en-GB" i="1" dirty="0"/>
              <a:t>H</a:t>
            </a:r>
            <a:r>
              <a:rPr lang="en-GB" i="1" dirty="0" smtClean="0"/>
              <a:t>ard to reuse in another application</a:t>
            </a:r>
          </a:p>
          <a:p>
            <a:pPr lvl="2"/>
            <a:r>
              <a:rPr lang="en-GB" i="1" dirty="0" smtClean="0"/>
              <a:t>Application/modules written in monolithic module, specific to the current task that it may not be used/shared by any other project</a:t>
            </a:r>
          </a:p>
          <a:p>
            <a:pPr lvl="2"/>
            <a:r>
              <a:rPr lang="en-GB" i="1" dirty="0" smtClean="0"/>
              <a:t>Application written for Windows and needs a complete re-write if it becomes a web application.</a:t>
            </a:r>
          </a:p>
          <a:p>
            <a:endParaRPr lang="en-GB" dirty="0"/>
          </a:p>
        </p:txBody>
      </p:sp>
      <p:sp>
        <p:nvSpPr>
          <p:cNvPr id="4" name="Title 3"/>
          <p:cNvSpPr>
            <a:spLocks noGrp="1"/>
          </p:cNvSpPr>
          <p:nvPr>
            <p:ph type="title"/>
          </p:nvPr>
        </p:nvSpPr>
        <p:spPr/>
        <p:txBody>
          <a:bodyPr/>
          <a:lstStyle/>
          <a:p>
            <a:r>
              <a:rPr lang="en-GB" dirty="0" smtClean="0"/>
              <a:t>Bad Design</a:t>
            </a:r>
            <a:endParaRPr lang="en-US" dirty="0"/>
          </a:p>
        </p:txBody>
      </p:sp>
    </p:spTree>
    <p:extLst>
      <p:ext uri="{BB962C8B-B14F-4D97-AF65-F5344CB8AC3E}">
        <p14:creationId xmlns:p14="http://schemas.microsoft.com/office/powerpoint/2010/main" val="16985830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p:txBody>
          <a:bodyPr lIns="64291" tIns="32146" rIns="64291" bIns="32146"/>
          <a:lstStyle/>
          <a:p>
            <a:r>
              <a:rPr lang="en-GB" i="1" dirty="0"/>
              <a:t>Follow these principals and you'll have a good chance of delivering good design and </a:t>
            </a:r>
            <a:r>
              <a:rPr lang="en-GB" i="1" dirty="0" smtClean="0"/>
              <a:t>code</a:t>
            </a:r>
            <a:r>
              <a:rPr lang="en-GB" i="1" dirty="0"/>
              <a:t/>
            </a:r>
            <a:br>
              <a:rPr lang="en-GB" i="1" dirty="0"/>
            </a:br>
            <a:endParaRPr lang="en-GB" i="1" dirty="0" smtClean="0"/>
          </a:p>
          <a:p>
            <a:pPr marL="817200" lvl="1" indent="-457200">
              <a:buFont typeface="+mj-lt"/>
              <a:buAutoNum type="arabicPeriod"/>
            </a:pPr>
            <a:r>
              <a:rPr lang="en-GB" sz="2400" b="1" dirty="0" smtClean="0">
                <a:solidFill>
                  <a:srgbClr val="FF0000"/>
                </a:solidFill>
              </a:rPr>
              <a:t>S</a:t>
            </a:r>
            <a:r>
              <a:rPr lang="en-GB" sz="2400" dirty="0" smtClean="0"/>
              <a:t>ingle Responsibility</a:t>
            </a:r>
          </a:p>
          <a:p>
            <a:pPr marL="817200" lvl="1" indent="-457200">
              <a:buFont typeface="+mj-lt"/>
              <a:buAutoNum type="arabicPeriod"/>
            </a:pPr>
            <a:r>
              <a:rPr lang="en-GB" sz="2400" b="1" dirty="0" smtClean="0">
                <a:solidFill>
                  <a:srgbClr val="FF0000"/>
                </a:solidFill>
              </a:rPr>
              <a:t>O</a:t>
            </a:r>
            <a:r>
              <a:rPr lang="en-GB" sz="2400" dirty="0" smtClean="0"/>
              <a:t>pen-Close</a:t>
            </a:r>
          </a:p>
          <a:p>
            <a:pPr marL="817200" lvl="1" indent="-457200">
              <a:buFont typeface="+mj-lt"/>
              <a:buAutoNum type="arabicPeriod"/>
            </a:pPr>
            <a:r>
              <a:rPr lang="en-GB" sz="2400" b="1" dirty="0" err="1">
                <a:solidFill>
                  <a:srgbClr val="FF0000"/>
                </a:solidFill>
              </a:rPr>
              <a:t>L</a:t>
            </a:r>
            <a:r>
              <a:rPr lang="en-GB" sz="2400" dirty="0" err="1" smtClean="0"/>
              <a:t>iskov</a:t>
            </a:r>
            <a:r>
              <a:rPr lang="en-GB" sz="2400" dirty="0" smtClean="0"/>
              <a:t> Substitution</a:t>
            </a:r>
          </a:p>
          <a:p>
            <a:pPr marL="817200" lvl="1" indent="-457200">
              <a:buFont typeface="+mj-lt"/>
              <a:buAutoNum type="arabicPeriod"/>
            </a:pPr>
            <a:r>
              <a:rPr lang="en-GB" sz="2400" b="1" dirty="0">
                <a:solidFill>
                  <a:srgbClr val="FF0000"/>
                </a:solidFill>
              </a:rPr>
              <a:t>I</a:t>
            </a:r>
            <a:r>
              <a:rPr lang="en-GB" sz="2400" dirty="0" smtClean="0"/>
              <a:t>nterface Segregation</a:t>
            </a:r>
          </a:p>
          <a:p>
            <a:pPr marL="817200" lvl="1" indent="-457200">
              <a:buFont typeface="+mj-lt"/>
              <a:buAutoNum type="arabicPeriod"/>
            </a:pPr>
            <a:r>
              <a:rPr lang="en-GB" sz="2400" b="1" dirty="0">
                <a:solidFill>
                  <a:srgbClr val="FF0000"/>
                </a:solidFill>
              </a:rPr>
              <a:t>D</a:t>
            </a:r>
            <a:r>
              <a:rPr lang="en-GB" sz="2400" dirty="0" smtClean="0"/>
              <a:t>ependency Inversion</a:t>
            </a:r>
          </a:p>
          <a:p>
            <a:pPr>
              <a:buNone/>
            </a:pPr>
            <a:endParaRPr lang="en-GB" dirty="0"/>
          </a:p>
        </p:txBody>
      </p:sp>
      <p:sp>
        <p:nvSpPr>
          <p:cNvPr id="4" name="Title 3"/>
          <p:cNvSpPr>
            <a:spLocks noGrp="1"/>
          </p:cNvSpPr>
          <p:nvPr>
            <p:ph type="title"/>
          </p:nvPr>
        </p:nvSpPr>
        <p:spPr/>
        <p:txBody>
          <a:bodyPr/>
          <a:lstStyle/>
          <a:p>
            <a:r>
              <a:rPr lang="en-GB" dirty="0" smtClean="0"/>
              <a:t>Solid principals to rescue</a:t>
            </a:r>
            <a:endParaRPr lang="en-US" dirty="0"/>
          </a:p>
        </p:txBody>
      </p:sp>
    </p:spTree>
    <p:extLst>
      <p:ext uri="{BB962C8B-B14F-4D97-AF65-F5344CB8AC3E}">
        <p14:creationId xmlns:p14="http://schemas.microsoft.com/office/powerpoint/2010/main" val="35374120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p:txBody>
          <a:bodyPr lIns="64291" tIns="32146" rIns="64291" bIns="32146">
            <a:normAutofit/>
          </a:bodyPr>
          <a:lstStyle/>
          <a:p>
            <a:r>
              <a:rPr lang="en-US" dirty="0" smtClean="0"/>
              <a:t>Each class should only have one responsibility</a:t>
            </a:r>
          </a:p>
          <a:p>
            <a:r>
              <a:rPr lang="en-US" dirty="0" smtClean="0"/>
              <a:t>Each class should have only one reason to change its behavior</a:t>
            </a:r>
          </a:p>
          <a:p>
            <a:r>
              <a:rPr lang="en-US" dirty="0" smtClean="0"/>
              <a:t>No '</a:t>
            </a:r>
            <a:r>
              <a:rPr lang="en-US" i="1" dirty="0" smtClean="0"/>
              <a:t>Kitchen Sink</a:t>
            </a:r>
            <a:r>
              <a:rPr lang="en-US" dirty="0" smtClean="0"/>
              <a:t>' classes.</a:t>
            </a:r>
          </a:p>
          <a:p>
            <a:pPr lvl="1"/>
            <a:r>
              <a:rPr lang="en-US" dirty="0" smtClean="0"/>
              <a:t>A class called QA which has all the methods needed to run QA!</a:t>
            </a:r>
            <a:endParaRPr lang="en-GB" dirty="0" smtClean="0"/>
          </a:p>
          <a:p>
            <a:endParaRPr lang="en-GB" dirty="0" smtClean="0"/>
          </a:p>
          <a:p>
            <a:r>
              <a:rPr lang="en-US" dirty="0" smtClean="0"/>
              <a:t>This principal promotes decoupling.</a:t>
            </a:r>
          </a:p>
          <a:p>
            <a:pPr lvl="1"/>
            <a:r>
              <a:rPr lang="en-US" dirty="0" smtClean="0"/>
              <a:t>If you want to change an aspect, you'll have a lot less code changes</a:t>
            </a:r>
          </a:p>
          <a:p>
            <a:pPr lvl="1"/>
            <a:r>
              <a:rPr lang="en-US" dirty="0" smtClean="0"/>
              <a:t>Code is reusable; by combining responsibilities other classes won’t be able to use a single responsibility from the class.</a:t>
            </a:r>
          </a:p>
          <a:p>
            <a:pPr lvl="1"/>
            <a:endParaRPr lang="en-US" dirty="0" smtClean="0"/>
          </a:p>
          <a:p>
            <a:r>
              <a:rPr lang="en-US" dirty="0" smtClean="0"/>
              <a:t>If you've a large class the chances are it's multiple responsibilities</a:t>
            </a:r>
          </a:p>
          <a:p>
            <a:pPr lvl="1"/>
            <a:r>
              <a:rPr lang="en-US" dirty="0" smtClean="0"/>
              <a:t>Just break it up into smaller classes which in turn makes the class easier to test. </a:t>
            </a:r>
          </a:p>
        </p:txBody>
      </p:sp>
      <p:sp>
        <p:nvSpPr>
          <p:cNvPr id="4" name="Title 3"/>
          <p:cNvSpPr>
            <a:spLocks noGrp="1"/>
          </p:cNvSpPr>
          <p:nvPr>
            <p:ph type="title"/>
          </p:nvPr>
        </p:nvSpPr>
        <p:spPr/>
        <p:txBody>
          <a:bodyPr/>
          <a:lstStyle/>
          <a:p>
            <a:r>
              <a:rPr lang="en-GB" dirty="0" smtClean="0"/>
              <a:t>Single Responsibility Principle</a:t>
            </a:r>
            <a:endParaRPr lang="en-US" dirty="0"/>
          </a:p>
        </p:txBody>
      </p:sp>
    </p:spTree>
    <p:extLst>
      <p:ext uri="{BB962C8B-B14F-4D97-AF65-F5344CB8AC3E}">
        <p14:creationId xmlns:p14="http://schemas.microsoft.com/office/powerpoint/2010/main" val="93542234"/>
      </p:ext>
    </p:extLst>
  </p:cSld>
  <p:clrMapOvr>
    <a:masterClrMapping/>
  </p:clrMapOvr>
  <p:transition>
    <p:pull dir="l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p:txBody>
          <a:bodyPr lIns="64291" tIns="32146" rIns="64291" bIns="32146">
            <a:normAutofit/>
          </a:bodyPr>
          <a:lstStyle/>
          <a:p>
            <a:r>
              <a:rPr lang="en-GB" dirty="0" smtClean="0"/>
              <a:t>Open for extension, closed for modification.</a:t>
            </a:r>
          </a:p>
          <a:p>
            <a:r>
              <a:rPr lang="en-GB" dirty="0" smtClean="0"/>
              <a:t>Software entities should be extendable, but not modifiable. </a:t>
            </a:r>
          </a:p>
          <a:p>
            <a:r>
              <a:rPr lang="en-GB" dirty="0" smtClean="0"/>
              <a:t>Changes in requirements are performed using  extension rather than modifying existing classes</a:t>
            </a:r>
          </a:p>
          <a:p>
            <a:r>
              <a:rPr lang="en-GB" dirty="0" smtClean="0"/>
              <a:t>Apply </a:t>
            </a:r>
            <a:r>
              <a:rPr lang="en-GB" b="1" dirty="0" smtClean="0"/>
              <a:t>abstraction</a:t>
            </a:r>
            <a:r>
              <a:rPr lang="en-GB" dirty="0" smtClean="0"/>
              <a:t> and </a:t>
            </a:r>
            <a:r>
              <a:rPr lang="en-GB" b="1" dirty="0" smtClean="0"/>
              <a:t>polymorphism</a:t>
            </a:r>
            <a:r>
              <a:rPr lang="en-GB" dirty="0" smtClean="0"/>
              <a:t>.</a:t>
            </a:r>
          </a:p>
          <a:p>
            <a:endParaRPr lang="en-GB" dirty="0"/>
          </a:p>
        </p:txBody>
      </p:sp>
      <p:sp>
        <p:nvSpPr>
          <p:cNvPr id="4" name="Title 3"/>
          <p:cNvSpPr>
            <a:spLocks noGrp="1"/>
          </p:cNvSpPr>
          <p:nvPr>
            <p:ph type="title"/>
          </p:nvPr>
        </p:nvSpPr>
        <p:spPr/>
        <p:txBody>
          <a:bodyPr/>
          <a:lstStyle/>
          <a:p>
            <a:r>
              <a:rPr lang="en-GB" dirty="0" smtClean="0"/>
              <a:t>Open Closed Principle</a:t>
            </a:r>
            <a:endParaRPr lang="en-US" dirty="0"/>
          </a:p>
        </p:txBody>
      </p:sp>
      <p:pic>
        <p:nvPicPr>
          <p:cNvPr id="2" name="Picture 1"/>
          <p:cNvPicPr>
            <a:picLocks noChangeAspect="1"/>
          </p:cNvPicPr>
          <p:nvPr/>
        </p:nvPicPr>
        <p:blipFill>
          <a:blip r:embed="rId2"/>
          <a:stretch>
            <a:fillRect/>
          </a:stretch>
        </p:blipFill>
        <p:spPr>
          <a:xfrm>
            <a:off x="2073851" y="2837402"/>
            <a:ext cx="5162550" cy="3810000"/>
          </a:xfrm>
          <a:prstGeom prst="rect">
            <a:avLst/>
          </a:prstGeom>
        </p:spPr>
      </p:pic>
    </p:spTree>
    <p:extLst>
      <p:ext uri="{BB962C8B-B14F-4D97-AF65-F5344CB8AC3E}">
        <p14:creationId xmlns:p14="http://schemas.microsoft.com/office/powerpoint/2010/main" val="7856396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endParaRPr lang="en-GB"/>
          </a:p>
        </p:txBody>
      </p:sp>
      <p:sp>
        <p:nvSpPr>
          <p:cNvPr id="3" name="Title 2"/>
          <p:cNvSpPr>
            <a:spLocks noGrp="1"/>
          </p:cNvSpPr>
          <p:nvPr>
            <p:ph type="title"/>
          </p:nvPr>
        </p:nvSpPr>
        <p:spPr/>
        <p:txBody>
          <a:bodyPr/>
          <a:lstStyle/>
          <a:p>
            <a:r>
              <a:rPr lang="en-GB" dirty="0" smtClean="0"/>
              <a:t>Open Close principal example</a:t>
            </a:r>
            <a:endParaRPr lang="en-GB" dirty="0"/>
          </a:p>
        </p:txBody>
      </p:sp>
      <p:pic>
        <p:nvPicPr>
          <p:cNvPr id="4" name="Picture 3"/>
          <p:cNvPicPr>
            <a:picLocks noChangeAspect="1"/>
          </p:cNvPicPr>
          <p:nvPr/>
        </p:nvPicPr>
        <p:blipFill>
          <a:blip r:embed="rId2"/>
          <a:stretch>
            <a:fillRect/>
          </a:stretch>
        </p:blipFill>
        <p:spPr>
          <a:xfrm>
            <a:off x="680953" y="1210547"/>
            <a:ext cx="7448893" cy="4667344"/>
          </a:xfrm>
          <a:prstGeom prst="rect">
            <a:avLst/>
          </a:prstGeom>
        </p:spPr>
      </p:pic>
    </p:spTree>
    <p:extLst>
      <p:ext uri="{BB962C8B-B14F-4D97-AF65-F5344CB8AC3E}">
        <p14:creationId xmlns:p14="http://schemas.microsoft.com/office/powerpoint/2010/main" val="39899151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p:txBody>
          <a:bodyPr lIns="64291" tIns="32146" rIns="64291" bIns="32146">
            <a:normAutofit/>
          </a:bodyPr>
          <a:lstStyle/>
          <a:p>
            <a:r>
              <a:rPr lang="en-GB" dirty="0"/>
              <a:t>Sub-classes behaviour should </a:t>
            </a:r>
            <a:r>
              <a:rPr lang="en-GB" dirty="0" smtClean="0"/>
              <a:t>be the same as the super-classes</a:t>
            </a:r>
          </a:p>
          <a:p>
            <a:pPr lvl="1"/>
            <a:r>
              <a:rPr lang="en-GB" dirty="0" smtClean="0"/>
              <a:t>Should fulfil all behaviours of the base class correctly.</a:t>
            </a:r>
          </a:p>
          <a:p>
            <a:r>
              <a:rPr lang="en-GB" dirty="0" smtClean="0"/>
              <a:t>The behaviour of a derived class should have a stronger post-condition and a weaker precondition than the base class.</a:t>
            </a:r>
          </a:p>
          <a:p>
            <a:pPr lvl="1"/>
            <a:r>
              <a:rPr lang="en-GB" dirty="0" smtClean="0"/>
              <a:t>(you'll see this in the next few slides)</a:t>
            </a:r>
          </a:p>
          <a:p>
            <a:r>
              <a:rPr lang="en-GB" dirty="0" err="1" smtClean="0"/>
              <a:t>Liskov</a:t>
            </a:r>
            <a:r>
              <a:rPr lang="en-GB" dirty="0" smtClean="0"/>
              <a:t> substitution principal prevents classes having </a:t>
            </a:r>
            <a:br>
              <a:rPr lang="en-GB" dirty="0" smtClean="0"/>
            </a:br>
            <a:r>
              <a:rPr lang="en-GB" dirty="0" smtClean="0"/>
              <a:t>undesirable behaviours.</a:t>
            </a:r>
          </a:p>
        </p:txBody>
      </p:sp>
      <p:sp>
        <p:nvSpPr>
          <p:cNvPr id="4" name="Title 3"/>
          <p:cNvSpPr>
            <a:spLocks noGrp="1"/>
          </p:cNvSpPr>
          <p:nvPr>
            <p:ph type="title"/>
          </p:nvPr>
        </p:nvSpPr>
        <p:spPr/>
        <p:txBody>
          <a:bodyPr/>
          <a:lstStyle/>
          <a:p>
            <a:r>
              <a:rPr lang="en-GB" dirty="0" err="1" smtClean="0"/>
              <a:t>Liskov</a:t>
            </a:r>
            <a:r>
              <a:rPr lang="en-GB" dirty="0" smtClean="0"/>
              <a:t> Substitution</a:t>
            </a:r>
            <a:endParaRPr lang="en-US" dirty="0"/>
          </a:p>
        </p:txBody>
      </p:sp>
      <p:pic>
        <p:nvPicPr>
          <p:cNvPr id="2050" name="Picture 2" descr="https://www.acm.org/binaries/content/gallery/acm/ctas/people/turing_liskov_facebook.jpg/turing_liskov_facebook.jpg/acm%3Adesktopcta">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419" y="3759586"/>
            <a:ext cx="5120831" cy="2688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3684301"/>
      </p:ext>
    </p:extLst>
  </p:cSld>
  <p:clrMapOvr>
    <a:masterClrMapping/>
  </p:clrMapOvr>
  <p:transition>
    <p:pull dir="l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A simple example of the </a:t>
            </a:r>
            <a:r>
              <a:rPr lang="en-GB" dirty="0" err="1" smtClean="0"/>
              <a:t>Liskov</a:t>
            </a:r>
            <a:r>
              <a:rPr lang="en-GB" dirty="0" smtClean="0"/>
              <a:t> Principle</a:t>
            </a:r>
            <a:endParaRPr lang="en-GB" dirty="0"/>
          </a:p>
        </p:txBody>
      </p:sp>
      <p:sp>
        <p:nvSpPr>
          <p:cNvPr id="5" name="Rectangle 4"/>
          <p:cNvSpPr/>
          <p:nvPr/>
        </p:nvSpPr>
        <p:spPr>
          <a:xfrm>
            <a:off x="141323" y="1465820"/>
            <a:ext cx="8420786" cy="4524315"/>
          </a:xfrm>
          <a:prstGeom prst="rect">
            <a:avLst/>
          </a:prstGeom>
        </p:spPr>
        <p:txBody>
          <a:bodyPr wrap="square">
            <a:spAutoFit/>
          </a:bodyPr>
          <a:lstStyle/>
          <a:p>
            <a:r>
              <a:rPr lang="en-GB" sz="1600" dirty="0">
                <a:solidFill>
                  <a:srgbClr val="0000FF"/>
                </a:solidFill>
                <a:highlight>
                  <a:srgbClr val="FFFFFF"/>
                </a:highlight>
                <a:latin typeface="Consolas" panose="020B0609020204030204" pitchFamily="49" charset="0"/>
              </a:rPr>
              <a:t>interface</a:t>
            </a:r>
            <a:r>
              <a:rPr lang="en-GB" sz="1600" dirty="0">
                <a:solidFill>
                  <a:srgbClr val="000000"/>
                </a:solidFill>
                <a:highlight>
                  <a:srgbClr val="FFFFFF"/>
                </a:highlight>
                <a:latin typeface="Consolas" panose="020B0609020204030204" pitchFamily="49" charset="0"/>
              </a:rPr>
              <a:t> </a:t>
            </a:r>
            <a:r>
              <a:rPr lang="en-GB" sz="1600" b="1" dirty="0" err="1">
                <a:solidFill>
                  <a:srgbClr val="2B91AF"/>
                </a:solidFill>
                <a:highlight>
                  <a:srgbClr val="FFFFFF"/>
                </a:highlight>
                <a:latin typeface="Consolas" panose="020B0609020204030204" pitchFamily="49" charset="0"/>
              </a:rPr>
              <a:t>IPersistable</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Save();</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Load();</a:t>
            </a:r>
          </a:p>
          <a:p>
            <a:r>
              <a:rPr lang="en-GB" sz="1600" dirty="0">
                <a:solidFill>
                  <a:srgbClr val="000000"/>
                </a:solidFill>
                <a:highlight>
                  <a:srgbClr val="FFFFFF"/>
                </a:highlight>
                <a:latin typeface="Consolas" panose="020B0609020204030204" pitchFamily="49" charset="0"/>
              </a:rPr>
              <a:t>}</a:t>
            </a:r>
          </a:p>
          <a:p>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Customer</a:t>
            </a:r>
            <a:r>
              <a:rPr lang="en-GB" sz="1600" b="1" dirty="0">
                <a:solidFill>
                  <a:srgbClr val="000000"/>
                </a:solidFill>
                <a:highlight>
                  <a:srgbClr val="FFFFFF"/>
                </a:highlight>
                <a:latin typeface="Consolas" panose="020B0609020204030204" pitchFamily="49" charset="0"/>
              </a:rPr>
              <a:t> : </a:t>
            </a:r>
            <a:r>
              <a:rPr lang="en-GB" sz="1600" b="1" dirty="0" err="1">
                <a:solidFill>
                  <a:srgbClr val="2B91AF"/>
                </a:solidFill>
                <a:highlight>
                  <a:srgbClr val="FFFFFF"/>
                </a:highlight>
                <a:latin typeface="Consolas" panose="020B0609020204030204" pitchFamily="49" charset="0"/>
              </a:rPr>
              <a:t>IPersistable</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 ID { </a:t>
            </a:r>
            <a:r>
              <a:rPr lang="en-GB" sz="1600" dirty="0">
                <a:solidFill>
                  <a:srgbClr val="0000FF"/>
                </a:solidFill>
                <a:highlight>
                  <a:srgbClr val="FFFFFF"/>
                </a:highlight>
                <a:latin typeface="Consolas" panose="020B0609020204030204" pitchFamily="49" charset="0"/>
              </a:rPr>
              <a:t>get</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set</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Name { </a:t>
            </a:r>
            <a:r>
              <a:rPr lang="en-GB" sz="1600" dirty="0">
                <a:solidFill>
                  <a:srgbClr val="0000FF"/>
                </a:solidFill>
                <a:highlight>
                  <a:srgbClr val="FFFFFF"/>
                </a:highlight>
                <a:latin typeface="Consolas" panose="020B0609020204030204" pitchFamily="49" charset="0"/>
              </a:rPr>
              <a:t>get</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set</a:t>
            </a:r>
            <a:r>
              <a:rPr lang="en-GB" sz="1600" dirty="0">
                <a:solidFill>
                  <a:srgbClr val="000000"/>
                </a:solidFill>
                <a:highlight>
                  <a:srgbClr val="FFFFFF"/>
                </a:highlight>
                <a:latin typeface="Consolas" panose="020B0609020204030204" pitchFamily="49" charset="0"/>
              </a:rPr>
              <a:t>; }</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Load()  {</a:t>
            </a:r>
          </a:p>
          <a:p>
            <a:r>
              <a:rPr lang="en-GB" sz="1600" dirty="0">
                <a:solidFill>
                  <a:srgbClr val="000000"/>
                </a:solidFill>
                <a:highlight>
                  <a:srgbClr val="FFFFFF"/>
                </a:highlight>
                <a:latin typeface="Consolas" panose="020B0609020204030204" pitchFamily="49" charset="0"/>
              </a:rPr>
              <a:t>        </a:t>
            </a:r>
            <a:r>
              <a:rPr lang="en-GB" sz="1600" dirty="0">
                <a:solidFill>
                  <a:srgbClr val="008000"/>
                </a:solidFill>
                <a:highlight>
                  <a:srgbClr val="FFFFFF"/>
                </a:highlight>
                <a:latin typeface="Consolas" panose="020B0609020204030204" pitchFamily="49" charset="0"/>
              </a:rPr>
              <a:t>// Read a data store and set </a:t>
            </a:r>
            <a:r>
              <a:rPr lang="en-GB" sz="1600" dirty="0" smtClean="0">
                <a:solidFill>
                  <a:srgbClr val="008000"/>
                </a:solidFill>
                <a:highlight>
                  <a:srgbClr val="FFFFFF"/>
                </a:highlight>
                <a:latin typeface="Consolas" panose="020B0609020204030204" pitchFamily="49" charset="0"/>
              </a:rPr>
              <a:t/>
            </a:r>
            <a:br>
              <a:rPr lang="en-GB" sz="1600" dirty="0" smtClean="0">
                <a:solidFill>
                  <a:srgbClr val="008000"/>
                </a:solidFill>
                <a:highlight>
                  <a:srgbClr val="FFFFFF"/>
                </a:highlight>
                <a:latin typeface="Consolas" panose="020B0609020204030204" pitchFamily="49" charset="0"/>
              </a:rPr>
            </a:br>
            <a:r>
              <a:rPr lang="en-GB" sz="1600" dirty="0" smtClean="0">
                <a:solidFill>
                  <a:srgbClr val="008000"/>
                </a:solidFill>
                <a:highlight>
                  <a:srgbClr val="FFFFFF"/>
                </a:highlight>
                <a:latin typeface="Consolas" panose="020B0609020204030204" pitchFamily="49" charset="0"/>
              </a:rPr>
              <a:t>	// the </a:t>
            </a:r>
            <a:r>
              <a:rPr lang="en-GB" sz="1600" dirty="0">
                <a:solidFill>
                  <a:srgbClr val="008000"/>
                </a:solidFill>
                <a:highlight>
                  <a:srgbClr val="FFFFFF"/>
                </a:highlight>
                <a:latin typeface="Consolas" panose="020B0609020204030204" pitchFamily="49" charset="0"/>
              </a:rPr>
              <a:t>ID and Name properties</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b="1" dirty="0" smtClean="0">
                <a:solidFill>
                  <a:srgbClr val="005AAB"/>
                </a:solidFill>
                <a:highlight>
                  <a:srgbClr val="FFFFFF"/>
                </a:highlight>
                <a:latin typeface="Consolas" panose="020B0609020204030204" pitchFamily="49" charset="0"/>
              </a:rPr>
              <a:t>virtual</a:t>
            </a:r>
            <a:r>
              <a:rPr lang="en-GB" sz="1600" dirty="0" smtClean="0">
                <a:solidFill>
                  <a:srgbClr val="000000"/>
                </a:solidFill>
                <a:highlight>
                  <a:srgbClr val="FFFFFF"/>
                </a:highlight>
                <a:latin typeface="Consolas" panose="020B0609020204030204" pitchFamily="49" charset="0"/>
              </a:rPr>
              <a:t> </a:t>
            </a:r>
            <a:r>
              <a:rPr lang="en-GB" sz="1600" dirty="0" smtClean="0">
                <a:solidFill>
                  <a:srgbClr val="0000FF"/>
                </a:solidFill>
                <a:highlight>
                  <a:srgbClr val="FFFFFF"/>
                </a:highlight>
                <a:latin typeface="Consolas" panose="020B0609020204030204" pitchFamily="49" charset="0"/>
              </a:rPr>
              <a:t>void</a:t>
            </a:r>
            <a:r>
              <a:rPr lang="en-GB" sz="1600" dirty="0" smtClean="0">
                <a:solidFill>
                  <a:srgbClr val="000000"/>
                </a:solidFill>
                <a:highlight>
                  <a:srgbClr val="FFFFFF"/>
                </a:highlight>
                <a:latin typeface="Consolas" panose="020B0609020204030204" pitchFamily="49" charset="0"/>
              </a:rPr>
              <a:t> </a:t>
            </a:r>
            <a:r>
              <a:rPr lang="en-GB" sz="1600" dirty="0">
                <a:solidFill>
                  <a:srgbClr val="000000"/>
                </a:solidFill>
                <a:highlight>
                  <a:srgbClr val="FFFFFF"/>
                </a:highlight>
                <a:latin typeface="Consolas" panose="020B0609020204030204" pitchFamily="49" charset="0"/>
              </a:rPr>
              <a:t>Save()  {</a:t>
            </a:r>
          </a:p>
          <a:p>
            <a:r>
              <a:rPr lang="en-GB" sz="1600" dirty="0">
                <a:solidFill>
                  <a:srgbClr val="000000"/>
                </a:solidFill>
                <a:highlight>
                  <a:srgbClr val="FFFFFF"/>
                </a:highlight>
                <a:latin typeface="Consolas" panose="020B0609020204030204" pitchFamily="49" charset="0"/>
              </a:rPr>
              <a:t>        </a:t>
            </a:r>
            <a:r>
              <a:rPr lang="en-GB" sz="1600" dirty="0">
                <a:solidFill>
                  <a:srgbClr val="008000"/>
                </a:solidFill>
                <a:highlight>
                  <a:srgbClr val="FFFFFF"/>
                </a:highlight>
                <a:latin typeface="Consolas" panose="020B0609020204030204" pitchFamily="49" charset="0"/>
              </a:rPr>
              <a:t>// Save instance </a:t>
            </a:r>
            <a:r>
              <a:rPr lang="en-GB" sz="1600" dirty="0" smtClean="0">
                <a:solidFill>
                  <a:srgbClr val="008000"/>
                </a:solidFill>
                <a:highlight>
                  <a:srgbClr val="FFFFFF"/>
                </a:highlight>
                <a:latin typeface="Consolas" panose="020B0609020204030204" pitchFamily="49" charset="0"/>
              </a:rPr>
              <a:t>properties </a:t>
            </a:r>
            <a:r>
              <a:rPr lang="en-GB" sz="1600" dirty="0">
                <a:solidFill>
                  <a:srgbClr val="008000"/>
                </a:solidFill>
                <a:highlight>
                  <a:srgbClr val="FFFFFF"/>
                </a:highlight>
                <a:latin typeface="Consolas" panose="020B0609020204030204" pitchFamily="49" charset="0"/>
              </a:rPr>
              <a:t>to a permanent data store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endParaRPr lang="en-GB" sz="1600" dirty="0"/>
          </a:p>
        </p:txBody>
      </p:sp>
      <p:pic>
        <p:nvPicPr>
          <p:cNvPr id="8" name="Picture 7"/>
          <p:cNvPicPr>
            <a:picLocks noChangeAspect="1"/>
          </p:cNvPicPr>
          <p:nvPr/>
        </p:nvPicPr>
        <p:blipFill>
          <a:blip r:embed="rId2"/>
          <a:stretch>
            <a:fillRect/>
          </a:stretch>
        </p:blipFill>
        <p:spPr>
          <a:xfrm>
            <a:off x="4560481" y="1181623"/>
            <a:ext cx="4362716" cy="2924863"/>
          </a:xfrm>
          <a:prstGeom prst="rect">
            <a:avLst/>
          </a:prstGeom>
        </p:spPr>
      </p:pic>
    </p:spTree>
    <p:extLst>
      <p:ext uri="{BB962C8B-B14F-4D97-AF65-F5344CB8AC3E}">
        <p14:creationId xmlns:p14="http://schemas.microsoft.com/office/powerpoint/2010/main" val="212671249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smtClean="0"/>
              <a:t>Add a new class called </a:t>
            </a:r>
            <a:r>
              <a:rPr lang="en-GB" dirty="0" err="1" smtClean="0"/>
              <a:t>EuropeCustomer</a:t>
            </a:r>
            <a:endParaRPr lang="en-GB" dirty="0"/>
          </a:p>
        </p:txBody>
      </p:sp>
      <p:pic>
        <p:nvPicPr>
          <p:cNvPr id="7" name="Picture 6"/>
          <p:cNvPicPr>
            <a:picLocks noChangeAspect="1"/>
          </p:cNvPicPr>
          <p:nvPr/>
        </p:nvPicPr>
        <p:blipFill>
          <a:blip r:embed="rId2"/>
          <a:stretch>
            <a:fillRect/>
          </a:stretch>
        </p:blipFill>
        <p:spPr>
          <a:xfrm>
            <a:off x="4926228" y="1065248"/>
            <a:ext cx="4139533" cy="2775236"/>
          </a:xfrm>
          <a:prstGeom prst="rect">
            <a:avLst/>
          </a:prstGeom>
        </p:spPr>
      </p:pic>
      <p:sp>
        <p:nvSpPr>
          <p:cNvPr id="4" name="Rectangle 3"/>
          <p:cNvSpPr/>
          <p:nvPr/>
        </p:nvSpPr>
        <p:spPr>
          <a:xfrm>
            <a:off x="257697" y="1681956"/>
            <a:ext cx="7750653" cy="4031873"/>
          </a:xfrm>
          <a:prstGeom prst="rect">
            <a:avLst/>
          </a:prstGeom>
        </p:spPr>
        <p:txBody>
          <a:bodyPr wrap="square">
            <a:spAutoFit/>
          </a:bodyPr>
          <a:lstStyle/>
          <a:p>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dirty="0" err="1" smtClean="0">
                <a:solidFill>
                  <a:srgbClr val="2B91AF"/>
                </a:solidFill>
                <a:highlight>
                  <a:srgbClr val="FFFFFF"/>
                </a:highlight>
                <a:latin typeface="Consolas" panose="020B0609020204030204" pitchFamily="49" charset="0"/>
              </a:rPr>
              <a:t>EuropeCustomer</a:t>
            </a:r>
            <a:r>
              <a:rPr lang="en-GB" sz="1600" dirty="0" smtClean="0">
                <a:solidFill>
                  <a:srgbClr val="000000"/>
                </a:solidFill>
                <a:highlight>
                  <a:srgbClr val="FFFFFF"/>
                </a:highlight>
                <a:latin typeface="Consolas" panose="020B0609020204030204" pitchFamily="49" charset="0"/>
              </a:rPr>
              <a:t> </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Customer</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Load()</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8000"/>
                </a:solidFill>
                <a:highlight>
                  <a:srgbClr val="FFFFFF"/>
                </a:highlight>
                <a:latin typeface="Consolas" panose="020B0609020204030204" pitchFamily="49" charset="0"/>
              </a:rPr>
              <a:t>// </a:t>
            </a:r>
            <a:r>
              <a:rPr lang="en-GB" sz="1600" dirty="0" smtClean="0">
                <a:solidFill>
                  <a:srgbClr val="008000"/>
                </a:solidFill>
                <a:highlight>
                  <a:srgbClr val="FFFFFF"/>
                </a:highlight>
                <a:latin typeface="Consolas" panose="020B0609020204030204" pitchFamily="49" charset="0"/>
              </a:rPr>
              <a:t>Load object data</a:t>
            </a:r>
            <a:endParaRPr lang="en-GB" sz="1600" dirty="0" smtClean="0">
              <a:solidFill>
                <a:srgbClr val="000000"/>
              </a:solidFill>
              <a:highlight>
                <a:srgbClr val="FFFFFF"/>
              </a:highlight>
              <a:latin typeface="Consolas" panose="020B0609020204030204" pitchFamily="49" charset="0"/>
            </a:endParaRPr>
          </a:p>
          <a:p>
            <a:r>
              <a:rPr lang="en-GB" sz="1600" dirty="0" smtClean="0">
                <a:solidFill>
                  <a:srgbClr val="000000"/>
                </a:solidFill>
                <a:highlight>
                  <a:srgbClr val="FFFFFF"/>
                </a:highlight>
                <a:latin typeface="Consolas" panose="020B0609020204030204" pitchFamily="49" charset="0"/>
              </a:rPr>
              <a:t>    }</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override</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Save()</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if</a:t>
            </a:r>
            <a:r>
              <a:rPr lang="en-GB" sz="1800" b="1" dirty="0">
                <a:solidFill>
                  <a:srgbClr val="000000"/>
                </a:solidFill>
                <a:highlight>
                  <a:srgbClr val="FFFFFF"/>
                </a:highlight>
                <a:latin typeface="Consolas" panose="020B0609020204030204" pitchFamily="49" charset="0"/>
              </a:rPr>
              <a:t> (</a:t>
            </a:r>
            <a:r>
              <a:rPr lang="en-GB" sz="1800" b="1" dirty="0" err="1">
                <a:solidFill>
                  <a:srgbClr val="2B91AF"/>
                </a:solidFill>
                <a:highlight>
                  <a:srgbClr val="FFFFFF"/>
                </a:highlight>
                <a:latin typeface="Consolas" panose="020B0609020204030204" pitchFamily="49" charset="0"/>
              </a:rPr>
              <a:t>DateTime</a:t>
            </a:r>
            <a:r>
              <a:rPr lang="en-GB" sz="1800" b="1" dirty="0" err="1">
                <a:solidFill>
                  <a:srgbClr val="000000"/>
                </a:solidFill>
                <a:highlight>
                  <a:srgbClr val="FFFFFF"/>
                </a:highlight>
                <a:latin typeface="Consolas" panose="020B0609020204030204" pitchFamily="49" charset="0"/>
              </a:rPr>
              <a:t>.Now.Hour</a:t>
            </a:r>
            <a:r>
              <a:rPr lang="en-GB" sz="1800" b="1" dirty="0">
                <a:solidFill>
                  <a:srgbClr val="000000"/>
                </a:solidFill>
                <a:highlight>
                  <a:srgbClr val="FFFFFF"/>
                </a:highlight>
                <a:latin typeface="Consolas" panose="020B0609020204030204" pitchFamily="49" charset="0"/>
              </a:rPr>
              <a:t> </a:t>
            </a:r>
            <a:r>
              <a:rPr lang="en-GB" sz="1800" b="1" dirty="0" smtClean="0">
                <a:solidFill>
                  <a:srgbClr val="000000"/>
                </a:solidFill>
                <a:highlight>
                  <a:srgbClr val="FFFFFF"/>
                </a:highlight>
                <a:latin typeface="Consolas" panose="020B0609020204030204" pitchFamily="49" charset="0"/>
              </a:rPr>
              <a:t>&lt; </a:t>
            </a:r>
            <a:r>
              <a:rPr lang="en-GB" sz="1800" b="1" dirty="0">
                <a:solidFill>
                  <a:srgbClr val="000000"/>
                </a:solidFill>
                <a:highlight>
                  <a:srgbClr val="FFFFFF"/>
                </a:highlight>
                <a:latin typeface="Consolas" panose="020B0609020204030204" pitchFamily="49" charset="0"/>
              </a:rPr>
              <a:t>12)</a:t>
            </a:r>
            <a:endParaRPr lang="en-GB" sz="1600" b="1"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8000"/>
                </a:solidFill>
                <a:highlight>
                  <a:srgbClr val="FFFFFF"/>
                </a:highlight>
                <a:latin typeface="Consolas" panose="020B0609020204030204" pitchFamily="49" charset="0"/>
              </a:rPr>
              <a:t>// Save instance </a:t>
            </a:r>
            <a:r>
              <a:rPr lang="en-GB" sz="1600" dirty="0" smtClean="0">
                <a:solidFill>
                  <a:srgbClr val="008000"/>
                </a:solidFill>
                <a:highlight>
                  <a:srgbClr val="FFFFFF"/>
                </a:highlight>
                <a:latin typeface="Consolas" panose="020B0609020204030204" pitchFamily="49" charset="0"/>
              </a:rPr>
              <a:t>properties</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34722800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GB" dirty="0" smtClean="0"/>
              <a:t>What happens if one of the objects in the </a:t>
            </a:r>
            <a:r>
              <a:rPr lang="en-GB" dirty="0" smtClean="0">
                <a:solidFill>
                  <a:schemeClr val="accent1">
                    <a:lumMod val="50000"/>
                  </a:schemeClr>
                </a:solidFill>
              </a:rPr>
              <a:t>List</a:t>
            </a:r>
            <a:r>
              <a:rPr lang="en-GB" dirty="0" smtClean="0"/>
              <a:t> is an </a:t>
            </a:r>
            <a:r>
              <a:rPr lang="en-GB" i="1" dirty="0" err="1" smtClean="0"/>
              <a:t>EuCustomer</a:t>
            </a:r>
            <a:r>
              <a:rPr lang="en-GB" dirty="0"/>
              <a:t>?</a:t>
            </a:r>
          </a:p>
        </p:txBody>
      </p:sp>
      <p:sp>
        <p:nvSpPr>
          <p:cNvPr id="3" name="Title 2"/>
          <p:cNvSpPr>
            <a:spLocks noGrp="1"/>
          </p:cNvSpPr>
          <p:nvPr>
            <p:ph type="title"/>
          </p:nvPr>
        </p:nvSpPr>
        <p:spPr/>
        <p:txBody>
          <a:bodyPr/>
          <a:lstStyle/>
          <a:p>
            <a:r>
              <a:rPr lang="en-GB" dirty="0" smtClean="0"/>
              <a:t>What is the effect of the new Customer class</a:t>
            </a:r>
            <a:endParaRPr lang="en-GB" dirty="0"/>
          </a:p>
        </p:txBody>
      </p:sp>
      <p:sp>
        <p:nvSpPr>
          <p:cNvPr id="4" name="Rectangle 3"/>
          <p:cNvSpPr/>
          <p:nvPr/>
        </p:nvSpPr>
        <p:spPr>
          <a:xfrm>
            <a:off x="673332" y="1582209"/>
            <a:ext cx="7622772" cy="452431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Manager</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SaveObjects</a:t>
            </a:r>
            <a:r>
              <a:rPr lang="en-GB" sz="1600" dirty="0">
                <a:solidFill>
                  <a:srgbClr val="000000"/>
                </a:solidFill>
                <a:highlight>
                  <a:srgbClr val="FFFFFF"/>
                </a:highlight>
                <a:latin typeface="Consolas" panose="020B0609020204030204" pitchFamily="49" charset="0"/>
              </a:rPr>
              <a:t>(</a:t>
            </a:r>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err="1">
                <a:solidFill>
                  <a:srgbClr val="2B91AF"/>
                </a:solidFill>
                <a:highlight>
                  <a:srgbClr val="FFFFFF"/>
                </a:highlight>
                <a:latin typeface="Consolas" panose="020B0609020204030204" pitchFamily="49" charset="0"/>
              </a:rPr>
              <a:t>IPersistable</a:t>
            </a:r>
            <a:r>
              <a:rPr lang="en-GB" sz="1600" dirty="0">
                <a:solidFill>
                  <a:srgbClr val="000000"/>
                </a:solidFill>
                <a:highlight>
                  <a:srgbClr val="FFFFFF"/>
                </a:highlight>
                <a:latin typeface="Consolas" panose="020B0609020204030204" pitchFamily="49" charset="0"/>
              </a:rPr>
              <a:t>&gt; objects)</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err="1">
                <a:solidFill>
                  <a:srgbClr val="0000FF"/>
                </a:solidFill>
                <a:highlight>
                  <a:srgbClr val="FFFFFF"/>
                </a:highlight>
                <a:latin typeface="Consolas" panose="020B0609020204030204" pitchFamily="49" charset="0"/>
              </a:rPr>
              <a:t>foreach</a:t>
            </a:r>
            <a:r>
              <a:rPr lang="en-GB" sz="1600" dirty="0">
                <a:solidFill>
                  <a:srgbClr val="000000"/>
                </a:solidFill>
                <a:highlight>
                  <a:srgbClr val="FFFFFF"/>
                </a:highlight>
                <a:latin typeface="Consolas" panose="020B0609020204030204" pitchFamily="49" charset="0"/>
              </a:rPr>
              <a:t> (</a:t>
            </a:r>
            <a:r>
              <a:rPr lang="en-GB" sz="1600" dirty="0" err="1">
                <a:solidFill>
                  <a:srgbClr val="0000FF"/>
                </a:solidFill>
                <a:highlight>
                  <a:srgbClr val="FFFFFF"/>
                </a:highlight>
                <a:latin typeface="Consolas" panose="020B0609020204030204" pitchFamily="49" charset="0"/>
              </a:rPr>
              <a:t>var</a:t>
            </a:r>
            <a:r>
              <a:rPr lang="en-GB" sz="1600" dirty="0">
                <a:solidFill>
                  <a:srgbClr val="000000"/>
                </a:solidFill>
                <a:highlight>
                  <a:srgbClr val="FFFFFF"/>
                </a:highlight>
                <a:latin typeface="Consolas" panose="020B0609020204030204" pitchFamily="49" charset="0"/>
              </a:rPr>
              <a:t> item </a:t>
            </a:r>
            <a:r>
              <a:rPr lang="en-GB" sz="1600" dirty="0">
                <a:solidFill>
                  <a:srgbClr val="0000FF"/>
                </a:solidFill>
                <a:highlight>
                  <a:srgbClr val="FFFFFF"/>
                </a:highlight>
                <a:latin typeface="Consolas" panose="020B0609020204030204" pitchFamily="49" charset="0"/>
              </a:rPr>
              <a:t>in</a:t>
            </a:r>
            <a:r>
              <a:rPr lang="en-GB" sz="1600" dirty="0">
                <a:solidFill>
                  <a:srgbClr val="000000"/>
                </a:solidFill>
                <a:highlight>
                  <a:srgbClr val="FFFFFF"/>
                </a:highlight>
                <a:latin typeface="Consolas" panose="020B0609020204030204" pitchFamily="49" charset="0"/>
              </a:rPr>
              <a:t> objects)</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item.Save</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LoadObjects</a:t>
            </a:r>
            <a:r>
              <a:rPr lang="en-GB" sz="1600" dirty="0">
                <a:solidFill>
                  <a:srgbClr val="000000"/>
                </a:solidFill>
                <a:highlight>
                  <a:srgbClr val="FFFFFF"/>
                </a:highlight>
                <a:latin typeface="Consolas" panose="020B0609020204030204" pitchFamily="49" charset="0"/>
              </a:rPr>
              <a:t>(</a:t>
            </a:r>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err="1">
                <a:solidFill>
                  <a:srgbClr val="2B91AF"/>
                </a:solidFill>
                <a:highlight>
                  <a:srgbClr val="FFFFFF"/>
                </a:highlight>
                <a:latin typeface="Consolas" panose="020B0609020204030204" pitchFamily="49" charset="0"/>
              </a:rPr>
              <a:t>IPersistable</a:t>
            </a:r>
            <a:r>
              <a:rPr lang="en-GB" sz="1600" dirty="0">
                <a:solidFill>
                  <a:srgbClr val="000000"/>
                </a:solidFill>
                <a:highlight>
                  <a:srgbClr val="FFFFFF"/>
                </a:highlight>
                <a:latin typeface="Consolas" panose="020B0609020204030204" pitchFamily="49" charset="0"/>
              </a:rPr>
              <a:t>&gt; objects)</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err="1">
                <a:solidFill>
                  <a:srgbClr val="0000FF"/>
                </a:solidFill>
                <a:highlight>
                  <a:srgbClr val="FFFFFF"/>
                </a:highlight>
                <a:latin typeface="Consolas" panose="020B0609020204030204" pitchFamily="49" charset="0"/>
              </a:rPr>
              <a:t>foreach</a:t>
            </a:r>
            <a:r>
              <a:rPr lang="en-GB" sz="1600" dirty="0">
                <a:solidFill>
                  <a:srgbClr val="000000"/>
                </a:solidFill>
                <a:highlight>
                  <a:srgbClr val="FFFFFF"/>
                </a:highlight>
                <a:latin typeface="Consolas" panose="020B0609020204030204" pitchFamily="49" charset="0"/>
              </a:rPr>
              <a:t> (</a:t>
            </a:r>
            <a:r>
              <a:rPr lang="en-GB" sz="1600" dirty="0" err="1">
                <a:solidFill>
                  <a:srgbClr val="0000FF"/>
                </a:solidFill>
                <a:highlight>
                  <a:srgbClr val="FFFFFF"/>
                </a:highlight>
                <a:latin typeface="Consolas" panose="020B0609020204030204" pitchFamily="49" charset="0"/>
              </a:rPr>
              <a:t>var</a:t>
            </a:r>
            <a:r>
              <a:rPr lang="en-GB" sz="1600" dirty="0">
                <a:solidFill>
                  <a:srgbClr val="000000"/>
                </a:solidFill>
                <a:highlight>
                  <a:srgbClr val="FFFFFF"/>
                </a:highlight>
                <a:latin typeface="Consolas" panose="020B0609020204030204" pitchFamily="49" charset="0"/>
              </a:rPr>
              <a:t> item </a:t>
            </a:r>
            <a:r>
              <a:rPr lang="en-GB" sz="1600" dirty="0">
                <a:solidFill>
                  <a:srgbClr val="0000FF"/>
                </a:solidFill>
                <a:highlight>
                  <a:srgbClr val="FFFFFF"/>
                </a:highlight>
                <a:latin typeface="Consolas" panose="020B0609020204030204" pitchFamily="49" charset="0"/>
              </a:rPr>
              <a:t>in</a:t>
            </a:r>
            <a:r>
              <a:rPr lang="en-GB" sz="1600" dirty="0">
                <a:solidFill>
                  <a:srgbClr val="000000"/>
                </a:solidFill>
                <a:highlight>
                  <a:srgbClr val="FFFFFF"/>
                </a:highlight>
                <a:latin typeface="Consolas" panose="020B0609020204030204" pitchFamily="49" charset="0"/>
              </a:rPr>
              <a:t> objects)</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item.Load</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15821250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smtClean="0"/>
              <a:t>Dependency Inversion Principle (DIP)</a:t>
            </a:r>
          </a:p>
        </p:txBody>
      </p:sp>
      <p:sp>
        <p:nvSpPr>
          <p:cNvPr id="22531" name="Content Placeholder 2"/>
          <p:cNvSpPr>
            <a:spLocks noGrp="1"/>
          </p:cNvSpPr>
          <p:nvPr>
            <p:ph idx="1"/>
          </p:nvPr>
        </p:nvSpPr>
        <p:spPr>
          <a:xfrm>
            <a:off x="249238" y="1071563"/>
            <a:ext cx="8709025" cy="2586037"/>
          </a:xfrm>
        </p:spPr>
        <p:txBody>
          <a:bodyPr/>
          <a:lstStyle/>
          <a:p>
            <a:r>
              <a:rPr lang="en-GB" dirty="0" smtClean="0"/>
              <a:t>High-Level modules should not depend on low-level modules – both should depend on abstractions</a:t>
            </a:r>
          </a:p>
          <a:p>
            <a:r>
              <a:rPr lang="en-GB" dirty="0" smtClean="0"/>
              <a:t>Abstractions should not depend on details. Details should depend on abstractions.</a:t>
            </a:r>
          </a:p>
          <a:p>
            <a:r>
              <a:rPr lang="en-GB" dirty="0" smtClean="0"/>
              <a:t>Instead of working with hard-wired / highly coupled classes you should always attempt to use interfaces</a:t>
            </a:r>
          </a:p>
          <a:p>
            <a:r>
              <a:rPr lang="en-GB" dirty="0" smtClean="0"/>
              <a:t>Let's have a look at a simple example</a:t>
            </a:r>
          </a:p>
        </p:txBody>
      </p:sp>
    </p:spTree>
    <p:extLst>
      <p:ext uri="{BB962C8B-B14F-4D97-AF65-F5344CB8AC3E}">
        <p14:creationId xmlns:p14="http://schemas.microsoft.com/office/powerpoint/2010/main" val="409272311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 example – Bad design</a:t>
            </a:r>
            <a:endParaRPr lang="en-GB" dirty="0"/>
          </a:p>
        </p:txBody>
      </p:sp>
      <p:sp>
        <p:nvSpPr>
          <p:cNvPr id="3" name="Content Placeholder 2"/>
          <p:cNvSpPr>
            <a:spLocks noGrp="1"/>
          </p:cNvSpPr>
          <p:nvPr>
            <p:ph idx="1"/>
          </p:nvPr>
        </p:nvSpPr>
        <p:spPr/>
        <p:txBody>
          <a:bodyPr/>
          <a:lstStyle/>
          <a:p>
            <a:r>
              <a:rPr lang="en-GB" dirty="0" smtClean="0"/>
              <a:t>The following code logs message in a console</a:t>
            </a:r>
          </a:p>
          <a:p>
            <a:r>
              <a:rPr lang="en-GB" dirty="0" smtClean="0"/>
              <a:t>But the higher level class (</a:t>
            </a:r>
            <a:r>
              <a:rPr lang="en-GB" i="1" dirty="0" err="1" smtClean="0"/>
              <a:t>BusinessApp</a:t>
            </a:r>
            <a:r>
              <a:rPr lang="en-GB" dirty="0" smtClean="0"/>
              <a:t>) has a dependency on a concrete class (</a:t>
            </a:r>
            <a:r>
              <a:rPr lang="en-GB" i="1" dirty="0" err="1" smtClean="0"/>
              <a:t>LogWriter</a:t>
            </a:r>
            <a:r>
              <a:rPr lang="en-GB" dirty="0" smtClean="0"/>
              <a:t>)</a:t>
            </a:r>
          </a:p>
          <a:p>
            <a:r>
              <a:rPr lang="en-GB" dirty="0" smtClean="0"/>
              <a:t>This violates the DI principle</a:t>
            </a:r>
          </a:p>
          <a:p>
            <a:pPr lvl="1"/>
            <a:r>
              <a:rPr lang="en-GB" dirty="0" smtClean="0"/>
              <a:t>What if you want to send email instead? </a:t>
            </a:r>
            <a:endParaRPr lang="en-GB" dirty="0"/>
          </a:p>
        </p:txBody>
      </p:sp>
      <p:sp>
        <p:nvSpPr>
          <p:cNvPr id="5" name="Rectangle 4"/>
          <p:cNvSpPr/>
          <p:nvPr/>
        </p:nvSpPr>
        <p:spPr>
          <a:xfrm>
            <a:off x="324201" y="3138810"/>
            <a:ext cx="6724992" cy="32932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b="1" dirty="0" err="1" smtClean="0">
                <a:solidFill>
                  <a:srgbClr val="2B91AF"/>
                </a:solidFill>
                <a:highlight>
                  <a:srgbClr val="FFFFFF"/>
                </a:highlight>
                <a:latin typeface="Consolas" panose="020B0609020204030204" pitchFamily="49" charset="0"/>
              </a:rPr>
              <a:t>LogWriter</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Write(</a:t>
            </a:r>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a:t>
            </a:r>
            <a:r>
              <a:rPr lang="en-GB" sz="1600" dirty="0" smtClean="0">
                <a:solidFill>
                  <a:srgbClr val="000000"/>
                </a:solidFill>
                <a:highlight>
                  <a:srgbClr val="FFFFFF"/>
                </a:highlight>
                <a:latin typeface="Consolas" panose="020B0609020204030204" pitchFamily="49" charset="0"/>
              </a:rPr>
              <a:t>message)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File</a:t>
            </a:r>
            <a:r>
              <a:rPr lang="en-GB" sz="1600" dirty="0" err="1">
                <a:solidFill>
                  <a:srgbClr val="000000"/>
                </a:solidFill>
                <a:highlight>
                  <a:srgbClr val="FFFFFF"/>
                </a:highlight>
                <a:latin typeface="Consolas" panose="020B0609020204030204" pitchFamily="49" charset="0"/>
              </a:rPr>
              <a:t>.WriteAllText</a:t>
            </a:r>
            <a:r>
              <a:rPr lang="en-GB" sz="1600" dirty="0" smtClean="0">
                <a:solidFill>
                  <a:srgbClr val="000000"/>
                </a:solidFill>
                <a:highlight>
                  <a:srgbClr val="FFFFFF"/>
                </a:highlight>
                <a:latin typeface="Consolas" panose="020B0609020204030204" pitchFamily="49" charset="0"/>
              </a:rPr>
              <a:t>("Log.txt", </a:t>
            </a:r>
            <a:r>
              <a:rPr lang="en-GB" sz="1600" dirty="0">
                <a:solidFill>
                  <a:srgbClr val="000000"/>
                </a:solidFill>
                <a:highlight>
                  <a:srgbClr val="FFFFFF"/>
                </a:highlight>
                <a:latin typeface="Consolas" panose="020B0609020204030204" pitchFamily="49" charset="0"/>
              </a:rPr>
              <a:t>message);</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a:p>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b="1" dirty="0" err="1" smtClean="0">
                <a:solidFill>
                  <a:srgbClr val="2B91AF"/>
                </a:solidFill>
                <a:highlight>
                  <a:srgbClr val="FFFFFF"/>
                </a:highlight>
                <a:latin typeface="Consolas" panose="020B0609020204030204" pitchFamily="49" charset="0"/>
              </a:rPr>
              <a:t>BusinessApp</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LogWriter</a:t>
            </a:r>
            <a:r>
              <a:rPr lang="en-GB" sz="1600" dirty="0">
                <a:solidFill>
                  <a:srgbClr val="000000"/>
                </a:solidFill>
                <a:highlight>
                  <a:srgbClr val="FFFFFF"/>
                </a:highlight>
                <a:latin typeface="Consolas" panose="020B0609020204030204" pitchFamily="49" charset="0"/>
              </a:rPr>
              <a:t> logger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LogWriter</a:t>
            </a:r>
            <a:r>
              <a:rPr lang="en-GB" sz="1600" dirty="0">
                <a:solidFill>
                  <a:srgbClr val="000000"/>
                </a:solidFill>
                <a:highlight>
                  <a:srgbClr val="FFFFFF"/>
                </a:highlight>
                <a:latin typeface="Consolas" panose="020B0609020204030204" pitchFamily="49" charset="0"/>
              </a:rPr>
              <a:t>();</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Log(</a:t>
            </a:r>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message</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err="1" smtClean="0">
                <a:solidFill>
                  <a:srgbClr val="000000"/>
                </a:solidFill>
                <a:highlight>
                  <a:srgbClr val="FFFFFF"/>
                </a:highlight>
                <a:latin typeface="Consolas" panose="020B0609020204030204" pitchFamily="49" charset="0"/>
              </a:rPr>
              <a:t>logger.Write</a:t>
            </a:r>
            <a:r>
              <a:rPr lang="en-GB" sz="1600" dirty="0" smtClean="0">
                <a:solidFill>
                  <a:srgbClr val="000000"/>
                </a:solidFill>
                <a:highlight>
                  <a:srgbClr val="FFFFFF"/>
                </a:highlight>
                <a:latin typeface="Consolas" panose="020B0609020204030204" pitchFamily="49" charset="0"/>
              </a:rPr>
              <a:t>(message);</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p:txBody>
      </p:sp>
      <p:pic>
        <p:nvPicPr>
          <p:cNvPr id="4" name="Picture 3"/>
          <p:cNvPicPr>
            <a:picLocks noChangeAspect="1"/>
          </p:cNvPicPr>
          <p:nvPr/>
        </p:nvPicPr>
        <p:blipFill>
          <a:blip r:embed="rId2"/>
          <a:stretch>
            <a:fillRect/>
          </a:stretch>
        </p:blipFill>
        <p:spPr>
          <a:xfrm>
            <a:off x="6514376" y="4058845"/>
            <a:ext cx="2209051" cy="2109207"/>
          </a:xfrm>
          <a:prstGeom prst="rect">
            <a:avLst/>
          </a:prstGeom>
        </p:spPr>
      </p:pic>
    </p:spTree>
    <p:extLst>
      <p:ext uri="{BB962C8B-B14F-4D97-AF65-F5344CB8AC3E}">
        <p14:creationId xmlns:p14="http://schemas.microsoft.com/office/powerpoint/2010/main" val="40215093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 Example – Better design</a:t>
            </a:r>
            <a:endParaRPr lang="en-GB" dirty="0"/>
          </a:p>
        </p:txBody>
      </p:sp>
      <p:sp>
        <p:nvSpPr>
          <p:cNvPr id="3" name="Content Placeholder 2"/>
          <p:cNvSpPr>
            <a:spLocks noGrp="1"/>
          </p:cNvSpPr>
          <p:nvPr>
            <p:ph idx="1"/>
          </p:nvPr>
        </p:nvSpPr>
        <p:spPr/>
        <p:txBody>
          <a:bodyPr/>
          <a:lstStyle/>
          <a:p>
            <a:r>
              <a:rPr lang="en-GB" dirty="0" smtClean="0"/>
              <a:t>The </a:t>
            </a:r>
            <a:r>
              <a:rPr lang="en-GB" dirty="0" err="1" smtClean="0"/>
              <a:t>BusinessApp</a:t>
            </a:r>
            <a:r>
              <a:rPr lang="en-GB" dirty="0" smtClean="0"/>
              <a:t> now </a:t>
            </a:r>
            <a:br>
              <a:rPr lang="en-GB" dirty="0" smtClean="0"/>
            </a:br>
            <a:r>
              <a:rPr lang="en-GB" dirty="0" smtClean="0"/>
              <a:t>depends on abstractions</a:t>
            </a:r>
            <a:br>
              <a:rPr lang="en-GB" dirty="0" smtClean="0"/>
            </a:br>
            <a:r>
              <a:rPr lang="en-GB" dirty="0" smtClean="0"/>
              <a:t>(</a:t>
            </a:r>
            <a:r>
              <a:rPr lang="en-GB" i="1" dirty="0" err="1" smtClean="0"/>
              <a:t>ILogger</a:t>
            </a:r>
            <a:r>
              <a:rPr lang="en-GB" dirty="0" smtClean="0"/>
              <a:t> interface)</a:t>
            </a:r>
          </a:p>
          <a:p>
            <a:endParaRPr lang="en-GB" dirty="0"/>
          </a:p>
          <a:p>
            <a:r>
              <a:rPr lang="en-GB" dirty="0" err="1" smtClean="0"/>
              <a:t>BusinessApp</a:t>
            </a:r>
            <a:r>
              <a:rPr lang="en-GB" dirty="0" smtClean="0"/>
              <a:t> has now got </a:t>
            </a:r>
            <a:br>
              <a:rPr lang="en-GB" dirty="0" smtClean="0"/>
            </a:br>
            <a:r>
              <a:rPr lang="en-GB" dirty="0" smtClean="0"/>
              <a:t>the freedom to Log messages</a:t>
            </a:r>
            <a:br>
              <a:rPr lang="en-GB" dirty="0" smtClean="0"/>
            </a:br>
            <a:r>
              <a:rPr lang="en-GB" dirty="0" smtClean="0"/>
              <a:t>using emails</a:t>
            </a:r>
          </a:p>
        </p:txBody>
      </p:sp>
      <p:pic>
        <p:nvPicPr>
          <p:cNvPr id="4" name="Picture 3"/>
          <p:cNvPicPr>
            <a:picLocks noChangeAspect="1"/>
          </p:cNvPicPr>
          <p:nvPr/>
        </p:nvPicPr>
        <p:blipFill>
          <a:blip r:embed="rId2"/>
          <a:stretch>
            <a:fillRect/>
          </a:stretch>
        </p:blipFill>
        <p:spPr>
          <a:xfrm>
            <a:off x="4338113" y="1179800"/>
            <a:ext cx="4524375" cy="1838325"/>
          </a:xfrm>
          <a:prstGeom prst="rect">
            <a:avLst/>
          </a:prstGeom>
        </p:spPr>
      </p:pic>
    </p:spTree>
    <p:extLst>
      <p:ext uri="{BB962C8B-B14F-4D97-AF65-F5344CB8AC3E}">
        <p14:creationId xmlns:p14="http://schemas.microsoft.com/office/powerpoint/2010/main" val="11041750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C# Code for our DI first attempt</a:t>
            </a:r>
            <a:endParaRPr lang="en-GB" dirty="0"/>
          </a:p>
        </p:txBody>
      </p:sp>
      <p:sp>
        <p:nvSpPr>
          <p:cNvPr id="3" name="Content Placeholder 2"/>
          <p:cNvSpPr>
            <a:spLocks noGrp="1"/>
          </p:cNvSpPr>
          <p:nvPr>
            <p:ph idx="1"/>
          </p:nvPr>
        </p:nvSpPr>
        <p:spPr/>
        <p:txBody>
          <a:bodyPr/>
          <a:lstStyle/>
          <a:p>
            <a:endParaRPr lang="en-GB" dirty="0"/>
          </a:p>
        </p:txBody>
      </p:sp>
      <p:sp>
        <p:nvSpPr>
          <p:cNvPr id="4" name="Rectangle 3"/>
          <p:cNvSpPr/>
          <p:nvPr/>
        </p:nvSpPr>
        <p:spPr>
          <a:xfrm>
            <a:off x="174569" y="916356"/>
            <a:ext cx="5311832" cy="32932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interface</a:t>
            </a:r>
            <a:r>
              <a:rPr lang="en-GB" sz="1600" dirty="0">
                <a:solidFill>
                  <a:srgbClr val="000000"/>
                </a:solidFill>
                <a:highlight>
                  <a:srgbClr val="FFFFFF"/>
                </a:highlight>
                <a:latin typeface="Consolas" panose="020B0609020204030204" pitchFamily="49" charset="0"/>
              </a:rPr>
              <a:t> </a:t>
            </a:r>
            <a:r>
              <a:rPr lang="en-GB" sz="1600" dirty="0" err="1" smtClean="0">
                <a:solidFill>
                  <a:srgbClr val="2B91AF"/>
                </a:solidFill>
                <a:highlight>
                  <a:srgbClr val="FFFFFF"/>
                </a:highlight>
                <a:latin typeface="Consolas" panose="020B0609020204030204" pitchFamily="49" charset="0"/>
              </a:rPr>
              <a:t>Ilogger</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Write(</a:t>
            </a:r>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message);</a:t>
            </a:r>
          </a:p>
          <a:p>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LogWriter</a:t>
            </a:r>
            <a:r>
              <a:rPr lang="en-GB" sz="1600" dirty="0">
                <a:solidFill>
                  <a:srgbClr val="000000"/>
                </a:solidFill>
                <a:highlight>
                  <a:srgbClr val="FFFFFF"/>
                </a:highlight>
                <a:latin typeface="Consolas" panose="020B0609020204030204" pitchFamily="49" charset="0"/>
              </a:rPr>
              <a:t> : </a:t>
            </a:r>
            <a:r>
              <a:rPr lang="en-GB" sz="1600" dirty="0" err="1" smtClean="0">
                <a:solidFill>
                  <a:srgbClr val="2B91AF"/>
                </a:solidFill>
                <a:highlight>
                  <a:srgbClr val="FFFFFF"/>
                </a:highlight>
                <a:latin typeface="Consolas" panose="020B0609020204030204" pitchFamily="49" charset="0"/>
              </a:rPr>
              <a:t>Ilogger</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smtClean="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Write(</a:t>
            </a:r>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message</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smtClean="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File</a:t>
            </a:r>
            <a:r>
              <a:rPr lang="en-GB" sz="1600" dirty="0" err="1">
                <a:solidFill>
                  <a:srgbClr val="000000"/>
                </a:solidFill>
                <a:highlight>
                  <a:srgbClr val="FFFFFF"/>
                </a:highlight>
                <a:latin typeface="Consolas" panose="020B0609020204030204" pitchFamily="49" charset="0"/>
              </a:rPr>
              <a:t>.WriteAllText</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"log.txt"</a:t>
            </a:r>
            <a:r>
              <a:rPr lang="en-GB" sz="1600" dirty="0">
                <a:solidFill>
                  <a:srgbClr val="000000"/>
                </a:solidFill>
                <a:highlight>
                  <a:srgbClr val="FFFFFF"/>
                </a:highlight>
                <a:latin typeface="Consolas" panose="020B0609020204030204" pitchFamily="49" charset="0"/>
              </a:rPr>
              <a:t>, message);</a:t>
            </a:r>
          </a:p>
          <a:p>
            <a:r>
              <a:rPr lang="en-GB" sz="1600" dirty="0" smtClean="0">
                <a:solidFill>
                  <a:srgbClr val="000000"/>
                </a:solidFill>
                <a:highlight>
                  <a:srgbClr val="FFFFFF"/>
                </a:highlight>
                <a:latin typeface="Consolas" panose="020B0609020204030204" pitchFamily="49" charset="0"/>
              </a:rPr>
              <a:t>  </a:t>
            </a:r>
            <a:r>
              <a:rPr lang="en-GB" sz="1600" dirty="0">
                <a:solidFill>
                  <a:srgbClr val="000000"/>
                </a:solidFill>
                <a:highlight>
                  <a:srgbClr val="FFFFFF"/>
                </a:highlight>
                <a:latin typeface="Consolas" panose="020B0609020204030204" pitchFamily="49" charset="0"/>
              </a:rPr>
              <a:t>}</a:t>
            </a:r>
          </a:p>
          <a:p>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EmailWriter</a:t>
            </a:r>
            <a:r>
              <a:rPr lang="en-GB" sz="1600" dirty="0">
                <a:solidFill>
                  <a:srgbClr val="000000"/>
                </a:solidFill>
                <a:highlight>
                  <a:srgbClr val="FFFFFF"/>
                </a:highlight>
                <a:latin typeface="Consolas" panose="020B0609020204030204" pitchFamily="49" charset="0"/>
              </a:rPr>
              <a:t> : </a:t>
            </a:r>
            <a:r>
              <a:rPr lang="en-GB" sz="1600" dirty="0" err="1" smtClean="0">
                <a:solidFill>
                  <a:srgbClr val="2B91AF"/>
                </a:solidFill>
                <a:highlight>
                  <a:srgbClr val="FFFFFF"/>
                </a:highlight>
                <a:latin typeface="Consolas" panose="020B0609020204030204" pitchFamily="49" charset="0"/>
              </a:rPr>
              <a:t>Ilogger</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Write(</a:t>
            </a:r>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message</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Outlook.Send</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"admin@qa.com"</a:t>
            </a:r>
            <a:r>
              <a:rPr lang="en-GB" sz="1600" dirty="0">
                <a:solidFill>
                  <a:srgbClr val="000000"/>
                </a:solidFill>
                <a:highlight>
                  <a:srgbClr val="FFFFFF"/>
                </a:highlight>
                <a:latin typeface="Consolas" panose="020B0609020204030204" pitchFamily="49" charset="0"/>
              </a:rPr>
              <a:t>, message);</a:t>
            </a:r>
          </a:p>
          <a:p>
            <a:r>
              <a:rPr lang="en-GB" sz="1600" dirty="0">
                <a:solidFill>
                  <a:srgbClr val="000000"/>
                </a:solidFill>
                <a:highlight>
                  <a:srgbClr val="FFFFFF"/>
                </a:highlight>
                <a:latin typeface="Consolas" panose="020B0609020204030204" pitchFamily="49" charset="0"/>
              </a:rPr>
              <a:t>    }</a:t>
            </a:r>
          </a:p>
          <a:p>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p:txBody>
      </p:sp>
      <p:pic>
        <p:nvPicPr>
          <p:cNvPr id="6" name="Picture 5"/>
          <p:cNvPicPr>
            <a:picLocks noChangeAspect="1"/>
          </p:cNvPicPr>
          <p:nvPr/>
        </p:nvPicPr>
        <p:blipFill>
          <a:blip r:embed="rId2"/>
          <a:stretch>
            <a:fillRect/>
          </a:stretch>
        </p:blipFill>
        <p:spPr>
          <a:xfrm>
            <a:off x="5187141" y="1046799"/>
            <a:ext cx="3891477" cy="1581169"/>
          </a:xfrm>
          <a:prstGeom prst="rect">
            <a:avLst/>
          </a:prstGeom>
          <a:ln>
            <a:noFill/>
          </a:ln>
          <a:effectLst>
            <a:outerShdw blurRad="292100" dist="139700" dir="2700000" algn="tl" rotWithShape="0">
              <a:srgbClr val="333333">
                <a:alpha val="65000"/>
              </a:srgbClr>
            </a:outerShdw>
          </a:effectLst>
        </p:spPr>
      </p:pic>
      <p:sp>
        <p:nvSpPr>
          <p:cNvPr id="5" name="Rectangle 4"/>
          <p:cNvSpPr/>
          <p:nvPr/>
        </p:nvSpPr>
        <p:spPr>
          <a:xfrm>
            <a:off x="3366650" y="4034667"/>
            <a:ext cx="4563694"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smtClean="0">
                <a:solidFill>
                  <a:srgbClr val="0000FF"/>
                </a:solidFill>
                <a:highlight>
                  <a:srgbClr val="FFFFFF"/>
                </a:highlight>
                <a:latin typeface="Consolas" panose="020B0609020204030204" pitchFamily="49" charset="0"/>
              </a:rPr>
              <a:t>public</a:t>
            </a:r>
            <a:r>
              <a:rPr lang="en-GB" sz="1600" dirty="0" smtClean="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dirty="0" err="1" smtClean="0">
                <a:solidFill>
                  <a:srgbClr val="2B91AF"/>
                </a:solidFill>
                <a:highlight>
                  <a:srgbClr val="FFFFFF"/>
                </a:highlight>
                <a:latin typeface="Consolas" panose="020B0609020204030204" pitchFamily="49" charset="0"/>
              </a:rPr>
              <a:t>BusinessApp</a:t>
            </a:r>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err="1" smtClean="0">
                <a:solidFill>
                  <a:srgbClr val="2B91AF"/>
                </a:solidFill>
                <a:highlight>
                  <a:srgbClr val="FFFFFF"/>
                </a:highlight>
                <a:latin typeface="Consolas" panose="020B0609020204030204" pitchFamily="49" charset="0"/>
              </a:rPr>
              <a:t>ILogger</a:t>
            </a:r>
            <a:r>
              <a:rPr lang="en-GB" sz="1600" dirty="0" smtClean="0">
                <a:solidFill>
                  <a:srgbClr val="000000"/>
                </a:solidFill>
                <a:highlight>
                  <a:srgbClr val="FFFFFF"/>
                </a:highlight>
                <a:latin typeface="Consolas" panose="020B0609020204030204" pitchFamily="49" charset="0"/>
              </a:rPr>
              <a:t> </a:t>
            </a:r>
            <a:r>
              <a:rPr lang="en-GB" sz="1600" dirty="0">
                <a:solidFill>
                  <a:srgbClr val="000000"/>
                </a:solidFill>
                <a:highlight>
                  <a:srgbClr val="FFFFFF"/>
                </a:highlight>
                <a:latin typeface="Consolas" panose="020B0609020204030204" pitchFamily="49" charset="0"/>
              </a:rPr>
              <a:t>logger</a:t>
            </a:r>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Log(</a:t>
            </a:r>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message</a:t>
            </a:r>
            <a:r>
              <a:rPr lang="en-GB" sz="1600" dirty="0" smtClean="0">
                <a:solidFill>
                  <a:srgbClr val="000000"/>
                </a:solidFill>
                <a:highlight>
                  <a:srgbClr val="FFFFFF"/>
                </a:highlight>
                <a:latin typeface="Consolas" panose="020B0609020204030204" pitchFamily="49" charset="0"/>
              </a:rPr>
              <a:t>)  {</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if</a:t>
            </a:r>
            <a:r>
              <a:rPr lang="en-GB" sz="1600" dirty="0">
                <a:solidFill>
                  <a:srgbClr val="000000"/>
                </a:solidFill>
                <a:highlight>
                  <a:srgbClr val="FFFFFF"/>
                </a:highlight>
                <a:latin typeface="Consolas" panose="020B0609020204030204" pitchFamily="49" charset="0"/>
              </a:rPr>
              <a:t> (logger == </a:t>
            </a:r>
            <a:r>
              <a:rPr lang="en-GB" sz="1600" dirty="0">
                <a:solidFill>
                  <a:srgbClr val="0000FF"/>
                </a:solidFill>
                <a:highlight>
                  <a:srgbClr val="FFFFFF"/>
                </a:highlight>
                <a:latin typeface="Consolas" panose="020B0609020204030204" pitchFamily="49" charset="0"/>
              </a:rPr>
              <a:t>null</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logger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LogWriter</a:t>
            </a:r>
            <a:r>
              <a:rPr lang="en-GB" sz="1600" dirty="0">
                <a:solidFill>
                  <a:srgbClr val="000000"/>
                </a:solidFill>
                <a:highlight>
                  <a:srgbClr val="FFFFFF"/>
                </a:highlight>
                <a:latin typeface="Consolas" panose="020B0609020204030204" pitchFamily="49" charset="0"/>
              </a:rPr>
              <a:t>();</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logger.Write</a:t>
            </a:r>
            <a:r>
              <a:rPr lang="en-GB" sz="1600" dirty="0">
                <a:solidFill>
                  <a:srgbClr val="000000"/>
                </a:solidFill>
                <a:highlight>
                  <a:srgbClr val="FFFFFF"/>
                </a:highlight>
                <a:latin typeface="Consolas" panose="020B0609020204030204" pitchFamily="49" charset="0"/>
              </a:rPr>
              <a:t>(message);</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p:txBody>
      </p:sp>
      <p:sp>
        <p:nvSpPr>
          <p:cNvPr id="7" name="Cloud Callout 6"/>
          <p:cNvSpPr/>
          <p:nvPr/>
        </p:nvSpPr>
        <p:spPr>
          <a:xfrm>
            <a:off x="798022" y="5004262"/>
            <a:ext cx="2227811" cy="964276"/>
          </a:xfrm>
          <a:prstGeom prst="cloudCallout">
            <a:avLst>
              <a:gd name="adj1" fmla="val 94839"/>
              <a:gd name="adj2" fmla="val -40948"/>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smtClean="0">
                <a:solidFill>
                  <a:schemeClr val="tx1"/>
                </a:solidFill>
                <a:latin typeface="Arial" pitchFamily="34" charset="0"/>
                <a:cs typeface="Arial" pitchFamily="34" charset="0"/>
              </a:rPr>
              <a:t>Could improve!</a:t>
            </a:r>
          </a:p>
        </p:txBody>
      </p:sp>
    </p:spTree>
    <p:extLst>
      <p:ext uri="{BB962C8B-B14F-4D97-AF65-F5344CB8AC3E}">
        <p14:creationId xmlns:p14="http://schemas.microsoft.com/office/powerpoint/2010/main" val="7299584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Dependency Injection </a:t>
            </a:r>
            <a:r>
              <a:rPr lang="en-GB" sz="2000" dirty="0" smtClean="0">
                <a:solidFill>
                  <a:srgbClr val="C80000"/>
                </a:solidFill>
              </a:rPr>
              <a:t>(!= Dependency Inversion)</a:t>
            </a:r>
            <a:endParaRPr lang="en-GB" dirty="0">
              <a:solidFill>
                <a:srgbClr val="C80000"/>
              </a:solidFill>
            </a:endParaRPr>
          </a:p>
        </p:txBody>
      </p:sp>
      <p:sp>
        <p:nvSpPr>
          <p:cNvPr id="3" name="Content Placeholder 2"/>
          <p:cNvSpPr>
            <a:spLocks noGrp="1"/>
          </p:cNvSpPr>
          <p:nvPr>
            <p:ph idx="1"/>
          </p:nvPr>
        </p:nvSpPr>
        <p:spPr/>
        <p:txBody>
          <a:bodyPr/>
          <a:lstStyle/>
          <a:p>
            <a:r>
              <a:rPr lang="en-GB" b="0" dirty="0" smtClean="0"/>
              <a:t>Is </a:t>
            </a:r>
            <a:r>
              <a:rPr lang="en-GB" b="0" dirty="0"/>
              <a:t>for injecting the concrete implementation into a class that </a:t>
            </a:r>
            <a:r>
              <a:rPr lang="en-GB" b="0" dirty="0" smtClean="0"/>
              <a:t>uses an </a:t>
            </a:r>
            <a:r>
              <a:rPr lang="en-GB" b="0" dirty="0"/>
              <a:t>abstraction </a:t>
            </a:r>
            <a:r>
              <a:rPr lang="en-GB" b="0" dirty="0" smtClean="0"/>
              <a:t>(like an interface) </a:t>
            </a:r>
          </a:p>
          <a:p>
            <a:r>
              <a:rPr lang="en-GB" b="0" dirty="0" smtClean="0"/>
              <a:t>You can inject dependencies in a Method/Constructor/Property</a:t>
            </a:r>
            <a:r>
              <a:rPr lang="en-GB" b="0" dirty="0"/>
              <a:t> </a:t>
            </a:r>
            <a:endParaRPr lang="en-GB" dirty="0"/>
          </a:p>
        </p:txBody>
      </p:sp>
      <p:sp>
        <p:nvSpPr>
          <p:cNvPr id="4" name="Rectangle 3"/>
          <p:cNvSpPr/>
          <p:nvPr/>
        </p:nvSpPr>
        <p:spPr>
          <a:xfrm>
            <a:off x="257697" y="2189244"/>
            <a:ext cx="7406641" cy="28623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dirty="0" err="1" smtClean="0">
                <a:solidFill>
                  <a:srgbClr val="2B91AF"/>
                </a:solidFill>
                <a:highlight>
                  <a:srgbClr val="FFFFFF"/>
                </a:highlight>
                <a:latin typeface="Consolas" panose="020B0609020204030204" pitchFamily="49" charset="0"/>
              </a:rPr>
              <a:t>BusinessApp</a:t>
            </a:r>
            <a:r>
              <a:rPr lang="en-GB" sz="1600" dirty="0" smtClean="0">
                <a:solidFill>
                  <a:srgbClr val="2B91AF"/>
                </a:solidFill>
                <a:highlight>
                  <a:srgbClr val="FFFFFF"/>
                </a:highlight>
                <a:latin typeface="Consolas" panose="020B0609020204030204" pitchFamily="49" charset="0"/>
              </a:rPr>
              <a:t> </a:t>
            </a:r>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err="1">
                <a:solidFill>
                  <a:srgbClr val="2B91AF"/>
                </a:solidFill>
                <a:highlight>
                  <a:srgbClr val="FFFFFF"/>
                </a:highlight>
                <a:latin typeface="Consolas" panose="020B0609020204030204" pitchFamily="49" charset="0"/>
              </a:rPr>
              <a:t>ILogger</a:t>
            </a:r>
            <a:r>
              <a:rPr lang="en-GB" sz="1800" b="1" dirty="0">
                <a:solidFill>
                  <a:srgbClr val="000000"/>
                </a:solidFill>
                <a:highlight>
                  <a:srgbClr val="FFFFFF"/>
                </a:highlight>
                <a:latin typeface="Consolas" panose="020B0609020204030204" pitchFamily="49" charset="0"/>
              </a:rPr>
              <a:t> logger;</a:t>
            </a:r>
          </a:p>
          <a:p>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BusinessApp</a:t>
            </a:r>
            <a:r>
              <a:rPr lang="en-GB" sz="1600" dirty="0">
                <a:solidFill>
                  <a:srgbClr val="000000"/>
                </a:solidFill>
                <a:highlight>
                  <a:srgbClr val="FFFFFF"/>
                </a:highlight>
                <a:latin typeface="Consolas" panose="020B0609020204030204" pitchFamily="49" charset="0"/>
              </a:rPr>
              <a:t>(</a:t>
            </a:r>
            <a:r>
              <a:rPr lang="en-GB" sz="1800" b="1" dirty="0" err="1">
                <a:solidFill>
                  <a:srgbClr val="2B91AF"/>
                </a:solidFill>
                <a:highlight>
                  <a:srgbClr val="FFFFFF"/>
                </a:highlight>
                <a:latin typeface="Consolas" panose="020B0609020204030204" pitchFamily="49" charset="0"/>
              </a:rPr>
              <a:t>ILogger</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messageLogger</a:t>
            </a:r>
            <a:r>
              <a:rPr lang="en-GB" sz="1600" dirty="0" smtClean="0">
                <a:solidFill>
                  <a:srgbClr val="000000"/>
                </a:solidFill>
                <a:highlight>
                  <a:srgbClr val="FFFFFF"/>
                </a:highlight>
                <a:latin typeface="Consolas" panose="020B0609020204030204" pitchFamily="49" charset="0"/>
              </a:rPr>
              <a:t>) {</a:t>
            </a:r>
          </a:p>
          <a:p>
            <a:r>
              <a:rPr lang="en-GB" sz="1600" dirty="0" smtClean="0">
                <a:solidFill>
                  <a:srgbClr val="000000"/>
                </a:solidFill>
                <a:highlight>
                  <a:srgbClr val="FFFFFF"/>
                </a:highlight>
                <a:latin typeface="Consolas" panose="020B0609020204030204" pitchFamily="49" charset="0"/>
              </a:rPr>
              <a:t>        </a:t>
            </a:r>
            <a:r>
              <a:rPr lang="en-GB" sz="1600" dirty="0">
                <a:solidFill>
                  <a:srgbClr val="000000"/>
                </a:solidFill>
                <a:highlight>
                  <a:srgbClr val="FFFFFF"/>
                </a:highlight>
                <a:latin typeface="Consolas" panose="020B0609020204030204" pitchFamily="49" charset="0"/>
              </a:rPr>
              <a:t>logger = </a:t>
            </a:r>
            <a:r>
              <a:rPr lang="en-GB" sz="1600" dirty="0" err="1">
                <a:solidFill>
                  <a:srgbClr val="000000"/>
                </a:solidFill>
                <a:highlight>
                  <a:srgbClr val="FFFFFF"/>
                </a:highlight>
                <a:latin typeface="Consolas" panose="020B0609020204030204" pitchFamily="49" charset="0"/>
              </a:rPr>
              <a:t>messageLogger</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p>
          <a:p>
            <a:endParaRPr lang="en-GB" sz="1600" dirty="0">
              <a:solidFill>
                <a:srgbClr val="000000"/>
              </a:solidFill>
              <a:highlight>
                <a:srgbClr val="FFFFFF"/>
              </a:highlight>
              <a:latin typeface="Consolas" panose="020B0609020204030204" pitchFamily="49" charset="0"/>
            </a:endParaRPr>
          </a:p>
          <a:p>
            <a:r>
              <a:rPr lang="da-DK" sz="1600" dirty="0">
                <a:solidFill>
                  <a:srgbClr val="000000"/>
                </a:solidFill>
                <a:highlight>
                  <a:srgbClr val="FFFFFF"/>
                </a:highlight>
                <a:latin typeface="Consolas" panose="020B0609020204030204" pitchFamily="49" charset="0"/>
              </a:rPr>
              <a:t>    </a:t>
            </a:r>
            <a:r>
              <a:rPr lang="da-DK" sz="1600" dirty="0">
                <a:solidFill>
                  <a:srgbClr val="0000FF"/>
                </a:solidFill>
                <a:highlight>
                  <a:srgbClr val="FFFFFF"/>
                </a:highlight>
                <a:latin typeface="Consolas" panose="020B0609020204030204" pitchFamily="49" charset="0"/>
              </a:rPr>
              <a:t>public</a:t>
            </a:r>
            <a:r>
              <a:rPr lang="da-DK" sz="1600" dirty="0">
                <a:solidFill>
                  <a:srgbClr val="000000"/>
                </a:solidFill>
                <a:highlight>
                  <a:srgbClr val="FFFFFF"/>
                </a:highlight>
                <a:latin typeface="Consolas" panose="020B0609020204030204" pitchFamily="49" charset="0"/>
              </a:rPr>
              <a:t> </a:t>
            </a:r>
            <a:r>
              <a:rPr lang="da-DK" sz="1600" dirty="0">
                <a:solidFill>
                  <a:srgbClr val="0000FF"/>
                </a:solidFill>
                <a:highlight>
                  <a:srgbClr val="FFFFFF"/>
                </a:highlight>
                <a:latin typeface="Consolas" panose="020B0609020204030204" pitchFamily="49" charset="0"/>
              </a:rPr>
              <a:t>void</a:t>
            </a:r>
            <a:r>
              <a:rPr lang="da-DK" sz="1600" dirty="0">
                <a:solidFill>
                  <a:srgbClr val="000000"/>
                </a:solidFill>
                <a:highlight>
                  <a:srgbClr val="FFFFFF"/>
                </a:highlight>
                <a:latin typeface="Consolas" panose="020B0609020204030204" pitchFamily="49" charset="0"/>
              </a:rPr>
              <a:t> Log(</a:t>
            </a:r>
            <a:r>
              <a:rPr lang="da-DK" sz="1600" dirty="0">
                <a:solidFill>
                  <a:srgbClr val="0000FF"/>
                </a:solidFill>
                <a:highlight>
                  <a:srgbClr val="FFFFFF"/>
                </a:highlight>
                <a:latin typeface="Consolas" panose="020B0609020204030204" pitchFamily="49" charset="0"/>
              </a:rPr>
              <a:t>string</a:t>
            </a:r>
            <a:r>
              <a:rPr lang="da-DK" sz="1600" dirty="0">
                <a:solidFill>
                  <a:srgbClr val="000000"/>
                </a:solidFill>
                <a:highlight>
                  <a:srgbClr val="FFFFFF"/>
                </a:highlight>
                <a:latin typeface="Consolas" panose="020B0609020204030204" pitchFamily="49" charset="0"/>
              </a:rPr>
              <a:t> message, </a:t>
            </a:r>
            <a:r>
              <a:rPr lang="da-DK" sz="1600" dirty="0">
                <a:solidFill>
                  <a:srgbClr val="2B91AF"/>
                </a:solidFill>
                <a:highlight>
                  <a:srgbClr val="FFFFFF"/>
                </a:highlight>
                <a:latin typeface="Consolas" panose="020B0609020204030204" pitchFamily="49" charset="0"/>
              </a:rPr>
              <a:t>ILogger</a:t>
            </a:r>
            <a:r>
              <a:rPr lang="da-DK" sz="1600" dirty="0">
                <a:solidFill>
                  <a:srgbClr val="000000"/>
                </a:solidFill>
                <a:highlight>
                  <a:srgbClr val="FFFFFF"/>
                </a:highlight>
                <a:latin typeface="Consolas" panose="020B0609020204030204" pitchFamily="49" charset="0"/>
              </a:rPr>
              <a:t> messageLogger</a:t>
            </a:r>
            <a:r>
              <a:rPr lang="da-DK" sz="1600" dirty="0" smtClean="0">
                <a:solidFill>
                  <a:srgbClr val="000000"/>
                </a:solidFill>
                <a:highlight>
                  <a:srgbClr val="FFFFFF"/>
                </a:highlight>
                <a:latin typeface="Consolas" panose="020B0609020204030204" pitchFamily="49" charset="0"/>
              </a:rPr>
              <a:t>) </a:t>
            </a:r>
            <a:r>
              <a:rPr lang="en-GB" sz="1600" dirty="0" smtClean="0">
                <a:solidFill>
                  <a:srgbClr val="000000"/>
                </a:solidFill>
                <a:highlight>
                  <a:srgbClr val="FFFFFF"/>
                </a:highlight>
                <a:latin typeface="Consolas" panose="020B0609020204030204" pitchFamily="49" charset="0"/>
              </a:rPr>
              <a: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logger.Write</a:t>
            </a:r>
            <a:r>
              <a:rPr lang="en-GB" sz="1600" dirty="0">
                <a:solidFill>
                  <a:srgbClr val="000000"/>
                </a:solidFill>
                <a:highlight>
                  <a:srgbClr val="FFFFFF"/>
                </a:highlight>
                <a:latin typeface="Consolas" panose="020B0609020204030204" pitchFamily="49" charset="0"/>
              </a:rPr>
              <a:t>(message);</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p:txBody>
      </p:sp>
      <p:sp>
        <p:nvSpPr>
          <p:cNvPr id="5" name="Rectangle 4"/>
          <p:cNvSpPr/>
          <p:nvPr/>
        </p:nvSpPr>
        <p:spPr>
          <a:xfrm>
            <a:off x="1371593" y="4976544"/>
            <a:ext cx="7273638" cy="135421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600" dirty="0">
                <a:solidFill>
                  <a:srgbClr val="0000FF"/>
                </a:solidFill>
                <a:highlight>
                  <a:srgbClr val="FFFFFF"/>
                </a:highlight>
                <a:latin typeface="Consolas" panose="020B0609020204030204" pitchFamily="49" charset="0"/>
              </a:rPr>
              <a:t>static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Main()</a:t>
            </a:r>
          </a:p>
          <a:p>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BusinessApp</a:t>
            </a:r>
            <a:r>
              <a:rPr lang="en-GB" sz="1600" dirty="0">
                <a:solidFill>
                  <a:srgbClr val="000000"/>
                </a:solidFill>
                <a:highlight>
                  <a:srgbClr val="FFFFFF"/>
                </a:highlight>
                <a:latin typeface="Consolas" panose="020B0609020204030204" pitchFamily="49" charset="0"/>
              </a:rPr>
              <a:t> app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BusinessApp</a:t>
            </a:r>
            <a:r>
              <a:rPr lang="en-GB" sz="1600" dirty="0">
                <a:solidFill>
                  <a:srgbClr val="000000"/>
                </a:solidFill>
                <a:highlight>
                  <a:srgbClr val="FFFFFF"/>
                </a:highlight>
                <a:latin typeface="Consolas" panose="020B0609020204030204" pitchFamily="49" charset="0"/>
              </a:rPr>
              <a:t>(</a:t>
            </a:r>
            <a:r>
              <a:rPr lang="en-GB" sz="1800" b="1" dirty="0">
                <a:solidFill>
                  <a:srgbClr val="0000FF"/>
                </a:solidFill>
                <a:highlight>
                  <a:srgbClr val="FFFFFF"/>
                </a:highlight>
                <a:latin typeface="Consolas" panose="020B0609020204030204" pitchFamily="49" charset="0"/>
              </a:rPr>
              <a:t>new</a:t>
            </a:r>
            <a:r>
              <a:rPr lang="en-GB" sz="1800" b="1" dirty="0">
                <a:solidFill>
                  <a:srgbClr val="000000"/>
                </a:solidFill>
                <a:highlight>
                  <a:srgbClr val="FFFFFF"/>
                </a:highlight>
                <a:latin typeface="Consolas" panose="020B0609020204030204" pitchFamily="49" charset="0"/>
              </a:rPr>
              <a:t> </a:t>
            </a:r>
            <a:r>
              <a:rPr lang="en-GB" sz="1800" b="1" dirty="0" err="1">
                <a:solidFill>
                  <a:srgbClr val="2B91AF"/>
                </a:solidFill>
                <a:highlight>
                  <a:srgbClr val="FFFFFF"/>
                </a:highlight>
                <a:latin typeface="Consolas" panose="020B0609020204030204" pitchFamily="49" charset="0"/>
              </a:rPr>
              <a:t>EmailWriter</a:t>
            </a:r>
            <a:r>
              <a:rPr lang="en-GB" sz="1800" b="1" dirty="0">
                <a:solidFill>
                  <a:srgbClr val="000000"/>
                </a:solidFill>
                <a:highlight>
                  <a:srgbClr val="FFFFFF"/>
                </a:highlight>
                <a:latin typeface="Consolas" panose="020B0609020204030204" pitchFamily="49" charset="0"/>
              </a:rPr>
              <a:t>()</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r>
              <a:rPr lang="en-GB" sz="1600" dirty="0">
                <a:solidFill>
                  <a:srgbClr val="008000"/>
                </a:solidFill>
                <a:highlight>
                  <a:srgbClr val="FFFFFF"/>
                </a:highlight>
                <a:latin typeface="Consolas" panose="020B0609020204030204" pitchFamily="49" charset="0"/>
              </a:rPr>
              <a:t>// other code</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a:t>
            </a:r>
          </a:p>
        </p:txBody>
      </p:sp>
      <p:sp>
        <p:nvSpPr>
          <p:cNvPr id="6" name="Freeform 5"/>
          <p:cNvSpPr/>
          <p:nvPr/>
        </p:nvSpPr>
        <p:spPr>
          <a:xfrm rot="21401138">
            <a:off x="5370028" y="2189244"/>
            <a:ext cx="2610196" cy="3214029"/>
          </a:xfrm>
          <a:custGeom>
            <a:avLst/>
            <a:gdLst>
              <a:gd name="connsiteX0" fmla="*/ 2078182 w 2734961"/>
              <a:gd name="connsiteY0" fmla="*/ 3372771 h 3372771"/>
              <a:gd name="connsiteX1" fmla="*/ 2610196 w 2734961"/>
              <a:gd name="connsiteY1" fmla="*/ 97556 h 3372771"/>
              <a:gd name="connsiteX2" fmla="*/ 0 w 2734961"/>
              <a:gd name="connsiteY2" fmla="*/ 795825 h 3372771"/>
              <a:gd name="connsiteX3" fmla="*/ 0 w 2734961"/>
              <a:gd name="connsiteY3" fmla="*/ 795825 h 3372771"/>
            </a:gdLst>
            <a:ahLst/>
            <a:cxnLst>
              <a:cxn ang="0">
                <a:pos x="connsiteX0" y="connsiteY0"/>
              </a:cxn>
              <a:cxn ang="0">
                <a:pos x="connsiteX1" y="connsiteY1"/>
              </a:cxn>
              <a:cxn ang="0">
                <a:pos x="connsiteX2" y="connsiteY2"/>
              </a:cxn>
              <a:cxn ang="0">
                <a:pos x="connsiteX3" y="connsiteY3"/>
              </a:cxn>
            </a:cxnLst>
            <a:rect l="l" t="t" r="r" b="b"/>
            <a:pathLst>
              <a:path w="2734961" h="3372771">
                <a:moveTo>
                  <a:pt x="2078182" y="3372771"/>
                </a:moveTo>
                <a:cubicBezTo>
                  <a:pt x="2517371" y="1949909"/>
                  <a:pt x="2956560" y="527047"/>
                  <a:pt x="2610196" y="97556"/>
                </a:cubicBezTo>
                <a:cubicBezTo>
                  <a:pt x="2263832" y="-331935"/>
                  <a:pt x="0" y="795825"/>
                  <a:pt x="0" y="795825"/>
                </a:cubicBezTo>
                <a:lnTo>
                  <a:pt x="0" y="795825"/>
                </a:lnTo>
              </a:path>
            </a:pathLst>
          </a:custGeom>
          <a:noFill/>
          <a:ln>
            <a:solidFill>
              <a:srgbClr val="C8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accent1">
                  <a:lumMod val="50000"/>
                </a:schemeClr>
              </a:solidFill>
            </a:endParaRPr>
          </a:p>
        </p:txBody>
      </p:sp>
    </p:spTree>
    <p:extLst>
      <p:ext uri="{BB962C8B-B14F-4D97-AF65-F5344CB8AC3E}">
        <p14:creationId xmlns:p14="http://schemas.microsoft.com/office/powerpoint/2010/main" val="253528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p:txBody>
          <a:bodyPr lIns="64291" tIns="32146" rIns="64291" bIns="32146">
            <a:normAutofit/>
          </a:bodyPr>
          <a:lstStyle/>
          <a:p>
            <a:r>
              <a:rPr lang="en-GB" dirty="0" smtClean="0"/>
              <a:t>Interfaces should be specific to a client. Many specific interfaces are better than one general purpose interface.</a:t>
            </a:r>
          </a:p>
          <a:p>
            <a:endParaRPr lang="en-GB" dirty="0" smtClean="0"/>
          </a:p>
          <a:p>
            <a:r>
              <a:rPr lang="en-GB" dirty="0" smtClean="0"/>
              <a:t>By using specific interfaces, it will present a clear understanding on what behaviours the client should use.  </a:t>
            </a:r>
          </a:p>
          <a:p>
            <a:r>
              <a:rPr lang="en-GB" dirty="0" smtClean="0"/>
              <a:t>Additionally segregating interfaces increases usability of interfaces as interface implementers should only use behaviours that are relevant.</a:t>
            </a:r>
          </a:p>
          <a:p>
            <a:endParaRPr lang="en-GB" dirty="0"/>
          </a:p>
          <a:p>
            <a:r>
              <a:rPr lang="en-GB" dirty="0" smtClean="0"/>
              <a:t>Let's have a look at an example…</a:t>
            </a:r>
          </a:p>
        </p:txBody>
      </p:sp>
      <p:sp>
        <p:nvSpPr>
          <p:cNvPr id="4" name="Title 3"/>
          <p:cNvSpPr>
            <a:spLocks noGrp="1"/>
          </p:cNvSpPr>
          <p:nvPr>
            <p:ph type="title"/>
          </p:nvPr>
        </p:nvSpPr>
        <p:spPr/>
        <p:txBody>
          <a:bodyPr/>
          <a:lstStyle/>
          <a:p>
            <a:r>
              <a:rPr lang="en-GB" dirty="0" smtClean="0"/>
              <a:t>Interface Segregation</a:t>
            </a:r>
            <a:endParaRPr lang="en-US" dirty="0"/>
          </a:p>
        </p:txBody>
      </p:sp>
    </p:spTree>
    <p:extLst>
      <p:ext uri="{BB962C8B-B14F-4D97-AF65-F5344CB8AC3E}">
        <p14:creationId xmlns:p14="http://schemas.microsoft.com/office/powerpoint/2010/main" val="3725501033"/>
      </p:ext>
    </p:extLst>
  </p:cSld>
  <p:clrMapOvr>
    <a:masterClrMapping/>
  </p:clrMapOvr>
  <p:transition>
    <p:pull dir="l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80000" y="900000"/>
            <a:ext cx="8820000" cy="1052979"/>
          </a:xfrm>
        </p:spPr>
        <p:txBody>
          <a:bodyPr/>
          <a:lstStyle/>
          <a:p>
            <a:r>
              <a:rPr lang="en-GB" dirty="0" smtClean="0"/>
              <a:t>First attempt: What could be </a:t>
            </a:r>
            <a:br>
              <a:rPr lang="en-GB" dirty="0" smtClean="0"/>
            </a:br>
            <a:r>
              <a:rPr lang="en-GB" dirty="0" smtClean="0"/>
              <a:t>the problem with this design?</a:t>
            </a:r>
            <a:endParaRPr lang="en-GB" dirty="0"/>
          </a:p>
        </p:txBody>
      </p:sp>
      <p:sp>
        <p:nvSpPr>
          <p:cNvPr id="3" name="Title 2"/>
          <p:cNvSpPr>
            <a:spLocks noGrp="1"/>
          </p:cNvSpPr>
          <p:nvPr>
            <p:ph type="title"/>
          </p:nvPr>
        </p:nvSpPr>
        <p:spPr/>
        <p:txBody>
          <a:bodyPr/>
          <a:lstStyle/>
          <a:p>
            <a:r>
              <a:rPr lang="en-GB" dirty="0" smtClean="0"/>
              <a:t>Customer association to a </a:t>
            </a:r>
            <a:r>
              <a:rPr lang="en-GB" dirty="0"/>
              <a:t>b</a:t>
            </a:r>
            <a:r>
              <a:rPr lang="en-GB" dirty="0" smtClean="0"/>
              <a:t>ank account</a:t>
            </a:r>
            <a:endParaRPr lang="en-GB" dirty="0"/>
          </a:p>
        </p:txBody>
      </p:sp>
      <p:pic>
        <p:nvPicPr>
          <p:cNvPr id="4" name="Picture 3"/>
          <p:cNvPicPr>
            <a:picLocks noChangeAspect="1"/>
          </p:cNvPicPr>
          <p:nvPr/>
        </p:nvPicPr>
        <p:blipFill>
          <a:blip r:embed="rId2"/>
          <a:stretch>
            <a:fillRect/>
          </a:stretch>
        </p:blipFill>
        <p:spPr>
          <a:xfrm>
            <a:off x="4714269" y="981429"/>
            <a:ext cx="3838575" cy="971550"/>
          </a:xfrm>
          <a:prstGeom prst="rect">
            <a:avLst/>
          </a:prstGeom>
        </p:spPr>
      </p:pic>
      <p:sp>
        <p:nvSpPr>
          <p:cNvPr id="5" name="Text Placeholder 1"/>
          <p:cNvSpPr txBox="1">
            <a:spLocks/>
          </p:cNvSpPr>
          <p:nvPr/>
        </p:nvSpPr>
        <p:spPr>
          <a:xfrm>
            <a:off x="332400" y="2681692"/>
            <a:ext cx="8820000" cy="676063"/>
          </a:xfrm>
          <a:prstGeom prst="rect">
            <a:avLst/>
          </a:prstGeom>
        </p:spPr>
        <p:txBody>
          <a:bodyPr vert="horz" lIns="91440" tIns="45720" rIns="91440" bIns="45720" rtlCol="0">
            <a:normAutofit lnSpcReduction="10000"/>
          </a:bodyPr>
          <a:lstStyle>
            <a:lvl1pPr marL="360000" indent="-360000" algn="l" defTabSz="914400" rtl="0" eaLnBrk="1" latinLnBrk="0" hangingPunct="1">
              <a:spcBef>
                <a:spcPts val="6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2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08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44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180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GB" dirty="0" smtClean="0"/>
              <a:t>Second attempt: Is this </a:t>
            </a:r>
            <a:br>
              <a:rPr lang="en-GB" dirty="0" smtClean="0"/>
            </a:br>
            <a:r>
              <a:rPr lang="en-GB" dirty="0" smtClean="0"/>
              <a:t>solution better? Why?</a:t>
            </a:r>
            <a:endParaRPr lang="en-GB" dirty="0"/>
          </a:p>
        </p:txBody>
      </p:sp>
      <p:sp>
        <p:nvSpPr>
          <p:cNvPr id="6" name="Text Placeholder 1"/>
          <p:cNvSpPr txBox="1">
            <a:spLocks/>
          </p:cNvSpPr>
          <p:nvPr/>
        </p:nvSpPr>
        <p:spPr>
          <a:xfrm>
            <a:off x="332400" y="3911974"/>
            <a:ext cx="8820000" cy="1441422"/>
          </a:xfrm>
          <a:prstGeom prst="rect">
            <a:avLst/>
          </a:prstGeom>
        </p:spPr>
        <p:txBody>
          <a:bodyPr vert="horz" lIns="91440" tIns="45720" rIns="91440" bIns="45720" rtlCol="0">
            <a:normAutofit/>
          </a:bodyPr>
          <a:lstStyle>
            <a:lvl1pPr marL="360000" indent="-360000" algn="l" defTabSz="914400" rtl="0" eaLnBrk="1" latinLnBrk="0" hangingPunct="1">
              <a:spcBef>
                <a:spcPts val="6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2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08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44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1800000" indent="-360000" algn="l" defTabSz="914400" rtl="0" eaLnBrk="1" latinLnBrk="0" hangingPunct="1">
              <a:spcBef>
                <a:spcPts val="6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GB" dirty="0" smtClean="0"/>
              <a:t>Yes! Customer can extend</a:t>
            </a:r>
            <a:br>
              <a:rPr lang="en-GB" dirty="0" smtClean="0"/>
            </a:br>
            <a:r>
              <a:rPr lang="en-GB" dirty="0" smtClean="0"/>
              <a:t>another class</a:t>
            </a:r>
          </a:p>
          <a:p>
            <a:pPr fontAlgn="auto">
              <a:spcAft>
                <a:spcPts val="0"/>
              </a:spcAft>
            </a:pPr>
            <a:r>
              <a:rPr lang="en-GB" dirty="0" smtClean="0"/>
              <a:t>But what could be a problem </a:t>
            </a:r>
            <a:br>
              <a:rPr lang="en-GB" dirty="0" smtClean="0"/>
            </a:br>
            <a:r>
              <a:rPr lang="en-GB" dirty="0" smtClean="0"/>
              <a:t>with this solution?</a:t>
            </a:r>
            <a:endParaRPr lang="en-GB" dirty="0"/>
          </a:p>
        </p:txBody>
      </p:sp>
      <p:pic>
        <p:nvPicPr>
          <p:cNvPr id="8" name="Picture 7"/>
          <p:cNvPicPr>
            <a:picLocks noChangeAspect="1"/>
          </p:cNvPicPr>
          <p:nvPr/>
        </p:nvPicPr>
        <p:blipFill>
          <a:blip r:embed="rId3"/>
          <a:stretch>
            <a:fillRect/>
          </a:stretch>
        </p:blipFill>
        <p:spPr>
          <a:xfrm>
            <a:off x="5159001" y="2625174"/>
            <a:ext cx="3381375" cy="2638425"/>
          </a:xfrm>
          <a:prstGeom prst="rect">
            <a:avLst/>
          </a:prstGeom>
        </p:spPr>
      </p:pic>
    </p:spTree>
    <p:extLst>
      <p:ext uri="{BB962C8B-B14F-4D97-AF65-F5344CB8AC3E}">
        <p14:creationId xmlns:p14="http://schemas.microsoft.com/office/powerpoint/2010/main" val="393959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GB" dirty="0" smtClean="0"/>
              <a:t>We should not allow customers to change their account ID!</a:t>
            </a:r>
          </a:p>
          <a:p>
            <a:r>
              <a:rPr lang="en-GB" dirty="0" smtClean="0"/>
              <a:t>How would you solve this problem?</a:t>
            </a:r>
          </a:p>
          <a:p>
            <a:r>
              <a:rPr lang="en-GB" dirty="0" smtClean="0"/>
              <a:t>The answer is to give customers their own account interface</a:t>
            </a:r>
          </a:p>
          <a:p>
            <a:r>
              <a:rPr lang="en-GB" dirty="0" smtClean="0"/>
              <a:t>The bank should have the ability to change IDs and also have the same capabilities as a customer</a:t>
            </a:r>
            <a:endParaRPr lang="en-GB" dirty="0"/>
          </a:p>
        </p:txBody>
      </p:sp>
      <p:sp>
        <p:nvSpPr>
          <p:cNvPr id="3" name="Title 2"/>
          <p:cNvSpPr>
            <a:spLocks noGrp="1"/>
          </p:cNvSpPr>
          <p:nvPr>
            <p:ph type="title"/>
          </p:nvPr>
        </p:nvSpPr>
        <p:spPr/>
        <p:txBody>
          <a:bodyPr/>
          <a:lstStyle/>
          <a:p>
            <a:r>
              <a:rPr lang="en-GB" dirty="0" smtClean="0"/>
              <a:t>Third attempt – Create many interfaces</a:t>
            </a:r>
            <a:endParaRPr lang="en-GB" dirty="0"/>
          </a:p>
        </p:txBody>
      </p:sp>
      <p:pic>
        <p:nvPicPr>
          <p:cNvPr id="4" name="Picture 3"/>
          <p:cNvPicPr>
            <a:picLocks noChangeAspect="1"/>
          </p:cNvPicPr>
          <p:nvPr/>
        </p:nvPicPr>
        <p:blipFill>
          <a:blip r:embed="rId2"/>
          <a:stretch>
            <a:fillRect/>
          </a:stretch>
        </p:blipFill>
        <p:spPr>
          <a:xfrm>
            <a:off x="1250284" y="3219725"/>
            <a:ext cx="6543675" cy="2867025"/>
          </a:xfrm>
          <a:prstGeom prst="rect">
            <a:avLst/>
          </a:prstGeom>
        </p:spPr>
      </p:pic>
    </p:spTree>
    <p:extLst>
      <p:ext uri="{BB962C8B-B14F-4D97-AF65-F5344CB8AC3E}">
        <p14:creationId xmlns:p14="http://schemas.microsoft.com/office/powerpoint/2010/main" val="392282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type="body" sz="quarter" idx="15"/>
          </p:nvPr>
        </p:nvSpPr>
        <p:spPr/>
        <p:txBody>
          <a:bodyPr>
            <a:normAutofit/>
          </a:bodyPr>
          <a:lstStyle/>
          <a:p>
            <a:r>
              <a:rPr lang="en-GB" dirty="0"/>
              <a:t>At the end of this session </a:t>
            </a:r>
            <a:r>
              <a:rPr lang="en-GB" dirty="0" smtClean="0"/>
              <a:t>you…</a:t>
            </a:r>
            <a:endParaRPr lang="en-GB" dirty="0"/>
          </a:p>
          <a:p>
            <a:pPr lvl="1"/>
            <a:r>
              <a:rPr lang="en-GB" dirty="0"/>
              <a:t>Learn what is UML and its value in describing your design</a:t>
            </a:r>
          </a:p>
          <a:p>
            <a:pPr lvl="1"/>
            <a:r>
              <a:rPr lang="en-GB" dirty="0" smtClean="0"/>
              <a:t>Explored and understand the reason for Interfaces</a:t>
            </a:r>
            <a:r>
              <a:rPr lang="en-GB" dirty="0"/>
              <a:t>, Inheritance and </a:t>
            </a:r>
            <a:r>
              <a:rPr lang="en-GB" dirty="0" smtClean="0"/>
              <a:t>Polymorphism and how to use them.</a:t>
            </a:r>
            <a:endParaRPr lang="en-GB" dirty="0"/>
          </a:p>
          <a:p>
            <a:pPr lvl="2"/>
            <a:r>
              <a:rPr lang="en-GB" dirty="0"/>
              <a:t>Including multiple Inheritance</a:t>
            </a:r>
          </a:p>
          <a:p>
            <a:pPr lvl="1"/>
            <a:r>
              <a:rPr lang="en-GB" dirty="0" smtClean="0"/>
              <a:t>Have understood the use of Aggregation</a:t>
            </a:r>
            <a:endParaRPr lang="en-GB" dirty="0"/>
          </a:p>
          <a:p>
            <a:pPr lvl="1"/>
            <a:r>
              <a:rPr lang="en-GB" dirty="0" smtClean="0"/>
              <a:t>Learned </a:t>
            </a:r>
            <a:r>
              <a:rPr lang="en-GB" dirty="0"/>
              <a:t>about the Association Qualifiers</a:t>
            </a:r>
          </a:p>
          <a:p>
            <a:pPr lvl="1"/>
            <a:r>
              <a:rPr lang="en-GB" dirty="0" smtClean="0"/>
              <a:t>Learned to described </a:t>
            </a:r>
            <a:r>
              <a:rPr lang="en-GB" dirty="0"/>
              <a:t>Encapsulation (Visibility)</a:t>
            </a:r>
          </a:p>
          <a:p>
            <a:pPr lvl="1"/>
            <a:r>
              <a:rPr lang="en-GB" dirty="0" smtClean="0"/>
              <a:t>Were able </a:t>
            </a:r>
            <a:r>
              <a:rPr lang="en-GB" dirty="0"/>
              <a:t>to demonstrate the use of Derived Attributes and Class Attributes</a:t>
            </a:r>
          </a:p>
        </p:txBody>
      </p:sp>
      <p:sp>
        <p:nvSpPr>
          <p:cNvPr id="2" name="Title 1"/>
          <p:cNvSpPr>
            <a:spLocks noGrp="1"/>
          </p:cNvSpPr>
          <p:nvPr>
            <p:ph type="title"/>
          </p:nvPr>
        </p:nvSpPr>
        <p:spPr/>
        <p:txBody>
          <a:bodyPr>
            <a:noAutofit/>
          </a:bodyPr>
          <a:lstStyle/>
          <a:p>
            <a:r>
              <a:rPr lang="en-GB" sz="2800" dirty="0" smtClean="0"/>
              <a:t>Summary</a:t>
            </a:r>
            <a:endParaRPr lang="en-GB" sz="3200" dirty="0"/>
          </a:p>
        </p:txBody>
      </p:sp>
    </p:spTree>
    <p:extLst>
      <p:ext uri="{BB962C8B-B14F-4D97-AF65-F5344CB8AC3E}">
        <p14:creationId xmlns:p14="http://schemas.microsoft.com/office/powerpoint/2010/main" val="314264141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180000" y="900000"/>
            <a:ext cx="8820000" cy="5702278"/>
          </a:xfrm>
        </p:spPr>
        <p:txBody>
          <a:bodyPr>
            <a:normAutofit/>
          </a:bodyPr>
          <a:lstStyle/>
          <a:p>
            <a:r>
              <a:rPr lang="en-GB" dirty="0" smtClean="0"/>
              <a:t>Please review the questions in 8-OO and UML.docx file</a:t>
            </a:r>
          </a:p>
          <a:p>
            <a:r>
              <a:rPr lang="en-GB" dirty="0" smtClean="0"/>
              <a:t>Answers are included in the document</a:t>
            </a:r>
          </a:p>
          <a:p>
            <a:r>
              <a:rPr lang="en-GB" dirty="0" smtClean="0"/>
              <a:t>Please do not look at the answers first!</a:t>
            </a:r>
            <a:endParaRPr lang="en-GB" dirty="0"/>
          </a:p>
        </p:txBody>
      </p:sp>
      <p:sp>
        <p:nvSpPr>
          <p:cNvPr id="11266" name="Rectangle 2"/>
          <p:cNvSpPr>
            <a:spLocks noGrp="1" noChangeArrowheads="1"/>
          </p:cNvSpPr>
          <p:nvPr>
            <p:ph type="title"/>
          </p:nvPr>
        </p:nvSpPr>
        <p:spPr/>
        <p:txBody>
          <a:bodyPr/>
          <a:lstStyle/>
          <a:p>
            <a:pPr eaLnBrk="1" hangingPunct="1"/>
            <a:r>
              <a:rPr lang="en-GB" dirty="0" smtClean="0"/>
              <a:t>Lab 1/2</a:t>
            </a:r>
          </a:p>
        </p:txBody>
      </p:sp>
    </p:spTree>
    <p:extLst>
      <p:ext uri="{BB962C8B-B14F-4D97-AF65-F5344CB8AC3E}">
        <p14:creationId xmlns:p14="http://schemas.microsoft.com/office/powerpoint/2010/main" val="3107276392"/>
      </p:ext>
    </p:extLst>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GB" dirty="0" smtClean="0"/>
              <a:t>What is a pattern?</a:t>
            </a:r>
          </a:p>
          <a:p>
            <a:pPr lvl="1"/>
            <a:r>
              <a:rPr lang="en-GB" dirty="0"/>
              <a:t> is a general reusable solution to a commonly occurring problem within a given </a:t>
            </a:r>
            <a:r>
              <a:rPr lang="en-GB" dirty="0" smtClean="0"/>
              <a:t>context</a:t>
            </a:r>
          </a:p>
          <a:p>
            <a:pPr lvl="1"/>
            <a:r>
              <a:rPr lang="en-GB" dirty="0" smtClean="0"/>
              <a:t>Provides a template for solving problems</a:t>
            </a:r>
          </a:p>
          <a:p>
            <a:pPr lvl="1"/>
            <a:r>
              <a:rPr lang="en-GB" dirty="0" smtClean="0"/>
              <a:t>Creates a communication shortcut with other designers and speed up the development process</a:t>
            </a:r>
            <a:endParaRPr lang="en-GB" dirty="0"/>
          </a:p>
        </p:txBody>
      </p:sp>
      <p:sp>
        <p:nvSpPr>
          <p:cNvPr id="3" name="Title 2"/>
          <p:cNvSpPr>
            <a:spLocks noGrp="1"/>
          </p:cNvSpPr>
          <p:nvPr>
            <p:ph type="title"/>
          </p:nvPr>
        </p:nvSpPr>
        <p:spPr/>
        <p:txBody>
          <a:bodyPr/>
          <a:lstStyle/>
          <a:p>
            <a:r>
              <a:rPr lang="en-GB" dirty="0" smtClean="0"/>
              <a:t>Patterns</a:t>
            </a:r>
            <a:endParaRPr lang="en-GB" dirty="0"/>
          </a:p>
        </p:txBody>
      </p:sp>
    </p:spTree>
    <p:extLst>
      <p:ext uri="{BB962C8B-B14F-4D97-AF65-F5344CB8AC3E}">
        <p14:creationId xmlns:p14="http://schemas.microsoft.com/office/powerpoint/2010/main" val="112803014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80000" y="899999"/>
            <a:ext cx="8820000" cy="5833309"/>
          </a:xfrm>
        </p:spPr>
        <p:txBody>
          <a:bodyPr>
            <a:normAutofit fontScale="92500" lnSpcReduction="10000"/>
          </a:bodyPr>
          <a:lstStyle/>
          <a:p>
            <a:r>
              <a:rPr lang="en-GB" dirty="0" smtClean="0"/>
              <a:t>Singleton</a:t>
            </a:r>
          </a:p>
          <a:p>
            <a:pPr lvl="1"/>
            <a:r>
              <a:rPr lang="en-GB" dirty="0" smtClean="0"/>
              <a:t>This pattern is used to create a single instance of a class in your application</a:t>
            </a:r>
          </a:p>
          <a:p>
            <a:pPr lvl="1"/>
            <a:r>
              <a:rPr lang="en-GB" dirty="0" smtClean="0"/>
              <a:t>For example, there should only be one Game object in a Game application, One Bank object in an application about Bank</a:t>
            </a:r>
          </a:p>
          <a:p>
            <a:r>
              <a:rPr lang="en-GB" dirty="0" smtClean="0"/>
              <a:t>Factory</a:t>
            </a:r>
          </a:p>
          <a:p>
            <a:pPr lvl="1"/>
            <a:r>
              <a:rPr lang="en-GB" dirty="0" smtClean="0"/>
              <a:t>Creates other objects</a:t>
            </a:r>
          </a:p>
          <a:p>
            <a:pPr lvl="1"/>
            <a:r>
              <a:rPr lang="en-GB" dirty="0" smtClean="0"/>
              <a:t>Often used with a Singleton patterns because one instance of factory will be enough in most applications</a:t>
            </a:r>
          </a:p>
          <a:p>
            <a:r>
              <a:rPr lang="en-GB" dirty="0" smtClean="0"/>
              <a:t>Abstract factory</a:t>
            </a:r>
          </a:p>
          <a:p>
            <a:pPr lvl="1"/>
            <a:r>
              <a:rPr lang="en-GB" dirty="0" smtClean="0"/>
              <a:t>Like Factory, but it can create families of related objects</a:t>
            </a:r>
          </a:p>
          <a:p>
            <a:r>
              <a:rPr lang="en-GB" dirty="0" smtClean="0"/>
              <a:t>Composite</a:t>
            </a:r>
          </a:p>
          <a:p>
            <a:pPr lvl="1"/>
            <a:r>
              <a:rPr lang="en-GB" dirty="0" smtClean="0"/>
              <a:t>Treats </a:t>
            </a:r>
            <a:r>
              <a:rPr lang="en-GB" dirty="0"/>
              <a:t>individual objects and compositions of objects </a:t>
            </a:r>
            <a:r>
              <a:rPr lang="en-GB" dirty="0" smtClean="0"/>
              <a:t>uniformly</a:t>
            </a:r>
          </a:p>
          <a:p>
            <a:r>
              <a:rPr lang="en-GB" dirty="0" smtClean="0"/>
              <a:t>Decorator</a:t>
            </a:r>
          </a:p>
          <a:p>
            <a:pPr lvl="1"/>
            <a:r>
              <a:rPr lang="en-GB" dirty="0"/>
              <a:t>Attach additional responsibilities to an object dynamically keeping the same interface. </a:t>
            </a:r>
            <a:r>
              <a:rPr lang="en-GB" dirty="0" smtClean="0"/>
              <a:t>Provides </a:t>
            </a:r>
            <a:r>
              <a:rPr lang="en-GB" dirty="0"/>
              <a:t>a flexible alternative to </a:t>
            </a:r>
            <a:r>
              <a:rPr lang="en-GB" dirty="0" err="1"/>
              <a:t>subclassing</a:t>
            </a:r>
            <a:r>
              <a:rPr lang="en-GB" dirty="0"/>
              <a:t> for extending functionality</a:t>
            </a:r>
            <a:r>
              <a:rPr lang="en-GB" dirty="0" smtClean="0"/>
              <a:t>.</a:t>
            </a:r>
          </a:p>
          <a:p>
            <a:r>
              <a:rPr lang="en-GB" dirty="0" smtClean="0"/>
              <a:t>There are many more</a:t>
            </a:r>
            <a:endParaRPr lang="en-GB" dirty="0"/>
          </a:p>
        </p:txBody>
      </p:sp>
      <p:sp>
        <p:nvSpPr>
          <p:cNvPr id="3" name="Title 2"/>
          <p:cNvSpPr>
            <a:spLocks noGrp="1"/>
          </p:cNvSpPr>
          <p:nvPr>
            <p:ph type="title"/>
          </p:nvPr>
        </p:nvSpPr>
        <p:spPr/>
        <p:txBody>
          <a:bodyPr/>
          <a:lstStyle/>
          <a:p>
            <a:r>
              <a:rPr lang="en-GB" dirty="0" smtClean="0"/>
              <a:t>A few common patterns</a:t>
            </a:r>
            <a:endParaRPr lang="en-GB" dirty="0"/>
          </a:p>
        </p:txBody>
      </p:sp>
    </p:spTree>
    <p:extLst>
      <p:ext uri="{BB962C8B-B14F-4D97-AF65-F5344CB8AC3E}">
        <p14:creationId xmlns:p14="http://schemas.microsoft.com/office/powerpoint/2010/main" val="15865134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GB" dirty="0" smtClean="0"/>
              <a:t>In groups of 3/4 , investigate a pattern </a:t>
            </a:r>
          </a:p>
          <a:p>
            <a:pPr lvl="1"/>
            <a:r>
              <a:rPr lang="en-GB" dirty="0"/>
              <a:t>Use sites like </a:t>
            </a:r>
            <a:r>
              <a:rPr lang="en-GB" dirty="0">
                <a:hlinkClick r:id="rId2"/>
              </a:rPr>
              <a:t>http://www.oodesign.com</a:t>
            </a:r>
            <a:r>
              <a:rPr lang="en-GB" dirty="0" smtClean="0">
                <a:hlinkClick r:id="rId2"/>
              </a:rPr>
              <a:t>/</a:t>
            </a:r>
            <a:endParaRPr lang="en-GB" dirty="0" smtClean="0"/>
          </a:p>
          <a:p>
            <a:r>
              <a:rPr lang="en-GB" dirty="0" smtClean="0"/>
              <a:t>Decide as a class, pick different patterns</a:t>
            </a:r>
          </a:p>
          <a:p>
            <a:r>
              <a:rPr lang="en-GB" dirty="0" smtClean="0"/>
              <a:t>Write your research and UML diagrams on flipcharts</a:t>
            </a:r>
          </a:p>
          <a:p>
            <a:pPr lvl="1"/>
            <a:r>
              <a:rPr lang="en-GB" dirty="0" smtClean="0"/>
              <a:t>You can also take a picture of your design and even better produce slides</a:t>
            </a:r>
          </a:p>
          <a:p>
            <a:r>
              <a:rPr lang="en-GB" dirty="0" smtClean="0"/>
              <a:t>Present your conclusions to the class</a:t>
            </a:r>
          </a:p>
          <a:p>
            <a:pPr lvl="1"/>
            <a:r>
              <a:rPr lang="en-GB" dirty="0" smtClean="0"/>
              <a:t>You may present as a group together</a:t>
            </a:r>
            <a:endParaRPr lang="en-GB" dirty="0"/>
          </a:p>
        </p:txBody>
      </p:sp>
      <p:sp>
        <p:nvSpPr>
          <p:cNvPr id="3" name="Title 2"/>
          <p:cNvSpPr>
            <a:spLocks noGrp="1"/>
          </p:cNvSpPr>
          <p:nvPr>
            <p:ph type="title"/>
          </p:nvPr>
        </p:nvSpPr>
        <p:spPr/>
        <p:txBody>
          <a:bodyPr/>
          <a:lstStyle/>
          <a:p>
            <a:r>
              <a:rPr lang="en-GB" dirty="0" smtClean="0"/>
              <a:t>Lab 2/2</a:t>
            </a:r>
            <a:endParaRPr lang="en-GB" dirty="0"/>
          </a:p>
        </p:txBody>
      </p:sp>
    </p:spTree>
    <p:extLst>
      <p:ext uri="{BB962C8B-B14F-4D97-AF65-F5344CB8AC3E}">
        <p14:creationId xmlns:p14="http://schemas.microsoft.com/office/powerpoint/2010/main" val="3460097956"/>
      </p:ext>
    </p:extLst>
  </p:cSld>
  <p:clrMapOvr>
    <a:masterClrMapping/>
  </p:clrMapOvr>
  <p:timing>
    <p:tnLst>
      <p:par>
        <p:cTn id="1" dur="indefinite" restart="never" nodeType="tmRoot"/>
      </p:par>
    </p:tnLst>
  </p:timing>
</p:sld>
</file>

<file path=ppt/theme/theme1.xml><?xml version="1.0" encoding="utf-8"?>
<a:theme xmlns:a="http://schemas.openxmlformats.org/drawingml/2006/main" name="QA PowerPoint Template_DRAFTMay2012">
  <a:themeElements>
    <a:clrScheme name="Custom 1">
      <a:dk1>
        <a:srgbClr val="000000"/>
      </a:dk1>
      <a:lt1>
        <a:srgbClr val="FFFFFF"/>
      </a:lt1>
      <a:dk2>
        <a:srgbClr val="4F81BD"/>
      </a:dk2>
      <a:lt2>
        <a:srgbClr val="AAAAAA"/>
      </a:lt2>
      <a:accent1>
        <a:srgbClr val="B8CCE4"/>
      </a:accent1>
      <a:accent2>
        <a:srgbClr val="E1FFE1"/>
      </a:accent2>
      <a:accent3>
        <a:srgbClr val="FFFFFF"/>
      </a:accent3>
      <a:accent4>
        <a:srgbClr val="0070C0"/>
      </a:accent4>
      <a:accent5>
        <a:srgbClr val="FFFFD9"/>
      </a:accent5>
      <a:accent6>
        <a:srgbClr val="CCE7CC"/>
      </a:accent6>
      <a:hlink>
        <a:srgbClr val="AAAAAA"/>
      </a:hlink>
      <a:folHlink>
        <a:srgbClr val="0000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rtlCol="0" anchor="ctr"/>
      <a:lstStyle>
        <a:defPPr algn="ctr">
          <a:defRPr sz="1600" dirty="0" smtClean="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accent1">
            <a:lumMod val="40000"/>
            <a:lumOff val="60000"/>
          </a:schemeClr>
        </a:solidFill>
      </a:spPr>
      <a:bodyPr wrap="square" rtlCol="0">
        <a:spAutoFit/>
      </a:bodyPr>
      <a:lstStyle>
        <a:defPPr>
          <a:defRPr sz="2000" dirty="0" smtClean="0">
            <a:latin typeface="Courier New" pitchFamily="49" charset="0"/>
            <a:cs typeface="Courier New" pitchFamily="49" charset="0"/>
          </a:defRPr>
        </a:defPPr>
      </a:lstStyle>
    </a:txDef>
  </a:objectDefaults>
  <a:extraClrSchemeLst/>
</a:theme>
</file>

<file path=ppt/theme/theme2.xml><?xml version="1.0" encoding="utf-8"?>
<a:theme xmlns:a="http://schemas.openxmlformats.org/drawingml/2006/main" name="Office Theme">
  <a:themeElements>
    <a:clrScheme name="Custom 1">
      <a:dk1>
        <a:srgbClr val="000000"/>
      </a:dk1>
      <a:lt1>
        <a:srgbClr val="FFFFFF"/>
      </a:lt1>
      <a:dk2>
        <a:srgbClr val="4F81BD"/>
      </a:dk2>
      <a:lt2>
        <a:srgbClr val="AAAAAA"/>
      </a:lt2>
      <a:accent1>
        <a:srgbClr val="B8CCE4"/>
      </a:accent1>
      <a:accent2>
        <a:srgbClr val="E1FFE1"/>
      </a:accent2>
      <a:accent3>
        <a:srgbClr val="FFFFFF"/>
      </a:accent3>
      <a:accent4>
        <a:srgbClr val="0070C0"/>
      </a:accent4>
      <a:accent5>
        <a:srgbClr val="FFFFD9"/>
      </a:accent5>
      <a:accent6>
        <a:srgbClr val="CCE7CC"/>
      </a:accent6>
      <a:hlink>
        <a:srgbClr val="AAAAAA"/>
      </a:hlink>
      <a:folHlink>
        <a:srgbClr val="0000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themeOverride>
</file>

<file path=ppt/theme/themeOverride2.xml><?xml version="1.0" encoding="utf-8"?>
<a:themeOverride xmlns:a="http://schemas.openxmlformats.org/drawingml/2006/main">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themeOverride>
</file>

<file path=ppt/theme/themeOverride3.xml><?xml version="1.0" encoding="utf-8"?>
<a:themeOverride xmlns:a="http://schemas.openxmlformats.org/drawingml/2006/main">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themeOverride>
</file>

<file path=ppt/theme/themeOverride4.xml><?xml version="1.0" encoding="utf-8"?>
<a:themeOverride xmlns:a="http://schemas.openxmlformats.org/drawingml/2006/main">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themeOverride>
</file>

<file path=ppt/theme/themeOverride5.xml><?xml version="1.0" encoding="utf-8"?>
<a:themeOverride xmlns:a="http://schemas.openxmlformats.org/drawingml/2006/main">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themeOverride>
</file>

<file path=ppt/theme/themeOverride6.xml><?xml version="1.0" encoding="utf-8"?>
<a:themeOverride xmlns:a="http://schemas.openxmlformats.org/drawingml/2006/main">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themeOverride>
</file>

<file path=docProps/app.xml><?xml version="1.0" encoding="utf-8"?>
<Properties xmlns="http://schemas.openxmlformats.org/officeDocument/2006/extended-properties" xmlns:vt="http://schemas.openxmlformats.org/officeDocument/2006/docPropsVTypes">
  <Template>QA PowerPoint Template_DRAFTMay2012</Template>
  <TotalTime>13606</TotalTime>
  <Words>5388</Words>
  <Application>Microsoft Office PowerPoint</Application>
  <PresentationFormat>On-screen Show (4:3)</PresentationFormat>
  <Paragraphs>888</Paragraphs>
  <Slides>57</Slides>
  <Notes>36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7" baseType="lpstr">
      <vt:lpstr>Arial</vt:lpstr>
      <vt:lpstr>Arial Black</vt:lpstr>
      <vt:lpstr>Consolas</vt:lpstr>
      <vt:lpstr>Courier New</vt:lpstr>
      <vt:lpstr>Impact</vt:lpstr>
      <vt:lpstr>Symbol</vt:lpstr>
      <vt:lpstr>Times New Roman</vt:lpstr>
      <vt:lpstr>Wingdings</vt:lpstr>
      <vt:lpstr>QA PowerPoint Template_DRAFTMay2012</vt:lpstr>
      <vt:lpstr>Clip</vt:lpstr>
      <vt:lpstr>C# Advanced</vt:lpstr>
      <vt:lpstr>Objectives</vt:lpstr>
      <vt:lpstr>The Unified Modeling Language (UML)</vt:lpstr>
      <vt:lpstr>Why Build Models?</vt:lpstr>
      <vt:lpstr>Analysis and Design Workflow</vt:lpstr>
      <vt:lpstr>What is UML?</vt:lpstr>
      <vt:lpstr>UML History</vt:lpstr>
      <vt:lpstr>Requirements</vt:lpstr>
      <vt:lpstr>Requirements Analysis</vt:lpstr>
      <vt:lpstr>Delving into Problem Space - Processes</vt:lpstr>
      <vt:lpstr>Static Modelling</vt:lpstr>
      <vt:lpstr>Dynamic Modelling - interaction</vt:lpstr>
      <vt:lpstr>UML Association</vt:lpstr>
      <vt:lpstr>UML Dependency</vt:lpstr>
      <vt:lpstr>UML Dependency another example</vt:lpstr>
      <vt:lpstr>UML Dependency – reducing hard coupling</vt:lpstr>
      <vt:lpstr>Interfaces, Inheritance And Polymorphism</vt:lpstr>
      <vt:lpstr>Interfaces – a reminder</vt:lpstr>
      <vt:lpstr>Interfaces - 2</vt:lpstr>
      <vt:lpstr>Interfaces – The Promise</vt:lpstr>
      <vt:lpstr>Ignorance &amp; Apathy</vt:lpstr>
      <vt:lpstr>In Elevation View</vt:lpstr>
      <vt:lpstr>Inheritance</vt:lpstr>
      <vt:lpstr>Inheritance</vt:lpstr>
      <vt:lpstr>They are both "is a" or "is a kind of"</vt:lpstr>
      <vt:lpstr>Interface Notation in UML</vt:lpstr>
      <vt:lpstr>And what’s Polymorphism ?</vt:lpstr>
      <vt:lpstr>Using Polymorphism</vt:lpstr>
      <vt:lpstr>Abstract Base Class</vt:lpstr>
      <vt:lpstr>What’s the Difference ?</vt:lpstr>
      <vt:lpstr>Aggregation</vt:lpstr>
      <vt:lpstr>Composition – Delegation of work to other objects</vt:lpstr>
      <vt:lpstr>Aggregation – look for delegation</vt:lpstr>
      <vt:lpstr>Aggregation In-Situ Exercise</vt:lpstr>
      <vt:lpstr>Advanced Design Concepts</vt:lpstr>
      <vt:lpstr>Bad Design</vt:lpstr>
      <vt:lpstr>Solid principals to rescue</vt:lpstr>
      <vt:lpstr>Single Responsibility Principle</vt:lpstr>
      <vt:lpstr>Open Closed Principle</vt:lpstr>
      <vt:lpstr>Open Close principal example</vt:lpstr>
      <vt:lpstr>Liskov Substitution</vt:lpstr>
      <vt:lpstr>A simple example of the Liskov Principle</vt:lpstr>
      <vt:lpstr>Add a new class called EuropeCustomer</vt:lpstr>
      <vt:lpstr>What is the effect of the new Customer class</vt:lpstr>
      <vt:lpstr>Dependency Inversion Principle (DIP)</vt:lpstr>
      <vt:lpstr>DI example – Bad design</vt:lpstr>
      <vt:lpstr>DI Example – Better design</vt:lpstr>
      <vt:lpstr>The C# Code for our DI first attempt</vt:lpstr>
      <vt:lpstr>Dependency Injection (!= Dependency Inversion)</vt:lpstr>
      <vt:lpstr>Interface Segregation</vt:lpstr>
      <vt:lpstr>Customer association to a bank account</vt:lpstr>
      <vt:lpstr>Third attempt – Create many interfaces</vt:lpstr>
      <vt:lpstr>Summary</vt:lpstr>
      <vt:lpstr>Lab 1/2</vt:lpstr>
      <vt:lpstr>Patterns</vt:lpstr>
      <vt:lpstr>A few common patterns</vt:lpstr>
      <vt:lpstr>Lab 2/2</vt:lpstr>
    </vt:vector>
  </TitlesOfParts>
  <Company>QA Ltd</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wpriestley</dc:creator>
  <cp:lastModifiedBy>student</cp:lastModifiedBy>
  <cp:revision>553</cp:revision>
  <cp:lastPrinted>2016-05-25T14:37:17Z</cp:lastPrinted>
  <dcterms:created xsi:type="dcterms:W3CDTF">2012-05-29T10:22:07Z</dcterms:created>
  <dcterms:modified xsi:type="dcterms:W3CDTF">2017-07-18T08:11:16Z</dcterms:modified>
  <cp:category>Chapter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ies>
</file>